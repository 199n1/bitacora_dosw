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Lst>
  <p:sldSz cx="18288000" cy="10287000"/>
  <p:notesSz cx="6858000" cy="9144000"/>
  <p:embeddedFontLst>
    <p:embeddedFont>
      <p:font typeface="HK Modular" charset="1" panose="00000800000000000000"/>
      <p:regular r:id="rId53"/>
    </p:embeddedFont>
    <p:embeddedFont>
      <p:font typeface="RQND Pro" charset="1" panose="00000500000000000000"/>
      <p:regular r:id="rId54"/>
    </p:embeddedFont>
    <p:embeddedFont>
      <p:font typeface="Poppins" charset="1" panose="00000500000000000000"/>
      <p:regular r:id="rId55"/>
    </p:embeddedFont>
    <p:embeddedFont>
      <p:font typeface="Canva Sans" charset="1" panose="020B0503030501040103"/>
      <p:regular r:id="rId5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fonts/font53.fntdata" Type="http://schemas.openxmlformats.org/officeDocument/2006/relationships/font"/><Relationship Id="rId54" Target="fonts/font54.fntdata" Type="http://schemas.openxmlformats.org/officeDocument/2006/relationships/font"/><Relationship Id="rId55" Target="fonts/font55.fntdata" Type="http://schemas.openxmlformats.org/officeDocument/2006/relationships/font"/><Relationship Id="rId56" Target="fonts/font56.fntdata" Type="http://schemas.openxmlformats.org/officeDocument/2006/relationships/font"/><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6.png" Type="http://schemas.openxmlformats.org/officeDocument/2006/relationships/image"/><Relationship Id="rId7"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 Id="rId5"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11.png" Type="http://schemas.openxmlformats.org/officeDocument/2006/relationships/image"/><Relationship Id="rId4" Target="../media/image12.png" Type="http://schemas.openxmlformats.org/officeDocument/2006/relationships/image"/><Relationship Id="rId5"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13.png" Type="http://schemas.openxmlformats.org/officeDocument/2006/relationships/image"/><Relationship Id="rId4" Target="../media/image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14.png" Type="http://schemas.openxmlformats.org/officeDocument/2006/relationships/image"/><Relationship Id="rId4" Target="../media/image15.png" Type="http://schemas.openxmlformats.org/officeDocument/2006/relationships/image"/><Relationship Id="rId5" Target="../media/image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16.pn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19.png" Type="http://schemas.openxmlformats.org/officeDocument/2006/relationships/image"/><Relationship Id="rId7" Target="../media/image20.png" Type="http://schemas.openxmlformats.org/officeDocument/2006/relationships/image"/><Relationship Id="rId8" Target="../media/image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21.png" Type="http://schemas.openxmlformats.org/officeDocument/2006/relationships/image"/><Relationship Id="rId4" Target="../media/image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21.png" Type="http://schemas.openxmlformats.org/officeDocument/2006/relationships/image"/><Relationship Id="rId4" Target="../media/image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21.png" Type="http://schemas.openxmlformats.org/officeDocument/2006/relationships/image"/><Relationship Id="rId4" Target="../media/image22.png" Type="http://schemas.openxmlformats.org/officeDocument/2006/relationships/image"/><Relationship Id="rId5" Target="../media/image23.svg" Type="http://schemas.openxmlformats.org/officeDocument/2006/relationships/image"/><Relationship Id="rId6" Target="../media/image24.png" Type="http://schemas.openxmlformats.org/officeDocument/2006/relationships/image"/><Relationship Id="rId7" Target="../media/image25.png" Type="http://schemas.openxmlformats.org/officeDocument/2006/relationships/image"/><Relationship Id="rId8" Target="../media/image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21.png" Type="http://schemas.openxmlformats.org/officeDocument/2006/relationships/image"/><Relationship Id="rId4" Target="../media/image26.png" Type="http://schemas.openxmlformats.org/officeDocument/2006/relationships/image"/><Relationship Id="rId5" Target="../media/image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21.png" Type="http://schemas.openxmlformats.org/officeDocument/2006/relationships/image"/><Relationship Id="rId4" Target="../media/image27.png" Type="http://schemas.openxmlformats.org/officeDocument/2006/relationships/image"/><Relationship Id="rId5" Target="../media/image6.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21.png" Type="http://schemas.openxmlformats.org/officeDocument/2006/relationships/image"/><Relationship Id="rId4" Target="../media/image28.png" Type="http://schemas.openxmlformats.org/officeDocument/2006/relationships/image"/><Relationship Id="rId5" Target="../media/image29.png" Type="http://schemas.openxmlformats.org/officeDocument/2006/relationships/image"/><Relationship Id="rId6" Target="../media/image30.png" Type="http://schemas.openxmlformats.org/officeDocument/2006/relationships/image"/><Relationship Id="rId7" Target="../media/image6.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21.png" Type="http://schemas.openxmlformats.org/officeDocument/2006/relationships/image"/><Relationship Id="rId4" Target="../media/image31.png" Type="http://schemas.openxmlformats.org/officeDocument/2006/relationships/image"/><Relationship Id="rId5" Target="../media/image6.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21.png" Type="http://schemas.openxmlformats.org/officeDocument/2006/relationships/image"/><Relationship Id="rId4" Target="../media/image32.png" Type="http://schemas.openxmlformats.org/officeDocument/2006/relationships/image"/><Relationship Id="rId5" Target="../media/image33.png" Type="http://schemas.openxmlformats.org/officeDocument/2006/relationships/image"/><Relationship Id="rId6" Target="../media/image6.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21.png" Type="http://schemas.openxmlformats.org/officeDocument/2006/relationships/image"/><Relationship Id="rId4" Target="../media/image34.png" Type="http://schemas.openxmlformats.org/officeDocument/2006/relationships/image"/><Relationship Id="rId5" Target="../media/image35.png" Type="http://schemas.openxmlformats.org/officeDocument/2006/relationships/image"/><Relationship Id="rId6" Target="../media/image6.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21.png" Type="http://schemas.openxmlformats.org/officeDocument/2006/relationships/image"/><Relationship Id="rId4" Target="../media/image36.png" Type="http://schemas.openxmlformats.org/officeDocument/2006/relationships/image"/><Relationship Id="rId5" Target="../media/image37.png" Type="http://schemas.openxmlformats.org/officeDocument/2006/relationships/image"/><Relationship Id="rId6" Target="../media/image6.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21.png" Type="http://schemas.openxmlformats.org/officeDocument/2006/relationships/image"/><Relationship Id="rId4" Target="../media/image38.png" Type="http://schemas.openxmlformats.org/officeDocument/2006/relationships/image"/><Relationship Id="rId5" Target="../media/image6.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21.png" Type="http://schemas.openxmlformats.org/officeDocument/2006/relationships/image"/><Relationship Id="rId4" Target="../media/image39.png" Type="http://schemas.openxmlformats.org/officeDocument/2006/relationships/image"/><Relationship Id="rId5" Target="../media/image6.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21.png" Type="http://schemas.openxmlformats.org/officeDocument/2006/relationships/image"/><Relationship Id="rId4" Target="../media/image40.png" Type="http://schemas.openxmlformats.org/officeDocument/2006/relationships/image"/><Relationship Id="rId5" Target="../media/image41.png" Type="http://schemas.openxmlformats.org/officeDocument/2006/relationships/image"/><Relationship Id="rId6" Target="../media/image42.png" Type="http://schemas.openxmlformats.org/officeDocument/2006/relationships/image"/><Relationship Id="rId7" Target="../media/image43.svg" Type="http://schemas.openxmlformats.org/officeDocument/2006/relationships/image"/><Relationship Id="rId8" Target="../media/image6.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21.png" Type="http://schemas.openxmlformats.org/officeDocument/2006/relationships/image"/><Relationship Id="rId4" Target="../media/image44.png" Type="http://schemas.openxmlformats.org/officeDocument/2006/relationships/image"/><Relationship Id="rId5" Target="../media/image45.png" Type="http://schemas.openxmlformats.org/officeDocument/2006/relationships/image"/><Relationship Id="rId6" Target="../media/image6.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6.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46.png" Type="http://schemas.openxmlformats.org/officeDocument/2006/relationships/image"/><Relationship Id="rId4" Target="../media/image6.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47.png" Type="http://schemas.openxmlformats.org/officeDocument/2006/relationships/image"/><Relationship Id="rId4" Target="../media/image6.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48.png" Type="http://schemas.openxmlformats.org/officeDocument/2006/relationships/image"/><Relationship Id="rId4" Target="../media/image6.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49.png" Type="http://schemas.openxmlformats.org/officeDocument/2006/relationships/image"/><Relationship Id="rId4" Target="../media/image6.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6.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50.png" Type="http://schemas.openxmlformats.org/officeDocument/2006/relationships/image"/><Relationship Id="rId4" Target="../media/image6.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6.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51.png" Type="http://schemas.openxmlformats.org/officeDocument/2006/relationships/image"/><Relationship Id="rId4" Target="../media/image6.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52.png" Type="http://schemas.openxmlformats.org/officeDocument/2006/relationships/image"/><Relationship Id="rId4" Target="../media/image6.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6.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6.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6.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53.png" Type="http://schemas.openxmlformats.org/officeDocument/2006/relationships/image"/><Relationship Id="rId4" Target="../media/image6.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54.png" Type="http://schemas.openxmlformats.org/officeDocument/2006/relationships/image"/><Relationship Id="rId4" Target="../media/image6.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55.png" Type="http://schemas.openxmlformats.org/officeDocument/2006/relationships/image"/><Relationship Id="rId4" Target="../media/image56.png" Type="http://schemas.openxmlformats.org/officeDocument/2006/relationships/image"/><Relationship Id="rId5" Target="../media/image6.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57.png" Type="http://schemas.openxmlformats.org/officeDocument/2006/relationships/image"/><Relationship Id="rId4" Target="../media/image6.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58.png" Type="http://schemas.openxmlformats.org/officeDocument/2006/relationships/image"/><Relationship Id="rId4" Target="../media/image6.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59.png" Type="http://schemas.openxmlformats.org/officeDocument/2006/relationships/image"/><Relationship Id="rId4" Target="../media/image6.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60.png" Type="http://schemas.openxmlformats.org/officeDocument/2006/relationships/image"/><Relationship Id="rId4" Target="../media/image61.png" Type="http://schemas.openxmlformats.org/officeDocument/2006/relationships/image"/><Relationship Id="rId5" Target="../media/image6.pn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62.png" Type="http://schemas.openxmlformats.org/officeDocument/2006/relationships/image"/><Relationship Id="rId4" Target="../media/image6.pn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63.png" Type="http://schemas.openxmlformats.org/officeDocument/2006/relationships/image"/><Relationship Id="rId4" Target="../media/image6.pn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6.pn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64.png" Type="http://schemas.openxmlformats.org/officeDocument/2006/relationships/image"/><Relationship Id="rId4" Target="../media/image6.pn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65.jpeg" Type="http://schemas.openxmlformats.org/officeDocument/2006/relationships/image"/><Relationship Id="rId4" Target="../media/image6.pn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66.png" Type="http://schemas.openxmlformats.org/officeDocument/2006/relationships/image"/><Relationship Id="rId4" Target="../media/image67.png" Type="http://schemas.openxmlformats.org/officeDocument/2006/relationships/image"/><Relationship Id="rId5" Target="../media/image6.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894353" y="6745775"/>
            <a:ext cx="20076706" cy="4517259"/>
          </a:xfrm>
          <a:custGeom>
            <a:avLst/>
            <a:gdLst/>
            <a:ahLst/>
            <a:cxnLst/>
            <a:rect r="r" b="b" t="t" l="l"/>
            <a:pathLst>
              <a:path h="4517259" w="20076706">
                <a:moveTo>
                  <a:pt x="0" y="0"/>
                </a:moveTo>
                <a:lnTo>
                  <a:pt x="20076706" y="0"/>
                </a:lnTo>
                <a:lnTo>
                  <a:pt x="20076706" y="4517259"/>
                </a:lnTo>
                <a:lnTo>
                  <a:pt x="0" y="4517259"/>
                </a:lnTo>
                <a:lnTo>
                  <a:pt x="0" y="0"/>
                </a:lnTo>
                <a:close/>
              </a:path>
            </a:pathLst>
          </a:custGeom>
          <a:blipFill>
            <a:blip r:embed="rId2">
              <a:alphaModFix amt="31999"/>
            </a:blip>
            <a:stretch>
              <a:fillRect l="0" t="0" r="0" b="0"/>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100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5669932" y="-1017864"/>
            <a:ext cx="4077393" cy="4114800"/>
          </a:xfrm>
          <a:custGeom>
            <a:avLst/>
            <a:gdLst/>
            <a:ahLst/>
            <a:cxnLst/>
            <a:rect r="r" b="b" t="t" l="l"/>
            <a:pathLst>
              <a:path h="4114800" w="4077393">
                <a:moveTo>
                  <a:pt x="0" y="0"/>
                </a:moveTo>
                <a:lnTo>
                  <a:pt x="4077392" y="0"/>
                </a:lnTo>
                <a:lnTo>
                  <a:pt x="4077392" y="4114800"/>
                </a:lnTo>
                <a:lnTo>
                  <a:pt x="0" y="4114800"/>
                </a:lnTo>
                <a:lnTo>
                  <a:pt x="0" y="0"/>
                </a:lnTo>
                <a:close/>
              </a:path>
            </a:pathLst>
          </a:custGeom>
          <a:blipFill>
            <a:blip r:embed="rId3">
              <a:alphaModFix amt="14000"/>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8304904" y="2295809"/>
            <a:ext cx="601820" cy="601820"/>
          </a:xfrm>
          <a:custGeom>
            <a:avLst/>
            <a:gdLst/>
            <a:ahLst/>
            <a:cxnLst/>
            <a:rect r="r" b="b" t="t" l="l"/>
            <a:pathLst>
              <a:path h="601820" w="601820">
                <a:moveTo>
                  <a:pt x="0" y="0"/>
                </a:moveTo>
                <a:lnTo>
                  <a:pt x="601819" y="0"/>
                </a:lnTo>
                <a:lnTo>
                  <a:pt x="601819" y="601820"/>
                </a:lnTo>
                <a:lnTo>
                  <a:pt x="0" y="601820"/>
                </a:lnTo>
                <a:lnTo>
                  <a:pt x="0" y="0"/>
                </a:lnTo>
                <a:close/>
              </a:path>
            </a:pathLst>
          </a:custGeom>
          <a:blipFill>
            <a:blip r:embed="rId5"/>
            <a:stretch>
              <a:fillRect l="0" t="0" r="0" b="0"/>
            </a:stretch>
          </a:blipFill>
        </p:spPr>
      </p:sp>
      <p:sp>
        <p:nvSpPr>
          <p:cNvPr name="TextBox 8" id="8"/>
          <p:cNvSpPr txBox="true"/>
          <p:nvPr/>
        </p:nvSpPr>
        <p:spPr>
          <a:xfrm rot="0">
            <a:off x="8304904" y="4377652"/>
            <a:ext cx="8271372" cy="1115662"/>
          </a:xfrm>
          <a:prstGeom prst="rect">
            <a:avLst/>
          </a:prstGeom>
        </p:spPr>
        <p:txBody>
          <a:bodyPr anchor="t" rtlCol="false" tIns="0" lIns="0" bIns="0" rIns="0">
            <a:spAutoFit/>
          </a:bodyPr>
          <a:lstStyle/>
          <a:p>
            <a:pPr algn="l">
              <a:lnSpc>
                <a:spcPts val="9165"/>
              </a:lnSpc>
              <a:spcBef>
                <a:spcPct val="0"/>
              </a:spcBef>
            </a:pPr>
            <a:r>
              <a:rPr lang="en-US" sz="6546">
                <a:solidFill>
                  <a:srgbClr val="FF009D"/>
                </a:solidFill>
                <a:latin typeface="HK Modular"/>
                <a:ea typeface="HK Modular"/>
                <a:cs typeface="HK Modular"/>
                <a:sym typeface="HK Modular"/>
              </a:rPr>
              <a:t>SEMANA 11</a:t>
            </a:r>
          </a:p>
        </p:txBody>
      </p:sp>
      <p:sp>
        <p:nvSpPr>
          <p:cNvPr name="TextBox 9" id="9"/>
          <p:cNvSpPr txBox="true"/>
          <p:nvPr/>
        </p:nvSpPr>
        <p:spPr>
          <a:xfrm rot="0">
            <a:off x="8304904" y="5916767"/>
            <a:ext cx="6621756" cy="892949"/>
          </a:xfrm>
          <a:prstGeom prst="rect">
            <a:avLst/>
          </a:prstGeom>
        </p:spPr>
        <p:txBody>
          <a:bodyPr anchor="t" rtlCol="false" tIns="0" lIns="0" bIns="0" rIns="0">
            <a:spAutoFit/>
          </a:bodyPr>
          <a:lstStyle/>
          <a:p>
            <a:pPr algn="l">
              <a:lnSpc>
                <a:spcPts val="7267"/>
              </a:lnSpc>
              <a:spcBef>
                <a:spcPct val="0"/>
              </a:spcBef>
            </a:pPr>
            <a:r>
              <a:rPr lang="en-US" sz="5191">
                <a:solidFill>
                  <a:srgbClr val="FF751F"/>
                </a:solidFill>
                <a:latin typeface="HK Modular"/>
                <a:ea typeface="HK Modular"/>
                <a:cs typeface="HK Modular"/>
                <a:sym typeface="HK Modular"/>
              </a:rPr>
              <a:t>DOSW 1</a:t>
            </a:r>
          </a:p>
        </p:txBody>
      </p:sp>
      <p:sp>
        <p:nvSpPr>
          <p:cNvPr name="TextBox 10" id="10"/>
          <p:cNvSpPr txBox="true"/>
          <p:nvPr/>
        </p:nvSpPr>
        <p:spPr>
          <a:xfrm rot="0">
            <a:off x="8906723" y="2356120"/>
            <a:ext cx="4748826" cy="424049"/>
          </a:xfrm>
          <a:prstGeom prst="rect">
            <a:avLst/>
          </a:prstGeom>
        </p:spPr>
        <p:txBody>
          <a:bodyPr anchor="t" rtlCol="false" tIns="0" lIns="0" bIns="0" rIns="0">
            <a:spAutoFit/>
          </a:bodyPr>
          <a:lstStyle/>
          <a:p>
            <a:pPr algn="ctr">
              <a:lnSpc>
                <a:spcPts val="3402"/>
              </a:lnSpc>
              <a:spcBef>
                <a:spcPct val="0"/>
              </a:spcBef>
            </a:pPr>
            <a:r>
              <a:rPr lang="en-US" sz="2430">
                <a:solidFill>
                  <a:srgbClr val="FFFFFF"/>
                </a:solidFill>
                <a:latin typeface="RQND Pro"/>
                <a:ea typeface="RQND Pro"/>
                <a:cs typeface="RQND Pro"/>
                <a:sym typeface="RQND Pro"/>
              </a:rPr>
              <a:t>ESCUELA COLOMBIANA DE INGENIERIA</a:t>
            </a:r>
          </a:p>
        </p:txBody>
      </p:sp>
      <p:sp>
        <p:nvSpPr>
          <p:cNvPr name="Freeform 11" id="11"/>
          <p:cNvSpPr/>
          <p:nvPr/>
        </p:nvSpPr>
        <p:spPr>
          <a:xfrm flipH="false" flipV="false" rot="0">
            <a:off x="1163911" y="163050"/>
            <a:ext cx="6623053" cy="9668691"/>
          </a:xfrm>
          <a:custGeom>
            <a:avLst/>
            <a:gdLst/>
            <a:ahLst/>
            <a:cxnLst/>
            <a:rect r="r" b="b" t="t" l="l"/>
            <a:pathLst>
              <a:path h="9668691" w="6623053">
                <a:moveTo>
                  <a:pt x="0" y="0"/>
                </a:moveTo>
                <a:lnTo>
                  <a:pt x="6623054" y="0"/>
                </a:lnTo>
                <a:lnTo>
                  <a:pt x="6623054" y="9668691"/>
                </a:lnTo>
                <a:lnTo>
                  <a:pt x="0" y="9668691"/>
                </a:lnTo>
                <a:lnTo>
                  <a:pt x="0" y="0"/>
                </a:lnTo>
                <a:close/>
              </a:path>
            </a:pathLst>
          </a:custGeom>
          <a:blipFill>
            <a:blip r:embed="rId6"/>
            <a:stretch>
              <a:fillRect l="0" t="0" r="0" b="0"/>
            </a:stretch>
          </a:blipFill>
        </p:spPr>
      </p:sp>
      <p:sp>
        <p:nvSpPr>
          <p:cNvPr name="Freeform 12" id="12"/>
          <p:cNvSpPr/>
          <p:nvPr/>
        </p:nvSpPr>
        <p:spPr>
          <a:xfrm flipH="false" flipV="false" rot="0">
            <a:off x="1733001" y="2596719"/>
            <a:ext cx="5415352" cy="5415352"/>
          </a:xfrm>
          <a:custGeom>
            <a:avLst/>
            <a:gdLst/>
            <a:ahLst/>
            <a:cxnLst/>
            <a:rect r="r" b="b" t="t" l="l"/>
            <a:pathLst>
              <a:path h="5415352" w="5415352">
                <a:moveTo>
                  <a:pt x="0" y="0"/>
                </a:moveTo>
                <a:lnTo>
                  <a:pt x="5415352" y="0"/>
                </a:lnTo>
                <a:lnTo>
                  <a:pt x="5415352" y="5415352"/>
                </a:lnTo>
                <a:lnTo>
                  <a:pt x="0" y="5415352"/>
                </a:lnTo>
                <a:lnTo>
                  <a:pt x="0" y="0"/>
                </a:lnTo>
                <a:close/>
              </a:path>
            </a:pathLst>
          </a:custGeom>
          <a:blipFill>
            <a:blip r:embed="rId7"/>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894353" y="6745775"/>
            <a:ext cx="20076706" cy="4517259"/>
          </a:xfrm>
          <a:custGeom>
            <a:avLst/>
            <a:gdLst/>
            <a:ahLst/>
            <a:cxnLst/>
            <a:rect r="r" b="b" t="t" l="l"/>
            <a:pathLst>
              <a:path h="4517259" w="20076706">
                <a:moveTo>
                  <a:pt x="0" y="0"/>
                </a:moveTo>
                <a:lnTo>
                  <a:pt x="20076706" y="0"/>
                </a:lnTo>
                <a:lnTo>
                  <a:pt x="20076706" y="4517259"/>
                </a:lnTo>
                <a:lnTo>
                  <a:pt x="0" y="4517259"/>
                </a:lnTo>
                <a:lnTo>
                  <a:pt x="0" y="0"/>
                </a:lnTo>
                <a:close/>
              </a:path>
            </a:pathLst>
          </a:custGeom>
          <a:blipFill>
            <a:blip r:embed="rId2">
              <a:alphaModFix amt="31999"/>
            </a:blip>
            <a:stretch>
              <a:fillRect l="0" t="0" r="0" b="0"/>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100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5669932" y="-1017864"/>
            <a:ext cx="4077393" cy="4114800"/>
          </a:xfrm>
          <a:custGeom>
            <a:avLst/>
            <a:gdLst/>
            <a:ahLst/>
            <a:cxnLst/>
            <a:rect r="r" b="b" t="t" l="l"/>
            <a:pathLst>
              <a:path h="4114800" w="4077393">
                <a:moveTo>
                  <a:pt x="0" y="0"/>
                </a:moveTo>
                <a:lnTo>
                  <a:pt x="4077392" y="0"/>
                </a:lnTo>
                <a:lnTo>
                  <a:pt x="4077392" y="4114800"/>
                </a:lnTo>
                <a:lnTo>
                  <a:pt x="0" y="4114800"/>
                </a:lnTo>
                <a:lnTo>
                  <a:pt x="0" y="0"/>
                </a:lnTo>
                <a:close/>
              </a:path>
            </a:pathLst>
          </a:custGeom>
          <a:blipFill>
            <a:blip r:embed="rId3">
              <a:alphaModFix amt="14000"/>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8906723" y="498026"/>
            <a:ext cx="4748826" cy="424049"/>
          </a:xfrm>
          <a:prstGeom prst="rect">
            <a:avLst/>
          </a:prstGeom>
        </p:spPr>
        <p:txBody>
          <a:bodyPr anchor="t" rtlCol="false" tIns="0" lIns="0" bIns="0" rIns="0">
            <a:spAutoFit/>
          </a:bodyPr>
          <a:lstStyle/>
          <a:p>
            <a:pPr algn="ctr">
              <a:lnSpc>
                <a:spcPts val="3402"/>
              </a:lnSpc>
              <a:spcBef>
                <a:spcPct val="0"/>
              </a:spcBef>
            </a:pPr>
            <a:r>
              <a:rPr lang="en-US" sz="2430">
                <a:solidFill>
                  <a:srgbClr val="FFFFFF"/>
                </a:solidFill>
                <a:latin typeface="RQND Pro"/>
                <a:ea typeface="RQND Pro"/>
                <a:cs typeface="RQND Pro"/>
                <a:sym typeface="RQND Pro"/>
              </a:rPr>
              <a:t>ESCUELA COLOMBIANA DE INGENIERIA</a:t>
            </a:r>
          </a:p>
        </p:txBody>
      </p:sp>
      <p:sp>
        <p:nvSpPr>
          <p:cNvPr name="TextBox 8" id="8"/>
          <p:cNvSpPr txBox="true"/>
          <p:nvPr/>
        </p:nvSpPr>
        <p:spPr>
          <a:xfrm rot="0">
            <a:off x="7944423" y="2605384"/>
            <a:ext cx="7725509" cy="5603980"/>
          </a:xfrm>
          <a:prstGeom prst="rect">
            <a:avLst/>
          </a:prstGeom>
        </p:spPr>
        <p:txBody>
          <a:bodyPr anchor="t" rtlCol="false" tIns="0" lIns="0" bIns="0" rIns="0">
            <a:spAutoFit/>
          </a:bodyPr>
          <a:lstStyle/>
          <a:p>
            <a:pPr algn="l">
              <a:lnSpc>
                <a:spcPts val="2959"/>
              </a:lnSpc>
            </a:pPr>
          </a:p>
          <a:p>
            <a:pPr algn="l" marL="456375" indent="-228187" lvl="1">
              <a:lnSpc>
                <a:spcPts val="2959"/>
              </a:lnSpc>
              <a:buFont typeface="Arial"/>
              <a:buChar char="•"/>
            </a:pPr>
            <a:r>
              <a:rPr lang="en-US" sz="2113">
                <a:solidFill>
                  <a:srgbClr val="FFFFFF"/>
                </a:solidFill>
                <a:latin typeface="HK Modular"/>
                <a:ea typeface="HK Modular"/>
                <a:cs typeface="HK Modular"/>
                <a:sym typeface="HK Modular"/>
              </a:rPr>
              <a:t>PARTES DE UNA PAGINA WEB</a:t>
            </a:r>
          </a:p>
          <a:p>
            <a:pPr algn="l" marL="456375" indent="-228187" lvl="1">
              <a:lnSpc>
                <a:spcPts val="2959"/>
              </a:lnSpc>
              <a:buFont typeface="Arial"/>
              <a:buChar char="•"/>
            </a:pPr>
            <a:r>
              <a:rPr lang="en-US" sz="2113">
                <a:solidFill>
                  <a:srgbClr val="FFFFFF"/>
                </a:solidFill>
                <a:latin typeface="HK Modular"/>
                <a:ea typeface="HK Modular"/>
                <a:cs typeface="HK Modular"/>
                <a:sym typeface="HK Modular"/>
              </a:rPr>
              <a:t>Modulo de Diagramacion #7: FLUJOS FUNCIONALES ENTRE PANTALLAS</a:t>
            </a:r>
          </a:p>
          <a:p>
            <a:pPr algn="l" marL="456375" indent="-228187" lvl="1">
              <a:lnSpc>
                <a:spcPts val="2959"/>
              </a:lnSpc>
              <a:buFont typeface="Arial"/>
              <a:buChar char="•"/>
            </a:pPr>
            <a:r>
              <a:rPr lang="en-US" sz="2113">
                <a:solidFill>
                  <a:srgbClr val="FFFFFF"/>
                </a:solidFill>
                <a:latin typeface="HK Modular"/>
                <a:ea typeface="HK Modular"/>
                <a:cs typeface="HK Modular"/>
                <a:sym typeface="HK Modular"/>
              </a:rPr>
              <a:t>DOM</a:t>
            </a:r>
          </a:p>
          <a:p>
            <a:pPr algn="l" marL="456375" indent="-228187" lvl="1">
              <a:lnSpc>
                <a:spcPts val="2959"/>
              </a:lnSpc>
              <a:buFont typeface="Arial"/>
              <a:buChar char="•"/>
            </a:pPr>
            <a:r>
              <a:rPr lang="en-US" sz="2113">
                <a:solidFill>
                  <a:srgbClr val="FFFFFF"/>
                </a:solidFill>
                <a:latin typeface="HK Modular"/>
                <a:ea typeface="HK Modular"/>
                <a:cs typeface="HK Modular"/>
                <a:sym typeface="HK Modular"/>
              </a:rPr>
              <a:t>REACT</a:t>
            </a:r>
          </a:p>
          <a:p>
            <a:pPr algn="l" marL="456375" indent="-228187" lvl="1">
              <a:lnSpc>
                <a:spcPts val="2959"/>
              </a:lnSpc>
              <a:buFont typeface="Arial"/>
              <a:buChar char="•"/>
            </a:pPr>
            <a:r>
              <a:rPr lang="en-US" sz="2113">
                <a:solidFill>
                  <a:srgbClr val="FFFFFF"/>
                </a:solidFill>
                <a:latin typeface="HK Modular"/>
                <a:ea typeface="HK Modular"/>
                <a:cs typeface="HK Modular"/>
                <a:sym typeface="HK Modular"/>
              </a:rPr>
              <a:t>ARQUITECTURA DE UN PROYECTO DE FRONT - ESTRUCTURA</a:t>
            </a:r>
          </a:p>
          <a:p>
            <a:pPr algn="l" marL="456375" indent="-228187" lvl="1">
              <a:lnSpc>
                <a:spcPts val="2959"/>
              </a:lnSpc>
              <a:buFont typeface="Arial"/>
              <a:buChar char="•"/>
            </a:pPr>
            <a:r>
              <a:rPr lang="en-US" sz="2113">
                <a:solidFill>
                  <a:srgbClr val="FFFFFF"/>
                </a:solidFill>
                <a:latin typeface="HK Modular"/>
                <a:ea typeface="HK Modular"/>
                <a:cs typeface="HK Modular"/>
                <a:sym typeface="HK Modular"/>
              </a:rPr>
              <a:t>HERO UI, MATERIAL DESIGN, DRIBBLE</a:t>
            </a:r>
          </a:p>
          <a:p>
            <a:pPr algn="l" marL="456375" indent="-228187" lvl="1">
              <a:lnSpc>
                <a:spcPts val="2959"/>
              </a:lnSpc>
              <a:buFont typeface="Arial"/>
              <a:buChar char="•"/>
            </a:pPr>
            <a:r>
              <a:rPr lang="en-US" sz="2113">
                <a:solidFill>
                  <a:srgbClr val="FFFFFF"/>
                </a:solidFill>
                <a:latin typeface="HK Modular"/>
                <a:ea typeface="HK Modular"/>
                <a:cs typeface="HK Modular"/>
                <a:sym typeface="HK Modular"/>
              </a:rPr>
              <a:t>VERCEL</a:t>
            </a:r>
          </a:p>
          <a:p>
            <a:pPr algn="l" marL="456375" indent="-228187" lvl="1">
              <a:lnSpc>
                <a:spcPts val="2959"/>
              </a:lnSpc>
              <a:buFont typeface="Arial"/>
              <a:buChar char="•"/>
            </a:pPr>
            <a:r>
              <a:rPr lang="en-US" sz="2113">
                <a:solidFill>
                  <a:srgbClr val="FFFFFF"/>
                </a:solidFill>
                <a:latin typeface="HK Modular"/>
                <a:ea typeface="HK Modular"/>
                <a:cs typeface="HK Modular"/>
                <a:sym typeface="HK Modular"/>
              </a:rPr>
              <a:t>High Level Design: Documento de arquitectura Y DISEÑO DEL FRONT</a:t>
            </a:r>
          </a:p>
          <a:p>
            <a:pPr algn="l" marL="456375" indent="-228187" lvl="1">
              <a:lnSpc>
                <a:spcPts val="2959"/>
              </a:lnSpc>
              <a:buFont typeface="Arial"/>
              <a:buChar char="•"/>
            </a:pPr>
            <a:r>
              <a:rPr lang="en-US" sz="2113">
                <a:solidFill>
                  <a:srgbClr val="FFFFFF"/>
                </a:solidFill>
                <a:latin typeface="HK Modular"/>
                <a:ea typeface="HK Modular"/>
                <a:cs typeface="HK Modular"/>
                <a:sym typeface="HK Modular"/>
              </a:rPr>
              <a:t>CONEXION CON SERVICIOS DESDE EL FRONT - AXIOS</a:t>
            </a:r>
          </a:p>
          <a:p>
            <a:pPr algn="l">
              <a:lnSpc>
                <a:spcPts val="2959"/>
              </a:lnSpc>
              <a:spcBef>
                <a:spcPct val="0"/>
              </a:spcBef>
            </a:pPr>
          </a:p>
        </p:txBody>
      </p:sp>
      <p:sp>
        <p:nvSpPr>
          <p:cNvPr name="TextBox 9" id="9"/>
          <p:cNvSpPr txBox="true"/>
          <p:nvPr/>
        </p:nvSpPr>
        <p:spPr>
          <a:xfrm rot="0">
            <a:off x="8182356" y="1440352"/>
            <a:ext cx="9389196" cy="1115662"/>
          </a:xfrm>
          <a:prstGeom prst="rect">
            <a:avLst/>
          </a:prstGeom>
        </p:spPr>
        <p:txBody>
          <a:bodyPr anchor="t" rtlCol="false" tIns="0" lIns="0" bIns="0" rIns="0">
            <a:spAutoFit/>
          </a:bodyPr>
          <a:lstStyle/>
          <a:p>
            <a:pPr algn="l">
              <a:lnSpc>
                <a:spcPts val="9165"/>
              </a:lnSpc>
              <a:spcBef>
                <a:spcPct val="0"/>
              </a:spcBef>
            </a:pPr>
            <a:r>
              <a:rPr lang="en-US" sz="6546">
                <a:solidFill>
                  <a:srgbClr val="FF009D"/>
                </a:solidFill>
                <a:latin typeface="HK Modular"/>
                <a:ea typeface="HK Modular"/>
                <a:cs typeface="HK Modular"/>
                <a:sym typeface="HK Modular"/>
              </a:rPr>
              <a:t>ORDEN DEL DIA </a:t>
            </a:r>
          </a:p>
        </p:txBody>
      </p:sp>
      <p:sp>
        <p:nvSpPr>
          <p:cNvPr name="Freeform 10" id="10"/>
          <p:cNvSpPr/>
          <p:nvPr/>
        </p:nvSpPr>
        <p:spPr>
          <a:xfrm flipH="false" flipV="false" rot="0">
            <a:off x="1163911" y="163050"/>
            <a:ext cx="6623053" cy="9668691"/>
          </a:xfrm>
          <a:custGeom>
            <a:avLst/>
            <a:gdLst/>
            <a:ahLst/>
            <a:cxnLst/>
            <a:rect r="r" b="b" t="t" l="l"/>
            <a:pathLst>
              <a:path h="9668691" w="6623053">
                <a:moveTo>
                  <a:pt x="0" y="0"/>
                </a:moveTo>
                <a:lnTo>
                  <a:pt x="6623054" y="0"/>
                </a:lnTo>
                <a:lnTo>
                  <a:pt x="6623054" y="9668691"/>
                </a:lnTo>
                <a:lnTo>
                  <a:pt x="0" y="9668691"/>
                </a:lnTo>
                <a:lnTo>
                  <a:pt x="0" y="0"/>
                </a:lnTo>
                <a:close/>
              </a:path>
            </a:pathLst>
          </a:custGeom>
          <a:blipFill>
            <a:blip r:embed="rId5"/>
            <a:stretch>
              <a:fillRect l="0" t="0" r="0" b="0"/>
            </a:stretch>
          </a:blipFill>
        </p:spPr>
      </p:sp>
      <p:sp>
        <p:nvSpPr>
          <p:cNvPr name="Freeform 11" id="11"/>
          <p:cNvSpPr/>
          <p:nvPr/>
        </p:nvSpPr>
        <p:spPr>
          <a:xfrm flipH="false" flipV="false" rot="0">
            <a:off x="1733001" y="2596719"/>
            <a:ext cx="5415352" cy="5415352"/>
          </a:xfrm>
          <a:custGeom>
            <a:avLst/>
            <a:gdLst/>
            <a:ahLst/>
            <a:cxnLst/>
            <a:rect r="r" b="b" t="t" l="l"/>
            <a:pathLst>
              <a:path h="5415352" w="5415352">
                <a:moveTo>
                  <a:pt x="0" y="0"/>
                </a:moveTo>
                <a:lnTo>
                  <a:pt x="5415352" y="0"/>
                </a:lnTo>
                <a:lnTo>
                  <a:pt x="5415352" y="5415352"/>
                </a:lnTo>
                <a:lnTo>
                  <a:pt x="0" y="5415352"/>
                </a:lnTo>
                <a:lnTo>
                  <a:pt x="0" y="0"/>
                </a:lnTo>
                <a:close/>
              </a:path>
            </a:pathLst>
          </a:custGeom>
          <a:blipFill>
            <a:blip r:embed="rId6"/>
            <a:stretch>
              <a:fillRect l="0" t="0" r="0" b="0"/>
            </a:stretch>
          </a:blipFill>
        </p:spPr>
      </p:sp>
      <p:sp>
        <p:nvSpPr>
          <p:cNvPr name="Freeform 12" id="12"/>
          <p:cNvSpPr/>
          <p:nvPr/>
        </p:nvSpPr>
        <p:spPr>
          <a:xfrm flipH="false" flipV="false" rot="0">
            <a:off x="8304904" y="437716"/>
            <a:ext cx="601820" cy="601820"/>
          </a:xfrm>
          <a:custGeom>
            <a:avLst/>
            <a:gdLst/>
            <a:ahLst/>
            <a:cxnLst/>
            <a:rect r="r" b="b" t="t" l="l"/>
            <a:pathLst>
              <a:path h="601820" w="601820">
                <a:moveTo>
                  <a:pt x="0" y="0"/>
                </a:moveTo>
                <a:lnTo>
                  <a:pt x="601819" y="0"/>
                </a:lnTo>
                <a:lnTo>
                  <a:pt x="601819" y="601820"/>
                </a:lnTo>
                <a:lnTo>
                  <a:pt x="0" y="601820"/>
                </a:lnTo>
                <a:lnTo>
                  <a:pt x="0" y="0"/>
                </a:lnTo>
                <a:close/>
              </a:path>
            </a:pathLst>
          </a:custGeom>
          <a:blipFill>
            <a:blip r:embed="rId7"/>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ED">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ED">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1606612" y="3072809"/>
            <a:ext cx="7646755" cy="6020082"/>
          </a:xfrm>
          <a:custGeom>
            <a:avLst/>
            <a:gdLst/>
            <a:ahLst/>
            <a:cxnLst/>
            <a:rect r="r" b="b" t="t" l="l"/>
            <a:pathLst>
              <a:path h="6020082" w="7646755">
                <a:moveTo>
                  <a:pt x="0" y="0"/>
                </a:moveTo>
                <a:lnTo>
                  <a:pt x="7646755" y="0"/>
                </a:lnTo>
                <a:lnTo>
                  <a:pt x="7646755" y="6020082"/>
                </a:lnTo>
                <a:lnTo>
                  <a:pt x="0" y="60200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3" id="13"/>
          <p:cNvSpPr txBox="true"/>
          <p:nvPr/>
        </p:nvSpPr>
        <p:spPr>
          <a:xfrm rot="0">
            <a:off x="10103070" y="4703741"/>
            <a:ext cx="6751190" cy="1810994"/>
          </a:xfrm>
          <a:prstGeom prst="rect">
            <a:avLst/>
          </a:prstGeom>
        </p:spPr>
        <p:txBody>
          <a:bodyPr anchor="t" rtlCol="false" tIns="0" lIns="0" bIns="0" rIns="0">
            <a:spAutoFit/>
          </a:bodyPr>
          <a:lstStyle/>
          <a:p>
            <a:pPr algn="ctr">
              <a:lnSpc>
                <a:spcPts val="7281"/>
              </a:lnSpc>
              <a:spcBef>
                <a:spcPct val="0"/>
              </a:spcBef>
            </a:pPr>
            <a:r>
              <a:rPr lang="en-US" sz="5201">
                <a:solidFill>
                  <a:srgbClr val="FF009D"/>
                </a:solidFill>
                <a:latin typeface="HK Modular"/>
                <a:ea typeface="HK Modular"/>
                <a:cs typeface="HK Modular"/>
                <a:sym typeface="HK Modular"/>
              </a:rPr>
              <a:t>MODULO DE FRONT END </a:t>
            </a:r>
          </a:p>
        </p:txBody>
      </p:sp>
      <p:sp>
        <p:nvSpPr>
          <p:cNvPr name="Freeform 14" id="14"/>
          <p:cNvSpPr/>
          <p:nvPr/>
        </p:nvSpPr>
        <p:spPr>
          <a:xfrm flipH="false" flipV="false" rot="0">
            <a:off x="11240664" y="170406"/>
            <a:ext cx="4476002" cy="4476002"/>
          </a:xfrm>
          <a:custGeom>
            <a:avLst/>
            <a:gdLst/>
            <a:ahLst/>
            <a:cxnLst/>
            <a:rect r="r" b="b" t="t" l="l"/>
            <a:pathLst>
              <a:path h="4476002" w="4476002">
                <a:moveTo>
                  <a:pt x="0" y="0"/>
                </a:moveTo>
                <a:lnTo>
                  <a:pt x="4476002" y="0"/>
                </a:lnTo>
                <a:lnTo>
                  <a:pt x="4476002" y="4476001"/>
                </a:lnTo>
                <a:lnTo>
                  <a:pt x="0" y="4476001"/>
                </a:lnTo>
                <a:lnTo>
                  <a:pt x="0" y="0"/>
                </a:lnTo>
                <a:close/>
              </a:path>
            </a:pathLst>
          </a:custGeom>
          <a:blipFill>
            <a:blip r:embed="rId5"/>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929532" y="4590141"/>
            <a:ext cx="6619992" cy="4145770"/>
          </a:xfrm>
          <a:custGeom>
            <a:avLst/>
            <a:gdLst/>
            <a:ahLst/>
            <a:cxnLst/>
            <a:rect r="r" b="b" t="t" l="l"/>
            <a:pathLst>
              <a:path h="4145770" w="6619992">
                <a:moveTo>
                  <a:pt x="0" y="0"/>
                </a:moveTo>
                <a:lnTo>
                  <a:pt x="6619993" y="0"/>
                </a:lnTo>
                <a:lnTo>
                  <a:pt x="6619993" y="4145771"/>
                </a:lnTo>
                <a:lnTo>
                  <a:pt x="0" y="4145771"/>
                </a:lnTo>
                <a:lnTo>
                  <a:pt x="0" y="0"/>
                </a:lnTo>
                <a:close/>
              </a:path>
            </a:pathLst>
          </a:custGeom>
          <a:blipFill>
            <a:blip r:embed="rId3"/>
            <a:stretch>
              <a:fillRect l="0" t="0" r="0" b="0"/>
            </a:stretch>
          </a:blipFill>
        </p:spPr>
      </p:sp>
      <p:sp>
        <p:nvSpPr>
          <p:cNvPr name="Freeform 7" id="7"/>
          <p:cNvSpPr/>
          <p:nvPr/>
        </p:nvSpPr>
        <p:spPr>
          <a:xfrm flipH="false" flipV="false" rot="0">
            <a:off x="9813807" y="4590141"/>
            <a:ext cx="7960791" cy="4139611"/>
          </a:xfrm>
          <a:custGeom>
            <a:avLst/>
            <a:gdLst/>
            <a:ahLst/>
            <a:cxnLst/>
            <a:rect r="r" b="b" t="t" l="l"/>
            <a:pathLst>
              <a:path h="4139611" w="7960791">
                <a:moveTo>
                  <a:pt x="0" y="0"/>
                </a:moveTo>
                <a:lnTo>
                  <a:pt x="7960792" y="0"/>
                </a:lnTo>
                <a:lnTo>
                  <a:pt x="7960792" y="4139612"/>
                </a:lnTo>
                <a:lnTo>
                  <a:pt x="0" y="4139612"/>
                </a:lnTo>
                <a:lnTo>
                  <a:pt x="0" y="0"/>
                </a:lnTo>
                <a:close/>
              </a:path>
            </a:pathLst>
          </a:custGeom>
          <a:blipFill>
            <a:blip r:embed="rId4"/>
            <a:stretch>
              <a:fillRect l="0" t="0" r="0" b="0"/>
            </a:stretch>
          </a:blipFill>
        </p:spPr>
      </p:sp>
      <p:sp>
        <p:nvSpPr>
          <p:cNvPr name="TextBox 8" id="8"/>
          <p:cNvSpPr txBox="true"/>
          <p:nvPr/>
        </p:nvSpPr>
        <p:spPr>
          <a:xfrm rot="0">
            <a:off x="2982879" y="2087021"/>
            <a:ext cx="12540977" cy="1819884"/>
          </a:xfrm>
          <a:prstGeom prst="rect">
            <a:avLst/>
          </a:prstGeom>
        </p:spPr>
        <p:txBody>
          <a:bodyPr anchor="t" rtlCol="false" tIns="0" lIns="0" bIns="0" rIns="0">
            <a:spAutoFit/>
          </a:bodyPr>
          <a:lstStyle/>
          <a:p>
            <a:pPr algn="ctr">
              <a:lnSpc>
                <a:spcPts val="7316"/>
              </a:lnSpc>
              <a:spcBef>
                <a:spcPct val="0"/>
              </a:spcBef>
            </a:pPr>
            <a:r>
              <a:rPr lang="en-US" sz="5226">
                <a:solidFill>
                  <a:srgbClr val="FF009D"/>
                </a:solidFill>
                <a:latin typeface="HK Modular"/>
                <a:ea typeface="HK Modular"/>
                <a:cs typeface="HK Modular"/>
                <a:sym typeface="HK Modular"/>
              </a:rPr>
              <a:t>PARTES DE UNA PAGINA WEB</a:t>
            </a:r>
          </a:p>
        </p:txBody>
      </p:sp>
      <p:sp>
        <p:nvSpPr>
          <p:cNvPr name="Freeform 9" id="9"/>
          <p:cNvSpPr/>
          <p:nvPr/>
        </p:nvSpPr>
        <p:spPr>
          <a:xfrm flipH="false" flipV="false" rot="0">
            <a:off x="8327150" y="-150850"/>
            <a:ext cx="2342646" cy="2342646"/>
          </a:xfrm>
          <a:custGeom>
            <a:avLst/>
            <a:gdLst/>
            <a:ahLst/>
            <a:cxnLst/>
            <a:rect r="r" b="b" t="t" l="l"/>
            <a:pathLst>
              <a:path h="2342646" w="2342646">
                <a:moveTo>
                  <a:pt x="0" y="0"/>
                </a:moveTo>
                <a:lnTo>
                  <a:pt x="2342646" y="0"/>
                </a:lnTo>
                <a:lnTo>
                  <a:pt x="2342646" y="2342646"/>
                </a:lnTo>
                <a:lnTo>
                  <a:pt x="0" y="2342646"/>
                </a:lnTo>
                <a:lnTo>
                  <a:pt x="0" y="0"/>
                </a:lnTo>
                <a:close/>
              </a:path>
            </a:pathLst>
          </a:custGeom>
          <a:blipFill>
            <a:blip r:embed="rId5"/>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6555633" y="3387258"/>
            <a:ext cx="5395468" cy="6356958"/>
          </a:xfrm>
          <a:custGeom>
            <a:avLst/>
            <a:gdLst/>
            <a:ahLst/>
            <a:cxnLst/>
            <a:rect r="r" b="b" t="t" l="l"/>
            <a:pathLst>
              <a:path h="6356958" w="5395468">
                <a:moveTo>
                  <a:pt x="0" y="0"/>
                </a:moveTo>
                <a:lnTo>
                  <a:pt x="5395468" y="0"/>
                </a:lnTo>
                <a:lnTo>
                  <a:pt x="5395468" y="6356958"/>
                </a:lnTo>
                <a:lnTo>
                  <a:pt x="0" y="6356958"/>
                </a:lnTo>
                <a:lnTo>
                  <a:pt x="0" y="0"/>
                </a:lnTo>
                <a:close/>
              </a:path>
            </a:pathLst>
          </a:custGeom>
          <a:blipFill>
            <a:blip r:embed="rId3"/>
            <a:stretch>
              <a:fillRect l="0" t="0" r="0" b="0"/>
            </a:stretch>
          </a:blipFill>
        </p:spPr>
      </p:sp>
      <p:sp>
        <p:nvSpPr>
          <p:cNvPr name="TextBox 7" id="7"/>
          <p:cNvSpPr txBox="true"/>
          <p:nvPr/>
        </p:nvSpPr>
        <p:spPr>
          <a:xfrm rot="0">
            <a:off x="2577690" y="2134646"/>
            <a:ext cx="13641177" cy="983979"/>
          </a:xfrm>
          <a:prstGeom prst="rect">
            <a:avLst/>
          </a:prstGeom>
        </p:spPr>
        <p:txBody>
          <a:bodyPr anchor="t" rtlCol="false" tIns="0" lIns="0" bIns="0" rIns="0">
            <a:spAutoFit/>
          </a:bodyPr>
          <a:lstStyle/>
          <a:p>
            <a:pPr algn="ctr">
              <a:lnSpc>
                <a:spcPts val="3953"/>
              </a:lnSpc>
              <a:spcBef>
                <a:spcPct val="0"/>
              </a:spcBef>
            </a:pPr>
            <a:r>
              <a:rPr lang="en-US" sz="2824">
                <a:solidFill>
                  <a:srgbClr val="FF009D"/>
                </a:solidFill>
                <a:latin typeface="HK Modular"/>
                <a:ea typeface="HK Modular"/>
                <a:cs typeface="HK Modular"/>
                <a:sym typeface="HK Modular"/>
              </a:rPr>
              <a:t>MODULO DE DIAGRAMACION #7: FLUJO FUNCIONAL ENTRE PANTALLAS</a:t>
            </a:r>
          </a:p>
        </p:txBody>
      </p:sp>
      <p:sp>
        <p:nvSpPr>
          <p:cNvPr name="Freeform 8" id="8"/>
          <p:cNvSpPr/>
          <p:nvPr/>
        </p:nvSpPr>
        <p:spPr>
          <a:xfrm flipH="false" flipV="false" rot="0">
            <a:off x="8226955" y="-150850"/>
            <a:ext cx="2342646" cy="2342646"/>
          </a:xfrm>
          <a:custGeom>
            <a:avLst/>
            <a:gdLst/>
            <a:ahLst/>
            <a:cxnLst/>
            <a:rect r="r" b="b" t="t" l="l"/>
            <a:pathLst>
              <a:path h="2342646" w="2342646">
                <a:moveTo>
                  <a:pt x="0" y="0"/>
                </a:moveTo>
                <a:lnTo>
                  <a:pt x="2342647" y="0"/>
                </a:lnTo>
                <a:lnTo>
                  <a:pt x="2342647" y="2342646"/>
                </a:lnTo>
                <a:lnTo>
                  <a:pt x="0" y="2342646"/>
                </a:lnTo>
                <a:lnTo>
                  <a:pt x="0" y="0"/>
                </a:lnTo>
                <a:close/>
              </a:path>
            </a:pathLst>
          </a:custGeom>
          <a:blipFill>
            <a:blip r:embed="rId4"/>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586639" y="3770322"/>
            <a:ext cx="8011414" cy="5337605"/>
          </a:xfrm>
          <a:custGeom>
            <a:avLst/>
            <a:gdLst/>
            <a:ahLst/>
            <a:cxnLst/>
            <a:rect r="r" b="b" t="t" l="l"/>
            <a:pathLst>
              <a:path h="5337605" w="8011414">
                <a:moveTo>
                  <a:pt x="0" y="0"/>
                </a:moveTo>
                <a:lnTo>
                  <a:pt x="8011414" y="0"/>
                </a:lnTo>
                <a:lnTo>
                  <a:pt x="8011414" y="5337604"/>
                </a:lnTo>
                <a:lnTo>
                  <a:pt x="0" y="5337604"/>
                </a:lnTo>
                <a:lnTo>
                  <a:pt x="0" y="0"/>
                </a:lnTo>
                <a:close/>
              </a:path>
            </a:pathLst>
          </a:custGeom>
          <a:blipFill>
            <a:blip r:embed="rId3"/>
            <a:stretch>
              <a:fillRect l="0" t="0" r="0" b="0"/>
            </a:stretch>
          </a:blipFill>
        </p:spPr>
      </p:sp>
      <p:sp>
        <p:nvSpPr>
          <p:cNvPr name="Freeform 7" id="7"/>
          <p:cNvSpPr/>
          <p:nvPr/>
        </p:nvSpPr>
        <p:spPr>
          <a:xfrm flipH="false" flipV="false" rot="0">
            <a:off x="9537565" y="3770322"/>
            <a:ext cx="8181977" cy="5430787"/>
          </a:xfrm>
          <a:custGeom>
            <a:avLst/>
            <a:gdLst/>
            <a:ahLst/>
            <a:cxnLst/>
            <a:rect r="r" b="b" t="t" l="l"/>
            <a:pathLst>
              <a:path h="5430787" w="8181977">
                <a:moveTo>
                  <a:pt x="0" y="0"/>
                </a:moveTo>
                <a:lnTo>
                  <a:pt x="8181977" y="0"/>
                </a:lnTo>
                <a:lnTo>
                  <a:pt x="8181977" y="5430787"/>
                </a:lnTo>
                <a:lnTo>
                  <a:pt x="0" y="5430787"/>
                </a:lnTo>
                <a:lnTo>
                  <a:pt x="0" y="0"/>
                </a:lnTo>
                <a:close/>
              </a:path>
            </a:pathLst>
          </a:custGeom>
          <a:blipFill>
            <a:blip r:embed="rId4"/>
            <a:stretch>
              <a:fillRect l="0" t="0" r="0" b="0"/>
            </a:stretch>
          </a:blipFill>
        </p:spPr>
      </p:sp>
      <p:sp>
        <p:nvSpPr>
          <p:cNvPr name="TextBox 8" id="8"/>
          <p:cNvSpPr txBox="true"/>
          <p:nvPr/>
        </p:nvSpPr>
        <p:spPr>
          <a:xfrm rot="0">
            <a:off x="2577690" y="2134646"/>
            <a:ext cx="13641177" cy="983979"/>
          </a:xfrm>
          <a:prstGeom prst="rect">
            <a:avLst/>
          </a:prstGeom>
        </p:spPr>
        <p:txBody>
          <a:bodyPr anchor="t" rtlCol="false" tIns="0" lIns="0" bIns="0" rIns="0">
            <a:spAutoFit/>
          </a:bodyPr>
          <a:lstStyle/>
          <a:p>
            <a:pPr algn="ctr">
              <a:lnSpc>
                <a:spcPts val="3953"/>
              </a:lnSpc>
              <a:spcBef>
                <a:spcPct val="0"/>
              </a:spcBef>
            </a:pPr>
            <a:r>
              <a:rPr lang="en-US" sz="2824">
                <a:solidFill>
                  <a:srgbClr val="FF009D"/>
                </a:solidFill>
                <a:latin typeface="HK Modular"/>
                <a:ea typeface="HK Modular"/>
                <a:cs typeface="HK Modular"/>
                <a:sym typeface="HK Modular"/>
              </a:rPr>
              <a:t>MODULO DE DIAGRAMACION #7: FLUJO FUNCIONAL ENTRE PANTALLAS</a:t>
            </a:r>
          </a:p>
        </p:txBody>
      </p:sp>
      <p:sp>
        <p:nvSpPr>
          <p:cNvPr name="TextBox 9" id="9"/>
          <p:cNvSpPr txBox="true"/>
          <p:nvPr/>
        </p:nvSpPr>
        <p:spPr>
          <a:xfrm rot="0">
            <a:off x="1537839" y="9356351"/>
            <a:ext cx="6109013" cy="365378"/>
          </a:xfrm>
          <a:prstGeom prst="rect">
            <a:avLst/>
          </a:prstGeom>
        </p:spPr>
        <p:txBody>
          <a:bodyPr anchor="t" rtlCol="false" tIns="0" lIns="0" bIns="0" rIns="0">
            <a:spAutoFit/>
          </a:bodyPr>
          <a:lstStyle/>
          <a:p>
            <a:pPr algn="ctr">
              <a:lnSpc>
                <a:spcPts val="2938"/>
              </a:lnSpc>
              <a:spcBef>
                <a:spcPct val="0"/>
              </a:spcBef>
            </a:pPr>
            <a:r>
              <a:rPr lang="en-US" sz="2098">
                <a:solidFill>
                  <a:srgbClr val="FFFFFF"/>
                </a:solidFill>
                <a:latin typeface="HK Modular"/>
                <a:ea typeface="HK Modular"/>
                <a:cs typeface="HK Modular"/>
                <a:sym typeface="HK Modular"/>
              </a:rPr>
              <a:t>MOBILE</a:t>
            </a:r>
          </a:p>
        </p:txBody>
      </p:sp>
      <p:sp>
        <p:nvSpPr>
          <p:cNvPr name="TextBox 10" id="10"/>
          <p:cNvSpPr txBox="true"/>
          <p:nvPr/>
        </p:nvSpPr>
        <p:spPr>
          <a:xfrm rot="0">
            <a:off x="10734562" y="9356351"/>
            <a:ext cx="6109013" cy="365378"/>
          </a:xfrm>
          <a:prstGeom prst="rect">
            <a:avLst/>
          </a:prstGeom>
        </p:spPr>
        <p:txBody>
          <a:bodyPr anchor="t" rtlCol="false" tIns="0" lIns="0" bIns="0" rIns="0">
            <a:spAutoFit/>
          </a:bodyPr>
          <a:lstStyle/>
          <a:p>
            <a:pPr algn="ctr">
              <a:lnSpc>
                <a:spcPts val="2938"/>
              </a:lnSpc>
              <a:spcBef>
                <a:spcPct val="0"/>
              </a:spcBef>
            </a:pPr>
            <a:r>
              <a:rPr lang="en-US" sz="2098">
                <a:solidFill>
                  <a:srgbClr val="FFFFFF"/>
                </a:solidFill>
                <a:latin typeface="HK Modular"/>
                <a:ea typeface="HK Modular"/>
                <a:cs typeface="HK Modular"/>
                <a:sym typeface="HK Modular"/>
              </a:rPr>
              <a:t>WEB</a:t>
            </a:r>
          </a:p>
        </p:txBody>
      </p:sp>
      <p:sp>
        <p:nvSpPr>
          <p:cNvPr name="Freeform 11" id="11"/>
          <p:cNvSpPr/>
          <p:nvPr/>
        </p:nvSpPr>
        <p:spPr>
          <a:xfrm flipH="false" flipV="false" rot="0">
            <a:off x="8327150" y="-150850"/>
            <a:ext cx="2342646" cy="2342646"/>
          </a:xfrm>
          <a:custGeom>
            <a:avLst/>
            <a:gdLst/>
            <a:ahLst/>
            <a:cxnLst/>
            <a:rect r="r" b="b" t="t" l="l"/>
            <a:pathLst>
              <a:path h="2342646" w="2342646">
                <a:moveTo>
                  <a:pt x="0" y="0"/>
                </a:moveTo>
                <a:lnTo>
                  <a:pt x="2342646" y="0"/>
                </a:lnTo>
                <a:lnTo>
                  <a:pt x="2342646" y="2342646"/>
                </a:lnTo>
                <a:lnTo>
                  <a:pt x="0" y="2342646"/>
                </a:lnTo>
                <a:lnTo>
                  <a:pt x="0" y="0"/>
                </a:lnTo>
                <a:close/>
              </a:path>
            </a:pathLst>
          </a:custGeom>
          <a:blipFill>
            <a:blip r:embed="rId5"/>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982879" y="2087021"/>
            <a:ext cx="12540977" cy="895959"/>
          </a:xfrm>
          <a:prstGeom prst="rect">
            <a:avLst/>
          </a:prstGeom>
        </p:spPr>
        <p:txBody>
          <a:bodyPr anchor="t" rtlCol="false" tIns="0" lIns="0" bIns="0" rIns="0">
            <a:spAutoFit/>
          </a:bodyPr>
          <a:lstStyle/>
          <a:p>
            <a:pPr algn="ctr">
              <a:lnSpc>
                <a:spcPts val="7316"/>
              </a:lnSpc>
              <a:spcBef>
                <a:spcPct val="0"/>
              </a:spcBef>
            </a:pPr>
            <a:r>
              <a:rPr lang="en-US" sz="5226">
                <a:solidFill>
                  <a:srgbClr val="FF009D"/>
                </a:solidFill>
                <a:latin typeface="HK Modular"/>
                <a:ea typeface="HK Modular"/>
                <a:cs typeface="HK Modular"/>
                <a:sym typeface="HK Modular"/>
              </a:rPr>
              <a:t>DOM</a:t>
            </a:r>
          </a:p>
        </p:txBody>
      </p:sp>
      <p:sp>
        <p:nvSpPr>
          <p:cNvPr name="TextBox 7" id="7"/>
          <p:cNvSpPr txBox="true"/>
          <p:nvPr/>
        </p:nvSpPr>
        <p:spPr>
          <a:xfrm rot="0">
            <a:off x="1356873" y="3275977"/>
            <a:ext cx="15902427" cy="558830"/>
          </a:xfrm>
          <a:prstGeom prst="rect">
            <a:avLst/>
          </a:prstGeom>
        </p:spPr>
        <p:txBody>
          <a:bodyPr anchor="t" rtlCol="false" tIns="0" lIns="0" bIns="0" rIns="0">
            <a:spAutoFit/>
          </a:bodyPr>
          <a:lstStyle/>
          <a:p>
            <a:pPr algn="ctr">
              <a:lnSpc>
                <a:spcPts val="4305"/>
              </a:lnSpc>
              <a:spcBef>
                <a:spcPct val="0"/>
              </a:spcBef>
            </a:pPr>
            <a:r>
              <a:rPr lang="en-US" sz="3075">
                <a:solidFill>
                  <a:srgbClr val="FFFFFF"/>
                </a:solidFill>
                <a:latin typeface="Poppins"/>
                <a:ea typeface="Poppins"/>
                <a:cs typeface="Poppins"/>
                <a:sym typeface="Poppins"/>
              </a:rPr>
              <a:t>“Document Object Model”</a:t>
            </a:r>
          </a:p>
        </p:txBody>
      </p:sp>
      <p:sp>
        <p:nvSpPr>
          <p:cNvPr name="TextBox 8" id="8"/>
          <p:cNvSpPr txBox="true"/>
          <p:nvPr/>
        </p:nvSpPr>
        <p:spPr>
          <a:xfrm rot="0">
            <a:off x="3265091" y="4130082"/>
            <a:ext cx="12461507" cy="1642216"/>
          </a:xfrm>
          <a:prstGeom prst="rect">
            <a:avLst/>
          </a:prstGeom>
        </p:spPr>
        <p:txBody>
          <a:bodyPr anchor="t" rtlCol="false" tIns="0" lIns="0" bIns="0" rIns="0">
            <a:spAutoFit/>
          </a:bodyPr>
          <a:lstStyle/>
          <a:p>
            <a:pPr algn="ctr">
              <a:lnSpc>
                <a:spcPts val="4305"/>
              </a:lnSpc>
              <a:spcBef>
                <a:spcPct val="0"/>
              </a:spcBef>
            </a:pPr>
            <a:r>
              <a:rPr lang="en-US" sz="3075">
                <a:solidFill>
                  <a:srgbClr val="FFFFFF"/>
                </a:solidFill>
                <a:latin typeface="Poppins"/>
                <a:ea typeface="Poppins"/>
                <a:cs typeface="Poppins"/>
                <a:sym typeface="Poppins"/>
              </a:rPr>
              <a:t>Es una representacion del HTML como si fuera un arbol de objetos en Javascript. Es como el navegador traduce el HTML para que el javascript interactue con el</a:t>
            </a:r>
          </a:p>
        </p:txBody>
      </p:sp>
      <p:sp>
        <p:nvSpPr>
          <p:cNvPr name="Freeform 9" id="9"/>
          <p:cNvSpPr/>
          <p:nvPr/>
        </p:nvSpPr>
        <p:spPr>
          <a:xfrm flipH="false" flipV="false" rot="0">
            <a:off x="625042" y="6580661"/>
            <a:ext cx="3368946" cy="2179906"/>
          </a:xfrm>
          <a:custGeom>
            <a:avLst/>
            <a:gdLst/>
            <a:ahLst/>
            <a:cxnLst/>
            <a:rect r="r" b="b" t="t" l="l"/>
            <a:pathLst>
              <a:path h="2179906" w="3368946">
                <a:moveTo>
                  <a:pt x="0" y="0"/>
                </a:moveTo>
                <a:lnTo>
                  <a:pt x="3368947" y="0"/>
                </a:lnTo>
                <a:lnTo>
                  <a:pt x="3368947" y="2179907"/>
                </a:lnTo>
                <a:lnTo>
                  <a:pt x="0" y="2179907"/>
                </a:lnTo>
                <a:lnTo>
                  <a:pt x="0" y="0"/>
                </a:lnTo>
                <a:close/>
              </a:path>
            </a:pathLst>
          </a:custGeom>
          <a:blipFill>
            <a:blip r:embed="rId3"/>
            <a:stretch>
              <a:fillRect l="0" t="0" r="0" b="0"/>
            </a:stretch>
          </a:blipFill>
        </p:spPr>
      </p:sp>
      <p:sp>
        <p:nvSpPr>
          <p:cNvPr name="Freeform 10" id="10"/>
          <p:cNvSpPr/>
          <p:nvPr/>
        </p:nvSpPr>
        <p:spPr>
          <a:xfrm flipH="false" flipV="false" rot="0">
            <a:off x="4273823" y="7010549"/>
            <a:ext cx="1441144" cy="1317992"/>
          </a:xfrm>
          <a:custGeom>
            <a:avLst/>
            <a:gdLst/>
            <a:ahLst/>
            <a:cxnLst/>
            <a:rect r="r" b="b" t="t" l="l"/>
            <a:pathLst>
              <a:path h="1317992" w="1441144">
                <a:moveTo>
                  <a:pt x="0" y="0"/>
                </a:moveTo>
                <a:lnTo>
                  <a:pt x="1441144" y="0"/>
                </a:lnTo>
                <a:lnTo>
                  <a:pt x="1441144" y="1317992"/>
                </a:lnTo>
                <a:lnTo>
                  <a:pt x="0" y="13179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5991192" y="6679070"/>
            <a:ext cx="4345958" cy="1980948"/>
          </a:xfrm>
          <a:custGeom>
            <a:avLst/>
            <a:gdLst/>
            <a:ahLst/>
            <a:cxnLst/>
            <a:rect r="r" b="b" t="t" l="l"/>
            <a:pathLst>
              <a:path h="1980948" w="4345958">
                <a:moveTo>
                  <a:pt x="0" y="0"/>
                </a:moveTo>
                <a:lnTo>
                  <a:pt x="4345958" y="0"/>
                </a:lnTo>
                <a:lnTo>
                  <a:pt x="4345958" y="1980949"/>
                </a:lnTo>
                <a:lnTo>
                  <a:pt x="0" y="1980949"/>
                </a:lnTo>
                <a:lnTo>
                  <a:pt x="0" y="0"/>
                </a:lnTo>
                <a:close/>
              </a:path>
            </a:pathLst>
          </a:custGeom>
          <a:blipFill>
            <a:blip r:embed="rId6"/>
            <a:stretch>
              <a:fillRect l="0" t="0" r="0" b="0"/>
            </a:stretch>
          </a:blipFill>
        </p:spPr>
      </p:sp>
      <p:sp>
        <p:nvSpPr>
          <p:cNvPr name="Freeform 12" id="12"/>
          <p:cNvSpPr/>
          <p:nvPr/>
        </p:nvSpPr>
        <p:spPr>
          <a:xfrm flipH="false" flipV="false" rot="0">
            <a:off x="10727409" y="7010549"/>
            <a:ext cx="1441144" cy="1317992"/>
          </a:xfrm>
          <a:custGeom>
            <a:avLst/>
            <a:gdLst/>
            <a:ahLst/>
            <a:cxnLst/>
            <a:rect r="r" b="b" t="t" l="l"/>
            <a:pathLst>
              <a:path h="1317992" w="1441144">
                <a:moveTo>
                  <a:pt x="0" y="0"/>
                </a:moveTo>
                <a:lnTo>
                  <a:pt x="1441144" y="0"/>
                </a:lnTo>
                <a:lnTo>
                  <a:pt x="1441144" y="1317992"/>
                </a:lnTo>
                <a:lnTo>
                  <a:pt x="0" y="13179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12558812" y="6937477"/>
            <a:ext cx="5548356" cy="1344109"/>
          </a:xfrm>
          <a:custGeom>
            <a:avLst/>
            <a:gdLst/>
            <a:ahLst/>
            <a:cxnLst/>
            <a:rect r="r" b="b" t="t" l="l"/>
            <a:pathLst>
              <a:path h="1344109" w="5548356">
                <a:moveTo>
                  <a:pt x="0" y="0"/>
                </a:moveTo>
                <a:lnTo>
                  <a:pt x="5548357" y="0"/>
                </a:lnTo>
                <a:lnTo>
                  <a:pt x="5548357" y="1344108"/>
                </a:lnTo>
                <a:lnTo>
                  <a:pt x="0" y="1344108"/>
                </a:lnTo>
                <a:lnTo>
                  <a:pt x="0" y="0"/>
                </a:lnTo>
                <a:close/>
              </a:path>
            </a:pathLst>
          </a:custGeom>
          <a:blipFill>
            <a:blip r:embed="rId7"/>
            <a:stretch>
              <a:fillRect l="0" t="0" r="0" b="0"/>
            </a:stretch>
          </a:blipFill>
        </p:spPr>
      </p:sp>
      <p:sp>
        <p:nvSpPr>
          <p:cNvPr name="Freeform 14" id="14"/>
          <p:cNvSpPr/>
          <p:nvPr/>
        </p:nvSpPr>
        <p:spPr>
          <a:xfrm flipH="false" flipV="false" rot="0">
            <a:off x="8327150" y="-150850"/>
            <a:ext cx="2342646" cy="2342646"/>
          </a:xfrm>
          <a:custGeom>
            <a:avLst/>
            <a:gdLst/>
            <a:ahLst/>
            <a:cxnLst/>
            <a:rect r="r" b="b" t="t" l="l"/>
            <a:pathLst>
              <a:path h="2342646" w="2342646">
                <a:moveTo>
                  <a:pt x="0" y="0"/>
                </a:moveTo>
                <a:lnTo>
                  <a:pt x="2342646" y="0"/>
                </a:lnTo>
                <a:lnTo>
                  <a:pt x="2342646" y="2342646"/>
                </a:lnTo>
                <a:lnTo>
                  <a:pt x="0" y="2342646"/>
                </a:lnTo>
                <a:lnTo>
                  <a:pt x="0" y="0"/>
                </a:lnTo>
                <a:close/>
              </a:path>
            </a:pathLst>
          </a:custGeom>
          <a:blipFill>
            <a:blip r:embed="rId8"/>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356873" y="5398110"/>
            <a:ext cx="2771963" cy="2494767"/>
          </a:xfrm>
          <a:custGeom>
            <a:avLst/>
            <a:gdLst/>
            <a:ahLst/>
            <a:cxnLst/>
            <a:rect r="r" b="b" t="t" l="l"/>
            <a:pathLst>
              <a:path h="2494767" w="2771963">
                <a:moveTo>
                  <a:pt x="0" y="0"/>
                </a:moveTo>
                <a:lnTo>
                  <a:pt x="2771963" y="0"/>
                </a:lnTo>
                <a:lnTo>
                  <a:pt x="2771963" y="2494767"/>
                </a:lnTo>
                <a:lnTo>
                  <a:pt x="0" y="2494767"/>
                </a:lnTo>
                <a:lnTo>
                  <a:pt x="0" y="0"/>
                </a:lnTo>
                <a:close/>
              </a:path>
            </a:pathLst>
          </a:custGeom>
          <a:blipFill>
            <a:blip r:embed="rId3"/>
            <a:stretch>
              <a:fillRect l="0" t="0" r="0" b="0"/>
            </a:stretch>
          </a:blipFill>
        </p:spPr>
      </p:sp>
      <p:sp>
        <p:nvSpPr>
          <p:cNvPr name="TextBox 7" id="7"/>
          <p:cNvSpPr txBox="true"/>
          <p:nvPr/>
        </p:nvSpPr>
        <p:spPr>
          <a:xfrm rot="0">
            <a:off x="2982879" y="2087021"/>
            <a:ext cx="12540977" cy="895959"/>
          </a:xfrm>
          <a:prstGeom prst="rect">
            <a:avLst/>
          </a:prstGeom>
        </p:spPr>
        <p:txBody>
          <a:bodyPr anchor="t" rtlCol="false" tIns="0" lIns="0" bIns="0" rIns="0">
            <a:spAutoFit/>
          </a:bodyPr>
          <a:lstStyle/>
          <a:p>
            <a:pPr algn="ctr">
              <a:lnSpc>
                <a:spcPts val="7316"/>
              </a:lnSpc>
              <a:spcBef>
                <a:spcPct val="0"/>
              </a:spcBef>
            </a:pPr>
            <a:r>
              <a:rPr lang="en-US" sz="5226">
                <a:solidFill>
                  <a:srgbClr val="FF009D"/>
                </a:solidFill>
                <a:latin typeface="HK Modular"/>
                <a:ea typeface="HK Modular"/>
                <a:cs typeface="HK Modular"/>
                <a:sym typeface="HK Modular"/>
              </a:rPr>
              <a:t>REACT</a:t>
            </a:r>
          </a:p>
        </p:txBody>
      </p:sp>
      <p:sp>
        <p:nvSpPr>
          <p:cNvPr name="TextBox 8" id="8"/>
          <p:cNvSpPr txBox="true"/>
          <p:nvPr/>
        </p:nvSpPr>
        <p:spPr>
          <a:xfrm rot="0">
            <a:off x="1356873" y="3275977"/>
            <a:ext cx="15902427" cy="1642216"/>
          </a:xfrm>
          <a:prstGeom prst="rect">
            <a:avLst/>
          </a:prstGeom>
        </p:spPr>
        <p:txBody>
          <a:bodyPr anchor="t" rtlCol="false" tIns="0" lIns="0" bIns="0" rIns="0">
            <a:spAutoFit/>
          </a:bodyPr>
          <a:lstStyle/>
          <a:p>
            <a:pPr algn="ctr">
              <a:lnSpc>
                <a:spcPts val="4305"/>
              </a:lnSpc>
              <a:spcBef>
                <a:spcPct val="0"/>
              </a:spcBef>
            </a:pPr>
            <a:r>
              <a:rPr lang="en-US" sz="3075">
                <a:solidFill>
                  <a:srgbClr val="FFFFFF"/>
                </a:solidFill>
                <a:latin typeface="Poppins"/>
                <a:ea typeface="Poppins"/>
                <a:cs typeface="Poppins"/>
                <a:sym typeface="Poppins"/>
              </a:rPr>
              <a:t>Es una biblioteca de Javascript para crear interfaces de usuario (UI) eficientes y declarativas, permitiendo el desarrollo de aplicaciones web y moviles mediante el uso de componentes modulares</a:t>
            </a:r>
          </a:p>
        </p:txBody>
      </p:sp>
      <p:sp>
        <p:nvSpPr>
          <p:cNvPr name="TextBox 9" id="9"/>
          <p:cNvSpPr txBox="true"/>
          <p:nvPr/>
        </p:nvSpPr>
        <p:spPr>
          <a:xfrm rot="0">
            <a:off x="4797793" y="5505914"/>
            <a:ext cx="12461507" cy="3274687"/>
          </a:xfrm>
          <a:prstGeom prst="rect">
            <a:avLst/>
          </a:prstGeom>
        </p:spPr>
        <p:txBody>
          <a:bodyPr anchor="t" rtlCol="false" tIns="0" lIns="0" bIns="0" rIns="0">
            <a:spAutoFit/>
          </a:bodyPr>
          <a:lstStyle/>
          <a:p>
            <a:pPr algn="ctr">
              <a:lnSpc>
                <a:spcPts val="4305"/>
              </a:lnSpc>
            </a:pPr>
            <a:r>
              <a:rPr lang="en-US" sz="3075">
                <a:solidFill>
                  <a:srgbClr val="FFFFFF"/>
                </a:solidFill>
                <a:latin typeface="Poppins"/>
                <a:ea typeface="Poppins"/>
                <a:cs typeface="Poppins"/>
                <a:sym typeface="Poppins"/>
              </a:rPr>
              <a:t>Sus principales propositos son:</a:t>
            </a:r>
          </a:p>
          <a:p>
            <a:pPr algn="l" marL="663962" indent="-331981" lvl="1">
              <a:lnSpc>
                <a:spcPts val="4305"/>
              </a:lnSpc>
              <a:buFont typeface="Arial"/>
              <a:buChar char="•"/>
            </a:pPr>
            <a:r>
              <a:rPr lang="en-US" sz="3075">
                <a:solidFill>
                  <a:srgbClr val="FFFFFF"/>
                </a:solidFill>
                <a:latin typeface="Poppins"/>
                <a:ea typeface="Poppins"/>
                <a:cs typeface="Poppins"/>
                <a:sym typeface="Poppins"/>
              </a:rPr>
              <a:t>F</a:t>
            </a:r>
            <a:r>
              <a:rPr lang="en-US" sz="3075">
                <a:solidFill>
                  <a:srgbClr val="FFFFFF"/>
                </a:solidFill>
                <a:latin typeface="Poppins"/>
                <a:ea typeface="Poppins"/>
                <a:cs typeface="Poppins"/>
                <a:sym typeface="Poppins"/>
              </a:rPr>
              <a:t>acilitar el diseño de interfaces dinamicas</a:t>
            </a:r>
          </a:p>
          <a:p>
            <a:pPr algn="l" marL="663962" indent="-331981" lvl="1">
              <a:lnSpc>
                <a:spcPts val="4305"/>
              </a:lnSpc>
              <a:buFont typeface="Arial"/>
              <a:buChar char="•"/>
            </a:pPr>
            <a:r>
              <a:rPr lang="en-US" sz="3075">
                <a:solidFill>
                  <a:srgbClr val="FFFFFF"/>
                </a:solidFill>
                <a:latin typeface="Poppins"/>
                <a:ea typeface="Poppins"/>
                <a:cs typeface="Poppins"/>
                <a:sym typeface="Poppins"/>
              </a:rPr>
              <a:t>Mejorar el rendimiento de las aplicaciones a traves del DOM virtual</a:t>
            </a:r>
          </a:p>
          <a:p>
            <a:pPr algn="l" marL="663962" indent="-331981" lvl="1">
              <a:lnSpc>
                <a:spcPts val="4305"/>
              </a:lnSpc>
              <a:buFont typeface="Arial"/>
              <a:buChar char="•"/>
            </a:pPr>
            <a:r>
              <a:rPr lang="en-US" sz="3075">
                <a:solidFill>
                  <a:srgbClr val="FFFFFF"/>
                </a:solidFill>
                <a:latin typeface="Poppins"/>
                <a:ea typeface="Poppins"/>
                <a:cs typeface="Poppins"/>
                <a:sym typeface="Poppins"/>
              </a:rPr>
              <a:t>Simplificar el mantenimiento del codigo gracias a la modularidad y el flujo de datos unidireccional</a:t>
            </a:r>
          </a:p>
        </p:txBody>
      </p:sp>
      <p:sp>
        <p:nvSpPr>
          <p:cNvPr name="Freeform 10" id="10"/>
          <p:cNvSpPr/>
          <p:nvPr/>
        </p:nvSpPr>
        <p:spPr>
          <a:xfrm flipH="false" flipV="false" rot="0">
            <a:off x="8327150" y="-150850"/>
            <a:ext cx="2342646" cy="2342646"/>
          </a:xfrm>
          <a:custGeom>
            <a:avLst/>
            <a:gdLst/>
            <a:ahLst/>
            <a:cxnLst/>
            <a:rect r="r" b="b" t="t" l="l"/>
            <a:pathLst>
              <a:path h="2342646" w="2342646">
                <a:moveTo>
                  <a:pt x="0" y="0"/>
                </a:moveTo>
                <a:lnTo>
                  <a:pt x="2342646" y="0"/>
                </a:lnTo>
                <a:lnTo>
                  <a:pt x="2342646" y="2342646"/>
                </a:lnTo>
                <a:lnTo>
                  <a:pt x="0" y="2342646"/>
                </a:lnTo>
                <a:lnTo>
                  <a:pt x="0" y="0"/>
                </a:lnTo>
                <a:close/>
              </a:path>
            </a:pathLst>
          </a:custGeom>
          <a:blipFill>
            <a:blip r:embed="rId4"/>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596897" y="3896117"/>
            <a:ext cx="2771963" cy="2494767"/>
          </a:xfrm>
          <a:custGeom>
            <a:avLst/>
            <a:gdLst/>
            <a:ahLst/>
            <a:cxnLst/>
            <a:rect r="r" b="b" t="t" l="l"/>
            <a:pathLst>
              <a:path h="2494767" w="2771963">
                <a:moveTo>
                  <a:pt x="0" y="0"/>
                </a:moveTo>
                <a:lnTo>
                  <a:pt x="2771963" y="0"/>
                </a:lnTo>
                <a:lnTo>
                  <a:pt x="2771963" y="2494766"/>
                </a:lnTo>
                <a:lnTo>
                  <a:pt x="0" y="2494766"/>
                </a:lnTo>
                <a:lnTo>
                  <a:pt x="0" y="0"/>
                </a:lnTo>
                <a:close/>
              </a:path>
            </a:pathLst>
          </a:custGeom>
          <a:blipFill>
            <a:blip r:embed="rId3"/>
            <a:stretch>
              <a:fillRect l="0" t="0" r="0" b="0"/>
            </a:stretch>
          </a:blipFill>
        </p:spPr>
      </p:sp>
      <p:sp>
        <p:nvSpPr>
          <p:cNvPr name="TextBox 7" id="7"/>
          <p:cNvSpPr txBox="true"/>
          <p:nvPr/>
        </p:nvSpPr>
        <p:spPr>
          <a:xfrm rot="0">
            <a:off x="2982879" y="2087021"/>
            <a:ext cx="12540977" cy="895959"/>
          </a:xfrm>
          <a:prstGeom prst="rect">
            <a:avLst/>
          </a:prstGeom>
        </p:spPr>
        <p:txBody>
          <a:bodyPr anchor="t" rtlCol="false" tIns="0" lIns="0" bIns="0" rIns="0">
            <a:spAutoFit/>
          </a:bodyPr>
          <a:lstStyle/>
          <a:p>
            <a:pPr algn="ctr">
              <a:lnSpc>
                <a:spcPts val="7316"/>
              </a:lnSpc>
              <a:spcBef>
                <a:spcPct val="0"/>
              </a:spcBef>
            </a:pPr>
            <a:r>
              <a:rPr lang="en-US" sz="5226">
                <a:solidFill>
                  <a:srgbClr val="FF009D"/>
                </a:solidFill>
                <a:latin typeface="HK Modular"/>
                <a:ea typeface="HK Modular"/>
                <a:cs typeface="HK Modular"/>
                <a:sym typeface="HK Modular"/>
              </a:rPr>
              <a:t>REACT</a:t>
            </a:r>
          </a:p>
        </p:txBody>
      </p:sp>
      <p:sp>
        <p:nvSpPr>
          <p:cNvPr name="TextBox 8" id="8"/>
          <p:cNvSpPr txBox="true"/>
          <p:nvPr/>
        </p:nvSpPr>
        <p:spPr>
          <a:xfrm rot="0">
            <a:off x="5057485" y="4110069"/>
            <a:ext cx="12461507" cy="1100523"/>
          </a:xfrm>
          <a:prstGeom prst="rect">
            <a:avLst/>
          </a:prstGeom>
        </p:spPr>
        <p:txBody>
          <a:bodyPr anchor="t" rtlCol="false" tIns="0" lIns="0" bIns="0" rIns="0">
            <a:spAutoFit/>
          </a:bodyPr>
          <a:lstStyle/>
          <a:p>
            <a:pPr algn="ctr">
              <a:lnSpc>
                <a:spcPts val="4305"/>
              </a:lnSpc>
              <a:spcBef>
                <a:spcPct val="0"/>
              </a:spcBef>
            </a:pPr>
            <a:r>
              <a:rPr lang="en-US" sz="3075">
                <a:solidFill>
                  <a:srgbClr val="FFFFFF"/>
                </a:solidFill>
                <a:latin typeface="Poppins"/>
                <a:ea typeface="Poppins"/>
                <a:cs typeface="Poppins"/>
                <a:sym typeface="Poppins"/>
              </a:rPr>
              <a:t>Puedes usar varias formas de comenzar un proyecto en react utilizando Vite o con Create React App</a:t>
            </a:r>
          </a:p>
        </p:txBody>
      </p:sp>
      <p:sp>
        <p:nvSpPr>
          <p:cNvPr name="TextBox 9" id="9"/>
          <p:cNvSpPr txBox="true"/>
          <p:nvPr/>
        </p:nvSpPr>
        <p:spPr>
          <a:xfrm rot="0">
            <a:off x="5057485" y="5792997"/>
            <a:ext cx="12461507" cy="1642216"/>
          </a:xfrm>
          <a:prstGeom prst="rect">
            <a:avLst/>
          </a:prstGeom>
        </p:spPr>
        <p:txBody>
          <a:bodyPr anchor="t" rtlCol="false" tIns="0" lIns="0" bIns="0" rIns="0">
            <a:spAutoFit/>
          </a:bodyPr>
          <a:lstStyle/>
          <a:p>
            <a:pPr algn="ctr">
              <a:lnSpc>
                <a:spcPts val="4305"/>
              </a:lnSpc>
              <a:spcBef>
                <a:spcPct val="0"/>
              </a:spcBef>
            </a:pPr>
            <a:r>
              <a:rPr lang="en-US" sz="3075">
                <a:solidFill>
                  <a:srgbClr val="FFFFFF"/>
                </a:solidFill>
                <a:latin typeface="Poppins"/>
                <a:ea typeface="Poppins"/>
                <a:cs typeface="Poppins"/>
                <a:sym typeface="Poppins"/>
              </a:rPr>
              <a:t>Cuando abres un proyecto tiene una estructura basica, es necesario complementarla con una arquitectura adecuada para nuestro sistema</a:t>
            </a:r>
          </a:p>
        </p:txBody>
      </p:sp>
      <p:sp>
        <p:nvSpPr>
          <p:cNvPr name="TextBox 10" id="10"/>
          <p:cNvSpPr txBox="true"/>
          <p:nvPr/>
        </p:nvSpPr>
        <p:spPr>
          <a:xfrm rot="0">
            <a:off x="5057485" y="8085987"/>
            <a:ext cx="12461507" cy="1100523"/>
          </a:xfrm>
          <a:prstGeom prst="rect">
            <a:avLst/>
          </a:prstGeom>
        </p:spPr>
        <p:txBody>
          <a:bodyPr anchor="t" rtlCol="false" tIns="0" lIns="0" bIns="0" rIns="0">
            <a:spAutoFit/>
          </a:bodyPr>
          <a:lstStyle/>
          <a:p>
            <a:pPr algn="ctr">
              <a:lnSpc>
                <a:spcPts val="4305"/>
              </a:lnSpc>
              <a:spcBef>
                <a:spcPct val="0"/>
              </a:spcBef>
            </a:pPr>
            <a:r>
              <a:rPr lang="en-US" sz="3075">
                <a:solidFill>
                  <a:srgbClr val="FFFFFF"/>
                </a:solidFill>
                <a:latin typeface="Poppins"/>
                <a:ea typeface="Poppins"/>
                <a:cs typeface="Poppins"/>
                <a:sym typeface="Poppins"/>
              </a:rPr>
              <a:t>React usa una sintaxis llamada JSX que permite escribir HTML dentro del codigo JavaScript</a:t>
            </a:r>
          </a:p>
        </p:txBody>
      </p:sp>
      <p:sp>
        <p:nvSpPr>
          <p:cNvPr name="Freeform 11" id="11"/>
          <p:cNvSpPr/>
          <p:nvPr/>
        </p:nvSpPr>
        <p:spPr>
          <a:xfrm flipH="false" flipV="false" rot="0">
            <a:off x="8327150" y="-150850"/>
            <a:ext cx="2342646" cy="2342646"/>
          </a:xfrm>
          <a:custGeom>
            <a:avLst/>
            <a:gdLst/>
            <a:ahLst/>
            <a:cxnLst/>
            <a:rect r="r" b="b" t="t" l="l"/>
            <a:pathLst>
              <a:path h="2342646" w="2342646">
                <a:moveTo>
                  <a:pt x="0" y="0"/>
                </a:moveTo>
                <a:lnTo>
                  <a:pt x="2342646" y="0"/>
                </a:lnTo>
                <a:lnTo>
                  <a:pt x="2342646" y="2342646"/>
                </a:lnTo>
                <a:lnTo>
                  <a:pt x="0" y="2342646"/>
                </a:lnTo>
                <a:lnTo>
                  <a:pt x="0" y="0"/>
                </a:lnTo>
                <a:close/>
              </a:path>
            </a:pathLst>
          </a:custGeom>
          <a:blipFill>
            <a:blip r:embed="rId4"/>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6321422" y="3417444"/>
            <a:ext cx="1784797" cy="1606317"/>
          </a:xfrm>
          <a:custGeom>
            <a:avLst/>
            <a:gdLst/>
            <a:ahLst/>
            <a:cxnLst/>
            <a:rect r="r" b="b" t="t" l="l"/>
            <a:pathLst>
              <a:path h="1606317" w="1784797">
                <a:moveTo>
                  <a:pt x="0" y="0"/>
                </a:moveTo>
                <a:lnTo>
                  <a:pt x="1784797" y="0"/>
                </a:lnTo>
                <a:lnTo>
                  <a:pt x="1784797" y="1606317"/>
                </a:lnTo>
                <a:lnTo>
                  <a:pt x="0" y="1606317"/>
                </a:lnTo>
                <a:lnTo>
                  <a:pt x="0" y="0"/>
                </a:lnTo>
                <a:close/>
              </a:path>
            </a:pathLst>
          </a:custGeom>
          <a:blipFill>
            <a:blip r:embed="rId3"/>
            <a:stretch>
              <a:fillRect l="0" t="0" r="0" b="0"/>
            </a:stretch>
          </a:blipFill>
        </p:spPr>
      </p:sp>
      <p:sp>
        <p:nvSpPr>
          <p:cNvPr name="Freeform 7" id="7"/>
          <p:cNvSpPr/>
          <p:nvPr/>
        </p:nvSpPr>
        <p:spPr>
          <a:xfrm flipH="false" flipV="false" rot="0">
            <a:off x="8538619" y="3417444"/>
            <a:ext cx="1210761" cy="1606317"/>
          </a:xfrm>
          <a:custGeom>
            <a:avLst/>
            <a:gdLst/>
            <a:ahLst/>
            <a:cxnLst/>
            <a:rect r="r" b="b" t="t" l="l"/>
            <a:pathLst>
              <a:path h="1606317" w="1210761">
                <a:moveTo>
                  <a:pt x="0" y="0"/>
                </a:moveTo>
                <a:lnTo>
                  <a:pt x="1210762" y="0"/>
                </a:lnTo>
                <a:lnTo>
                  <a:pt x="1210762" y="1606317"/>
                </a:lnTo>
                <a:lnTo>
                  <a:pt x="0" y="160631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0277685" y="3268513"/>
            <a:ext cx="1904178" cy="1904178"/>
          </a:xfrm>
          <a:custGeom>
            <a:avLst/>
            <a:gdLst/>
            <a:ahLst/>
            <a:cxnLst/>
            <a:rect r="r" b="b" t="t" l="l"/>
            <a:pathLst>
              <a:path h="1904178" w="1904178">
                <a:moveTo>
                  <a:pt x="0" y="0"/>
                </a:moveTo>
                <a:lnTo>
                  <a:pt x="1904178" y="0"/>
                </a:lnTo>
                <a:lnTo>
                  <a:pt x="1904178" y="1904178"/>
                </a:lnTo>
                <a:lnTo>
                  <a:pt x="0" y="1904178"/>
                </a:lnTo>
                <a:lnTo>
                  <a:pt x="0" y="0"/>
                </a:lnTo>
                <a:close/>
              </a:path>
            </a:pathLst>
          </a:custGeom>
          <a:blipFill>
            <a:blip r:embed="rId6"/>
            <a:stretch>
              <a:fillRect l="0" t="0" r="0" b="0"/>
            </a:stretch>
          </a:blipFill>
        </p:spPr>
      </p:sp>
      <p:sp>
        <p:nvSpPr>
          <p:cNvPr name="Freeform 9" id="9"/>
          <p:cNvSpPr/>
          <p:nvPr/>
        </p:nvSpPr>
        <p:spPr>
          <a:xfrm flipH="false" flipV="false" rot="0">
            <a:off x="4449687" y="5784569"/>
            <a:ext cx="9388625" cy="3802393"/>
          </a:xfrm>
          <a:custGeom>
            <a:avLst/>
            <a:gdLst/>
            <a:ahLst/>
            <a:cxnLst/>
            <a:rect r="r" b="b" t="t" l="l"/>
            <a:pathLst>
              <a:path h="3802393" w="9388625">
                <a:moveTo>
                  <a:pt x="0" y="0"/>
                </a:moveTo>
                <a:lnTo>
                  <a:pt x="9388626" y="0"/>
                </a:lnTo>
                <a:lnTo>
                  <a:pt x="9388626" y="3802393"/>
                </a:lnTo>
                <a:lnTo>
                  <a:pt x="0" y="3802393"/>
                </a:lnTo>
                <a:lnTo>
                  <a:pt x="0" y="0"/>
                </a:lnTo>
                <a:close/>
              </a:path>
            </a:pathLst>
          </a:custGeom>
          <a:blipFill>
            <a:blip r:embed="rId7"/>
            <a:stretch>
              <a:fillRect l="0" t="0" r="0" b="0"/>
            </a:stretch>
          </a:blipFill>
        </p:spPr>
      </p:sp>
      <p:sp>
        <p:nvSpPr>
          <p:cNvPr name="TextBox 10" id="10"/>
          <p:cNvSpPr txBox="true"/>
          <p:nvPr/>
        </p:nvSpPr>
        <p:spPr>
          <a:xfrm rot="0">
            <a:off x="2982879" y="2087021"/>
            <a:ext cx="12540977" cy="895959"/>
          </a:xfrm>
          <a:prstGeom prst="rect">
            <a:avLst/>
          </a:prstGeom>
        </p:spPr>
        <p:txBody>
          <a:bodyPr anchor="t" rtlCol="false" tIns="0" lIns="0" bIns="0" rIns="0">
            <a:spAutoFit/>
          </a:bodyPr>
          <a:lstStyle/>
          <a:p>
            <a:pPr algn="ctr">
              <a:lnSpc>
                <a:spcPts val="7316"/>
              </a:lnSpc>
              <a:spcBef>
                <a:spcPct val="0"/>
              </a:spcBef>
            </a:pPr>
            <a:r>
              <a:rPr lang="en-US" sz="5226">
                <a:solidFill>
                  <a:srgbClr val="FF009D"/>
                </a:solidFill>
                <a:latin typeface="HK Modular"/>
                <a:ea typeface="HK Modular"/>
                <a:cs typeface="HK Modular"/>
                <a:sym typeface="HK Modular"/>
              </a:rPr>
              <a:t>REACT</a:t>
            </a:r>
          </a:p>
        </p:txBody>
      </p:sp>
      <p:sp>
        <p:nvSpPr>
          <p:cNvPr name="Freeform 11" id="11"/>
          <p:cNvSpPr/>
          <p:nvPr/>
        </p:nvSpPr>
        <p:spPr>
          <a:xfrm flipH="false" flipV="false" rot="0">
            <a:off x="8082044" y="-150850"/>
            <a:ext cx="2342646" cy="2342646"/>
          </a:xfrm>
          <a:custGeom>
            <a:avLst/>
            <a:gdLst/>
            <a:ahLst/>
            <a:cxnLst/>
            <a:rect r="r" b="b" t="t" l="l"/>
            <a:pathLst>
              <a:path h="2342646" w="2342646">
                <a:moveTo>
                  <a:pt x="0" y="0"/>
                </a:moveTo>
                <a:lnTo>
                  <a:pt x="2342646" y="0"/>
                </a:lnTo>
                <a:lnTo>
                  <a:pt x="2342646" y="2342646"/>
                </a:lnTo>
                <a:lnTo>
                  <a:pt x="0" y="2342646"/>
                </a:lnTo>
                <a:lnTo>
                  <a:pt x="0" y="0"/>
                </a:lnTo>
                <a:close/>
              </a:path>
            </a:pathLst>
          </a:custGeom>
          <a:blipFill>
            <a:blip r:embed="rId8"/>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3624311" y="2130917"/>
            <a:ext cx="1014379" cy="912941"/>
          </a:xfrm>
          <a:custGeom>
            <a:avLst/>
            <a:gdLst/>
            <a:ahLst/>
            <a:cxnLst/>
            <a:rect r="r" b="b" t="t" l="l"/>
            <a:pathLst>
              <a:path h="912941" w="1014379">
                <a:moveTo>
                  <a:pt x="0" y="0"/>
                </a:moveTo>
                <a:lnTo>
                  <a:pt x="1014379" y="0"/>
                </a:lnTo>
                <a:lnTo>
                  <a:pt x="1014379" y="912941"/>
                </a:lnTo>
                <a:lnTo>
                  <a:pt x="0" y="912941"/>
                </a:lnTo>
                <a:lnTo>
                  <a:pt x="0" y="0"/>
                </a:lnTo>
                <a:close/>
              </a:path>
            </a:pathLst>
          </a:custGeom>
          <a:blipFill>
            <a:blip r:embed="rId3"/>
            <a:stretch>
              <a:fillRect l="0" t="0" r="0" b="0"/>
            </a:stretch>
          </a:blipFill>
        </p:spPr>
      </p:sp>
      <p:sp>
        <p:nvSpPr>
          <p:cNvPr name="Freeform 7" id="7"/>
          <p:cNvSpPr/>
          <p:nvPr/>
        </p:nvSpPr>
        <p:spPr>
          <a:xfrm flipH="false" flipV="false" rot="0">
            <a:off x="1182155" y="3724529"/>
            <a:ext cx="7961845" cy="5137939"/>
          </a:xfrm>
          <a:custGeom>
            <a:avLst/>
            <a:gdLst/>
            <a:ahLst/>
            <a:cxnLst/>
            <a:rect r="r" b="b" t="t" l="l"/>
            <a:pathLst>
              <a:path h="5137939" w="7961845">
                <a:moveTo>
                  <a:pt x="0" y="0"/>
                </a:moveTo>
                <a:lnTo>
                  <a:pt x="7961845" y="0"/>
                </a:lnTo>
                <a:lnTo>
                  <a:pt x="7961845" y="5137940"/>
                </a:lnTo>
                <a:lnTo>
                  <a:pt x="0" y="5137940"/>
                </a:lnTo>
                <a:lnTo>
                  <a:pt x="0" y="0"/>
                </a:lnTo>
                <a:close/>
              </a:path>
            </a:pathLst>
          </a:custGeom>
          <a:blipFill>
            <a:blip r:embed="rId4"/>
            <a:stretch>
              <a:fillRect l="0" t="0" r="0" b="0"/>
            </a:stretch>
          </a:blipFill>
        </p:spPr>
      </p:sp>
      <p:sp>
        <p:nvSpPr>
          <p:cNvPr name="TextBox 8" id="8"/>
          <p:cNvSpPr txBox="true"/>
          <p:nvPr/>
        </p:nvSpPr>
        <p:spPr>
          <a:xfrm rot="0">
            <a:off x="2982879" y="2087021"/>
            <a:ext cx="12540977" cy="895959"/>
          </a:xfrm>
          <a:prstGeom prst="rect">
            <a:avLst/>
          </a:prstGeom>
        </p:spPr>
        <p:txBody>
          <a:bodyPr anchor="t" rtlCol="false" tIns="0" lIns="0" bIns="0" rIns="0">
            <a:spAutoFit/>
          </a:bodyPr>
          <a:lstStyle/>
          <a:p>
            <a:pPr algn="ctr">
              <a:lnSpc>
                <a:spcPts val="7316"/>
              </a:lnSpc>
              <a:spcBef>
                <a:spcPct val="0"/>
              </a:spcBef>
            </a:pPr>
            <a:r>
              <a:rPr lang="en-US" sz="5226">
                <a:solidFill>
                  <a:srgbClr val="FF009D"/>
                </a:solidFill>
                <a:latin typeface="HK Modular"/>
                <a:ea typeface="HK Modular"/>
                <a:cs typeface="HK Modular"/>
                <a:sym typeface="HK Modular"/>
              </a:rPr>
              <a:t>REACT : SINTAXIS</a:t>
            </a:r>
          </a:p>
        </p:txBody>
      </p:sp>
      <p:sp>
        <p:nvSpPr>
          <p:cNvPr name="TextBox 9" id="9"/>
          <p:cNvSpPr txBox="true"/>
          <p:nvPr/>
        </p:nvSpPr>
        <p:spPr>
          <a:xfrm rot="0">
            <a:off x="9634557" y="5048250"/>
            <a:ext cx="8338896" cy="2183909"/>
          </a:xfrm>
          <a:prstGeom prst="rect">
            <a:avLst/>
          </a:prstGeom>
        </p:spPr>
        <p:txBody>
          <a:bodyPr anchor="t" rtlCol="false" tIns="0" lIns="0" bIns="0" rIns="0">
            <a:spAutoFit/>
          </a:bodyPr>
          <a:lstStyle/>
          <a:p>
            <a:pPr algn="ctr">
              <a:lnSpc>
                <a:spcPts val="4305"/>
              </a:lnSpc>
              <a:spcBef>
                <a:spcPct val="0"/>
              </a:spcBef>
            </a:pPr>
            <a:r>
              <a:rPr lang="en-US" sz="3075">
                <a:solidFill>
                  <a:srgbClr val="FFFFFF"/>
                </a:solidFill>
                <a:latin typeface="Poppins"/>
                <a:ea typeface="Poppins"/>
                <a:cs typeface="Poppins"/>
                <a:sym typeface="Poppins"/>
              </a:rPr>
              <a:t>JSX no es HTML real, al compilarse React lo convierte en llamadas a funciones Javascript que crean elementos del DOM virtual</a:t>
            </a:r>
          </a:p>
        </p:txBody>
      </p:sp>
      <p:sp>
        <p:nvSpPr>
          <p:cNvPr name="Freeform 10" id="10"/>
          <p:cNvSpPr/>
          <p:nvPr/>
        </p:nvSpPr>
        <p:spPr>
          <a:xfrm flipH="false" flipV="false" rot="0">
            <a:off x="8327150" y="-150850"/>
            <a:ext cx="2342646" cy="2342646"/>
          </a:xfrm>
          <a:custGeom>
            <a:avLst/>
            <a:gdLst/>
            <a:ahLst/>
            <a:cxnLst/>
            <a:rect r="r" b="b" t="t" l="l"/>
            <a:pathLst>
              <a:path h="2342646" w="2342646">
                <a:moveTo>
                  <a:pt x="0" y="0"/>
                </a:moveTo>
                <a:lnTo>
                  <a:pt x="2342646" y="0"/>
                </a:lnTo>
                <a:lnTo>
                  <a:pt x="2342646" y="2342646"/>
                </a:lnTo>
                <a:lnTo>
                  <a:pt x="0" y="2342646"/>
                </a:lnTo>
                <a:lnTo>
                  <a:pt x="0" y="0"/>
                </a:lnTo>
                <a:close/>
              </a:path>
            </a:pathLst>
          </a:custGeom>
          <a:blipFill>
            <a:blip r:embed="rId5"/>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2878672" y="2070038"/>
            <a:ext cx="1014379" cy="912941"/>
          </a:xfrm>
          <a:custGeom>
            <a:avLst/>
            <a:gdLst/>
            <a:ahLst/>
            <a:cxnLst/>
            <a:rect r="r" b="b" t="t" l="l"/>
            <a:pathLst>
              <a:path h="912941" w="1014379">
                <a:moveTo>
                  <a:pt x="0" y="0"/>
                </a:moveTo>
                <a:lnTo>
                  <a:pt x="1014379" y="0"/>
                </a:lnTo>
                <a:lnTo>
                  <a:pt x="1014379" y="912942"/>
                </a:lnTo>
                <a:lnTo>
                  <a:pt x="0" y="912942"/>
                </a:lnTo>
                <a:lnTo>
                  <a:pt x="0" y="0"/>
                </a:lnTo>
                <a:close/>
              </a:path>
            </a:pathLst>
          </a:custGeom>
          <a:blipFill>
            <a:blip r:embed="rId3"/>
            <a:stretch>
              <a:fillRect l="0" t="0" r="0" b="0"/>
            </a:stretch>
          </a:blipFill>
        </p:spPr>
      </p:sp>
      <p:sp>
        <p:nvSpPr>
          <p:cNvPr name="Freeform 7" id="7"/>
          <p:cNvSpPr/>
          <p:nvPr/>
        </p:nvSpPr>
        <p:spPr>
          <a:xfrm flipH="false" flipV="false" rot="0">
            <a:off x="1953326" y="3718428"/>
            <a:ext cx="6265972" cy="5539872"/>
          </a:xfrm>
          <a:custGeom>
            <a:avLst/>
            <a:gdLst/>
            <a:ahLst/>
            <a:cxnLst/>
            <a:rect r="r" b="b" t="t" l="l"/>
            <a:pathLst>
              <a:path h="5539872" w="6265972">
                <a:moveTo>
                  <a:pt x="0" y="0"/>
                </a:moveTo>
                <a:lnTo>
                  <a:pt x="6265972" y="0"/>
                </a:lnTo>
                <a:lnTo>
                  <a:pt x="6265972" y="5539872"/>
                </a:lnTo>
                <a:lnTo>
                  <a:pt x="0" y="5539872"/>
                </a:lnTo>
                <a:lnTo>
                  <a:pt x="0" y="0"/>
                </a:lnTo>
                <a:close/>
              </a:path>
            </a:pathLst>
          </a:custGeom>
          <a:blipFill>
            <a:blip r:embed="rId4"/>
            <a:stretch>
              <a:fillRect l="0" t="0" r="0" b="0"/>
            </a:stretch>
          </a:blipFill>
        </p:spPr>
      </p:sp>
      <p:sp>
        <p:nvSpPr>
          <p:cNvPr name="TextBox 8" id="8"/>
          <p:cNvSpPr txBox="true"/>
          <p:nvPr/>
        </p:nvSpPr>
        <p:spPr>
          <a:xfrm rot="0">
            <a:off x="2982879" y="2087021"/>
            <a:ext cx="12540977" cy="895959"/>
          </a:xfrm>
          <a:prstGeom prst="rect">
            <a:avLst/>
          </a:prstGeom>
        </p:spPr>
        <p:txBody>
          <a:bodyPr anchor="t" rtlCol="false" tIns="0" lIns="0" bIns="0" rIns="0">
            <a:spAutoFit/>
          </a:bodyPr>
          <a:lstStyle/>
          <a:p>
            <a:pPr algn="ctr">
              <a:lnSpc>
                <a:spcPts val="7316"/>
              </a:lnSpc>
              <a:spcBef>
                <a:spcPct val="0"/>
              </a:spcBef>
            </a:pPr>
            <a:r>
              <a:rPr lang="en-US" sz="5226">
                <a:solidFill>
                  <a:srgbClr val="FF009D"/>
                </a:solidFill>
                <a:latin typeface="HK Modular"/>
                <a:ea typeface="HK Modular"/>
                <a:cs typeface="HK Modular"/>
                <a:sym typeface="HK Modular"/>
              </a:rPr>
              <a:t>REACT: COMPONENTES</a:t>
            </a:r>
          </a:p>
        </p:txBody>
      </p:sp>
      <p:sp>
        <p:nvSpPr>
          <p:cNvPr name="TextBox 9" id="9"/>
          <p:cNvSpPr txBox="true"/>
          <p:nvPr/>
        </p:nvSpPr>
        <p:spPr>
          <a:xfrm rot="0">
            <a:off x="10010643" y="3642228"/>
            <a:ext cx="6824345" cy="1342199"/>
          </a:xfrm>
          <a:prstGeom prst="rect">
            <a:avLst/>
          </a:prstGeom>
        </p:spPr>
        <p:txBody>
          <a:bodyPr anchor="t" rtlCol="false" tIns="0" lIns="0" bIns="0" rIns="0">
            <a:spAutoFit/>
          </a:bodyPr>
          <a:lstStyle/>
          <a:p>
            <a:pPr algn="ctr">
              <a:lnSpc>
                <a:spcPts val="3523"/>
              </a:lnSpc>
              <a:spcBef>
                <a:spcPct val="0"/>
              </a:spcBef>
            </a:pPr>
            <a:r>
              <a:rPr lang="en-US" sz="2516">
                <a:solidFill>
                  <a:srgbClr val="FFFFFF"/>
                </a:solidFill>
                <a:latin typeface="Poppins"/>
                <a:ea typeface="Poppins"/>
                <a:cs typeface="Poppins"/>
                <a:sym typeface="Poppins"/>
              </a:rPr>
              <a:t>React se basa en componentes, un componente es una funcion o clase que devuelve JSX</a:t>
            </a:r>
          </a:p>
        </p:txBody>
      </p:sp>
      <p:sp>
        <p:nvSpPr>
          <p:cNvPr name="TextBox 10" id="10"/>
          <p:cNvSpPr txBox="true"/>
          <p:nvPr/>
        </p:nvSpPr>
        <p:spPr>
          <a:xfrm rot="0">
            <a:off x="10065868" y="5353276"/>
            <a:ext cx="6713895" cy="2193976"/>
          </a:xfrm>
          <a:prstGeom prst="rect">
            <a:avLst/>
          </a:prstGeom>
        </p:spPr>
        <p:txBody>
          <a:bodyPr anchor="t" rtlCol="false" tIns="0" lIns="0" bIns="0" rIns="0">
            <a:spAutoFit/>
          </a:bodyPr>
          <a:lstStyle/>
          <a:p>
            <a:pPr algn="ctr">
              <a:lnSpc>
                <a:spcPts val="3466"/>
              </a:lnSpc>
              <a:spcBef>
                <a:spcPct val="0"/>
              </a:spcBef>
            </a:pPr>
            <a:r>
              <a:rPr lang="en-US" sz="2476">
                <a:solidFill>
                  <a:srgbClr val="FFFFFF"/>
                </a:solidFill>
                <a:latin typeface="Poppins"/>
                <a:ea typeface="Poppins"/>
                <a:cs typeface="Poppins"/>
                <a:sym typeface="Poppins"/>
              </a:rPr>
              <a:t>Cada componente puede tener su propio comportamiento o estilo, puede reutilizarse en distintas partes del proyecto y recibir props (propiedades) para hacerlo dinamico</a:t>
            </a:r>
          </a:p>
        </p:txBody>
      </p:sp>
      <p:sp>
        <p:nvSpPr>
          <p:cNvPr name="TextBox 11" id="11"/>
          <p:cNvSpPr txBox="true"/>
          <p:nvPr/>
        </p:nvSpPr>
        <p:spPr>
          <a:xfrm rot="0">
            <a:off x="10147561" y="8214002"/>
            <a:ext cx="6550508" cy="856354"/>
          </a:xfrm>
          <a:prstGeom prst="rect">
            <a:avLst/>
          </a:prstGeom>
        </p:spPr>
        <p:txBody>
          <a:bodyPr anchor="t" rtlCol="false" tIns="0" lIns="0" bIns="0" rIns="0">
            <a:spAutoFit/>
          </a:bodyPr>
          <a:lstStyle/>
          <a:p>
            <a:pPr algn="ctr">
              <a:lnSpc>
                <a:spcPts val="3382"/>
              </a:lnSpc>
              <a:spcBef>
                <a:spcPct val="0"/>
              </a:spcBef>
            </a:pPr>
            <a:r>
              <a:rPr lang="en-US" sz="2415">
                <a:solidFill>
                  <a:srgbClr val="FFFFFF"/>
                </a:solidFill>
                <a:latin typeface="Poppins"/>
                <a:ea typeface="Poppins"/>
                <a:cs typeface="Poppins"/>
                <a:sym typeface="Poppins"/>
              </a:rPr>
              <a:t>Pueden ser usados componentes de la biblioteca de React o personalizados</a:t>
            </a:r>
          </a:p>
        </p:txBody>
      </p:sp>
      <p:sp>
        <p:nvSpPr>
          <p:cNvPr name="Freeform 12" id="12"/>
          <p:cNvSpPr/>
          <p:nvPr/>
        </p:nvSpPr>
        <p:spPr>
          <a:xfrm flipH="false" flipV="false" rot="0">
            <a:off x="8082044" y="-150850"/>
            <a:ext cx="2342646" cy="2342646"/>
          </a:xfrm>
          <a:custGeom>
            <a:avLst/>
            <a:gdLst/>
            <a:ahLst/>
            <a:cxnLst/>
            <a:rect r="r" b="b" t="t" l="l"/>
            <a:pathLst>
              <a:path h="2342646" w="2342646">
                <a:moveTo>
                  <a:pt x="0" y="0"/>
                </a:moveTo>
                <a:lnTo>
                  <a:pt x="2342646" y="0"/>
                </a:lnTo>
                <a:lnTo>
                  <a:pt x="2342646" y="2342646"/>
                </a:lnTo>
                <a:lnTo>
                  <a:pt x="0" y="2342646"/>
                </a:lnTo>
                <a:lnTo>
                  <a:pt x="0" y="0"/>
                </a:lnTo>
                <a:close/>
              </a:path>
            </a:pathLst>
          </a:custGeom>
          <a:blipFill>
            <a:blip r:embed="rId5"/>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2734332" y="2065018"/>
            <a:ext cx="1014379" cy="912941"/>
          </a:xfrm>
          <a:custGeom>
            <a:avLst/>
            <a:gdLst/>
            <a:ahLst/>
            <a:cxnLst/>
            <a:rect r="r" b="b" t="t" l="l"/>
            <a:pathLst>
              <a:path h="912941" w="1014379">
                <a:moveTo>
                  <a:pt x="0" y="0"/>
                </a:moveTo>
                <a:lnTo>
                  <a:pt x="1014379" y="0"/>
                </a:lnTo>
                <a:lnTo>
                  <a:pt x="1014379" y="912942"/>
                </a:lnTo>
                <a:lnTo>
                  <a:pt x="0" y="912942"/>
                </a:lnTo>
                <a:lnTo>
                  <a:pt x="0" y="0"/>
                </a:lnTo>
                <a:close/>
              </a:path>
            </a:pathLst>
          </a:custGeom>
          <a:blipFill>
            <a:blip r:embed="rId3"/>
            <a:stretch>
              <a:fillRect l="0" t="0" r="0" b="0"/>
            </a:stretch>
          </a:blipFill>
        </p:spPr>
      </p:sp>
      <p:sp>
        <p:nvSpPr>
          <p:cNvPr name="Freeform 7" id="7"/>
          <p:cNvSpPr/>
          <p:nvPr/>
        </p:nvSpPr>
        <p:spPr>
          <a:xfrm flipH="false" flipV="false" rot="0">
            <a:off x="2157331" y="6010426"/>
            <a:ext cx="5672726" cy="1775139"/>
          </a:xfrm>
          <a:custGeom>
            <a:avLst/>
            <a:gdLst/>
            <a:ahLst/>
            <a:cxnLst/>
            <a:rect r="r" b="b" t="t" l="l"/>
            <a:pathLst>
              <a:path h="1775139" w="5672726">
                <a:moveTo>
                  <a:pt x="0" y="0"/>
                </a:moveTo>
                <a:lnTo>
                  <a:pt x="5672726" y="0"/>
                </a:lnTo>
                <a:lnTo>
                  <a:pt x="5672726" y="1775138"/>
                </a:lnTo>
                <a:lnTo>
                  <a:pt x="0" y="1775138"/>
                </a:lnTo>
                <a:lnTo>
                  <a:pt x="0" y="0"/>
                </a:lnTo>
                <a:close/>
              </a:path>
            </a:pathLst>
          </a:custGeom>
          <a:blipFill>
            <a:blip r:embed="rId4"/>
            <a:stretch>
              <a:fillRect l="0" t="0" r="0" b="0"/>
            </a:stretch>
          </a:blipFill>
        </p:spPr>
      </p:sp>
      <p:sp>
        <p:nvSpPr>
          <p:cNvPr name="Freeform 8" id="8"/>
          <p:cNvSpPr/>
          <p:nvPr/>
        </p:nvSpPr>
        <p:spPr>
          <a:xfrm flipH="false" flipV="false" rot="0">
            <a:off x="1954395" y="8038362"/>
            <a:ext cx="6078597" cy="1647104"/>
          </a:xfrm>
          <a:custGeom>
            <a:avLst/>
            <a:gdLst/>
            <a:ahLst/>
            <a:cxnLst/>
            <a:rect r="r" b="b" t="t" l="l"/>
            <a:pathLst>
              <a:path h="1647104" w="6078597">
                <a:moveTo>
                  <a:pt x="0" y="0"/>
                </a:moveTo>
                <a:lnTo>
                  <a:pt x="6078597" y="0"/>
                </a:lnTo>
                <a:lnTo>
                  <a:pt x="6078597" y="1647104"/>
                </a:lnTo>
                <a:lnTo>
                  <a:pt x="0" y="1647104"/>
                </a:lnTo>
                <a:lnTo>
                  <a:pt x="0" y="0"/>
                </a:lnTo>
                <a:close/>
              </a:path>
            </a:pathLst>
          </a:custGeom>
          <a:blipFill>
            <a:blip r:embed="rId5"/>
            <a:stretch>
              <a:fillRect l="0" t="0" r="0" b="0"/>
            </a:stretch>
          </a:blipFill>
        </p:spPr>
      </p:sp>
      <p:sp>
        <p:nvSpPr>
          <p:cNvPr name="Freeform 9" id="9"/>
          <p:cNvSpPr/>
          <p:nvPr/>
        </p:nvSpPr>
        <p:spPr>
          <a:xfrm flipH="false" flipV="false" rot="0">
            <a:off x="3418361" y="3517156"/>
            <a:ext cx="3150665" cy="2240473"/>
          </a:xfrm>
          <a:custGeom>
            <a:avLst/>
            <a:gdLst/>
            <a:ahLst/>
            <a:cxnLst/>
            <a:rect r="r" b="b" t="t" l="l"/>
            <a:pathLst>
              <a:path h="2240473" w="3150665">
                <a:moveTo>
                  <a:pt x="0" y="0"/>
                </a:moveTo>
                <a:lnTo>
                  <a:pt x="3150665" y="0"/>
                </a:lnTo>
                <a:lnTo>
                  <a:pt x="3150665" y="2240473"/>
                </a:lnTo>
                <a:lnTo>
                  <a:pt x="0" y="2240473"/>
                </a:lnTo>
                <a:lnTo>
                  <a:pt x="0" y="0"/>
                </a:lnTo>
                <a:close/>
              </a:path>
            </a:pathLst>
          </a:custGeom>
          <a:blipFill>
            <a:blip r:embed="rId6"/>
            <a:stretch>
              <a:fillRect l="0" t="0" r="0" b="0"/>
            </a:stretch>
          </a:blipFill>
        </p:spPr>
      </p:sp>
      <p:sp>
        <p:nvSpPr>
          <p:cNvPr name="TextBox 10" id="10"/>
          <p:cNvSpPr txBox="true"/>
          <p:nvPr/>
        </p:nvSpPr>
        <p:spPr>
          <a:xfrm rot="0">
            <a:off x="2734332" y="2021122"/>
            <a:ext cx="12540977" cy="895959"/>
          </a:xfrm>
          <a:prstGeom prst="rect">
            <a:avLst/>
          </a:prstGeom>
        </p:spPr>
        <p:txBody>
          <a:bodyPr anchor="t" rtlCol="false" tIns="0" lIns="0" bIns="0" rIns="0">
            <a:spAutoFit/>
          </a:bodyPr>
          <a:lstStyle/>
          <a:p>
            <a:pPr algn="ctr">
              <a:lnSpc>
                <a:spcPts val="7316"/>
              </a:lnSpc>
              <a:spcBef>
                <a:spcPct val="0"/>
              </a:spcBef>
            </a:pPr>
            <a:r>
              <a:rPr lang="en-US" sz="5226">
                <a:solidFill>
                  <a:srgbClr val="FF009D"/>
                </a:solidFill>
                <a:latin typeface="HK Modular"/>
                <a:ea typeface="HK Modular"/>
                <a:cs typeface="HK Modular"/>
                <a:sym typeface="HK Modular"/>
              </a:rPr>
              <a:t>REACT: ESTILOS</a:t>
            </a:r>
          </a:p>
        </p:txBody>
      </p:sp>
      <p:sp>
        <p:nvSpPr>
          <p:cNvPr name="TextBox 11" id="11"/>
          <p:cNvSpPr txBox="true"/>
          <p:nvPr/>
        </p:nvSpPr>
        <p:spPr>
          <a:xfrm rot="0">
            <a:off x="9253367" y="3782251"/>
            <a:ext cx="8338896" cy="1100523"/>
          </a:xfrm>
          <a:prstGeom prst="rect">
            <a:avLst/>
          </a:prstGeom>
        </p:spPr>
        <p:txBody>
          <a:bodyPr anchor="t" rtlCol="false" tIns="0" lIns="0" bIns="0" rIns="0">
            <a:spAutoFit/>
          </a:bodyPr>
          <a:lstStyle/>
          <a:p>
            <a:pPr algn="ctr">
              <a:lnSpc>
                <a:spcPts val="4305"/>
              </a:lnSpc>
              <a:spcBef>
                <a:spcPct val="0"/>
              </a:spcBef>
            </a:pPr>
            <a:r>
              <a:rPr lang="en-US" sz="3075">
                <a:solidFill>
                  <a:srgbClr val="FFFFFF"/>
                </a:solidFill>
                <a:latin typeface="Poppins"/>
                <a:ea typeface="Poppins"/>
                <a:cs typeface="Poppins"/>
                <a:sym typeface="Poppins"/>
              </a:rPr>
              <a:t>React permite encapsular los estilos dentro del mismo componente</a:t>
            </a:r>
          </a:p>
        </p:txBody>
      </p:sp>
      <p:sp>
        <p:nvSpPr>
          <p:cNvPr name="TextBox 12" id="12"/>
          <p:cNvSpPr txBox="true"/>
          <p:nvPr/>
        </p:nvSpPr>
        <p:spPr>
          <a:xfrm rot="0">
            <a:off x="9253367" y="5387841"/>
            <a:ext cx="8338896" cy="1642216"/>
          </a:xfrm>
          <a:prstGeom prst="rect">
            <a:avLst/>
          </a:prstGeom>
        </p:spPr>
        <p:txBody>
          <a:bodyPr anchor="t" rtlCol="false" tIns="0" lIns="0" bIns="0" rIns="0">
            <a:spAutoFit/>
          </a:bodyPr>
          <a:lstStyle/>
          <a:p>
            <a:pPr algn="ctr">
              <a:lnSpc>
                <a:spcPts val="4305"/>
              </a:lnSpc>
              <a:spcBef>
                <a:spcPct val="0"/>
              </a:spcBef>
            </a:pPr>
            <a:r>
              <a:rPr lang="en-US" sz="3075">
                <a:solidFill>
                  <a:srgbClr val="FFFFFF"/>
                </a:solidFill>
                <a:latin typeface="Poppins"/>
                <a:ea typeface="Poppins"/>
                <a:cs typeface="Poppins"/>
                <a:sym typeface="Poppins"/>
              </a:rPr>
              <a:t>Puede ser usado con css tradicional siendo llamado en los componentes de React</a:t>
            </a:r>
          </a:p>
        </p:txBody>
      </p:sp>
      <p:sp>
        <p:nvSpPr>
          <p:cNvPr name="TextBox 13" id="13"/>
          <p:cNvSpPr txBox="true"/>
          <p:nvPr/>
        </p:nvSpPr>
        <p:spPr>
          <a:xfrm rot="0">
            <a:off x="9253367" y="7409712"/>
            <a:ext cx="8338896" cy="1100523"/>
          </a:xfrm>
          <a:prstGeom prst="rect">
            <a:avLst/>
          </a:prstGeom>
        </p:spPr>
        <p:txBody>
          <a:bodyPr anchor="t" rtlCol="false" tIns="0" lIns="0" bIns="0" rIns="0">
            <a:spAutoFit/>
          </a:bodyPr>
          <a:lstStyle/>
          <a:p>
            <a:pPr algn="ctr">
              <a:lnSpc>
                <a:spcPts val="4305"/>
              </a:lnSpc>
              <a:spcBef>
                <a:spcPct val="0"/>
              </a:spcBef>
            </a:pPr>
            <a:r>
              <a:rPr lang="en-US" sz="3075">
                <a:solidFill>
                  <a:srgbClr val="FFFFFF"/>
                </a:solidFill>
                <a:latin typeface="Poppins"/>
                <a:ea typeface="Poppins"/>
                <a:cs typeface="Poppins"/>
                <a:sym typeface="Poppins"/>
              </a:rPr>
              <a:t>Puede ser usado con css modules, osea aislados por componente</a:t>
            </a:r>
          </a:p>
        </p:txBody>
      </p:sp>
      <p:sp>
        <p:nvSpPr>
          <p:cNvPr name="Freeform 14" id="14"/>
          <p:cNvSpPr/>
          <p:nvPr/>
        </p:nvSpPr>
        <p:spPr>
          <a:xfrm flipH="false" flipV="false" rot="0">
            <a:off x="8082044" y="-150850"/>
            <a:ext cx="2342646" cy="2342646"/>
          </a:xfrm>
          <a:custGeom>
            <a:avLst/>
            <a:gdLst/>
            <a:ahLst/>
            <a:cxnLst/>
            <a:rect r="r" b="b" t="t" l="l"/>
            <a:pathLst>
              <a:path h="2342646" w="2342646">
                <a:moveTo>
                  <a:pt x="0" y="0"/>
                </a:moveTo>
                <a:lnTo>
                  <a:pt x="2342646" y="0"/>
                </a:lnTo>
                <a:lnTo>
                  <a:pt x="2342646" y="2342646"/>
                </a:lnTo>
                <a:lnTo>
                  <a:pt x="0" y="2342646"/>
                </a:lnTo>
                <a:lnTo>
                  <a:pt x="0" y="0"/>
                </a:lnTo>
                <a:close/>
              </a:path>
            </a:pathLst>
          </a:custGeom>
          <a:blipFill>
            <a:blip r:embed="rId7"/>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4486504" y="2065018"/>
            <a:ext cx="1014379" cy="912941"/>
          </a:xfrm>
          <a:custGeom>
            <a:avLst/>
            <a:gdLst/>
            <a:ahLst/>
            <a:cxnLst/>
            <a:rect r="r" b="b" t="t" l="l"/>
            <a:pathLst>
              <a:path h="912941" w="1014379">
                <a:moveTo>
                  <a:pt x="0" y="0"/>
                </a:moveTo>
                <a:lnTo>
                  <a:pt x="1014379" y="0"/>
                </a:lnTo>
                <a:lnTo>
                  <a:pt x="1014379" y="912942"/>
                </a:lnTo>
                <a:lnTo>
                  <a:pt x="0" y="912942"/>
                </a:lnTo>
                <a:lnTo>
                  <a:pt x="0" y="0"/>
                </a:lnTo>
                <a:close/>
              </a:path>
            </a:pathLst>
          </a:custGeom>
          <a:blipFill>
            <a:blip r:embed="rId3"/>
            <a:stretch>
              <a:fillRect l="0" t="0" r="0" b="0"/>
            </a:stretch>
          </a:blipFill>
        </p:spPr>
      </p:sp>
      <p:sp>
        <p:nvSpPr>
          <p:cNvPr name="Freeform 7" id="7"/>
          <p:cNvSpPr/>
          <p:nvPr/>
        </p:nvSpPr>
        <p:spPr>
          <a:xfrm flipH="false" flipV="false" rot="0">
            <a:off x="10457943" y="5906930"/>
            <a:ext cx="7450448" cy="3508312"/>
          </a:xfrm>
          <a:custGeom>
            <a:avLst/>
            <a:gdLst/>
            <a:ahLst/>
            <a:cxnLst/>
            <a:rect r="r" b="b" t="t" l="l"/>
            <a:pathLst>
              <a:path h="3508312" w="7450448">
                <a:moveTo>
                  <a:pt x="0" y="0"/>
                </a:moveTo>
                <a:lnTo>
                  <a:pt x="7450448" y="0"/>
                </a:lnTo>
                <a:lnTo>
                  <a:pt x="7450448" y="3508312"/>
                </a:lnTo>
                <a:lnTo>
                  <a:pt x="0" y="3508312"/>
                </a:lnTo>
                <a:lnTo>
                  <a:pt x="0" y="0"/>
                </a:lnTo>
                <a:close/>
              </a:path>
            </a:pathLst>
          </a:custGeom>
          <a:blipFill>
            <a:blip r:embed="rId4"/>
            <a:stretch>
              <a:fillRect l="0" t="0" r="0" b="0"/>
            </a:stretch>
          </a:blipFill>
        </p:spPr>
      </p:sp>
      <p:sp>
        <p:nvSpPr>
          <p:cNvPr name="TextBox 8" id="8"/>
          <p:cNvSpPr txBox="true"/>
          <p:nvPr/>
        </p:nvSpPr>
        <p:spPr>
          <a:xfrm rot="0">
            <a:off x="2873512" y="2021122"/>
            <a:ext cx="12540977" cy="895959"/>
          </a:xfrm>
          <a:prstGeom prst="rect">
            <a:avLst/>
          </a:prstGeom>
        </p:spPr>
        <p:txBody>
          <a:bodyPr anchor="t" rtlCol="false" tIns="0" lIns="0" bIns="0" rIns="0">
            <a:spAutoFit/>
          </a:bodyPr>
          <a:lstStyle/>
          <a:p>
            <a:pPr algn="ctr">
              <a:lnSpc>
                <a:spcPts val="7316"/>
              </a:lnSpc>
              <a:spcBef>
                <a:spcPct val="0"/>
              </a:spcBef>
            </a:pPr>
            <a:r>
              <a:rPr lang="en-US" sz="5226">
                <a:solidFill>
                  <a:srgbClr val="FF009D"/>
                </a:solidFill>
                <a:latin typeface="HK Modular"/>
                <a:ea typeface="HK Modular"/>
                <a:cs typeface="HK Modular"/>
                <a:sym typeface="HK Modular"/>
              </a:rPr>
              <a:t>REACT - HOOKS</a:t>
            </a:r>
          </a:p>
        </p:txBody>
      </p:sp>
      <p:sp>
        <p:nvSpPr>
          <p:cNvPr name="TextBox 9" id="9"/>
          <p:cNvSpPr txBox="true"/>
          <p:nvPr/>
        </p:nvSpPr>
        <p:spPr>
          <a:xfrm rot="0">
            <a:off x="1683241" y="3239557"/>
            <a:ext cx="15140253" cy="1100523"/>
          </a:xfrm>
          <a:prstGeom prst="rect">
            <a:avLst/>
          </a:prstGeom>
        </p:spPr>
        <p:txBody>
          <a:bodyPr anchor="t" rtlCol="false" tIns="0" lIns="0" bIns="0" rIns="0">
            <a:spAutoFit/>
          </a:bodyPr>
          <a:lstStyle/>
          <a:p>
            <a:pPr algn="ctr">
              <a:lnSpc>
                <a:spcPts val="4305"/>
              </a:lnSpc>
              <a:spcBef>
                <a:spcPct val="0"/>
              </a:spcBef>
            </a:pPr>
            <a:r>
              <a:rPr lang="en-US" sz="3075">
                <a:solidFill>
                  <a:srgbClr val="FFFFFF"/>
                </a:solidFill>
                <a:latin typeface="Poppins"/>
                <a:ea typeface="Poppins"/>
                <a:cs typeface="Poppins"/>
                <a:sym typeface="Poppins"/>
              </a:rPr>
              <a:t>Los hooks son funciones especiales que permiten usar caracteristicas de REACT como estados y ciclo de vida en componentes funcionales</a:t>
            </a:r>
          </a:p>
        </p:txBody>
      </p:sp>
      <p:sp>
        <p:nvSpPr>
          <p:cNvPr name="TextBox 10" id="10"/>
          <p:cNvSpPr txBox="true"/>
          <p:nvPr/>
        </p:nvSpPr>
        <p:spPr>
          <a:xfrm rot="0">
            <a:off x="5083919" y="4597255"/>
            <a:ext cx="8338896" cy="558830"/>
          </a:xfrm>
          <a:prstGeom prst="rect">
            <a:avLst/>
          </a:prstGeom>
        </p:spPr>
        <p:txBody>
          <a:bodyPr anchor="t" rtlCol="false" tIns="0" lIns="0" bIns="0" rIns="0">
            <a:spAutoFit/>
          </a:bodyPr>
          <a:lstStyle/>
          <a:p>
            <a:pPr algn="ctr">
              <a:lnSpc>
                <a:spcPts val="4305"/>
              </a:lnSpc>
              <a:spcBef>
                <a:spcPct val="0"/>
              </a:spcBef>
            </a:pPr>
            <a:r>
              <a:rPr lang="en-US" sz="3075">
                <a:solidFill>
                  <a:srgbClr val="FFFFFF"/>
                </a:solidFill>
                <a:latin typeface="Poppins"/>
                <a:ea typeface="Poppins"/>
                <a:cs typeface="Poppins"/>
                <a:sym typeface="Poppins"/>
              </a:rPr>
              <a:t>Algunos de los mas usados son</a:t>
            </a:r>
          </a:p>
        </p:txBody>
      </p:sp>
      <p:sp>
        <p:nvSpPr>
          <p:cNvPr name="TextBox 11" id="11"/>
          <p:cNvSpPr txBox="true"/>
          <p:nvPr/>
        </p:nvSpPr>
        <p:spPr>
          <a:xfrm rot="0">
            <a:off x="1028700" y="6946132"/>
            <a:ext cx="2967048" cy="558830"/>
          </a:xfrm>
          <a:prstGeom prst="rect">
            <a:avLst/>
          </a:prstGeom>
        </p:spPr>
        <p:txBody>
          <a:bodyPr anchor="t" rtlCol="false" tIns="0" lIns="0" bIns="0" rIns="0">
            <a:spAutoFit/>
          </a:bodyPr>
          <a:lstStyle/>
          <a:p>
            <a:pPr algn="ctr">
              <a:lnSpc>
                <a:spcPts val="4305"/>
              </a:lnSpc>
              <a:spcBef>
                <a:spcPct val="0"/>
              </a:spcBef>
            </a:pPr>
            <a:r>
              <a:rPr lang="en-US" sz="3075">
                <a:solidFill>
                  <a:srgbClr val="FFFFFF"/>
                </a:solidFill>
                <a:latin typeface="Poppins"/>
                <a:ea typeface="Poppins"/>
                <a:cs typeface="Poppins"/>
                <a:sym typeface="Poppins"/>
              </a:rPr>
              <a:t>useState()</a:t>
            </a:r>
          </a:p>
        </p:txBody>
      </p:sp>
      <p:sp>
        <p:nvSpPr>
          <p:cNvPr name="TextBox 12" id="12"/>
          <p:cNvSpPr txBox="true"/>
          <p:nvPr/>
        </p:nvSpPr>
        <p:spPr>
          <a:xfrm rot="0">
            <a:off x="4655561" y="6984232"/>
            <a:ext cx="5374025" cy="807192"/>
          </a:xfrm>
          <a:prstGeom prst="rect">
            <a:avLst/>
          </a:prstGeom>
        </p:spPr>
        <p:txBody>
          <a:bodyPr anchor="t" rtlCol="false" tIns="0" lIns="0" bIns="0" rIns="0">
            <a:spAutoFit/>
          </a:bodyPr>
          <a:lstStyle/>
          <a:p>
            <a:pPr algn="ctr">
              <a:lnSpc>
                <a:spcPts val="3212"/>
              </a:lnSpc>
              <a:spcBef>
                <a:spcPct val="0"/>
              </a:spcBef>
            </a:pPr>
            <a:r>
              <a:rPr lang="en-US" sz="2294">
                <a:solidFill>
                  <a:srgbClr val="FFFFFF"/>
                </a:solidFill>
                <a:latin typeface="Poppins"/>
                <a:ea typeface="Poppins"/>
                <a:cs typeface="Poppins"/>
                <a:sym typeface="Poppins"/>
              </a:rPr>
              <a:t>Permite manejar estado interno del componente</a:t>
            </a:r>
          </a:p>
        </p:txBody>
      </p:sp>
      <p:sp>
        <p:nvSpPr>
          <p:cNvPr name="Freeform 13" id="13"/>
          <p:cNvSpPr/>
          <p:nvPr/>
        </p:nvSpPr>
        <p:spPr>
          <a:xfrm flipH="false" flipV="false" rot="0">
            <a:off x="8082044" y="-150850"/>
            <a:ext cx="2342646" cy="2342646"/>
          </a:xfrm>
          <a:custGeom>
            <a:avLst/>
            <a:gdLst/>
            <a:ahLst/>
            <a:cxnLst/>
            <a:rect r="r" b="b" t="t" l="l"/>
            <a:pathLst>
              <a:path h="2342646" w="2342646">
                <a:moveTo>
                  <a:pt x="0" y="0"/>
                </a:moveTo>
                <a:lnTo>
                  <a:pt x="2342646" y="0"/>
                </a:lnTo>
                <a:lnTo>
                  <a:pt x="2342646" y="2342646"/>
                </a:lnTo>
                <a:lnTo>
                  <a:pt x="0" y="2342646"/>
                </a:lnTo>
                <a:lnTo>
                  <a:pt x="0" y="0"/>
                </a:lnTo>
                <a:close/>
              </a:path>
            </a:pathLst>
          </a:custGeom>
          <a:blipFill>
            <a:blip r:embed="rId5"/>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4486504" y="2065018"/>
            <a:ext cx="1014379" cy="912941"/>
          </a:xfrm>
          <a:custGeom>
            <a:avLst/>
            <a:gdLst/>
            <a:ahLst/>
            <a:cxnLst/>
            <a:rect r="r" b="b" t="t" l="l"/>
            <a:pathLst>
              <a:path h="912941" w="1014379">
                <a:moveTo>
                  <a:pt x="0" y="0"/>
                </a:moveTo>
                <a:lnTo>
                  <a:pt x="1014379" y="0"/>
                </a:lnTo>
                <a:lnTo>
                  <a:pt x="1014379" y="912942"/>
                </a:lnTo>
                <a:lnTo>
                  <a:pt x="0" y="912942"/>
                </a:lnTo>
                <a:lnTo>
                  <a:pt x="0" y="0"/>
                </a:lnTo>
                <a:close/>
              </a:path>
            </a:pathLst>
          </a:custGeom>
          <a:blipFill>
            <a:blip r:embed="rId3"/>
            <a:stretch>
              <a:fillRect l="0" t="0" r="0" b="0"/>
            </a:stretch>
          </a:blipFill>
        </p:spPr>
      </p:sp>
      <p:sp>
        <p:nvSpPr>
          <p:cNvPr name="Freeform 7" id="7"/>
          <p:cNvSpPr/>
          <p:nvPr/>
        </p:nvSpPr>
        <p:spPr>
          <a:xfrm flipH="false" flipV="false" rot="0">
            <a:off x="11884558" y="3501736"/>
            <a:ext cx="5374742" cy="1773842"/>
          </a:xfrm>
          <a:custGeom>
            <a:avLst/>
            <a:gdLst/>
            <a:ahLst/>
            <a:cxnLst/>
            <a:rect r="r" b="b" t="t" l="l"/>
            <a:pathLst>
              <a:path h="1773842" w="5374742">
                <a:moveTo>
                  <a:pt x="0" y="0"/>
                </a:moveTo>
                <a:lnTo>
                  <a:pt x="5374742" y="0"/>
                </a:lnTo>
                <a:lnTo>
                  <a:pt x="5374742" y="1773842"/>
                </a:lnTo>
                <a:lnTo>
                  <a:pt x="0" y="1773842"/>
                </a:lnTo>
                <a:lnTo>
                  <a:pt x="0" y="0"/>
                </a:lnTo>
                <a:close/>
              </a:path>
            </a:pathLst>
          </a:custGeom>
          <a:blipFill>
            <a:blip r:embed="rId4"/>
            <a:stretch>
              <a:fillRect l="0" t="0" r="0" b="0"/>
            </a:stretch>
          </a:blipFill>
        </p:spPr>
      </p:sp>
      <p:sp>
        <p:nvSpPr>
          <p:cNvPr name="Freeform 8" id="8"/>
          <p:cNvSpPr/>
          <p:nvPr/>
        </p:nvSpPr>
        <p:spPr>
          <a:xfrm flipH="false" flipV="false" rot="0">
            <a:off x="11719502" y="5723264"/>
            <a:ext cx="5704854" cy="3850383"/>
          </a:xfrm>
          <a:custGeom>
            <a:avLst/>
            <a:gdLst/>
            <a:ahLst/>
            <a:cxnLst/>
            <a:rect r="r" b="b" t="t" l="l"/>
            <a:pathLst>
              <a:path h="3850383" w="5704854">
                <a:moveTo>
                  <a:pt x="0" y="0"/>
                </a:moveTo>
                <a:lnTo>
                  <a:pt x="5704854" y="0"/>
                </a:lnTo>
                <a:lnTo>
                  <a:pt x="5704854" y="3850384"/>
                </a:lnTo>
                <a:lnTo>
                  <a:pt x="0" y="3850384"/>
                </a:lnTo>
                <a:lnTo>
                  <a:pt x="0" y="0"/>
                </a:lnTo>
                <a:close/>
              </a:path>
            </a:pathLst>
          </a:custGeom>
          <a:blipFill>
            <a:blip r:embed="rId5"/>
            <a:stretch>
              <a:fillRect l="0" t="0" r="0" b="0"/>
            </a:stretch>
          </a:blipFill>
        </p:spPr>
      </p:sp>
      <p:sp>
        <p:nvSpPr>
          <p:cNvPr name="TextBox 9" id="9"/>
          <p:cNvSpPr txBox="true"/>
          <p:nvPr/>
        </p:nvSpPr>
        <p:spPr>
          <a:xfrm rot="0">
            <a:off x="2873512" y="2021122"/>
            <a:ext cx="12540977" cy="895959"/>
          </a:xfrm>
          <a:prstGeom prst="rect">
            <a:avLst/>
          </a:prstGeom>
        </p:spPr>
        <p:txBody>
          <a:bodyPr anchor="t" rtlCol="false" tIns="0" lIns="0" bIns="0" rIns="0">
            <a:spAutoFit/>
          </a:bodyPr>
          <a:lstStyle/>
          <a:p>
            <a:pPr algn="ctr">
              <a:lnSpc>
                <a:spcPts val="7316"/>
              </a:lnSpc>
              <a:spcBef>
                <a:spcPct val="0"/>
              </a:spcBef>
            </a:pPr>
            <a:r>
              <a:rPr lang="en-US" sz="5226">
                <a:solidFill>
                  <a:srgbClr val="FF009D"/>
                </a:solidFill>
                <a:latin typeface="HK Modular"/>
                <a:ea typeface="HK Modular"/>
                <a:cs typeface="HK Modular"/>
                <a:sym typeface="HK Modular"/>
              </a:rPr>
              <a:t>REACT - HOOKS</a:t>
            </a:r>
          </a:p>
        </p:txBody>
      </p:sp>
      <p:sp>
        <p:nvSpPr>
          <p:cNvPr name="TextBox 10" id="10"/>
          <p:cNvSpPr txBox="true"/>
          <p:nvPr/>
        </p:nvSpPr>
        <p:spPr>
          <a:xfrm rot="0">
            <a:off x="1519456" y="3829827"/>
            <a:ext cx="2967048" cy="558830"/>
          </a:xfrm>
          <a:prstGeom prst="rect">
            <a:avLst/>
          </a:prstGeom>
        </p:spPr>
        <p:txBody>
          <a:bodyPr anchor="t" rtlCol="false" tIns="0" lIns="0" bIns="0" rIns="0">
            <a:spAutoFit/>
          </a:bodyPr>
          <a:lstStyle/>
          <a:p>
            <a:pPr algn="ctr">
              <a:lnSpc>
                <a:spcPts val="4305"/>
              </a:lnSpc>
              <a:spcBef>
                <a:spcPct val="0"/>
              </a:spcBef>
            </a:pPr>
            <a:r>
              <a:rPr lang="en-US" sz="3075">
                <a:solidFill>
                  <a:srgbClr val="FFFFFF"/>
                </a:solidFill>
                <a:latin typeface="Poppins"/>
                <a:ea typeface="Poppins"/>
                <a:cs typeface="Poppins"/>
                <a:sym typeface="Poppins"/>
              </a:rPr>
              <a:t>useEffect()</a:t>
            </a:r>
          </a:p>
        </p:txBody>
      </p:sp>
      <p:sp>
        <p:nvSpPr>
          <p:cNvPr name="TextBox 11" id="11"/>
          <p:cNvSpPr txBox="true"/>
          <p:nvPr/>
        </p:nvSpPr>
        <p:spPr>
          <a:xfrm rot="0">
            <a:off x="5500883" y="3522615"/>
            <a:ext cx="5374025" cy="1211354"/>
          </a:xfrm>
          <a:prstGeom prst="rect">
            <a:avLst/>
          </a:prstGeom>
        </p:spPr>
        <p:txBody>
          <a:bodyPr anchor="t" rtlCol="false" tIns="0" lIns="0" bIns="0" rIns="0">
            <a:spAutoFit/>
          </a:bodyPr>
          <a:lstStyle/>
          <a:p>
            <a:pPr algn="ctr">
              <a:lnSpc>
                <a:spcPts val="3212"/>
              </a:lnSpc>
              <a:spcBef>
                <a:spcPct val="0"/>
              </a:spcBef>
            </a:pPr>
            <a:r>
              <a:rPr lang="en-US" sz="2294">
                <a:solidFill>
                  <a:srgbClr val="FFFFFF"/>
                </a:solidFill>
                <a:latin typeface="Poppins"/>
                <a:ea typeface="Poppins"/>
                <a:cs typeface="Poppins"/>
                <a:sym typeface="Poppins"/>
              </a:rPr>
              <a:t>Permite ejecutar efectos secundarios (como llamadas a APIs, temporizadores o logs).</a:t>
            </a:r>
          </a:p>
        </p:txBody>
      </p:sp>
      <p:sp>
        <p:nvSpPr>
          <p:cNvPr name="TextBox 12" id="12"/>
          <p:cNvSpPr txBox="true"/>
          <p:nvPr/>
        </p:nvSpPr>
        <p:spPr>
          <a:xfrm rot="0">
            <a:off x="1519456" y="5994841"/>
            <a:ext cx="2967048" cy="558830"/>
          </a:xfrm>
          <a:prstGeom prst="rect">
            <a:avLst/>
          </a:prstGeom>
        </p:spPr>
        <p:txBody>
          <a:bodyPr anchor="t" rtlCol="false" tIns="0" lIns="0" bIns="0" rIns="0">
            <a:spAutoFit/>
          </a:bodyPr>
          <a:lstStyle/>
          <a:p>
            <a:pPr algn="ctr">
              <a:lnSpc>
                <a:spcPts val="4305"/>
              </a:lnSpc>
              <a:spcBef>
                <a:spcPct val="0"/>
              </a:spcBef>
            </a:pPr>
            <a:r>
              <a:rPr lang="en-US" sz="3075">
                <a:solidFill>
                  <a:srgbClr val="FFFFFF"/>
                </a:solidFill>
                <a:latin typeface="Poppins"/>
                <a:ea typeface="Poppins"/>
                <a:cs typeface="Poppins"/>
                <a:sym typeface="Poppins"/>
              </a:rPr>
              <a:t>useContext()</a:t>
            </a:r>
          </a:p>
        </p:txBody>
      </p:sp>
      <p:sp>
        <p:nvSpPr>
          <p:cNvPr name="TextBox 13" id="13"/>
          <p:cNvSpPr txBox="true"/>
          <p:nvPr/>
        </p:nvSpPr>
        <p:spPr>
          <a:xfrm rot="0">
            <a:off x="5500883" y="6032941"/>
            <a:ext cx="5666178" cy="1615516"/>
          </a:xfrm>
          <a:prstGeom prst="rect">
            <a:avLst/>
          </a:prstGeom>
        </p:spPr>
        <p:txBody>
          <a:bodyPr anchor="t" rtlCol="false" tIns="0" lIns="0" bIns="0" rIns="0">
            <a:spAutoFit/>
          </a:bodyPr>
          <a:lstStyle/>
          <a:p>
            <a:pPr algn="ctr">
              <a:lnSpc>
                <a:spcPts val="3212"/>
              </a:lnSpc>
              <a:spcBef>
                <a:spcPct val="0"/>
              </a:spcBef>
            </a:pPr>
            <a:r>
              <a:rPr lang="en-US" sz="2294">
                <a:solidFill>
                  <a:srgbClr val="FFFFFF"/>
                </a:solidFill>
                <a:latin typeface="Poppins"/>
                <a:ea typeface="Poppins"/>
                <a:cs typeface="Poppins"/>
                <a:sym typeface="Poppins"/>
              </a:rPr>
              <a:t>Sirve para compartir fatos globales como un tema o sesion de usuario sin tener que pasarlos por props manualmente</a:t>
            </a:r>
          </a:p>
        </p:txBody>
      </p:sp>
      <p:sp>
        <p:nvSpPr>
          <p:cNvPr name="Freeform 14" id="14"/>
          <p:cNvSpPr/>
          <p:nvPr/>
        </p:nvSpPr>
        <p:spPr>
          <a:xfrm flipH="false" flipV="false" rot="0">
            <a:off x="8082044" y="-150850"/>
            <a:ext cx="2342646" cy="2342646"/>
          </a:xfrm>
          <a:custGeom>
            <a:avLst/>
            <a:gdLst/>
            <a:ahLst/>
            <a:cxnLst/>
            <a:rect r="r" b="b" t="t" l="l"/>
            <a:pathLst>
              <a:path h="2342646" w="2342646">
                <a:moveTo>
                  <a:pt x="0" y="0"/>
                </a:moveTo>
                <a:lnTo>
                  <a:pt x="2342646" y="0"/>
                </a:lnTo>
                <a:lnTo>
                  <a:pt x="2342646" y="2342646"/>
                </a:lnTo>
                <a:lnTo>
                  <a:pt x="0" y="2342646"/>
                </a:lnTo>
                <a:lnTo>
                  <a:pt x="0" y="0"/>
                </a:lnTo>
                <a:close/>
              </a:path>
            </a:pathLst>
          </a:custGeom>
          <a:blipFill>
            <a:blip r:embed="rId6"/>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4486504" y="2065018"/>
            <a:ext cx="1014379" cy="912941"/>
          </a:xfrm>
          <a:custGeom>
            <a:avLst/>
            <a:gdLst/>
            <a:ahLst/>
            <a:cxnLst/>
            <a:rect r="r" b="b" t="t" l="l"/>
            <a:pathLst>
              <a:path h="912941" w="1014379">
                <a:moveTo>
                  <a:pt x="0" y="0"/>
                </a:moveTo>
                <a:lnTo>
                  <a:pt x="1014379" y="0"/>
                </a:lnTo>
                <a:lnTo>
                  <a:pt x="1014379" y="912942"/>
                </a:lnTo>
                <a:lnTo>
                  <a:pt x="0" y="912942"/>
                </a:lnTo>
                <a:lnTo>
                  <a:pt x="0" y="0"/>
                </a:lnTo>
                <a:close/>
              </a:path>
            </a:pathLst>
          </a:custGeom>
          <a:blipFill>
            <a:blip r:embed="rId3"/>
            <a:stretch>
              <a:fillRect l="0" t="0" r="0" b="0"/>
            </a:stretch>
          </a:blipFill>
        </p:spPr>
      </p:sp>
      <p:sp>
        <p:nvSpPr>
          <p:cNvPr name="Freeform 7" id="7"/>
          <p:cNvSpPr/>
          <p:nvPr/>
        </p:nvSpPr>
        <p:spPr>
          <a:xfrm flipH="false" flipV="false" rot="0">
            <a:off x="12753115" y="3092386"/>
            <a:ext cx="4299069" cy="3348313"/>
          </a:xfrm>
          <a:custGeom>
            <a:avLst/>
            <a:gdLst/>
            <a:ahLst/>
            <a:cxnLst/>
            <a:rect r="r" b="b" t="t" l="l"/>
            <a:pathLst>
              <a:path h="3348313" w="4299069">
                <a:moveTo>
                  <a:pt x="0" y="0"/>
                </a:moveTo>
                <a:lnTo>
                  <a:pt x="4299069" y="0"/>
                </a:lnTo>
                <a:lnTo>
                  <a:pt x="4299069" y="3348313"/>
                </a:lnTo>
                <a:lnTo>
                  <a:pt x="0" y="3348313"/>
                </a:lnTo>
                <a:lnTo>
                  <a:pt x="0" y="0"/>
                </a:lnTo>
                <a:close/>
              </a:path>
            </a:pathLst>
          </a:custGeom>
          <a:blipFill>
            <a:blip r:embed="rId4"/>
            <a:stretch>
              <a:fillRect l="0" t="0" r="0" b="0"/>
            </a:stretch>
          </a:blipFill>
        </p:spPr>
      </p:sp>
      <p:sp>
        <p:nvSpPr>
          <p:cNvPr name="Freeform 8" id="8"/>
          <p:cNvSpPr/>
          <p:nvPr/>
        </p:nvSpPr>
        <p:spPr>
          <a:xfrm flipH="false" flipV="false" rot="0">
            <a:off x="12514332" y="6616004"/>
            <a:ext cx="5354619" cy="3469574"/>
          </a:xfrm>
          <a:custGeom>
            <a:avLst/>
            <a:gdLst/>
            <a:ahLst/>
            <a:cxnLst/>
            <a:rect r="r" b="b" t="t" l="l"/>
            <a:pathLst>
              <a:path h="3469574" w="5354619">
                <a:moveTo>
                  <a:pt x="0" y="0"/>
                </a:moveTo>
                <a:lnTo>
                  <a:pt x="5354618" y="0"/>
                </a:lnTo>
                <a:lnTo>
                  <a:pt x="5354618" y="3469574"/>
                </a:lnTo>
                <a:lnTo>
                  <a:pt x="0" y="3469574"/>
                </a:lnTo>
                <a:lnTo>
                  <a:pt x="0" y="0"/>
                </a:lnTo>
                <a:close/>
              </a:path>
            </a:pathLst>
          </a:custGeom>
          <a:blipFill>
            <a:blip r:embed="rId5"/>
            <a:stretch>
              <a:fillRect l="0" t="0" r="0" b="0"/>
            </a:stretch>
          </a:blipFill>
        </p:spPr>
      </p:sp>
      <p:sp>
        <p:nvSpPr>
          <p:cNvPr name="TextBox 9" id="9"/>
          <p:cNvSpPr txBox="true"/>
          <p:nvPr/>
        </p:nvSpPr>
        <p:spPr>
          <a:xfrm rot="0">
            <a:off x="2873512" y="2021122"/>
            <a:ext cx="12540977" cy="895959"/>
          </a:xfrm>
          <a:prstGeom prst="rect">
            <a:avLst/>
          </a:prstGeom>
        </p:spPr>
        <p:txBody>
          <a:bodyPr anchor="t" rtlCol="false" tIns="0" lIns="0" bIns="0" rIns="0">
            <a:spAutoFit/>
          </a:bodyPr>
          <a:lstStyle/>
          <a:p>
            <a:pPr algn="ctr">
              <a:lnSpc>
                <a:spcPts val="7316"/>
              </a:lnSpc>
              <a:spcBef>
                <a:spcPct val="0"/>
              </a:spcBef>
            </a:pPr>
            <a:r>
              <a:rPr lang="en-US" sz="5226">
                <a:solidFill>
                  <a:srgbClr val="FF009D"/>
                </a:solidFill>
                <a:latin typeface="HK Modular"/>
                <a:ea typeface="HK Modular"/>
                <a:cs typeface="HK Modular"/>
                <a:sym typeface="HK Modular"/>
              </a:rPr>
              <a:t>REACT - HOOKS</a:t>
            </a:r>
          </a:p>
        </p:txBody>
      </p:sp>
      <p:sp>
        <p:nvSpPr>
          <p:cNvPr name="TextBox 10" id="10"/>
          <p:cNvSpPr txBox="true"/>
          <p:nvPr/>
        </p:nvSpPr>
        <p:spPr>
          <a:xfrm rot="0">
            <a:off x="1028700" y="4086924"/>
            <a:ext cx="2967048" cy="558830"/>
          </a:xfrm>
          <a:prstGeom prst="rect">
            <a:avLst/>
          </a:prstGeom>
        </p:spPr>
        <p:txBody>
          <a:bodyPr anchor="t" rtlCol="false" tIns="0" lIns="0" bIns="0" rIns="0">
            <a:spAutoFit/>
          </a:bodyPr>
          <a:lstStyle/>
          <a:p>
            <a:pPr algn="ctr">
              <a:lnSpc>
                <a:spcPts val="4305"/>
              </a:lnSpc>
              <a:spcBef>
                <a:spcPct val="0"/>
              </a:spcBef>
            </a:pPr>
            <a:r>
              <a:rPr lang="en-US" sz="3075">
                <a:solidFill>
                  <a:srgbClr val="FFFFFF"/>
                </a:solidFill>
                <a:latin typeface="Poppins"/>
                <a:ea typeface="Poppins"/>
                <a:cs typeface="Poppins"/>
                <a:sym typeface="Poppins"/>
              </a:rPr>
              <a:t>useRef()</a:t>
            </a:r>
          </a:p>
        </p:txBody>
      </p:sp>
      <p:sp>
        <p:nvSpPr>
          <p:cNvPr name="TextBox 11" id="11"/>
          <p:cNvSpPr txBox="true"/>
          <p:nvPr/>
        </p:nvSpPr>
        <p:spPr>
          <a:xfrm rot="0">
            <a:off x="3995748" y="4011502"/>
            <a:ext cx="7848941" cy="1211354"/>
          </a:xfrm>
          <a:prstGeom prst="rect">
            <a:avLst/>
          </a:prstGeom>
        </p:spPr>
        <p:txBody>
          <a:bodyPr anchor="t" rtlCol="false" tIns="0" lIns="0" bIns="0" rIns="0">
            <a:spAutoFit/>
          </a:bodyPr>
          <a:lstStyle/>
          <a:p>
            <a:pPr algn="ctr">
              <a:lnSpc>
                <a:spcPts val="3212"/>
              </a:lnSpc>
              <a:spcBef>
                <a:spcPct val="0"/>
              </a:spcBef>
            </a:pPr>
            <a:r>
              <a:rPr lang="en-US" sz="2294">
                <a:solidFill>
                  <a:srgbClr val="FFFFFF"/>
                </a:solidFill>
                <a:latin typeface="Poppins"/>
                <a:ea typeface="Poppins"/>
                <a:cs typeface="Poppins"/>
                <a:sym typeface="Poppins"/>
              </a:rPr>
              <a:t>Sirve para acceder directamente a elementos del DOM o mantener valores que persisten entre renders sin causar re-renderizados</a:t>
            </a:r>
          </a:p>
        </p:txBody>
      </p:sp>
      <p:sp>
        <p:nvSpPr>
          <p:cNvPr name="TextBox 12" id="12"/>
          <p:cNvSpPr txBox="true"/>
          <p:nvPr/>
        </p:nvSpPr>
        <p:spPr>
          <a:xfrm rot="0">
            <a:off x="1028700" y="7532584"/>
            <a:ext cx="2967048" cy="558830"/>
          </a:xfrm>
          <a:prstGeom prst="rect">
            <a:avLst/>
          </a:prstGeom>
        </p:spPr>
        <p:txBody>
          <a:bodyPr anchor="t" rtlCol="false" tIns="0" lIns="0" bIns="0" rIns="0">
            <a:spAutoFit/>
          </a:bodyPr>
          <a:lstStyle/>
          <a:p>
            <a:pPr algn="ctr">
              <a:lnSpc>
                <a:spcPts val="4305"/>
              </a:lnSpc>
              <a:spcBef>
                <a:spcPct val="0"/>
              </a:spcBef>
            </a:pPr>
            <a:r>
              <a:rPr lang="en-US" sz="3075">
                <a:solidFill>
                  <a:srgbClr val="FFFFFF"/>
                </a:solidFill>
                <a:latin typeface="Poppins"/>
                <a:ea typeface="Poppins"/>
                <a:cs typeface="Poppins"/>
                <a:sym typeface="Poppins"/>
              </a:rPr>
              <a:t>useMemo()</a:t>
            </a:r>
          </a:p>
        </p:txBody>
      </p:sp>
      <p:sp>
        <p:nvSpPr>
          <p:cNvPr name="TextBox 13" id="13"/>
          <p:cNvSpPr txBox="true"/>
          <p:nvPr/>
        </p:nvSpPr>
        <p:spPr>
          <a:xfrm rot="0">
            <a:off x="3995748" y="7570684"/>
            <a:ext cx="7848941" cy="1211354"/>
          </a:xfrm>
          <a:prstGeom prst="rect">
            <a:avLst/>
          </a:prstGeom>
        </p:spPr>
        <p:txBody>
          <a:bodyPr anchor="t" rtlCol="false" tIns="0" lIns="0" bIns="0" rIns="0">
            <a:spAutoFit/>
          </a:bodyPr>
          <a:lstStyle/>
          <a:p>
            <a:pPr algn="ctr">
              <a:lnSpc>
                <a:spcPts val="3212"/>
              </a:lnSpc>
              <a:spcBef>
                <a:spcPct val="0"/>
              </a:spcBef>
            </a:pPr>
            <a:r>
              <a:rPr lang="en-US" sz="2294">
                <a:solidFill>
                  <a:srgbClr val="FFFFFF"/>
                </a:solidFill>
                <a:latin typeface="Poppins"/>
                <a:ea typeface="Poppins"/>
                <a:cs typeface="Poppins"/>
                <a:sym typeface="Poppins"/>
              </a:rPr>
              <a:t>Sirve para memorizar valores costosos de calcular, de modo que solo se recalculen cuando cambian sus dependencias</a:t>
            </a:r>
          </a:p>
        </p:txBody>
      </p:sp>
      <p:sp>
        <p:nvSpPr>
          <p:cNvPr name="Freeform 14" id="14"/>
          <p:cNvSpPr/>
          <p:nvPr/>
        </p:nvSpPr>
        <p:spPr>
          <a:xfrm flipH="false" flipV="false" rot="0">
            <a:off x="8082044" y="-150850"/>
            <a:ext cx="2342646" cy="2342646"/>
          </a:xfrm>
          <a:custGeom>
            <a:avLst/>
            <a:gdLst/>
            <a:ahLst/>
            <a:cxnLst/>
            <a:rect r="r" b="b" t="t" l="l"/>
            <a:pathLst>
              <a:path h="2342646" w="2342646">
                <a:moveTo>
                  <a:pt x="0" y="0"/>
                </a:moveTo>
                <a:lnTo>
                  <a:pt x="2342646" y="0"/>
                </a:lnTo>
                <a:lnTo>
                  <a:pt x="2342646" y="2342646"/>
                </a:lnTo>
                <a:lnTo>
                  <a:pt x="0" y="2342646"/>
                </a:lnTo>
                <a:lnTo>
                  <a:pt x="0" y="0"/>
                </a:lnTo>
                <a:close/>
              </a:path>
            </a:pathLst>
          </a:custGeom>
          <a:blipFill>
            <a:blip r:embed="rId6"/>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4486504" y="2065018"/>
            <a:ext cx="1014379" cy="912941"/>
          </a:xfrm>
          <a:custGeom>
            <a:avLst/>
            <a:gdLst/>
            <a:ahLst/>
            <a:cxnLst/>
            <a:rect r="r" b="b" t="t" l="l"/>
            <a:pathLst>
              <a:path h="912941" w="1014379">
                <a:moveTo>
                  <a:pt x="0" y="0"/>
                </a:moveTo>
                <a:lnTo>
                  <a:pt x="1014379" y="0"/>
                </a:lnTo>
                <a:lnTo>
                  <a:pt x="1014379" y="912942"/>
                </a:lnTo>
                <a:lnTo>
                  <a:pt x="0" y="912942"/>
                </a:lnTo>
                <a:lnTo>
                  <a:pt x="0" y="0"/>
                </a:lnTo>
                <a:close/>
              </a:path>
            </a:pathLst>
          </a:custGeom>
          <a:blipFill>
            <a:blip r:embed="rId3"/>
            <a:stretch>
              <a:fillRect l="0" t="0" r="0" b="0"/>
            </a:stretch>
          </a:blipFill>
        </p:spPr>
      </p:sp>
      <p:sp>
        <p:nvSpPr>
          <p:cNvPr name="Freeform 7" id="7"/>
          <p:cNvSpPr/>
          <p:nvPr/>
        </p:nvSpPr>
        <p:spPr>
          <a:xfrm flipH="false" flipV="false" rot="0">
            <a:off x="13488526" y="1830612"/>
            <a:ext cx="4266169" cy="4753310"/>
          </a:xfrm>
          <a:custGeom>
            <a:avLst/>
            <a:gdLst/>
            <a:ahLst/>
            <a:cxnLst/>
            <a:rect r="r" b="b" t="t" l="l"/>
            <a:pathLst>
              <a:path h="4753310" w="4266169">
                <a:moveTo>
                  <a:pt x="0" y="0"/>
                </a:moveTo>
                <a:lnTo>
                  <a:pt x="4266169" y="0"/>
                </a:lnTo>
                <a:lnTo>
                  <a:pt x="4266169" y="4753309"/>
                </a:lnTo>
                <a:lnTo>
                  <a:pt x="0" y="4753309"/>
                </a:lnTo>
                <a:lnTo>
                  <a:pt x="0" y="0"/>
                </a:lnTo>
                <a:close/>
              </a:path>
            </a:pathLst>
          </a:custGeom>
          <a:blipFill>
            <a:blip r:embed="rId4"/>
            <a:stretch>
              <a:fillRect l="0" t="0" r="0" b="0"/>
            </a:stretch>
          </a:blipFill>
        </p:spPr>
      </p:sp>
      <p:sp>
        <p:nvSpPr>
          <p:cNvPr name="TextBox 8" id="8"/>
          <p:cNvSpPr txBox="true"/>
          <p:nvPr/>
        </p:nvSpPr>
        <p:spPr>
          <a:xfrm rot="0">
            <a:off x="2873512" y="2021122"/>
            <a:ext cx="12540977" cy="895959"/>
          </a:xfrm>
          <a:prstGeom prst="rect">
            <a:avLst/>
          </a:prstGeom>
        </p:spPr>
        <p:txBody>
          <a:bodyPr anchor="t" rtlCol="false" tIns="0" lIns="0" bIns="0" rIns="0">
            <a:spAutoFit/>
          </a:bodyPr>
          <a:lstStyle/>
          <a:p>
            <a:pPr algn="ctr">
              <a:lnSpc>
                <a:spcPts val="7316"/>
              </a:lnSpc>
              <a:spcBef>
                <a:spcPct val="0"/>
              </a:spcBef>
            </a:pPr>
            <a:r>
              <a:rPr lang="en-US" sz="5226">
                <a:solidFill>
                  <a:srgbClr val="FF009D"/>
                </a:solidFill>
                <a:latin typeface="HK Modular"/>
                <a:ea typeface="HK Modular"/>
                <a:cs typeface="HK Modular"/>
                <a:sym typeface="HK Modular"/>
              </a:rPr>
              <a:t>REACT - HOOKS</a:t>
            </a:r>
          </a:p>
        </p:txBody>
      </p:sp>
      <p:sp>
        <p:nvSpPr>
          <p:cNvPr name="TextBox 9" id="9"/>
          <p:cNvSpPr txBox="true"/>
          <p:nvPr/>
        </p:nvSpPr>
        <p:spPr>
          <a:xfrm rot="0">
            <a:off x="1519456" y="4176676"/>
            <a:ext cx="2967048" cy="558830"/>
          </a:xfrm>
          <a:prstGeom prst="rect">
            <a:avLst/>
          </a:prstGeom>
        </p:spPr>
        <p:txBody>
          <a:bodyPr anchor="t" rtlCol="false" tIns="0" lIns="0" bIns="0" rIns="0">
            <a:spAutoFit/>
          </a:bodyPr>
          <a:lstStyle/>
          <a:p>
            <a:pPr algn="ctr">
              <a:lnSpc>
                <a:spcPts val="4305"/>
              </a:lnSpc>
              <a:spcBef>
                <a:spcPct val="0"/>
              </a:spcBef>
            </a:pPr>
            <a:r>
              <a:rPr lang="en-US" sz="3075">
                <a:solidFill>
                  <a:srgbClr val="FFFFFF"/>
                </a:solidFill>
                <a:latin typeface="Poppins"/>
                <a:ea typeface="Poppins"/>
                <a:cs typeface="Poppins"/>
                <a:sym typeface="Poppins"/>
              </a:rPr>
              <a:t>useCallback()</a:t>
            </a:r>
          </a:p>
        </p:txBody>
      </p:sp>
      <p:sp>
        <p:nvSpPr>
          <p:cNvPr name="TextBox 10" id="10"/>
          <p:cNvSpPr txBox="true"/>
          <p:nvPr/>
        </p:nvSpPr>
        <p:spPr>
          <a:xfrm rot="0">
            <a:off x="4865710" y="4150117"/>
            <a:ext cx="7848941" cy="807192"/>
          </a:xfrm>
          <a:prstGeom prst="rect">
            <a:avLst/>
          </a:prstGeom>
        </p:spPr>
        <p:txBody>
          <a:bodyPr anchor="t" rtlCol="false" tIns="0" lIns="0" bIns="0" rIns="0">
            <a:spAutoFit/>
          </a:bodyPr>
          <a:lstStyle/>
          <a:p>
            <a:pPr algn="ctr">
              <a:lnSpc>
                <a:spcPts val="3212"/>
              </a:lnSpc>
              <a:spcBef>
                <a:spcPct val="0"/>
              </a:spcBef>
            </a:pPr>
            <a:r>
              <a:rPr lang="en-US" sz="2294">
                <a:solidFill>
                  <a:srgbClr val="FFFFFF"/>
                </a:solidFill>
                <a:latin typeface="Poppins"/>
                <a:ea typeface="Poppins"/>
                <a:cs typeface="Poppins"/>
                <a:sym typeface="Poppins"/>
              </a:rPr>
              <a:t>Sirve para memorizar funciones, evitando que se creen de nuevo en cada renderizado</a:t>
            </a:r>
          </a:p>
        </p:txBody>
      </p:sp>
      <p:sp>
        <p:nvSpPr>
          <p:cNvPr name="TextBox 11" id="11"/>
          <p:cNvSpPr txBox="true"/>
          <p:nvPr/>
        </p:nvSpPr>
        <p:spPr>
          <a:xfrm rot="0">
            <a:off x="7306656" y="7381356"/>
            <a:ext cx="2967048" cy="558830"/>
          </a:xfrm>
          <a:prstGeom prst="rect">
            <a:avLst/>
          </a:prstGeom>
        </p:spPr>
        <p:txBody>
          <a:bodyPr anchor="t" rtlCol="false" tIns="0" lIns="0" bIns="0" rIns="0">
            <a:spAutoFit/>
          </a:bodyPr>
          <a:lstStyle/>
          <a:p>
            <a:pPr algn="ctr">
              <a:lnSpc>
                <a:spcPts val="4305"/>
              </a:lnSpc>
              <a:spcBef>
                <a:spcPct val="0"/>
              </a:spcBef>
            </a:pPr>
            <a:r>
              <a:rPr lang="en-US" sz="3075">
                <a:solidFill>
                  <a:srgbClr val="FFFFFF"/>
                </a:solidFill>
                <a:latin typeface="Poppins"/>
                <a:ea typeface="Poppins"/>
                <a:cs typeface="Poppins"/>
                <a:sym typeface="Poppins"/>
              </a:rPr>
              <a:t>useReducer()</a:t>
            </a:r>
          </a:p>
        </p:txBody>
      </p:sp>
      <p:sp>
        <p:nvSpPr>
          <p:cNvPr name="TextBox 12" id="12"/>
          <p:cNvSpPr txBox="true"/>
          <p:nvPr/>
        </p:nvSpPr>
        <p:spPr>
          <a:xfrm rot="0">
            <a:off x="11309881" y="7305934"/>
            <a:ext cx="6354249" cy="807192"/>
          </a:xfrm>
          <a:prstGeom prst="rect">
            <a:avLst/>
          </a:prstGeom>
        </p:spPr>
        <p:txBody>
          <a:bodyPr anchor="t" rtlCol="false" tIns="0" lIns="0" bIns="0" rIns="0">
            <a:spAutoFit/>
          </a:bodyPr>
          <a:lstStyle/>
          <a:p>
            <a:pPr algn="ctr">
              <a:lnSpc>
                <a:spcPts val="3212"/>
              </a:lnSpc>
              <a:spcBef>
                <a:spcPct val="0"/>
              </a:spcBef>
            </a:pPr>
            <a:r>
              <a:rPr lang="en-US" sz="2294">
                <a:solidFill>
                  <a:srgbClr val="FFFFFF"/>
                </a:solidFill>
                <a:latin typeface="Poppins"/>
                <a:ea typeface="Poppins"/>
                <a:cs typeface="Poppins"/>
                <a:sym typeface="Poppins"/>
              </a:rPr>
              <a:t>Es una alternativa a useState para manejar estados complejos o multiples transiciones</a:t>
            </a:r>
          </a:p>
        </p:txBody>
      </p:sp>
      <p:sp>
        <p:nvSpPr>
          <p:cNvPr name="Freeform 13" id="13"/>
          <p:cNvSpPr/>
          <p:nvPr/>
        </p:nvSpPr>
        <p:spPr>
          <a:xfrm flipH="false" flipV="false" rot="0">
            <a:off x="1703748" y="5463646"/>
            <a:ext cx="4947108" cy="4489500"/>
          </a:xfrm>
          <a:custGeom>
            <a:avLst/>
            <a:gdLst/>
            <a:ahLst/>
            <a:cxnLst/>
            <a:rect r="r" b="b" t="t" l="l"/>
            <a:pathLst>
              <a:path h="4489500" w="4947108">
                <a:moveTo>
                  <a:pt x="0" y="0"/>
                </a:moveTo>
                <a:lnTo>
                  <a:pt x="4947108" y="0"/>
                </a:lnTo>
                <a:lnTo>
                  <a:pt x="4947108" y="4489500"/>
                </a:lnTo>
                <a:lnTo>
                  <a:pt x="0" y="4489500"/>
                </a:lnTo>
                <a:lnTo>
                  <a:pt x="0" y="0"/>
                </a:lnTo>
                <a:close/>
              </a:path>
            </a:pathLst>
          </a:custGeom>
          <a:blipFill>
            <a:blip r:embed="rId5"/>
            <a:stretch>
              <a:fillRect l="0" t="0" r="0" b="0"/>
            </a:stretch>
          </a:blipFill>
        </p:spPr>
      </p:sp>
      <p:sp>
        <p:nvSpPr>
          <p:cNvPr name="Freeform 14" id="14"/>
          <p:cNvSpPr/>
          <p:nvPr/>
        </p:nvSpPr>
        <p:spPr>
          <a:xfrm flipH="false" flipV="false" rot="0">
            <a:off x="8082044" y="-150850"/>
            <a:ext cx="2342646" cy="2342646"/>
          </a:xfrm>
          <a:custGeom>
            <a:avLst/>
            <a:gdLst/>
            <a:ahLst/>
            <a:cxnLst/>
            <a:rect r="r" b="b" t="t" l="l"/>
            <a:pathLst>
              <a:path h="2342646" w="2342646">
                <a:moveTo>
                  <a:pt x="0" y="0"/>
                </a:moveTo>
                <a:lnTo>
                  <a:pt x="2342646" y="0"/>
                </a:lnTo>
                <a:lnTo>
                  <a:pt x="2342646" y="2342646"/>
                </a:lnTo>
                <a:lnTo>
                  <a:pt x="0" y="2342646"/>
                </a:lnTo>
                <a:lnTo>
                  <a:pt x="0" y="0"/>
                </a:lnTo>
                <a:close/>
              </a:path>
            </a:pathLst>
          </a:custGeom>
          <a:blipFill>
            <a:blip r:embed="rId6"/>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4486504" y="2065018"/>
            <a:ext cx="1014379" cy="912941"/>
          </a:xfrm>
          <a:custGeom>
            <a:avLst/>
            <a:gdLst/>
            <a:ahLst/>
            <a:cxnLst/>
            <a:rect r="r" b="b" t="t" l="l"/>
            <a:pathLst>
              <a:path h="912941" w="1014379">
                <a:moveTo>
                  <a:pt x="0" y="0"/>
                </a:moveTo>
                <a:lnTo>
                  <a:pt x="1014379" y="0"/>
                </a:lnTo>
                <a:lnTo>
                  <a:pt x="1014379" y="912942"/>
                </a:lnTo>
                <a:lnTo>
                  <a:pt x="0" y="912942"/>
                </a:lnTo>
                <a:lnTo>
                  <a:pt x="0" y="0"/>
                </a:lnTo>
                <a:close/>
              </a:path>
            </a:pathLst>
          </a:custGeom>
          <a:blipFill>
            <a:blip r:embed="rId3"/>
            <a:stretch>
              <a:fillRect l="0" t="0" r="0" b="0"/>
            </a:stretch>
          </a:blipFill>
        </p:spPr>
      </p:sp>
      <p:sp>
        <p:nvSpPr>
          <p:cNvPr name="Freeform 7" id="7"/>
          <p:cNvSpPr/>
          <p:nvPr/>
        </p:nvSpPr>
        <p:spPr>
          <a:xfrm flipH="false" flipV="false" rot="0">
            <a:off x="6128574" y="4982609"/>
            <a:ext cx="5535611" cy="4828617"/>
          </a:xfrm>
          <a:custGeom>
            <a:avLst/>
            <a:gdLst/>
            <a:ahLst/>
            <a:cxnLst/>
            <a:rect r="r" b="b" t="t" l="l"/>
            <a:pathLst>
              <a:path h="4828617" w="5535611">
                <a:moveTo>
                  <a:pt x="0" y="0"/>
                </a:moveTo>
                <a:lnTo>
                  <a:pt x="5535610" y="0"/>
                </a:lnTo>
                <a:lnTo>
                  <a:pt x="5535610" y="4828617"/>
                </a:lnTo>
                <a:lnTo>
                  <a:pt x="0" y="4828617"/>
                </a:lnTo>
                <a:lnTo>
                  <a:pt x="0" y="0"/>
                </a:lnTo>
                <a:close/>
              </a:path>
            </a:pathLst>
          </a:custGeom>
          <a:blipFill>
            <a:blip r:embed="rId4"/>
            <a:stretch>
              <a:fillRect l="0" t="0" r="0" b="0"/>
            </a:stretch>
          </a:blipFill>
        </p:spPr>
      </p:sp>
      <p:sp>
        <p:nvSpPr>
          <p:cNvPr name="TextBox 8" id="8"/>
          <p:cNvSpPr txBox="true"/>
          <p:nvPr/>
        </p:nvSpPr>
        <p:spPr>
          <a:xfrm rot="0">
            <a:off x="2873512" y="2021122"/>
            <a:ext cx="12540977" cy="895959"/>
          </a:xfrm>
          <a:prstGeom prst="rect">
            <a:avLst/>
          </a:prstGeom>
        </p:spPr>
        <p:txBody>
          <a:bodyPr anchor="t" rtlCol="false" tIns="0" lIns="0" bIns="0" rIns="0">
            <a:spAutoFit/>
          </a:bodyPr>
          <a:lstStyle/>
          <a:p>
            <a:pPr algn="ctr">
              <a:lnSpc>
                <a:spcPts val="7316"/>
              </a:lnSpc>
              <a:spcBef>
                <a:spcPct val="0"/>
              </a:spcBef>
            </a:pPr>
            <a:r>
              <a:rPr lang="en-US" sz="5226">
                <a:solidFill>
                  <a:srgbClr val="FF009D"/>
                </a:solidFill>
                <a:latin typeface="HK Modular"/>
                <a:ea typeface="HK Modular"/>
                <a:cs typeface="HK Modular"/>
                <a:sym typeface="HK Modular"/>
              </a:rPr>
              <a:t>REACT - HOOKS</a:t>
            </a:r>
          </a:p>
        </p:txBody>
      </p:sp>
      <p:sp>
        <p:nvSpPr>
          <p:cNvPr name="TextBox 9" id="9"/>
          <p:cNvSpPr txBox="true"/>
          <p:nvPr/>
        </p:nvSpPr>
        <p:spPr>
          <a:xfrm rot="0">
            <a:off x="4863009" y="3692058"/>
            <a:ext cx="2967048" cy="558830"/>
          </a:xfrm>
          <a:prstGeom prst="rect">
            <a:avLst/>
          </a:prstGeom>
        </p:spPr>
        <p:txBody>
          <a:bodyPr anchor="t" rtlCol="false" tIns="0" lIns="0" bIns="0" rIns="0">
            <a:spAutoFit/>
          </a:bodyPr>
          <a:lstStyle/>
          <a:p>
            <a:pPr algn="ctr">
              <a:lnSpc>
                <a:spcPts val="4305"/>
              </a:lnSpc>
              <a:spcBef>
                <a:spcPct val="0"/>
              </a:spcBef>
            </a:pPr>
            <a:r>
              <a:rPr lang="en-US" sz="3075">
                <a:solidFill>
                  <a:srgbClr val="FFFFFF"/>
                </a:solidFill>
                <a:latin typeface="Poppins"/>
                <a:ea typeface="Poppins"/>
                <a:cs typeface="Poppins"/>
                <a:sym typeface="Poppins"/>
              </a:rPr>
              <a:t>Custom Hooks</a:t>
            </a:r>
          </a:p>
        </p:txBody>
      </p:sp>
      <p:sp>
        <p:nvSpPr>
          <p:cNvPr name="TextBox 10" id="10"/>
          <p:cNvSpPr txBox="true"/>
          <p:nvPr/>
        </p:nvSpPr>
        <p:spPr>
          <a:xfrm rot="0">
            <a:off x="9721946" y="3616636"/>
            <a:ext cx="6354249" cy="1211354"/>
          </a:xfrm>
          <a:prstGeom prst="rect">
            <a:avLst/>
          </a:prstGeom>
        </p:spPr>
        <p:txBody>
          <a:bodyPr anchor="t" rtlCol="false" tIns="0" lIns="0" bIns="0" rIns="0">
            <a:spAutoFit/>
          </a:bodyPr>
          <a:lstStyle/>
          <a:p>
            <a:pPr algn="ctr">
              <a:lnSpc>
                <a:spcPts val="3212"/>
              </a:lnSpc>
              <a:spcBef>
                <a:spcPct val="0"/>
              </a:spcBef>
            </a:pPr>
            <a:r>
              <a:rPr lang="en-US" sz="2294">
                <a:solidFill>
                  <a:srgbClr val="FFFFFF"/>
                </a:solidFill>
                <a:latin typeface="Poppins"/>
                <a:ea typeface="Poppins"/>
                <a:cs typeface="Poppins"/>
                <a:sym typeface="Poppins"/>
              </a:rPr>
              <a:t>Puedes crear tus propios hooks para reutilizar logica de estado o efectos entre componentes</a:t>
            </a:r>
          </a:p>
        </p:txBody>
      </p:sp>
      <p:sp>
        <p:nvSpPr>
          <p:cNvPr name="Freeform 11" id="11"/>
          <p:cNvSpPr/>
          <p:nvPr/>
        </p:nvSpPr>
        <p:spPr>
          <a:xfrm flipH="false" flipV="false" rot="0">
            <a:off x="8082044" y="-150850"/>
            <a:ext cx="2342646" cy="2342646"/>
          </a:xfrm>
          <a:custGeom>
            <a:avLst/>
            <a:gdLst/>
            <a:ahLst/>
            <a:cxnLst/>
            <a:rect r="r" b="b" t="t" l="l"/>
            <a:pathLst>
              <a:path h="2342646" w="2342646">
                <a:moveTo>
                  <a:pt x="0" y="0"/>
                </a:moveTo>
                <a:lnTo>
                  <a:pt x="2342646" y="0"/>
                </a:lnTo>
                <a:lnTo>
                  <a:pt x="2342646" y="2342646"/>
                </a:lnTo>
                <a:lnTo>
                  <a:pt x="0" y="2342646"/>
                </a:lnTo>
                <a:lnTo>
                  <a:pt x="0" y="0"/>
                </a:lnTo>
                <a:close/>
              </a:path>
            </a:pathLst>
          </a:custGeom>
          <a:blipFill>
            <a:blip r:embed="rId5"/>
            <a:stretch>
              <a:fillRect l="0" t="0" r="0"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4486504" y="2065018"/>
            <a:ext cx="1014379" cy="912941"/>
          </a:xfrm>
          <a:custGeom>
            <a:avLst/>
            <a:gdLst/>
            <a:ahLst/>
            <a:cxnLst/>
            <a:rect r="r" b="b" t="t" l="l"/>
            <a:pathLst>
              <a:path h="912941" w="1014379">
                <a:moveTo>
                  <a:pt x="0" y="0"/>
                </a:moveTo>
                <a:lnTo>
                  <a:pt x="1014379" y="0"/>
                </a:lnTo>
                <a:lnTo>
                  <a:pt x="1014379" y="912942"/>
                </a:lnTo>
                <a:lnTo>
                  <a:pt x="0" y="912942"/>
                </a:lnTo>
                <a:lnTo>
                  <a:pt x="0" y="0"/>
                </a:lnTo>
                <a:close/>
              </a:path>
            </a:pathLst>
          </a:custGeom>
          <a:blipFill>
            <a:blip r:embed="rId3"/>
            <a:stretch>
              <a:fillRect l="0" t="0" r="0" b="0"/>
            </a:stretch>
          </a:blipFill>
        </p:spPr>
      </p:sp>
      <p:sp>
        <p:nvSpPr>
          <p:cNvPr name="TextBox 7" id="7"/>
          <p:cNvSpPr txBox="true"/>
          <p:nvPr/>
        </p:nvSpPr>
        <p:spPr>
          <a:xfrm rot="0">
            <a:off x="2873512" y="2021122"/>
            <a:ext cx="12540977" cy="895959"/>
          </a:xfrm>
          <a:prstGeom prst="rect">
            <a:avLst/>
          </a:prstGeom>
        </p:spPr>
        <p:txBody>
          <a:bodyPr anchor="t" rtlCol="false" tIns="0" lIns="0" bIns="0" rIns="0">
            <a:spAutoFit/>
          </a:bodyPr>
          <a:lstStyle/>
          <a:p>
            <a:pPr algn="ctr">
              <a:lnSpc>
                <a:spcPts val="7316"/>
              </a:lnSpc>
              <a:spcBef>
                <a:spcPct val="0"/>
              </a:spcBef>
            </a:pPr>
            <a:r>
              <a:rPr lang="en-US" sz="5226">
                <a:solidFill>
                  <a:srgbClr val="FF009D"/>
                </a:solidFill>
                <a:latin typeface="HK Modular"/>
                <a:ea typeface="HK Modular"/>
                <a:cs typeface="HK Modular"/>
                <a:sym typeface="HK Modular"/>
              </a:rPr>
              <a:t>REACT - HOOKS</a:t>
            </a:r>
          </a:p>
        </p:txBody>
      </p:sp>
      <p:sp>
        <p:nvSpPr>
          <p:cNvPr name="Freeform 8" id="8"/>
          <p:cNvSpPr/>
          <p:nvPr/>
        </p:nvSpPr>
        <p:spPr>
          <a:xfrm flipH="false" flipV="false" rot="0">
            <a:off x="3474774" y="3406503"/>
            <a:ext cx="11033254" cy="6206205"/>
          </a:xfrm>
          <a:custGeom>
            <a:avLst/>
            <a:gdLst/>
            <a:ahLst/>
            <a:cxnLst/>
            <a:rect r="r" b="b" t="t" l="l"/>
            <a:pathLst>
              <a:path h="6206205" w="11033254">
                <a:moveTo>
                  <a:pt x="0" y="0"/>
                </a:moveTo>
                <a:lnTo>
                  <a:pt x="11033254" y="0"/>
                </a:lnTo>
                <a:lnTo>
                  <a:pt x="11033254" y="6206205"/>
                </a:lnTo>
                <a:lnTo>
                  <a:pt x="0" y="6206205"/>
                </a:lnTo>
                <a:lnTo>
                  <a:pt x="0" y="0"/>
                </a:lnTo>
                <a:close/>
              </a:path>
            </a:pathLst>
          </a:custGeom>
          <a:blipFill>
            <a:blip r:embed="rId4"/>
            <a:stretch>
              <a:fillRect l="0" t="0" r="0" b="0"/>
            </a:stretch>
          </a:blipFill>
        </p:spPr>
      </p:sp>
      <p:sp>
        <p:nvSpPr>
          <p:cNvPr name="Freeform 9" id="9"/>
          <p:cNvSpPr/>
          <p:nvPr/>
        </p:nvSpPr>
        <p:spPr>
          <a:xfrm flipH="false" flipV="false" rot="0">
            <a:off x="8082044" y="-150850"/>
            <a:ext cx="2342646" cy="2342646"/>
          </a:xfrm>
          <a:custGeom>
            <a:avLst/>
            <a:gdLst/>
            <a:ahLst/>
            <a:cxnLst/>
            <a:rect r="r" b="b" t="t" l="l"/>
            <a:pathLst>
              <a:path h="2342646" w="2342646">
                <a:moveTo>
                  <a:pt x="0" y="0"/>
                </a:moveTo>
                <a:lnTo>
                  <a:pt x="2342646" y="0"/>
                </a:lnTo>
                <a:lnTo>
                  <a:pt x="2342646" y="2342646"/>
                </a:lnTo>
                <a:lnTo>
                  <a:pt x="0" y="2342646"/>
                </a:lnTo>
                <a:lnTo>
                  <a:pt x="0" y="0"/>
                </a:lnTo>
                <a:close/>
              </a:path>
            </a:pathLst>
          </a:custGeom>
          <a:blipFill>
            <a:blip r:embed="rId5"/>
            <a:stretch>
              <a:fillRect l="0" t="0" r="0" b="0"/>
            </a:stretch>
          </a:blipFill>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2181517" y="2191796"/>
            <a:ext cx="1014379" cy="912941"/>
          </a:xfrm>
          <a:custGeom>
            <a:avLst/>
            <a:gdLst/>
            <a:ahLst/>
            <a:cxnLst/>
            <a:rect r="r" b="b" t="t" l="l"/>
            <a:pathLst>
              <a:path h="912941" w="1014379">
                <a:moveTo>
                  <a:pt x="0" y="0"/>
                </a:moveTo>
                <a:lnTo>
                  <a:pt x="1014379" y="0"/>
                </a:lnTo>
                <a:lnTo>
                  <a:pt x="1014379" y="912941"/>
                </a:lnTo>
                <a:lnTo>
                  <a:pt x="0" y="912941"/>
                </a:lnTo>
                <a:lnTo>
                  <a:pt x="0" y="0"/>
                </a:lnTo>
                <a:close/>
              </a:path>
            </a:pathLst>
          </a:custGeom>
          <a:blipFill>
            <a:blip r:embed="rId3"/>
            <a:stretch>
              <a:fillRect l="0" t="0" r="0" b="0"/>
            </a:stretch>
          </a:blipFill>
        </p:spPr>
      </p:sp>
      <p:sp>
        <p:nvSpPr>
          <p:cNvPr name="Freeform 7" id="7"/>
          <p:cNvSpPr/>
          <p:nvPr/>
        </p:nvSpPr>
        <p:spPr>
          <a:xfrm flipH="false" flipV="false" rot="0">
            <a:off x="10525876" y="3956732"/>
            <a:ext cx="5210997" cy="1736999"/>
          </a:xfrm>
          <a:custGeom>
            <a:avLst/>
            <a:gdLst/>
            <a:ahLst/>
            <a:cxnLst/>
            <a:rect r="r" b="b" t="t" l="l"/>
            <a:pathLst>
              <a:path h="1736999" w="5210997">
                <a:moveTo>
                  <a:pt x="0" y="0"/>
                </a:moveTo>
                <a:lnTo>
                  <a:pt x="5210997" y="0"/>
                </a:lnTo>
                <a:lnTo>
                  <a:pt x="5210997" y="1736999"/>
                </a:lnTo>
                <a:lnTo>
                  <a:pt x="0" y="1736999"/>
                </a:lnTo>
                <a:lnTo>
                  <a:pt x="0" y="0"/>
                </a:lnTo>
                <a:close/>
              </a:path>
            </a:pathLst>
          </a:custGeom>
          <a:blipFill>
            <a:blip r:embed="rId4"/>
            <a:stretch>
              <a:fillRect l="0" t="0" r="0" b="0"/>
            </a:stretch>
          </a:blipFill>
        </p:spPr>
      </p:sp>
      <p:sp>
        <p:nvSpPr>
          <p:cNvPr name="Freeform 8" id="8"/>
          <p:cNvSpPr/>
          <p:nvPr/>
        </p:nvSpPr>
        <p:spPr>
          <a:xfrm flipH="false" flipV="false" rot="0">
            <a:off x="10260970" y="6696816"/>
            <a:ext cx="5274215" cy="1616292"/>
          </a:xfrm>
          <a:custGeom>
            <a:avLst/>
            <a:gdLst/>
            <a:ahLst/>
            <a:cxnLst/>
            <a:rect r="r" b="b" t="t" l="l"/>
            <a:pathLst>
              <a:path h="1616292" w="5274215">
                <a:moveTo>
                  <a:pt x="0" y="0"/>
                </a:moveTo>
                <a:lnTo>
                  <a:pt x="5274215" y="0"/>
                </a:lnTo>
                <a:lnTo>
                  <a:pt x="5274215" y="1616292"/>
                </a:lnTo>
                <a:lnTo>
                  <a:pt x="0" y="1616292"/>
                </a:lnTo>
                <a:lnTo>
                  <a:pt x="0" y="0"/>
                </a:lnTo>
                <a:close/>
              </a:path>
            </a:pathLst>
          </a:custGeom>
          <a:blipFill>
            <a:blip r:embed="rId5"/>
            <a:stretch>
              <a:fillRect l="0" t="0" r="0" b="0"/>
            </a:stretch>
          </a:blipFill>
        </p:spPr>
      </p:sp>
      <p:sp>
        <p:nvSpPr>
          <p:cNvPr name="TextBox 9" id="9"/>
          <p:cNvSpPr txBox="true"/>
          <p:nvPr/>
        </p:nvSpPr>
        <p:spPr>
          <a:xfrm rot="0">
            <a:off x="3195896" y="2087021"/>
            <a:ext cx="12540977" cy="895959"/>
          </a:xfrm>
          <a:prstGeom prst="rect">
            <a:avLst/>
          </a:prstGeom>
        </p:spPr>
        <p:txBody>
          <a:bodyPr anchor="t" rtlCol="false" tIns="0" lIns="0" bIns="0" rIns="0">
            <a:spAutoFit/>
          </a:bodyPr>
          <a:lstStyle/>
          <a:p>
            <a:pPr algn="ctr">
              <a:lnSpc>
                <a:spcPts val="7316"/>
              </a:lnSpc>
              <a:spcBef>
                <a:spcPct val="0"/>
              </a:spcBef>
            </a:pPr>
            <a:r>
              <a:rPr lang="en-US" sz="5226">
                <a:solidFill>
                  <a:srgbClr val="FF009D"/>
                </a:solidFill>
                <a:latin typeface="HK Modular"/>
                <a:ea typeface="HK Modular"/>
                <a:cs typeface="HK Modular"/>
                <a:sym typeface="HK Modular"/>
              </a:rPr>
              <a:t>REGLAS DE LOS HOOKS</a:t>
            </a:r>
          </a:p>
        </p:txBody>
      </p:sp>
      <p:sp>
        <p:nvSpPr>
          <p:cNvPr name="TextBox 10" id="10"/>
          <p:cNvSpPr txBox="true"/>
          <p:nvPr/>
        </p:nvSpPr>
        <p:spPr>
          <a:xfrm rot="0">
            <a:off x="2181517" y="4018039"/>
            <a:ext cx="6354249" cy="807192"/>
          </a:xfrm>
          <a:prstGeom prst="rect">
            <a:avLst/>
          </a:prstGeom>
        </p:spPr>
        <p:txBody>
          <a:bodyPr anchor="t" rtlCol="false" tIns="0" lIns="0" bIns="0" rIns="0">
            <a:spAutoFit/>
          </a:bodyPr>
          <a:lstStyle/>
          <a:p>
            <a:pPr algn="ctr">
              <a:lnSpc>
                <a:spcPts val="3212"/>
              </a:lnSpc>
              <a:spcBef>
                <a:spcPct val="0"/>
              </a:spcBef>
            </a:pPr>
            <a:r>
              <a:rPr lang="en-US" sz="2294">
                <a:solidFill>
                  <a:srgbClr val="FFFFFF"/>
                </a:solidFill>
                <a:latin typeface="Poppins"/>
                <a:ea typeface="Poppins"/>
                <a:cs typeface="Poppins"/>
                <a:sym typeface="Poppins"/>
              </a:rPr>
              <a:t>Solo se utilizan dentro de  componentes funcionales o Hooks personalizados</a:t>
            </a:r>
          </a:p>
        </p:txBody>
      </p:sp>
      <p:sp>
        <p:nvSpPr>
          <p:cNvPr name="TextBox 11" id="11"/>
          <p:cNvSpPr txBox="true"/>
          <p:nvPr/>
        </p:nvSpPr>
        <p:spPr>
          <a:xfrm rot="0">
            <a:off x="2181517" y="6123937"/>
            <a:ext cx="6354249" cy="1615516"/>
          </a:xfrm>
          <a:prstGeom prst="rect">
            <a:avLst/>
          </a:prstGeom>
        </p:spPr>
        <p:txBody>
          <a:bodyPr anchor="t" rtlCol="false" tIns="0" lIns="0" bIns="0" rIns="0">
            <a:spAutoFit/>
          </a:bodyPr>
          <a:lstStyle/>
          <a:p>
            <a:pPr algn="ctr">
              <a:lnSpc>
                <a:spcPts val="3212"/>
              </a:lnSpc>
              <a:spcBef>
                <a:spcPct val="0"/>
              </a:spcBef>
            </a:pPr>
            <a:r>
              <a:rPr lang="en-US" sz="2294">
                <a:solidFill>
                  <a:srgbClr val="FFFFFF"/>
                </a:solidFill>
                <a:latin typeface="Poppins"/>
                <a:ea typeface="Poppins"/>
                <a:cs typeface="Poppins"/>
                <a:sym typeface="Poppins"/>
              </a:rPr>
              <a:t>No se usan dentro de condiciones, loops o funciones normales, ya que react necesita saber el orden exacto de los hooks para manejar correctamente los estados</a:t>
            </a:r>
          </a:p>
        </p:txBody>
      </p:sp>
      <p:sp>
        <p:nvSpPr>
          <p:cNvPr name="Freeform 12" id="12"/>
          <p:cNvSpPr/>
          <p:nvPr/>
        </p:nvSpPr>
        <p:spPr>
          <a:xfrm flipH="false" flipV="false" rot="0">
            <a:off x="1271470" y="4184417"/>
            <a:ext cx="795595" cy="640815"/>
          </a:xfrm>
          <a:custGeom>
            <a:avLst/>
            <a:gdLst/>
            <a:ahLst/>
            <a:cxnLst/>
            <a:rect r="r" b="b" t="t" l="l"/>
            <a:pathLst>
              <a:path h="640815" w="795595">
                <a:moveTo>
                  <a:pt x="0" y="0"/>
                </a:moveTo>
                <a:lnTo>
                  <a:pt x="795595" y="0"/>
                </a:lnTo>
                <a:lnTo>
                  <a:pt x="795595" y="640815"/>
                </a:lnTo>
                <a:lnTo>
                  <a:pt x="0" y="64081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0">
            <a:off x="1271470" y="6181087"/>
            <a:ext cx="795595" cy="640815"/>
          </a:xfrm>
          <a:custGeom>
            <a:avLst/>
            <a:gdLst/>
            <a:ahLst/>
            <a:cxnLst/>
            <a:rect r="r" b="b" t="t" l="l"/>
            <a:pathLst>
              <a:path h="640815" w="795595">
                <a:moveTo>
                  <a:pt x="0" y="0"/>
                </a:moveTo>
                <a:lnTo>
                  <a:pt x="795595" y="0"/>
                </a:lnTo>
                <a:lnTo>
                  <a:pt x="795595" y="640815"/>
                </a:lnTo>
                <a:lnTo>
                  <a:pt x="0" y="64081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0">
            <a:off x="8082044" y="-150850"/>
            <a:ext cx="2342646" cy="2342646"/>
          </a:xfrm>
          <a:custGeom>
            <a:avLst/>
            <a:gdLst/>
            <a:ahLst/>
            <a:cxnLst/>
            <a:rect r="r" b="b" t="t" l="l"/>
            <a:pathLst>
              <a:path h="2342646" w="2342646">
                <a:moveTo>
                  <a:pt x="0" y="0"/>
                </a:moveTo>
                <a:lnTo>
                  <a:pt x="2342646" y="0"/>
                </a:lnTo>
                <a:lnTo>
                  <a:pt x="2342646" y="2342646"/>
                </a:lnTo>
                <a:lnTo>
                  <a:pt x="0" y="2342646"/>
                </a:lnTo>
                <a:lnTo>
                  <a:pt x="0" y="0"/>
                </a:lnTo>
                <a:close/>
              </a:path>
            </a:pathLst>
          </a:custGeom>
          <a:blipFill>
            <a:blip r:embed="rId8"/>
            <a:stretch>
              <a:fillRect l="0" t="0" r="0" b="0"/>
            </a:stretch>
          </a:blipFill>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2181517" y="2191796"/>
            <a:ext cx="1014379" cy="912941"/>
          </a:xfrm>
          <a:custGeom>
            <a:avLst/>
            <a:gdLst/>
            <a:ahLst/>
            <a:cxnLst/>
            <a:rect r="r" b="b" t="t" l="l"/>
            <a:pathLst>
              <a:path h="912941" w="1014379">
                <a:moveTo>
                  <a:pt x="0" y="0"/>
                </a:moveTo>
                <a:lnTo>
                  <a:pt x="1014379" y="0"/>
                </a:lnTo>
                <a:lnTo>
                  <a:pt x="1014379" y="912941"/>
                </a:lnTo>
                <a:lnTo>
                  <a:pt x="0" y="912941"/>
                </a:lnTo>
                <a:lnTo>
                  <a:pt x="0" y="0"/>
                </a:lnTo>
                <a:close/>
              </a:path>
            </a:pathLst>
          </a:custGeom>
          <a:blipFill>
            <a:blip r:embed="rId3"/>
            <a:stretch>
              <a:fillRect l="0" t="0" r="0" b="0"/>
            </a:stretch>
          </a:blipFill>
        </p:spPr>
      </p:sp>
      <p:sp>
        <p:nvSpPr>
          <p:cNvPr name="Freeform 7" id="7"/>
          <p:cNvSpPr/>
          <p:nvPr/>
        </p:nvSpPr>
        <p:spPr>
          <a:xfrm flipH="false" flipV="false" rot="0">
            <a:off x="6587088" y="4046547"/>
            <a:ext cx="6132606" cy="5498199"/>
          </a:xfrm>
          <a:custGeom>
            <a:avLst/>
            <a:gdLst/>
            <a:ahLst/>
            <a:cxnLst/>
            <a:rect r="r" b="b" t="t" l="l"/>
            <a:pathLst>
              <a:path h="5498199" w="6132606">
                <a:moveTo>
                  <a:pt x="0" y="0"/>
                </a:moveTo>
                <a:lnTo>
                  <a:pt x="6132607" y="0"/>
                </a:lnTo>
                <a:lnTo>
                  <a:pt x="6132607" y="5498199"/>
                </a:lnTo>
                <a:lnTo>
                  <a:pt x="0" y="5498199"/>
                </a:lnTo>
                <a:lnTo>
                  <a:pt x="0" y="0"/>
                </a:lnTo>
                <a:close/>
              </a:path>
            </a:pathLst>
          </a:custGeom>
          <a:blipFill>
            <a:blip r:embed="rId4"/>
            <a:stretch>
              <a:fillRect l="0" t="0" r="0" b="0"/>
            </a:stretch>
          </a:blipFill>
        </p:spPr>
      </p:sp>
      <p:sp>
        <p:nvSpPr>
          <p:cNvPr name="Freeform 8" id="8"/>
          <p:cNvSpPr/>
          <p:nvPr/>
        </p:nvSpPr>
        <p:spPr>
          <a:xfrm flipH="false" flipV="false" rot="0">
            <a:off x="594667" y="4055133"/>
            <a:ext cx="5642102" cy="5489613"/>
          </a:xfrm>
          <a:custGeom>
            <a:avLst/>
            <a:gdLst/>
            <a:ahLst/>
            <a:cxnLst/>
            <a:rect r="r" b="b" t="t" l="l"/>
            <a:pathLst>
              <a:path h="5489613" w="5642102">
                <a:moveTo>
                  <a:pt x="0" y="0"/>
                </a:moveTo>
                <a:lnTo>
                  <a:pt x="5642102" y="0"/>
                </a:lnTo>
                <a:lnTo>
                  <a:pt x="5642102" y="5489613"/>
                </a:lnTo>
                <a:lnTo>
                  <a:pt x="0" y="5489613"/>
                </a:lnTo>
                <a:lnTo>
                  <a:pt x="0" y="0"/>
                </a:lnTo>
                <a:close/>
              </a:path>
            </a:pathLst>
          </a:custGeom>
          <a:blipFill>
            <a:blip r:embed="rId5"/>
            <a:stretch>
              <a:fillRect l="0" t="0" r="0" b="0"/>
            </a:stretch>
          </a:blipFill>
        </p:spPr>
      </p:sp>
      <p:sp>
        <p:nvSpPr>
          <p:cNvPr name="TextBox 9" id="9"/>
          <p:cNvSpPr txBox="true"/>
          <p:nvPr/>
        </p:nvSpPr>
        <p:spPr>
          <a:xfrm rot="0">
            <a:off x="3195896" y="1926565"/>
            <a:ext cx="13644589" cy="1364470"/>
          </a:xfrm>
          <a:prstGeom prst="rect">
            <a:avLst/>
          </a:prstGeom>
        </p:spPr>
        <p:txBody>
          <a:bodyPr anchor="t" rtlCol="false" tIns="0" lIns="0" bIns="0" rIns="0">
            <a:spAutoFit/>
          </a:bodyPr>
          <a:lstStyle/>
          <a:p>
            <a:pPr algn="ctr">
              <a:lnSpc>
                <a:spcPts val="5454"/>
              </a:lnSpc>
              <a:spcBef>
                <a:spcPct val="0"/>
              </a:spcBef>
            </a:pPr>
            <a:r>
              <a:rPr lang="en-US" sz="3896">
                <a:solidFill>
                  <a:srgbClr val="FF009D"/>
                </a:solidFill>
                <a:latin typeface="HK Modular"/>
                <a:ea typeface="HK Modular"/>
                <a:cs typeface="HK Modular"/>
                <a:sym typeface="HK Modular"/>
              </a:rPr>
              <a:t>REACT ROUTER: NAVEGACION ENTRE PANTALLAS</a:t>
            </a:r>
          </a:p>
        </p:txBody>
      </p:sp>
      <p:sp>
        <p:nvSpPr>
          <p:cNvPr name="TextBox 10" id="10"/>
          <p:cNvSpPr txBox="true"/>
          <p:nvPr/>
        </p:nvSpPr>
        <p:spPr>
          <a:xfrm rot="0">
            <a:off x="13479355" y="4576202"/>
            <a:ext cx="3997325" cy="3926296"/>
          </a:xfrm>
          <a:prstGeom prst="rect">
            <a:avLst/>
          </a:prstGeom>
        </p:spPr>
        <p:txBody>
          <a:bodyPr anchor="t" rtlCol="false" tIns="0" lIns="0" bIns="0" rIns="0">
            <a:spAutoFit/>
          </a:bodyPr>
          <a:lstStyle/>
          <a:p>
            <a:pPr algn="ctr">
              <a:lnSpc>
                <a:spcPts val="3112"/>
              </a:lnSpc>
              <a:spcBef>
                <a:spcPct val="0"/>
              </a:spcBef>
            </a:pPr>
            <a:r>
              <a:rPr lang="en-US" sz="2223">
                <a:solidFill>
                  <a:srgbClr val="FFFFFF"/>
                </a:solidFill>
                <a:latin typeface="Poppins"/>
                <a:ea typeface="Poppins"/>
                <a:cs typeface="Poppins"/>
                <a:sym typeface="Poppins"/>
              </a:rPr>
              <a:t>Es una libreria que permite crear rutas dentro de la aplicacion React, gracias a ella puedes tener varias pantallas (HOME, CONTACTO, DETALLE, ETC) sin recargar toda la pagina, eso convierte la app en una SPA (Single Page Application)</a:t>
            </a:r>
          </a:p>
        </p:txBody>
      </p:sp>
      <p:sp>
        <p:nvSpPr>
          <p:cNvPr name="Freeform 11" id="11"/>
          <p:cNvSpPr/>
          <p:nvPr/>
        </p:nvSpPr>
        <p:spPr>
          <a:xfrm flipH="false" flipV="false" rot="0">
            <a:off x="8082044" y="-150850"/>
            <a:ext cx="2342646" cy="2342646"/>
          </a:xfrm>
          <a:custGeom>
            <a:avLst/>
            <a:gdLst/>
            <a:ahLst/>
            <a:cxnLst/>
            <a:rect r="r" b="b" t="t" l="l"/>
            <a:pathLst>
              <a:path h="2342646" w="2342646">
                <a:moveTo>
                  <a:pt x="0" y="0"/>
                </a:moveTo>
                <a:lnTo>
                  <a:pt x="2342646" y="0"/>
                </a:lnTo>
                <a:lnTo>
                  <a:pt x="2342646" y="2342646"/>
                </a:lnTo>
                <a:lnTo>
                  <a:pt x="0" y="2342646"/>
                </a:lnTo>
                <a:lnTo>
                  <a:pt x="0" y="0"/>
                </a:lnTo>
                <a:close/>
              </a:path>
            </a:pathLst>
          </a:custGeom>
          <a:blipFill>
            <a:blip r:embed="rId6"/>
            <a:stretch>
              <a:fillRect l="0" t="0" r="0" b="0"/>
            </a:stretch>
          </a:blipFill>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294699" y="2115596"/>
            <a:ext cx="14513544" cy="628596"/>
          </a:xfrm>
          <a:prstGeom prst="rect">
            <a:avLst/>
          </a:prstGeom>
        </p:spPr>
        <p:txBody>
          <a:bodyPr anchor="t" rtlCol="false" tIns="0" lIns="0" bIns="0" rIns="0">
            <a:spAutoFit/>
          </a:bodyPr>
          <a:lstStyle/>
          <a:p>
            <a:pPr algn="ctr">
              <a:lnSpc>
                <a:spcPts val="5108"/>
              </a:lnSpc>
              <a:spcBef>
                <a:spcPct val="0"/>
              </a:spcBef>
            </a:pPr>
            <a:r>
              <a:rPr lang="en-US" sz="3648">
                <a:solidFill>
                  <a:srgbClr val="FF009D"/>
                </a:solidFill>
                <a:latin typeface="HK Modular"/>
                <a:ea typeface="HK Modular"/>
                <a:cs typeface="HK Modular"/>
                <a:sym typeface="HK Modular"/>
              </a:rPr>
              <a:t>ARQUITECTURA DE UN PROYECTO EN FRONT</a:t>
            </a:r>
          </a:p>
        </p:txBody>
      </p:sp>
      <p:sp>
        <p:nvSpPr>
          <p:cNvPr name="TextBox 7" id="7"/>
          <p:cNvSpPr txBox="true"/>
          <p:nvPr/>
        </p:nvSpPr>
        <p:spPr>
          <a:xfrm rot="0">
            <a:off x="1356873" y="3275977"/>
            <a:ext cx="15902427" cy="1642216"/>
          </a:xfrm>
          <a:prstGeom prst="rect">
            <a:avLst/>
          </a:prstGeom>
        </p:spPr>
        <p:txBody>
          <a:bodyPr anchor="t" rtlCol="false" tIns="0" lIns="0" bIns="0" rIns="0">
            <a:spAutoFit/>
          </a:bodyPr>
          <a:lstStyle/>
          <a:p>
            <a:pPr algn="ctr">
              <a:lnSpc>
                <a:spcPts val="4305"/>
              </a:lnSpc>
              <a:spcBef>
                <a:spcPct val="0"/>
              </a:spcBef>
            </a:pPr>
            <a:r>
              <a:rPr lang="en-US" sz="3075">
                <a:solidFill>
                  <a:srgbClr val="FFFFFF"/>
                </a:solidFill>
                <a:latin typeface="Poppins"/>
                <a:ea typeface="Poppins"/>
                <a:cs typeface="Poppins"/>
                <a:sym typeface="Poppins"/>
              </a:rPr>
              <a:t>Organizar los archivos y directorios en un proyecto es crucial para temas de mantenibilidad, escalabilidad y para manejar una navegacion en el proyecto mas facil</a:t>
            </a:r>
          </a:p>
        </p:txBody>
      </p:sp>
      <p:sp>
        <p:nvSpPr>
          <p:cNvPr name="TextBox 8" id="8"/>
          <p:cNvSpPr txBox="true"/>
          <p:nvPr/>
        </p:nvSpPr>
        <p:spPr>
          <a:xfrm rot="0">
            <a:off x="1356873" y="5451594"/>
            <a:ext cx="15902427" cy="558830"/>
          </a:xfrm>
          <a:prstGeom prst="rect">
            <a:avLst/>
          </a:prstGeom>
        </p:spPr>
        <p:txBody>
          <a:bodyPr anchor="t" rtlCol="false" tIns="0" lIns="0" bIns="0" rIns="0">
            <a:spAutoFit/>
          </a:bodyPr>
          <a:lstStyle/>
          <a:p>
            <a:pPr algn="ctr">
              <a:lnSpc>
                <a:spcPts val="4305"/>
              </a:lnSpc>
              <a:spcBef>
                <a:spcPct val="0"/>
              </a:spcBef>
            </a:pPr>
            <a:r>
              <a:rPr lang="en-US" sz="3075">
                <a:solidFill>
                  <a:srgbClr val="FFFFFF"/>
                </a:solidFill>
                <a:latin typeface="Poppins"/>
                <a:ea typeface="Poppins"/>
                <a:cs typeface="Poppins"/>
                <a:sym typeface="Poppins"/>
              </a:rPr>
              <a:t>Existen 3 niveles para el manejo y agrupacion de la paqueteria</a:t>
            </a:r>
          </a:p>
        </p:txBody>
      </p:sp>
      <p:sp>
        <p:nvSpPr>
          <p:cNvPr name="TextBox 9" id="9"/>
          <p:cNvSpPr txBox="true"/>
          <p:nvPr/>
        </p:nvSpPr>
        <p:spPr>
          <a:xfrm rot="0">
            <a:off x="1779514" y="6581924"/>
            <a:ext cx="15479786" cy="2901388"/>
          </a:xfrm>
          <a:prstGeom prst="rect">
            <a:avLst/>
          </a:prstGeom>
        </p:spPr>
        <p:txBody>
          <a:bodyPr anchor="t" rtlCol="false" tIns="0" lIns="0" bIns="0" rIns="0">
            <a:spAutoFit/>
          </a:bodyPr>
          <a:lstStyle/>
          <a:p>
            <a:pPr algn="ctr">
              <a:lnSpc>
                <a:spcPts val="3880"/>
              </a:lnSpc>
            </a:pPr>
            <a:r>
              <a:rPr lang="en-US" sz="2772">
                <a:solidFill>
                  <a:srgbClr val="FFFFFF"/>
                </a:solidFill>
                <a:latin typeface="HK Modular"/>
                <a:ea typeface="HK Modular"/>
                <a:cs typeface="HK Modular"/>
                <a:sym typeface="HK Modular"/>
              </a:rPr>
              <a:t>NIVEL 1: AGRUPACION POR TIPOS DE ARCHIVOS</a:t>
            </a:r>
          </a:p>
          <a:p>
            <a:pPr algn="ctr">
              <a:lnSpc>
                <a:spcPts val="3880"/>
              </a:lnSpc>
            </a:pPr>
          </a:p>
          <a:p>
            <a:pPr algn="ctr">
              <a:lnSpc>
                <a:spcPts val="3880"/>
              </a:lnSpc>
            </a:pPr>
            <a:r>
              <a:rPr lang="en-US" sz="2772">
                <a:solidFill>
                  <a:srgbClr val="FFFFFF"/>
                </a:solidFill>
                <a:latin typeface="HK Modular"/>
                <a:ea typeface="HK Modular"/>
                <a:cs typeface="HK Modular"/>
                <a:sym typeface="HK Modular"/>
              </a:rPr>
              <a:t>NIVEL 2: AGRUPACION POR TIPOS DE ARCHIVOS Y FUNCIONALIDADES</a:t>
            </a:r>
          </a:p>
          <a:p>
            <a:pPr algn="ctr">
              <a:lnSpc>
                <a:spcPts val="3880"/>
              </a:lnSpc>
            </a:pPr>
          </a:p>
          <a:p>
            <a:pPr algn="ctr">
              <a:lnSpc>
                <a:spcPts val="3880"/>
              </a:lnSpc>
            </a:pPr>
            <a:r>
              <a:rPr lang="en-US" sz="2772">
                <a:solidFill>
                  <a:srgbClr val="FFFFFF"/>
                </a:solidFill>
                <a:latin typeface="HK Modular"/>
                <a:ea typeface="HK Modular"/>
                <a:cs typeface="HK Modular"/>
                <a:sym typeface="HK Modular"/>
              </a:rPr>
              <a:t>NIVEL 3: AGRUPACION POR FUNCIONALIDADES/MODULOS</a:t>
            </a:r>
          </a:p>
        </p:txBody>
      </p:sp>
      <p:sp>
        <p:nvSpPr>
          <p:cNvPr name="Freeform 10" id="10"/>
          <p:cNvSpPr/>
          <p:nvPr/>
        </p:nvSpPr>
        <p:spPr>
          <a:xfrm flipH="false" flipV="false" rot="0">
            <a:off x="8082044" y="-150850"/>
            <a:ext cx="2342646" cy="2342646"/>
          </a:xfrm>
          <a:custGeom>
            <a:avLst/>
            <a:gdLst/>
            <a:ahLst/>
            <a:cxnLst/>
            <a:rect r="r" b="b" t="t" l="l"/>
            <a:pathLst>
              <a:path h="2342646" w="2342646">
                <a:moveTo>
                  <a:pt x="0" y="0"/>
                </a:moveTo>
                <a:lnTo>
                  <a:pt x="2342646" y="0"/>
                </a:lnTo>
                <a:lnTo>
                  <a:pt x="2342646" y="2342646"/>
                </a:lnTo>
                <a:lnTo>
                  <a:pt x="0" y="2342646"/>
                </a:lnTo>
                <a:lnTo>
                  <a:pt x="0" y="0"/>
                </a:lnTo>
                <a:close/>
              </a:path>
            </a:pathLst>
          </a:custGeom>
          <a:blipFill>
            <a:blip r:embed="rId3"/>
            <a:stretch>
              <a:fillRect l="0" t="0" r="0" b="0"/>
            </a:stretch>
          </a:blipFill>
        </p:spPr>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996595" y="4048371"/>
            <a:ext cx="4040712" cy="5621861"/>
          </a:xfrm>
          <a:custGeom>
            <a:avLst/>
            <a:gdLst/>
            <a:ahLst/>
            <a:cxnLst/>
            <a:rect r="r" b="b" t="t" l="l"/>
            <a:pathLst>
              <a:path h="5621861" w="4040712">
                <a:moveTo>
                  <a:pt x="0" y="0"/>
                </a:moveTo>
                <a:lnTo>
                  <a:pt x="4040712" y="0"/>
                </a:lnTo>
                <a:lnTo>
                  <a:pt x="4040712" y="5621860"/>
                </a:lnTo>
                <a:lnTo>
                  <a:pt x="0" y="5621860"/>
                </a:lnTo>
                <a:lnTo>
                  <a:pt x="0" y="0"/>
                </a:lnTo>
                <a:close/>
              </a:path>
            </a:pathLst>
          </a:custGeom>
          <a:blipFill>
            <a:blip r:embed="rId3"/>
            <a:stretch>
              <a:fillRect l="0" t="0" r="0" b="0"/>
            </a:stretch>
          </a:blipFill>
        </p:spPr>
      </p:sp>
      <p:sp>
        <p:nvSpPr>
          <p:cNvPr name="TextBox 7" id="7"/>
          <p:cNvSpPr txBox="true"/>
          <p:nvPr/>
        </p:nvSpPr>
        <p:spPr>
          <a:xfrm rot="0">
            <a:off x="1996595" y="2342827"/>
            <a:ext cx="14513544" cy="1273670"/>
          </a:xfrm>
          <a:prstGeom prst="rect">
            <a:avLst/>
          </a:prstGeom>
        </p:spPr>
        <p:txBody>
          <a:bodyPr anchor="t" rtlCol="false" tIns="0" lIns="0" bIns="0" rIns="0">
            <a:spAutoFit/>
          </a:bodyPr>
          <a:lstStyle/>
          <a:p>
            <a:pPr algn="ctr">
              <a:lnSpc>
                <a:spcPts val="5108"/>
              </a:lnSpc>
              <a:spcBef>
                <a:spcPct val="0"/>
              </a:spcBef>
            </a:pPr>
            <a:r>
              <a:rPr lang="en-US" sz="3648">
                <a:solidFill>
                  <a:srgbClr val="FF009D"/>
                </a:solidFill>
                <a:latin typeface="HK Modular"/>
                <a:ea typeface="HK Modular"/>
                <a:cs typeface="HK Modular"/>
                <a:sym typeface="HK Modular"/>
              </a:rPr>
              <a:t>NIVEL 1: AGRUPACION POR TIPOS DE ARCHIVOS</a:t>
            </a:r>
          </a:p>
        </p:txBody>
      </p:sp>
      <p:sp>
        <p:nvSpPr>
          <p:cNvPr name="TextBox 8" id="8"/>
          <p:cNvSpPr txBox="true"/>
          <p:nvPr/>
        </p:nvSpPr>
        <p:spPr>
          <a:xfrm rot="0">
            <a:off x="6671051" y="4373086"/>
            <a:ext cx="10805971" cy="1100523"/>
          </a:xfrm>
          <a:prstGeom prst="rect">
            <a:avLst/>
          </a:prstGeom>
        </p:spPr>
        <p:txBody>
          <a:bodyPr anchor="t" rtlCol="false" tIns="0" lIns="0" bIns="0" rIns="0">
            <a:spAutoFit/>
          </a:bodyPr>
          <a:lstStyle/>
          <a:p>
            <a:pPr algn="ctr">
              <a:lnSpc>
                <a:spcPts val="4305"/>
              </a:lnSpc>
              <a:spcBef>
                <a:spcPct val="0"/>
              </a:spcBef>
            </a:pPr>
            <a:r>
              <a:rPr lang="en-US" sz="3075">
                <a:solidFill>
                  <a:srgbClr val="FFFFFF"/>
                </a:solidFill>
                <a:latin typeface="Poppins"/>
                <a:ea typeface="Poppins"/>
                <a:cs typeface="Poppins"/>
                <a:sym typeface="Poppins"/>
              </a:rPr>
              <a:t>Estructura caracterizada por su simplicidad, agrupado archivos por su tipo</a:t>
            </a:r>
          </a:p>
        </p:txBody>
      </p:sp>
      <p:sp>
        <p:nvSpPr>
          <p:cNvPr name="TextBox 9" id="9"/>
          <p:cNvSpPr txBox="true"/>
          <p:nvPr/>
        </p:nvSpPr>
        <p:spPr>
          <a:xfrm rot="0">
            <a:off x="6671051" y="6226084"/>
            <a:ext cx="10805971" cy="2725603"/>
          </a:xfrm>
          <a:prstGeom prst="rect">
            <a:avLst/>
          </a:prstGeom>
        </p:spPr>
        <p:txBody>
          <a:bodyPr anchor="t" rtlCol="false" tIns="0" lIns="0" bIns="0" rIns="0">
            <a:spAutoFit/>
          </a:bodyPr>
          <a:lstStyle/>
          <a:p>
            <a:pPr algn="ctr">
              <a:lnSpc>
                <a:spcPts val="4305"/>
              </a:lnSpc>
            </a:pPr>
            <a:r>
              <a:rPr lang="en-US" sz="3075">
                <a:solidFill>
                  <a:srgbClr val="FFFFFF"/>
                </a:solidFill>
                <a:latin typeface="Poppins"/>
                <a:ea typeface="Poppins"/>
                <a:cs typeface="Poppins"/>
                <a:sym typeface="Poppins"/>
              </a:rPr>
              <a:t>Es utilizado para proyectos pequeños o medianos</a:t>
            </a:r>
          </a:p>
          <a:p>
            <a:pPr algn="ctr">
              <a:lnSpc>
                <a:spcPts val="4305"/>
              </a:lnSpc>
            </a:pPr>
            <a:r>
              <a:rPr lang="en-US" sz="3075">
                <a:solidFill>
                  <a:srgbClr val="FFFFFF"/>
                </a:solidFill>
                <a:latin typeface="Poppins"/>
                <a:ea typeface="Poppins"/>
                <a:cs typeface="Poppins"/>
                <a:sym typeface="Poppins"/>
              </a:rPr>
              <a:t>Tiene como ventaja su simplicidad y directo</a:t>
            </a:r>
          </a:p>
          <a:p>
            <a:pPr algn="ctr">
              <a:lnSpc>
                <a:spcPts val="4305"/>
              </a:lnSpc>
              <a:spcBef>
                <a:spcPct val="0"/>
              </a:spcBef>
            </a:pPr>
            <a:r>
              <a:rPr lang="en-US" sz="3075">
                <a:solidFill>
                  <a:srgbClr val="FFFFFF"/>
                </a:solidFill>
                <a:latin typeface="Poppins"/>
                <a:ea typeface="Poppins"/>
                <a:cs typeface="Poppins"/>
                <a:sym typeface="Poppins"/>
              </a:rPr>
              <a:t>Tiene como desventajas que puede crecer rapidamente y sera dificil de mantener, ademas de no tener preocupaciones del comercio</a:t>
            </a:r>
          </a:p>
        </p:txBody>
      </p:sp>
      <p:sp>
        <p:nvSpPr>
          <p:cNvPr name="Freeform 10" id="10"/>
          <p:cNvSpPr/>
          <p:nvPr/>
        </p:nvSpPr>
        <p:spPr>
          <a:xfrm flipH="false" flipV="false" rot="0">
            <a:off x="8082044" y="-150850"/>
            <a:ext cx="2342646" cy="2342646"/>
          </a:xfrm>
          <a:custGeom>
            <a:avLst/>
            <a:gdLst/>
            <a:ahLst/>
            <a:cxnLst/>
            <a:rect r="r" b="b" t="t" l="l"/>
            <a:pathLst>
              <a:path h="2342646" w="2342646">
                <a:moveTo>
                  <a:pt x="0" y="0"/>
                </a:moveTo>
                <a:lnTo>
                  <a:pt x="2342646" y="0"/>
                </a:lnTo>
                <a:lnTo>
                  <a:pt x="2342646" y="2342646"/>
                </a:lnTo>
                <a:lnTo>
                  <a:pt x="0" y="2342646"/>
                </a:lnTo>
                <a:lnTo>
                  <a:pt x="0" y="0"/>
                </a:lnTo>
                <a:close/>
              </a:path>
            </a:pathLst>
          </a:custGeom>
          <a:blipFill>
            <a:blip r:embed="rId4"/>
            <a:stretch>
              <a:fillRect l="0" t="0" r="0" b="0"/>
            </a:stretch>
          </a:blipFill>
        </p:spPr>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2294699" y="4027426"/>
            <a:ext cx="3217408" cy="5583354"/>
          </a:xfrm>
          <a:custGeom>
            <a:avLst/>
            <a:gdLst/>
            <a:ahLst/>
            <a:cxnLst/>
            <a:rect r="r" b="b" t="t" l="l"/>
            <a:pathLst>
              <a:path h="5583354" w="3217408">
                <a:moveTo>
                  <a:pt x="0" y="0"/>
                </a:moveTo>
                <a:lnTo>
                  <a:pt x="3217407" y="0"/>
                </a:lnTo>
                <a:lnTo>
                  <a:pt x="3217407" y="5583354"/>
                </a:lnTo>
                <a:lnTo>
                  <a:pt x="0" y="5583354"/>
                </a:lnTo>
                <a:lnTo>
                  <a:pt x="0" y="0"/>
                </a:lnTo>
                <a:close/>
              </a:path>
            </a:pathLst>
          </a:custGeom>
          <a:blipFill>
            <a:blip r:embed="rId3"/>
            <a:stretch>
              <a:fillRect l="0" t="0" r="0" b="0"/>
            </a:stretch>
          </a:blipFill>
        </p:spPr>
      </p:sp>
      <p:sp>
        <p:nvSpPr>
          <p:cNvPr name="TextBox 7" id="7"/>
          <p:cNvSpPr txBox="true"/>
          <p:nvPr/>
        </p:nvSpPr>
        <p:spPr>
          <a:xfrm rot="0">
            <a:off x="2294699" y="2115596"/>
            <a:ext cx="14513544" cy="1273670"/>
          </a:xfrm>
          <a:prstGeom prst="rect">
            <a:avLst/>
          </a:prstGeom>
        </p:spPr>
        <p:txBody>
          <a:bodyPr anchor="t" rtlCol="false" tIns="0" lIns="0" bIns="0" rIns="0">
            <a:spAutoFit/>
          </a:bodyPr>
          <a:lstStyle/>
          <a:p>
            <a:pPr algn="ctr">
              <a:lnSpc>
                <a:spcPts val="5108"/>
              </a:lnSpc>
              <a:spcBef>
                <a:spcPct val="0"/>
              </a:spcBef>
            </a:pPr>
            <a:r>
              <a:rPr lang="en-US" sz="3648">
                <a:solidFill>
                  <a:srgbClr val="FF009D"/>
                </a:solidFill>
                <a:latin typeface="HK Modular"/>
                <a:ea typeface="HK Modular"/>
                <a:cs typeface="HK Modular"/>
                <a:sym typeface="HK Modular"/>
              </a:rPr>
              <a:t>NIVEL 2: AGRUPACION POR TIPOS DE ARCHIVOS Y FUNCIONALIDADES</a:t>
            </a:r>
          </a:p>
        </p:txBody>
      </p:sp>
      <p:sp>
        <p:nvSpPr>
          <p:cNvPr name="TextBox 8" id="8"/>
          <p:cNvSpPr txBox="true"/>
          <p:nvPr/>
        </p:nvSpPr>
        <p:spPr>
          <a:xfrm rot="0">
            <a:off x="6671051" y="4373086"/>
            <a:ext cx="10805971" cy="1100523"/>
          </a:xfrm>
          <a:prstGeom prst="rect">
            <a:avLst/>
          </a:prstGeom>
        </p:spPr>
        <p:txBody>
          <a:bodyPr anchor="t" rtlCol="false" tIns="0" lIns="0" bIns="0" rIns="0">
            <a:spAutoFit/>
          </a:bodyPr>
          <a:lstStyle/>
          <a:p>
            <a:pPr algn="ctr">
              <a:lnSpc>
                <a:spcPts val="4305"/>
              </a:lnSpc>
              <a:spcBef>
                <a:spcPct val="0"/>
              </a:spcBef>
            </a:pPr>
            <a:r>
              <a:rPr lang="en-US" sz="3075">
                <a:solidFill>
                  <a:srgbClr val="FFFFFF"/>
                </a:solidFill>
                <a:latin typeface="Poppins"/>
                <a:ea typeface="Poppins"/>
                <a:cs typeface="Poppins"/>
                <a:sym typeface="Poppins"/>
              </a:rPr>
              <a:t>Introduce la agrupacion por tiepos de archivos pero tambien por features </a:t>
            </a:r>
          </a:p>
        </p:txBody>
      </p:sp>
      <p:sp>
        <p:nvSpPr>
          <p:cNvPr name="TextBox 9" id="9"/>
          <p:cNvSpPr txBox="true"/>
          <p:nvPr/>
        </p:nvSpPr>
        <p:spPr>
          <a:xfrm rot="0">
            <a:off x="6671051" y="6221217"/>
            <a:ext cx="10805971" cy="3808989"/>
          </a:xfrm>
          <a:prstGeom prst="rect">
            <a:avLst/>
          </a:prstGeom>
        </p:spPr>
        <p:txBody>
          <a:bodyPr anchor="t" rtlCol="false" tIns="0" lIns="0" bIns="0" rIns="0">
            <a:spAutoFit/>
          </a:bodyPr>
          <a:lstStyle/>
          <a:p>
            <a:pPr algn="ctr">
              <a:lnSpc>
                <a:spcPts val="4305"/>
              </a:lnSpc>
            </a:pPr>
            <a:r>
              <a:rPr lang="en-US" sz="3075">
                <a:solidFill>
                  <a:srgbClr val="FFFFFF"/>
                </a:solidFill>
                <a:latin typeface="Poppins"/>
                <a:ea typeface="Poppins"/>
                <a:cs typeface="Poppins"/>
                <a:sym typeface="Poppins"/>
              </a:rPr>
              <a:t>Adecuado para proyectos Medianos o grandes</a:t>
            </a:r>
          </a:p>
          <a:p>
            <a:pPr algn="ctr">
              <a:lnSpc>
                <a:spcPts val="4305"/>
              </a:lnSpc>
            </a:pPr>
            <a:r>
              <a:rPr lang="en-US" sz="3075">
                <a:solidFill>
                  <a:srgbClr val="FFFFFF"/>
                </a:solidFill>
                <a:latin typeface="Poppins"/>
                <a:ea typeface="Poppins"/>
                <a:cs typeface="Poppins"/>
                <a:sym typeface="Poppins"/>
              </a:rPr>
              <a:t>Tiene como ventajas que es simple y directo pero tambien el contenido se agrupa por funciones.</a:t>
            </a:r>
          </a:p>
          <a:p>
            <a:pPr algn="ctr">
              <a:lnSpc>
                <a:spcPts val="4305"/>
              </a:lnSpc>
            </a:pPr>
            <a:r>
              <a:rPr lang="en-US" sz="3075">
                <a:solidFill>
                  <a:srgbClr val="FFFFFF"/>
                </a:solidFill>
                <a:latin typeface="Poppins"/>
                <a:ea typeface="Poppins"/>
                <a:cs typeface="Poppins"/>
                <a:sym typeface="Poppins"/>
              </a:rPr>
              <a:t>Sus Desventajas:</a:t>
            </a:r>
          </a:p>
          <a:p>
            <a:pPr algn="ctr">
              <a:lnSpc>
                <a:spcPts val="4305"/>
              </a:lnSpc>
            </a:pPr>
            <a:r>
              <a:rPr lang="en-US" sz="3075">
                <a:solidFill>
                  <a:srgbClr val="FFFFFF"/>
                </a:solidFill>
                <a:latin typeface="Poppins"/>
                <a:ea typeface="Poppins"/>
                <a:cs typeface="Poppins"/>
                <a:sym typeface="Poppins"/>
              </a:rPr>
              <a:t>La lógica relacionada con una función aún se distribuye en varios tipos de carpetas.</a:t>
            </a:r>
          </a:p>
          <a:p>
            <a:pPr algn="ctr">
              <a:lnSpc>
                <a:spcPts val="4305"/>
              </a:lnSpc>
              <a:spcBef>
                <a:spcPct val="0"/>
              </a:spcBef>
            </a:pPr>
          </a:p>
        </p:txBody>
      </p:sp>
      <p:sp>
        <p:nvSpPr>
          <p:cNvPr name="Freeform 10" id="10"/>
          <p:cNvSpPr/>
          <p:nvPr/>
        </p:nvSpPr>
        <p:spPr>
          <a:xfrm flipH="false" flipV="false" rot="0">
            <a:off x="8082044" y="-150850"/>
            <a:ext cx="2342646" cy="2342646"/>
          </a:xfrm>
          <a:custGeom>
            <a:avLst/>
            <a:gdLst/>
            <a:ahLst/>
            <a:cxnLst/>
            <a:rect r="r" b="b" t="t" l="l"/>
            <a:pathLst>
              <a:path h="2342646" w="2342646">
                <a:moveTo>
                  <a:pt x="0" y="0"/>
                </a:moveTo>
                <a:lnTo>
                  <a:pt x="2342646" y="0"/>
                </a:lnTo>
                <a:lnTo>
                  <a:pt x="2342646" y="2342646"/>
                </a:lnTo>
                <a:lnTo>
                  <a:pt x="0" y="2342646"/>
                </a:lnTo>
                <a:lnTo>
                  <a:pt x="0" y="0"/>
                </a:lnTo>
                <a:close/>
              </a:path>
            </a:pathLst>
          </a:custGeom>
          <a:blipFill>
            <a:blip r:embed="rId4"/>
            <a:stretch>
              <a:fillRect l="0" t="0" r="0" b="0"/>
            </a:stretch>
          </a:blipFill>
        </p:spPr>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2294699" y="3952829"/>
            <a:ext cx="2851691" cy="5305471"/>
          </a:xfrm>
          <a:custGeom>
            <a:avLst/>
            <a:gdLst/>
            <a:ahLst/>
            <a:cxnLst/>
            <a:rect r="r" b="b" t="t" l="l"/>
            <a:pathLst>
              <a:path h="5305471" w="2851691">
                <a:moveTo>
                  <a:pt x="0" y="0"/>
                </a:moveTo>
                <a:lnTo>
                  <a:pt x="2851691" y="0"/>
                </a:lnTo>
                <a:lnTo>
                  <a:pt x="2851691" y="5305471"/>
                </a:lnTo>
                <a:lnTo>
                  <a:pt x="0" y="5305471"/>
                </a:lnTo>
                <a:lnTo>
                  <a:pt x="0" y="0"/>
                </a:lnTo>
                <a:close/>
              </a:path>
            </a:pathLst>
          </a:custGeom>
          <a:blipFill>
            <a:blip r:embed="rId3"/>
            <a:stretch>
              <a:fillRect l="0" t="0" r="0" b="0"/>
            </a:stretch>
          </a:blipFill>
        </p:spPr>
      </p:sp>
      <p:sp>
        <p:nvSpPr>
          <p:cNvPr name="TextBox 7" id="7"/>
          <p:cNvSpPr txBox="true"/>
          <p:nvPr/>
        </p:nvSpPr>
        <p:spPr>
          <a:xfrm rot="0">
            <a:off x="2294699" y="2115596"/>
            <a:ext cx="14513544" cy="1273670"/>
          </a:xfrm>
          <a:prstGeom prst="rect">
            <a:avLst/>
          </a:prstGeom>
        </p:spPr>
        <p:txBody>
          <a:bodyPr anchor="t" rtlCol="false" tIns="0" lIns="0" bIns="0" rIns="0">
            <a:spAutoFit/>
          </a:bodyPr>
          <a:lstStyle/>
          <a:p>
            <a:pPr algn="ctr">
              <a:lnSpc>
                <a:spcPts val="5108"/>
              </a:lnSpc>
              <a:spcBef>
                <a:spcPct val="0"/>
              </a:spcBef>
            </a:pPr>
            <a:r>
              <a:rPr lang="en-US" sz="3648">
                <a:solidFill>
                  <a:srgbClr val="FF009D"/>
                </a:solidFill>
                <a:latin typeface="HK Modular"/>
                <a:ea typeface="HK Modular"/>
                <a:cs typeface="HK Modular"/>
                <a:sym typeface="HK Modular"/>
              </a:rPr>
              <a:t>NIVEL 3: AGRUPACION POR FUNCIONALIDADES/MODULOS</a:t>
            </a:r>
          </a:p>
        </p:txBody>
      </p:sp>
      <p:sp>
        <p:nvSpPr>
          <p:cNvPr name="TextBox 8" id="8"/>
          <p:cNvSpPr txBox="true"/>
          <p:nvPr/>
        </p:nvSpPr>
        <p:spPr>
          <a:xfrm rot="0">
            <a:off x="6703513" y="4022970"/>
            <a:ext cx="11027377" cy="1269150"/>
          </a:xfrm>
          <a:prstGeom prst="rect">
            <a:avLst/>
          </a:prstGeom>
        </p:spPr>
        <p:txBody>
          <a:bodyPr anchor="t" rtlCol="false" tIns="0" lIns="0" bIns="0" rIns="0">
            <a:spAutoFit/>
          </a:bodyPr>
          <a:lstStyle/>
          <a:p>
            <a:pPr algn="ctr">
              <a:lnSpc>
                <a:spcPts val="3320"/>
              </a:lnSpc>
              <a:spcBef>
                <a:spcPct val="0"/>
              </a:spcBef>
            </a:pPr>
            <a:r>
              <a:rPr lang="en-US" sz="2371">
                <a:solidFill>
                  <a:srgbClr val="FFFFFF"/>
                </a:solidFill>
                <a:latin typeface="Poppins"/>
                <a:ea typeface="Poppins"/>
                <a:cs typeface="Poppins"/>
                <a:sym typeface="Poppins"/>
              </a:rPr>
              <a:t>Para proyectos más grandes, la estructura de "Nivel 3" ofrece un enfoque altamente modular, definiendo límites claros para diferentes aspectos de la aplicación dentro de cada módulo:</a:t>
            </a:r>
          </a:p>
        </p:txBody>
      </p:sp>
      <p:sp>
        <p:nvSpPr>
          <p:cNvPr name="TextBox 9" id="9"/>
          <p:cNvSpPr txBox="true"/>
          <p:nvPr/>
        </p:nvSpPr>
        <p:spPr>
          <a:xfrm rot="0">
            <a:off x="6703513" y="5717827"/>
            <a:ext cx="11027377" cy="4040706"/>
          </a:xfrm>
          <a:prstGeom prst="rect">
            <a:avLst/>
          </a:prstGeom>
        </p:spPr>
        <p:txBody>
          <a:bodyPr anchor="t" rtlCol="false" tIns="0" lIns="0" bIns="0" rIns="0">
            <a:spAutoFit/>
          </a:bodyPr>
          <a:lstStyle/>
          <a:p>
            <a:pPr algn="l">
              <a:lnSpc>
                <a:spcPts val="3558"/>
              </a:lnSpc>
              <a:spcBef>
                <a:spcPct val="0"/>
              </a:spcBef>
            </a:pPr>
            <a:r>
              <a:rPr lang="en-US" sz="2542">
                <a:solidFill>
                  <a:srgbClr val="FFFFFF"/>
                </a:solidFill>
                <a:latin typeface="Poppins"/>
                <a:ea typeface="Poppins"/>
                <a:cs typeface="Poppins"/>
                <a:sym typeface="Poppins"/>
              </a:rPr>
              <a:t>Tamaño del proyecto: Grande y complejo</a:t>
            </a:r>
          </a:p>
          <a:p>
            <a:pPr algn="l">
              <a:lnSpc>
                <a:spcPts val="3558"/>
              </a:lnSpc>
              <a:spcBef>
                <a:spcPct val="0"/>
              </a:spcBef>
            </a:pPr>
            <a:r>
              <a:rPr lang="en-US" sz="2542">
                <a:solidFill>
                  <a:srgbClr val="FFFFFF"/>
                </a:solidFill>
                <a:latin typeface="Poppins"/>
                <a:ea typeface="Poppins"/>
                <a:cs typeface="Poppins"/>
                <a:sym typeface="Poppins"/>
              </a:rPr>
              <a:t>Ventajas:</a:t>
            </a:r>
          </a:p>
          <a:p>
            <a:pPr algn="l" marL="548840" indent="-274420" lvl="1">
              <a:lnSpc>
                <a:spcPts val="3558"/>
              </a:lnSpc>
              <a:buFont typeface="Arial"/>
              <a:buChar char="•"/>
            </a:pPr>
            <a:r>
              <a:rPr lang="en-US" sz="2542">
                <a:solidFill>
                  <a:srgbClr val="FFFFFF"/>
                </a:solidFill>
                <a:latin typeface="Poppins"/>
                <a:ea typeface="Poppins"/>
                <a:cs typeface="Poppins"/>
                <a:sym typeface="Poppins"/>
              </a:rPr>
              <a:t>El contenido está claramente agrupado por características/módulos.</a:t>
            </a:r>
          </a:p>
          <a:p>
            <a:pPr algn="l" marL="548840" indent="-274420" lvl="1">
              <a:lnSpc>
                <a:spcPts val="3558"/>
              </a:lnSpc>
              <a:buFont typeface="Arial"/>
              <a:buChar char="•"/>
            </a:pPr>
            <a:r>
              <a:rPr lang="en-US" sz="2542">
                <a:solidFill>
                  <a:srgbClr val="FFFFFF"/>
                </a:solidFill>
                <a:latin typeface="Poppins"/>
                <a:ea typeface="Poppins"/>
                <a:cs typeface="Poppins"/>
                <a:sym typeface="Poppins"/>
              </a:rPr>
              <a:t>Las características/módulos son representaciones claras de objetos del mundo real.</a:t>
            </a:r>
          </a:p>
          <a:p>
            <a:pPr algn="l">
              <a:lnSpc>
                <a:spcPts val="3558"/>
              </a:lnSpc>
              <a:spcBef>
                <a:spcPct val="0"/>
              </a:spcBef>
            </a:pPr>
            <a:r>
              <a:rPr lang="en-US" sz="2542">
                <a:solidFill>
                  <a:srgbClr val="FFFFFF"/>
                </a:solidFill>
                <a:latin typeface="Poppins"/>
                <a:ea typeface="Poppins"/>
                <a:cs typeface="Poppins"/>
                <a:sym typeface="Poppins"/>
              </a:rPr>
              <a:t>Desventajas:</a:t>
            </a:r>
          </a:p>
          <a:p>
            <a:pPr algn="l" marL="548840" indent="-274420" lvl="1">
              <a:lnSpc>
                <a:spcPts val="3558"/>
              </a:lnSpc>
              <a:buFont typeface="Arial"/>
              <a:buChar char="•"/>
            </a:pPr>
            <a:r>
              <a:rPr lang="en-US" sz="2542">
                <a:solidFill>
                  <a:srgbClr val="FFFFFF"/>
                </a:solidFill>
                <a:latin typeface="Poppins"/>
                <a:ea typeface="Poppins"/>
                <a:cs typeface="Poppins"/>
                <a:sym typeface="Poppins"/>
              </a:rPr>
              <a:t>Se requiere un conocimiento profundo de la lógica de negocio para tomar las decisiones de agrupación correctas.</a:t>
            </a:r>
          </a:p>
        </p:txBody>
      </p:sp>
      <p:sp>
        <p:nvSpPr>
          <p:cNvPr name="Freeform 10" id="10"/>
          <p:cNvSpPr/>
          <p:nvPr/>
        </p:nvSpPr>
        <p:spPr>
          <a:xfrm flipH="false" flipV="false" rot="0">
            <a:off x="8082044" y="-150850"/>
            <a:ext cx="2342646" cy="2342646"/>
          </a:xfrm>
          <a:custGeom>
            <a:avLst/>
            <a:gdLst/>
            <a:ahLst/>
            <a:cxnLst/>
            <a:rect r="r" b="b" t="t" l="l"/>
            <a:pathLst>
              <a:path h="2342646" w="2342646">
                <a:moveTo>
                  <a:pt x="0" y="0"/>
                </a:moveTo>
                <a:lnTo>
                  <a:pt x="2342646" y="0"/>
                </a:lnTo>
                <a:lnTo>
                  <a:pt x="2342646" y="2342646"/>
                </a:lnTo>
                <a:lnTo>
                  <a:pt x="0" y="2342646"/>
                </a:lnTo>
                <a:lnTo>
                  <a:pt x="0" y="0"/>
                </a:lnTo>
                <a:close/>
              </a:path>
            </a:pathLst>
          </a:custGeom>
          <a:blipFill>
            <a:blip r:embed="rId4"/>
            <a:stretch>
              <a:fillRect l="0" t="0" r="0" b="0"/>
            </a:stretch>
          </a:blipFill>
        </p:spPr>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154748" y="3676383"/>
            <a:ext cx="9303196" cy="5581917"/>
          </a:xfrm>
          <a:custGeom>
            <a:avLst/>
            <a:gdLst/>
            <a:ahLst/>
            <a:cxnLst/>
            <a:rect r="r" b="b" t="t" l="l"/>
            <a:pathLst>
              <a:path h="5581917" w="9303196">
                <a:moveTo>
                  <a:pt x="0" y="0"/>
                </a:moveTo>
                <a:lnTo>
                  <a:pt x="9303195" y="0"/>
                </a:lnTo>
                <a:lnTo>
                  <a:pt x="9303195" y="5581917"/>
                </a:lnTo>
                <a:lnTo>
                  <a:pt x="0" y="5581917"/>
                </a:lnTo>
                <a:lnTo>
                  <a:pt x="0" y="0"/>
                </a:lnTo>
                <a:close/>
              </a:path>
            </a:pathLst>
          </a:custGeom>
          <a:blipFill>
            <a:blip r:embed="rId3"/>
            <a:stretch>
              <a:fillRect l="0" t="0" r="0" b="0"/>
            </a:stretch>
          </a:blipFill>
        </p:spPr>
      </p:sp>
      <p:sp>
        <p:nvSpPr>
          <p:cNvPr name="TextBox 7" id="7"/>
          <p:cNvSpPr txBox="true"/>
          <p:nvPr/>
        </p:nvSpPr>
        <p:spPr>
          <a:xfrm rot="0">
            <a:off x="2982879" y="2087021"/>
            <a:ext cx="12540977" cy="895959"/>
          </a:xfrm>
          <a:prstGeom prst="rect">
            <a:avLst/>
          </a:prstGeom>
        </p:spPr>
        <p:txBody>
          <a:bodyPr anchor="t" rtlCol="false" tIns="0" lIns="0" bIns="0" rIns="0">
            <a:spAutoFit/>
          </a:bodyPr>
          <a:lstStyle/>
          <a:p>
            <a:pPr algn="ctr">
              <a:lnSpc>
                <a:spcPts val="7316"/>
              </a:lnSpc>
              <a:spcBef>
                <a:spcPct val="0"/>
              </a:spcBef>
            </a:pPr>
            <a:r>
              <a:rPr lang="en-US" sz="5226">
                <a:solidFill>
                  <a:srgbClr val="FF009D"/>
                </a:solidFill>
                <a:latin typeface="HK Modular"/>
                <a:ea typeface="HK Modular"/>
                <a:cs typeface="HK Modular"/>
                <a:sym typeface="HK Modular"/>
              </a:rPr>
              <a:t>RESPONSIVE</a:t>
            </a:r>
          </a:p>
        </p:txBody>
      </p:sp>
      <p:sp>
        <p:nvSpPr>
          <p:cNvPr name="TextBox 8" id="8"/>
          <p:cNvSpPr txBox="true"/>
          <p:nvPr/>
        </p:nvSpPr>
        <p:spPr>
          <a:xfrm rot="0">
            <a:off x="11968629" y="3908933"/>
            <a:ext cx="5290671" cy="4410826"/>
          </a:xfrm>
          <a:prstGeom prst="rect">
            <a:avLst/>
          </a:prstGeom>
        </p:spPr>
        <p:txBody>
          <a:bodyPr anchor="t" rtlCol="false" tIns="0" lIns="0" bIns="0" rIns="0">
            <a:spAutoFit/>
          </a:bodyPr>
          <a:lstStyle/>
          <a:p>
            <a:pPr algn="ctr">
              <a:lnSpc>
                <a:spcPts val="2935"/>
              </a:lnSpc>
              <a:spcBef>
                <a:spcPct val="0"/>
              </a:spcBef>
            </a:pPr>
            <a:r>
              <a:rPr lang="en-US" sz="2096">
                <a:solidFill>
                  <a:srgbClr val="FFFFFF"/>
                </a:solidFill>
                <a:latin typeface="Poppins"/>
                <a:ea typeface="Poppins"/>
                <a:cs typeface="Poppins"/>
                <a:sym typeface="Poppins"/>
              </a:rPr>
              <a:t>se refiere a la capacidad de un diseño, especialmente web, de adaptarse automáticamente a diferentes tamaños de pantalla para ofrecer una experiencia de usuario óptima en cualquier dispositivo (como ordenadores, tabletas y móviles). Esto se logra creando un diseño flexible y dinámico que se ajusta para que el contenido sea siempre fácil de leer y navegar, independientemente de la plataforma.</a:t>
            </a:r>
          </a:p>
        </p:txBody>
      </p:sp>
      <p:sp>
        <p:nvSpPr>
          <p:cNvPr name="Freeform 9" id="9"/>
          <p:cNvSpPr/>
          <p:nvPr/>
        </p:nvSpPr>
        <p:spPr>
          <a:xfrm flipH="false" flipV="false" rot="0">
            <a:off x="8082044" y="-150850"/>
            <a:ext cx="2342646" cy="2342646"/>
          </a:xfrm>
          <a:custGeom>
            <a:avLst/>
            <a:gdLst/>
            <a:ahLst/>
            <a:cxnLst/>
            <a:rect r="r" b="b" t="t" l="l"/>
            <a:pathLst>
              <a:path h="2342646" w="2342646">
                <a:moveTo>
                  <a:pt x="0" y="0"/>
                </a:moveTo>
                <a:lnTo>
                  <a:pt x="2342646" y="0"/>
                </a:lnTo>
                <a:lnTo>
                  <a:pt x="2342646" y="2342646"/>
                </a:lnTo>
                <a:lnTo>
                  <a:pt x="0" y="2342646"/>
                </a:lnTo>
                <a:lnTo>
                  <a:pt x="0" y="0"/>
                </a:lnTo>
                <a:close/>
              </a:path>
            </a:pathLst>
          </a:custGeom>
          <a:blipFill>
            <a:blip r:embed="rId4"/>
            <a:stretch>
              <a:fillRect l="0" t="0" r="0" b="0"/>
            </a:stretch>
          </a:blipFill>
        </p:spPr>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982879" y="2087021"/>
            <a:ext cx="12540977" cy="895959"/>
          </a:xfrm>
          <a:prstGeom prst="rect">
            <a:avLst/>
          </a:prstGeom>
        </p:spPr>
        <p:txBody>
          <a:bodyPr anchor="t" rtlCol="false" tIns="0" lIns="0" bIns="0" rIns="0">
            <a:spAutoFit/>
          </a:bodyPr>
          <a:lstStyle/>
          <a:p>
            <a:pPr algn="ctr">
              <a:lnSpc>
                <a:spcPts val="7316"/>
              </a:lnSpc>
              <a:spcBef>
                <a:spcPct val="0"/>
              </a:spcBef>
            </a:pPr>
            <a:r>
              <a:rPr lang="en-US" sz="5226">
                <a:solidFill>
                  <a:srgbClr val="FF009D"/>
                </a:solidFill>
                <a:latin typeface="HK Modular"/>
                <a:ea typeface="HK Modular"/>
                <a:cs typeface="HK Modular"/>
                <a:sym typeface="HK Modular"/>
              </a:rPr>
              <a:t>HERO UI</a:t>
            </a:r>
          </a:p>
        </p:txBody>
      </p:sp>
      <p:sp>
        <p:nvSpPr>
          <p:cNvPr name="TextBox 7" id="7"/>
          <p:cNvSpPr txBox="true"/>
          <p:nvPr/>
        </p:nvSpPr>
        <p:spPr>
          <a:xfrm rot="0">
            <a:off x="1724313" y="3196023"/>
            <a:ext cx="14839374" cy="923593"/>
          </a:xfrm>
          <a:prstGeom prst="rect">
            <a:avLst/>
          </a:prstGeom>
        </p:spPr>
        <p:txBody>
          <a:bodyPr anchor="t" rtlCol="false" tIns="0" lIns="0" bIns="0" rIns="0">
            <a:spAutoFit/>
          </a:bodyPr>
          <a:lstStyle/>
          <a:p>
            <a:pPr algn="ctr">
              <a:lnSpc>
                <a:spcPts val="3692"/>
              </a:lnSpc>
              <a:spcBef>
                <a:spcPct val="0"/>
              </a:spcBef>
            </a:pPr>
            <a:r>
              <a:rPr lang="en-US" sz="2637">
                <a:solidFill>
                  <a:srgbClr val="FFFFFF"/>
                </a:solidFill>
                <a:latin typeface="Poppins"/>
                <a:ea typeface="Poppins"/>
                <a:cs typeface="Poppins"/>
                <a:sym typeface="Poppins"/>
              </a:rPr>
              <a:t>Es una coleccion meticulosamente elaborada de componentes UI reutilizables diseñados para integrarse directamente en los proyectos</a:t>
            </a:r>
          </a:p>
        </p:txBody>
      </p:sp>
      <p:sp>
        <p:nvSpPr>
          <p:cNvPr name="TextBox 8" id="8"/>
          <p:cNvSpPr txBox="true"/>
          <p:nvPr/>
        </p:nvSpPr>
        <p:spPr>
          <a:xfrm rot="0">
            <a:off x="1724313" y="4648366"/>
            <a:ext cx="14839374" cy="923593"/>
          </a:xfrm>
          <a:prstGeom prst="rect">
            <a:avLst/>
          </a:prstGeom>
        </p:spPr>
        <p:txBody>
          <a:bodyPr anchor="t" rtlCol="false" tIns="0" lIns="0" bIns="0" rIns="0">
            <a:spAutoFit/>
          </a:bodyPr>
          <a:lstStyle/>
          <a:p>
            <a:pPr algn="ctr">
              <a:lnSpc>
                <a:spcPts val="3692"/>
              </a:lnSpc>
              <a:spcBef>
                <a:spcPct val="0"/>
              </a:spcBef>
            </a:pPr>
            <a:r>
              <a:rPr lang="en-US" sz="2637">
                <a:solidFill>
                  <a:srgbClr val="FFFFFF"/>
                </a:solidFill>
                <a:latin typeface="Poppins"/>
                <a:ea typeface="Poppins"/>
                <a:cs typeface="Poppins"/>
                <a:sym typeface="Poppins"/>
              </a:rPr>
              <a:t>Defiende la filosofia que otorga a los desarrolladores el control total sobre su base de codigo</a:t>
            </a:r>
          </a:p>
        </p:txBody>
      </p:sp>
      <p:sp>
        <p:nvSpPr>
          <p:cNvPr name="TextBox 9" id="9"/>
          <p:cNvSpPr txBox="true"/>
          <p:nvPr/>
        </p:nvSpPr>
        <p:spPr>
          <a:xfrm rot="0">
            <a:off x="1833680" y="5919960"/>
            <a:ext cx="14839374" cy="1385549"/>
          </a:xfrm>
          <a:prstGeom prst="rect">
            <a:avLst/>
          </a:prstGeom>
        </p:spPr>
        <p:txBody>
          <a:bodyPr anchor="t" rtlCol="false" tIns="0" lIns="0" bIns="0" rIns="0">
            <a:spAutoFit/>
          </a:bodyPr>
          <a:lstStyle/>
          <a:p>
            <a:pPr algn="ctr">
              <a:lnSpc>
                <a:spcPts val="3692"/>
              </a:lnSpc>
              <a:spcBef>
                <a:spcPct val="0"/>
              </a:spcBef>
            </a:pPr>
            <a:r>
              <a:rPr lang="en-US" sz="2637">
                <a:solidFill>
                  <a:srgbClr val="FFFFFF"/>
                </a:solidFill>
                <a:latin typeface="Poppins"/>
                <a:ea typeface="Poppins"/>
                <a:cs typeface="Poppins"/>
                <a:sym typeface="Poppins"/>
              </a:rPr>
              <a:t>En lugar de importar componentes opacos de un modulo, utiliza la interfaz de linea de comandos de HeroUI para agregar el codigo fuente real de los componentes que necesita a su proyecto</a:t>
            </a:r>
          </a:p>
        </p:txBody>
      </p:sp>
      <p:sp>
        <p:nvSpPr>
          <p:cNvPr name="TextBox 10" id="10"/>
          <p:cNvSpPr txBox="true"/>
          <p:nvPr/>
        </p:nvSpPr>
        <p:spPr>
          <a:xfrm rot="0">
            <a:off x="1971963" y="7714512"/>
            <a:ext cx="14344074" cy="854977"/>
          </a:xfrm>
          <a:prstGeom prst="rect">
            <a:avLst/>
          </a:prstGeom>
        </p:spPr>
        <p:txBody>
          <a:bodyPr anchor="t" rtlCol="false" tIns="0" lIns="0" bIns="0" rIns="0">
            <a:spAutoFit/>
          </a:bodyPr>
          <a:lstStyle/>
          <a:p>
            <a:pPr algn="ctr">
              <a:lnSpc>
                <a:spcPts val="3390"/>
              </a:lnSpc>
              <a:spcBef>
                <a:spcPct val="0"/>
              </a:spcBef>
            </a:pPr>
            <a:r>
              <a:rPr lang="en-US" sz="2421">
                <a:solidFill>
                  <a:srgbClr val="FFFFFF"/>
                </a:solidFill>
                <a:latin typeface="Poppins"/>
                <a:ea typeface="Poppins"/>
                <a:cs typeface="Poppins"/>
                <a:sym typeface="Poppins"/>
              </a:rPr>
              <a:t>HeroUI proporciona los bloques de construcción para crear interfaces de usuario hermosas, accesibles y receptivas.</a:t>
            </a:r>
          </a:p>
        </p:txBody>
      </p:sp>
      <p:sp>
        <p:nvSpPr>
          <p:cNvPr name="Freeform 11" id="11"/>
          <p:cNvSpPr/>
          <p:nvPr/>
        </p:nvSpPr>
        <p:spPr>
          <a:xfrm flipH="false" flipV="false" rot="0">
            <a:off x="8082044" y="-150850"/>
            <a:ext cx="2342646" cy="2342646"/>
          </a:xfrm>
          <a:custGeom>
            <a:avLst/>
            <a:gdLst/>
            <a:ahLst/>
            <a:cxnLst/>
            <a:rect r="r" b="b" t="t" l="l"/>
            <a:pathLst>
              <a:path h="2342646" w="2342646">
                <a:moveTo>
                  <a:pt x="0" y="0"/>
                </a:moveTo>
                <a:lnTo>
                  <a:pt x="2342646" y="0"/>
                </a:lnTo>
                <a:lnTo>
                  <a:pt x="2342646" y="2342646"/>
                </a:lnTo>
                <a:lnTo>
                  <a:pt x="0" y="2342646"/>
                </a:lnTo>
                <a:lnTo>
                  <a:pt x="0" y="0"/>
                </a:lnTo>
                <a:close/>
              </a:path>
            </a:pathLst>
          </a:custGeom>
          <a:blipFill>
            <a:blip r:embed="rId3"/>
            <a:stretch>
              <a:fillRect l="0" t="0" r="0" b="0"/>
            </a:stretch>
          </a:blipFill>
        </p:spPr>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9253367" y="3657661"/>
            <a:ext cx="8190766" cy="4869424"/>
          </a:xfrm>
          <a:custGeom>
            <a:avLst/>
            <a:gdLst/>
            <a:ahLst/>
            <a:cxnLst/>
            <a:rect r="r" b="b" t="t" l="l"/>
            <a:pathLst>
              <a:path h="4869424" w="8190766">
                <a:moveTo>
                  <a:pt x="0" y="0"/>
                </a:moveTo>
                <a:lnTo>
                  <a:pt x="8190766" y="0"/>
                </a:lnTo>
                <a:lnTo>
                  <a:pt x="8190766" y="4869425"/>
                </a:lnTo>
                <a:lnTo>
                  <a:pt x="0" y="4869425"/>
                </a:lnTo>
                <a:lnTo>
                  <a:pt x="0" y="0"/>
                </a:lnTo>
                <a:close/>
              </a:path>
            </a:pathLst>
          </a:custGeom>
          <a:blipFill>
            <a:blip r:embed="rId3"/>
            <a:stretch>
              <a:fillRect l="0" t="0" r="0" b="0"/>
            </a:stretch>
          </a:blipFill>
        </p:spPr>
      </p:sp>
      <p:sp>
        <p:nvSpPr>
          <p:cNvPr name="TextBox 7" id="7"/>
          <p:cNvSpPr txBox="true"/>
          <p:nvPr/>
        </p:nvSpPr>
        <p:spPr>
          <a:xfrm rot="0">
            <a:off x="2982879" y="2087021"/>
            <a:ext cx="12540977" cy="895959"/>
          </a:xfrm>
          <a:prstGeom prst="rect">
            <a:avLst/>
          </a:prstGeom>
        </p:spPr>
        <p:txBody>
          <a:bodyPr anchor="t" rtlCol="false" tIns="0" lIns="0" bIns="0" rIns="0">
            <a:spAutoFit/>
          </a:bodyPr>
          <a:lstStyle/>
          <a:p>
            <a:pPr algn="ctr">
              <a:lnSpc>
                <a:spcPts val="7316"/>
              </a:lnSpc>
              <a:spcBef>
                <a:spcPct val="0"/>
              </a:spcBef>
            </a:pPr>
            <a:r>
              <a:rPr lang="en-US" sz="5226">
                <a:solidFill>
                  <a:srgbClr val="FF009D"/>
                </a:solidFill>
                <a:latin typeface="HK Modular"/>
                <a:ea typeface="HK Modular"/>
                <a:cs typeface="HK Modular"/>
                <a:sym typeface="HK Modular"/>
              </a:rPr>
              <a:t>HERO UI - REQUISITOS</a:t>
            </a:r>
          </a:p>
        </p:txBody>
      </p:sp>
      <p:sp>
        <p:nvSpPr>
          <p:cNvPr name="TextBox 8" id="8"/>
          <p:cNvSpPr txBox="true"/>
          <p:nvPr/>
        </p:nvSpPr>
        <p:spPr>
          <a:xfrm rot="0">
            <a:off x="1665698" y="3828313"/>
            <a:ext cx="6838374" cy="923593"/>
          </a:xfrm>
          <a:prstGeom prst="rect">
            <a:avLst/>
          </a:prstGeom>
        </p:spPr>
        <p:txBody>
          <a:bodyPr anchor="t" rtlCol="false" tIns="0" lIns="0" bIns="0" rIns="0">
            <a:spAutoFit/>
          </a:bodyPr>
          <a:lstStyle/>
          <a:p>
            <a:pPr algn="ctr">
              <a:lnSpc>
                <a:spcPts val="3692"/>
              </a:lnSpc>
              <a:spcBef>
                <a:spcPct val="0"/>
              </a:spcBef>
            </a:pPr>
            <a:r>
              <a:rPr lang="en-US" sz="2637">
                <a:solidFill>
                  <a:srgbClr val="FFFFFF"/>
                </a:solidFill>
                <a:latin typeface="Poppins"/>
                <a:ea typeface="Poppins"/>
                <a:cs typeface="Poppins"/>
                <a:sym typeface="Poppins"/>
              </a:rPr>
              <a:t>Node.js - Version instalada generalmente superor a la version 18</a:t>
            </a:r>
          </a:p>
        </p:txBody>
      </p:sp>
      <p:sp>
        <p:nvSpPr>
          <p:cNvPr name="TextBox 9" id="9"/>
          <p:cNvSpPr txBox="true"/>
          <p:nvPr/>
        </p:nvSpPr>
        <p:spPr>
          <a:xfrm rot="0">
            <a:off x="1893807" y="5597239"/>
            <a:ext cx="6838374" cy="923593"/>
          </a:xfrm>
          <a:prstGeom prst="rect">
            <a:avLst/>
          </a:prstGeom>
        </p:spPr>
        <p:txBody>
          <a:bodyPr anchor="t" rtlCol="false" tIns="0" lIns="0" bIns="0" rIns="0">
            <a:spAutoFit/>
          </a:bodyPr>
          <a:lstStyle/>
          <a:p>
            <a:pPr algn="ctr">
              <a:lnSpc>
                <a:spcPts val="3692"/>
              </a:lnSpc>
              <a:spcBef>
                <a:spcPct val="0"/>
              </a:spcBef>
            </a:pPr>
            <a:r>
              <a:rPr lang="en-US" sz="2637">
                <a:solidFill>
                  <a:srgbClr val="FFFFFF"/>
                </a:solidFill>
                <a:latin typeface="Poppins"/>
                <a:ea typeface="Poppins"/>
                <a:cs typeface="Poppins"/>
                <a:sym typeface="Poppins"/>
              </a:rPr>
              <a:t>Gestor de paquetes como npm, yarn o pnpm</a:t>
            </a:r>
          </a:p>
        </p:txBody>
      </p:sp>
      <p:sp>
        <p:nvSpPr>
          <p:cNvPr name="TextBox 10" id="10"/>
          <p:cNvSpPr txBox="true"/>
          <p:nvPr/>
        </p:nvSpPr>
        <p:spPr>
          <a:xfrm rot="0">
            <a:off x="1481988" y="7141537"/>
            <a:ext cx="7662012" cy="1385549"/>
          </a:xfrm>
          <a:prstGeom prst="rect">
            <a:avLst/>
          </a:prstGeom>
        </p:spPr>
        <p:txBody>
          <a:bodyPr anchor="t" rtlCol="false" tIns="0" lIns="0" bIns="0" rIns="0">
            <a:spAutoFit/>
          </a:bodyPr>
          <a:lstStyle/>
          <a:p>
            <a:pPr algn="ctr">
              <a:lnSpc>
                <a:spcPts val="3692"/>
              </a:lnSpc>
              <a:spcBef>
                <a:spcPct val="0"/>
              </a:spcBef>
            </a:pPr>
            <a:r>
              <a:rPr lang="en-US" sz="2637">
                <a:solidFill>
                  <a:srgbClr val="FFFFFF"/>
                </a:solidFill>
                <a:latin typeface="Poppins"/>
                <a:ea typeface="Poppins"/>
                <a:cs typeface="Poppins"/>
                <a:sym typeface="Poppins"/>
              </a:rPr>
              <a:t>Hero UI esta diseñado para ser agregado a un proyecto construido con un framework de React</a:t>
            </a:r>
          </a:p>
        </p:txBody>
      </p:sp>
      <p:sp>
        <p:nvSpPr>
          <p:cNvPr name="Freeform 11" id="11"/>
          <p:cNvSpPr/>
          <p:nvPr/>
        </p:nvSpPr>
        <p:spPr>
          <a:xfrm flipH="false" flipV="false" rot="0">
            <a:off x="8082044" y="-150850"/>
            <a:ext cx="2342646" cy="2342646"/>
          </a:xfrm>
          <a:custGeom>
            <a:avLst/>
            <a:gdLst/>
            <a:ahLst/>
            <a:cxnLst/>
            <a:rect r="r" b="b" t="t" l="l"/>
            <a:pathLst>
              <a:path h="2342646" w="2342646">
                <a:moveTo>
                  <a:pt x="0" y="0"/>
                </a:moveTo>
                <a:lnTo>
                  <a:pt x="2342646" y="0"/>
                </a:lnTo>
                <a:lnTo>
                  <a:pt x="2342646" y="2342646"/>
                </a:lnTo>
                <a:lnTo>
                  <a:pt x="0" y="2342646"/>
                </a:lnTo>
                <a:lnTo>
                  <a:pt x="0" y="0"/>
                </a:lnTo>
                <a:close/>
              </a:path>
            </a:pathLst>
          </a:custGeom>
          <a:blipFill>
            <a:blip r:embed="rId4"/>
            <a:stretch>
              <a:fillRect l="0" t="0" r="0" b="0"/>
            </a:stretch>
          </a:blipFill>
        </p:spPr>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982879" y="2087021"/>
            <a:ext cx="12540977" cy="895959"/>
          </a:xfrm>
          <a:prstGeom prst="rect">
            <a:avLst/>
          </a:prstGeom>
        </p:spPr>
        <p:txBody>
          <a:bodyPr anchor="t" rtlCol="false" tIns="0" lIns="0" bIns="0" rIns="0">
            <a:spAutoFit/>
          </a:bodyPr>
          <a:lstStyle/>
          <a:p>
            <a:pPr algn="ctr">
              <a:lnSpc>
                <a:spcPts val="7316"/>
              </a:lnSpc>
              <a:spcBef>
                <a:spcPct val="0"/>
              </a:spcBef>
            </a:pPr>
            <a:r>
              <a:rPr lang="en-US" sz="5226">
                <a:solidFill>
                  <a:srgbClr val="FF009D"/>
                </a:solidFill>
                <a:latin typeface="HK Modular"/>
                <a:ea typeface="HK Modular"/>
                <a:cs typeface="HK Modular"/>
                <a:sym typeface="HK Modular"/>
              </a:rPr>
              <a:t>DRIBBBLE</a:t>
            </a:r>
          </a:p>
        </p:txBody>
      </p:sp>
      <p:sp>
        <p:nvSpPr>
          <p:cNvPr name="TextBox 7" id="7"/>
          <p:cNvSpPr txBox="true"/>
          <p:nvPr/>
        </p:nvSpPr>
        <p:spPr>
          <a:xfrm rot="0">
            <a:off x="3390873" y="3549397"/>
            <a:ext cx="11506253" cy="2005108"/>
          </a:xfrm>
          <a:prstGeom prst="rect">
            <a:avLst/>
          </a:prstGeom>
        </p:spPr>
        <p:txBody>
          <a:bodyPr anchor="t" rtlCol="false" tIns="0" lIns="0" bIns="0" rIns="0">
            <a:spAutoFit/>
          </a:bodyPr>
          <a:lstStyle/>
          <a:p>
            <a:pPr algn="ctr">
              <a:lnSpc>
                <a:spcPts val="3972"/>
              </a:lnSpc>
              <a:spcBef>
                <a:spcPct val="0"/>
              </a:spcBef>
            </a:pPr>
            <a:r>
              <a:rPr lang="en-US" sz="2837">
                <a:solidFill>
                  <a:srgbClr val="FFFFFF"/>
                </a:solidFill>
                <a:latin typeface="Poppins"/>
                <a:ea typeface="Poppins"/>
                <a:cs typeface="Poppins"/>
                <a:sym typeface="Poppins"/>
              </a:rPr>
              <a:t>Dribbble es una comunidad y portafolio profesional en línea. Los diseñadores suben shots (imágenes pequeñas de su trabajo) para mostrar proyectos, recibir retroalimentación y conseguir visibilidad </a:t>
            </a:r>
          </a:p>
        </p:txBody>
      </p:sp>
      <p:sp>
        <p:nvSpPr>
          <p:cNvPr name="TextBox 8" id="8"/>
          <p:cNvSpPr txBox="true"/>
          <p:nvPr/>
        </p:nvSpPr>
        <p:spPr>
          <a:xfrm rot="0">
            <a:off x="2227847" y="6126005"/>
            <a:ext cx="13832307" cy="1531536"/>
          </a:xfrm>
          <a:prstGeom prst="rect">
            <a:avLst/>
          </a:prstGeom>
        </p:spPr>
        <p:txBody>
          <a:bodyPr anchor="t" rtlCol="false" tIns="0" lIns="0" bIns="0" rIns="0">
            <a:spAutoFit/>
          </a:bodyPr>
          <a:lstStyle/>
          <a:p>
            <a:pPr algn="ctr">
              <a:lnSpc>
                <a:spcPts val="4066"/>
              </a:lnSpc>
              <a:spcBef>
                <a:spcPct val="0"/>
              </a:spcBef>
            </a:pPr>
            <a:r>
              <a:rPr lang="en-US" sz="2904">
                <a:solidFill>
                  <a:srgbClr val="FFFFFF"/>
                </a:solidFill>
                <a:latin typeface="Poppins"/>
                <a:ea typeface="Poppins"/>
                <a:cs typeface="Poppins"/>
                <a:sym typeface="Poppins"/>
              </a:rPr>
              <a:t>Nos va a permitir tener referencias visuales para nuestros componentes de Front permitiendo asi que tengamos mejores referentes para nuestro diseño</a:t>
            </a:r>
          </a:p>
        </p:txBody>
      </p:sp>
      <p:sp>
        <p:nvSpPr>
          <p:cNvPr name="Freeform 9" id="9"/>
          <p:cNvSpPr/>
          <p:nvPr/>
        </p:nvSpPr>
        <p:spPr>
          <a:xfrm flipH="false" flipV="false" rot="0">
            <a:off x="8082044" y="-150850"/>
            <a:ext cx="2342646" cy="2342646"/>
          </a:xfrm>
          <a:custGeom>
            <a:avLst/>
            <a:gdLst/>
            <a:ahLst/>
            <a:cxnLst/>
            <a:rect r="r" b="b" t="t" l="l"/>
            <a:pathLst>
              <a:path h="2342646" w="2342646">
                <a:moveTo>
                  <a:pt x="0" y="0"/>
                </a:moveTo>
                <a:lnTo>
                  <a:pt x="2342646" y="0"/>
                </a:lnTo>
                <a:lnTo>
                  <a:pt x="2342646" y="2342646"/>
                </a:lnTo>
                <a:lnTo>
                  <a:pt x="0" y="2342646"/>
                </a:lnTo>
                <a:lnTo>
                  <a:pt x="0" y="0"/>
                </a:lnTo>
                <a:close/>
              </a:path>
            </a:pathLst>
          </a:custGeom>
          <a:blipFill>
            <a:blip r:embed="rId3"/>
            <a:stretch>
              <a:fillRect l="0" t="0" r="0" b="0"/>
            </a:stretch>
          </a:blipFill>
        </p:spPr>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0179017" y="3348701"/>
            <a:ext cx="7484274" cy="6071617"/>
          </a:xfrm>
          <a:custGeom>
            <a:avLst/>
            <a:gdLst/>
            <a:ahLst/>
            <a:cxnLst/>
            <a:rect r="r" b="b" t="t" l="l"/>
            <a:pathLst>
              <a:path h="6071617" w="7484274">
                <a:moveTo>
                  <a:pt x="0" y="0"/>
                </a:moveTo>
                <a:lnTo>
                  <a:pt x="7484274" y="0"/>
                </a:lnTo>
                <a:lnTo>
                  <a:pt x="7484274" y="6071618"/>
                </a:lnTo>
                <a:lnTo>
                  <a:pt x="0" y="6071618"/>
                </a:lnTo>
                <a:lnTo>
                  <a:pt x="0" y="0"/>
                </a:lnTo>
                <a:close/>
              </a:path>
            </a:pathLst>
          </a:custGeom>
          <a:blipFill>
            <a:blip r:embed="rId3"/>
            <a:stretch>
              <a:fillRect l="0" t="0" r="0" b="0"/>
            </a:stretch>
          </a:blipFill>
        </p:spPr>
      </p:sp>
      <p:sp>
        <p:nvSpPr>
          <p:cNvPr name="TextBox 7" id="7"/>
          <p:cNvSpPr txBox="true"/>
          <p:nvPr/>
        </p:nvSpPr>
        <p:spPr>
          <a:xfrm rot="0">
            <a:off x="2982879" y="2087021"/>
            <a:ext cx="12540977" cy="895959"/>
          </a:xfrm>
          <a:prstGeom prst="rect">
            <a:avLst/>
          </a:prstGeom>
        </p:spPr>
        <p:txBody>
          <a:bodyPr anchor="t" rtlCol="false" tIns="0" lIns="0" bIns="0" rIns="0">
            <a:spAutoFit/>
          </a:bodyPr>
          <a:lstStyle/>
          <a:p>
            <a:pPr algn="ctr">
              <a:lnSpc>
                <a:spcPts val="7316"/>
              </a:lnSpc>
              <a:spcBef>
                <a:spcPct val="0"/>
              </a:spcBef>
            </a:pPr>
            <a:r>
              <a:rPr lang="en-US" sz="5226">
                <a:solidFill>
                  <a:srgbClr val="FF009D"/>
                </a:solidFill>
                <a:latin typeface="HK Modular"/>
                <a:ea typeface="HK Modular"/>
                <a:cs typeface="HK Modular"/>
                <a:sym typeface="HK Modular"/>
              </a:rPr>
              <a:t>MATERIAL DESIGN</a:t>
            </a:r>
          </a:p>
        </p:txBody>
      </p:sp>
      <p:sp>
        <p:nvSpPr>
          <p:cNvPr name="TextBox 8" id="8"/>
          <p:cNvSpPr txBox="true"/>
          <p:nvPr/>
        </p:nvSpPr>
        <p:spPr>
          <a:xfrm rot="0">
            <a:off x="1340388" y="3447266"/>
            <a:ext cx="8290107" cy="2353459"/>
          </a:xfrm>
          <a:prstGeom prst="rect">
            <a:avLst/>
          </a:prstGeom>
        </p:spPr>
        <p:txBody>
          <a:bodyPr anchor="t" rtlCol="false" tIns="0" lIns="0" bIns="0" rIns="0">
            <a:spAutoFit/>
          </a:bodyPr>
          <a:lstStyle/>
          <a:p>
            <a:pPr algn="ctr">
              <a:lnSpc>
                <a:spcPts val="3116"/>
              </a:lnSpc>
              <a:spcBef>
                <a:spcPct val="0"/>
              </a:spcBef>
            </a:pPr>
            <a:r>
              <a:rPr lang="en-US" sz="2225">
                <a:solidFill>
                  <a:srgbClr val="FFFFFF"/>
                </a:solidFill>
                <a:latin typeface="Poppins"/>
                <a:ea typeface="Poppins"/>
                <a:cs typeface="Poppins"/>
                <a:sym typeface="Poppins"/>
              </a:rPr>
              <a:t>El material design es un estilo de diseño desarrollado por Google que se presentó al público en 2014, a la par de la versión Android Lollipop. Este se enfoca en los aspectos visuales que corresponden al sistema operativo Android, aunque también es una normativa que se aplica en diferentes páginas web y plataformas.</a:t>
            </a:r>
          </a:p>
        </p:txBody>
      </p:sp>
      <p:sp>
        <p:nvSpPr>
          <p:cNvPr name="TextBox 9" id="9"/>
          <p:cNvSpPr txBox="true"/>
          <p:nvPr/>
        </p:nvSpPr>
        <p:spPr>
          <a:xfrm rot="0">
            <a:off x="1340388" y="6689025"/>
            <a:ext cx="8290107" cy="2731294"/>
          </a:xfrm>
          <a:prstGeom prst="rect">
            <a:avLst/>
          </a:prstGeom>
        </p:spPr>
        <p:txBody>
          <a:bodyPr anchor="t" rtlCol="false" tIns="0" lIns="0" bIns="0" rIns="0">
            <a:spAutoFit/>
          </a:bodyPr>
          <a:lstStyle/>
          <a:p>
            <a:pPr algn="ctr">
              <a:lnSpc>
                <a:spcPts val="3101"/>
              </a:lnSpc>
              <a:spcBef>
                <a:spcPct val="0"/>
              </a:spcBef>
            </a:pPr>
            <a:r>
              <a:rPr lang="en-US" sz="2215">
                <a:solidFill>
                  <a:srgbClr val="FFFFFF"/>
                </a:solidFill>
                <a:latin typeface="Poppins"/>
                <a:ea typeface="Poppins"/>
                <a:cs typeface="Poppins"/>
                <a:sym typeface="Poppins"/>
              </a:rPr>
              <a:t>En otras palabras, este es un lenguaje de diseño con el que Google entiende la interacción entre una persona y un dispositivo. Con este estilo de diseño, Google nos presenta unas normativas o guías que nos indican cómo podemos diseñar una app o web para su sistema operativo, tanto para una versión de un dispositivo móvil como de escritorio.</a:t>
            </a:r>
          </a:p>
        </p:txBody>
      </p:sp>
      <p:sp>
        <p:nvSpPr>
          <p:cNvPr name="Freeform 10" id="10"/>
          <p:cNvSpPr/>
          <p:nvPr/>
        </p:nvSpPr>
        <p:spPr>
          <a:xfrm flipH="false" flipV="false" rot="0">
            <a:off x="8082044" y="-150850"/>
            <a:ext cx="2342646" cy="2342646"/>
          </a:xfrm>
          <a:custGeom>
            <a:avLst/>
            <a:gdLst/>
            <a:ahLst/>
            <a:cxnLst/>
            <a:rect r="r" b="b" t="t" l="l"/>
            <a:pathLst>
              <a:path h="2342646" w="2342646">
                <a:moveTo>
                  <a:pt x="0" y="0"/>
                </a:moveTo>
                <a:lnTo>
                  <a:pt x="2342646" y="0"/>
                </a:lnTo>
                <a:lnTo>
                  <a:pt x="2342646" y="2342646"/>
                </a:lnTo>
                <a:lnTo>
                  <a:pt x="0" y="2342646"/>
                </a:lnTo>
                <a:lnTo>
                  <a:pt x="0" y="0"/>
                </a:lnTo>
                <a:close/>
              </a:path>
            </a:pathLst>
          </a:custGeom>
          <a:blipFill>
            <a:blip r:embed="rId4"/>
            <a:stretch>
              <a:fillRect l="0" t="0" r="0" b="0"/>
            </a:stretch>
          </a:blipFill>
        </p:spPr>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5281140" y="1899124"/>
            <a:ext cx="7164439" cy="4029997"/>
          </a:xfrm>
          <a:custGeom>
            <a:avLst/>
            <a:gdLst/>
            <a:ahLst/>
            <a:cxnLst/>
            <a:rect r="r" b="b" t="t" l="l"/>
            <a:pathLst>
              <a:path h="4029997" w="7164439">
                <a:moveTo>
                  <a:pt x="0" y="0"/>
                </a:moveTo>
                <a:lnTo>
                  <a:pt x="7164439" y="0"/>
                </a:lnTo>
                <a:lnTo>
                  <a:pt x="7164439" y="4029997"/>
                </a:lnTo>
                <a:lnTo>
                  <a:pt x="0" y="4029997"/>
                </a:lnTo>
                <a:lnTo>
                  <a:pt x="0" y="0"/>
                </a:lnTo>
                <a:close/>
              </a:path>
            </a:pathLst>
          </a:custGeom>
          <a:blipFill>
            <a:blip r:embed="rId3"/>
            <a:stretch>
              <a:fillRect l="0" t="0" r="0" b="0"/>
            </a:stretch>
          </a:blipFill>
        </p:spPr>
      </p:sp>
      <p:sp>
        <p:nvSpPr>
          <p:cNvPr name="TextBox 7" id="7"/>
          <p:cNvSpPr txBox="true"/>
          <p:nvPr/>
        </p:nvSpPr>
        <p:spPr>
          <a:xfrm rot="0">
            <a:off x="1762052" y="5843396"/>
            <a:ext cx="14763896" cy="3237407"/>
          </a:xfrm>
          <a:prstGeom prst="rect">
            <a:avLst/>
          </a:prstGeom>
        </p:spPr>
        <p:txBody>
          <a:bodyPr anchor="t" rtlCol="false" tIns="0" lIns="0" bIns="0" rIns="0">
            <a:spAutoFit/>
          </a:bodyPr>
          <a:lstStyle/>
          <a:p>
            <a:pPr algn="ctr">
              <a:lnSpc>
                <a:spcPts val="4294"/>
              </a:lnSpc>
              <a:spcBef>
                <a:spcPct val="0"/>
              </a:spcBef>
            </a:pPr>
            <a:r>
              <a:rPr lang="en-US" sz="3067">
                <a:solidFill>
                  <a:srgbClr val="FFFFFF"/>
                </a:solidFill>
                <a:latin typeface="Poppins"/>
                <a:ea typeface="Poppins"/>
                <a:cs typeface="Poppins"/>
                <a:sym typeface="Poppins"/>
              </a:rPr>
              <a:t>es una plataforma en la nube para desarrolladores que facilita la construcción, implementación y escalado de aplicaciones web modernas, como sitios estáticos y funciones sin servidor. Permite a los equipos automatizar el despliegue desde repositorios como GitHub, ofrece una experiencia de desarrollo optimizada y proporciona una infraestructura global de alto rendimiento sin necesidad de configuración adicional.</a:t>
            </a:r>
          </a:p>
        </p:txBody>
      </p:sp>
      <p:sp>
        <p:nvSpPr>
          <p:cNvPr name="Freeform 8" id="8"/>
          <p:cNvSpPr/>
          <p:nvPr/>
        </p:nvSpPr>
        <p:spPr>
          <a:xfrm flipH="false" flipV="false" rot="0">
            <a:off x="8082044" y="-150850"/>
            <a:ext cx="2342646" cy="2342646"/>
          </a:xfrm>
          <a:custGeom>
            <a:avLst/>
            <a:gdLst/>
            <a:ahLst/>
            <a:cxnLst/>
            <a:rect r="r" b="b" t="t" l="l"/>
            <a:pathLst>
              <a:path h="2342646" w="2342646">
                <a:moveTo>
                  <a:pt x="0" y="0"/>
                </a:moveTo>
                <a:lnTo>
                  <a:pt x="2342646" y="0"/>
                </a:lnTo>
                <a:lnTo>
                  <a:pt x="2342646" y="2342646"/>
                </a:lnTo>
                <a:lnTo>
                  <a:pt x="0" y="2342646"/>
                </a:lnTo>
                <a:lnTo>
                  <a:pt x="0" y="0"/>
                </a:lnTo>
                <a:close/>
              </a:path>
            </a:pathLst>
          </a:custGeom>
          <a:blipFill>
            <a:blip r:embed="rId4"/>
            <a:stretch>
              <a:fillRect l="0" t="0" r="0" b="0"/>
            </a:stretch>
          </a:blipFill>
        </p:spPr>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982879" y="2087021"/>
            <a:ext cx="12540977" cy="895959"/>
          </a:xfrm>
          <a:prstGeom prst="rect">
            <a:avLst/>
          </a:prstGeom>
        </p:spPr>
        <p:txBody>
          <a:bodyPr anchor="t" rtlCol="false" tIns="0" lIns="0" bIns="0" rIns="0">
            <a:spAutoFit/>
          </a:bodyPr>
          <a:lstStyle/>
          <a:p>
            <a:pPr algn="ctr">
              <a:lnSpc>
                <a:spcPts val="7316"/>
              </a:lnSpc>
              <a:spcBef>
                <a:spcPct val="0"/>
              </a:spcBef>
            </a:pPr>
            <a:r>
              <a:rPr lang="en-US" sz="5226">
                <a:solidFill>
                  <a:srgbClr val="FF009D"/>
                </a:solidFill>
                <a:latin typeface="HK Modular"/>
                <a:ea typeface="HK Modular"/>
                <a:cs typeface="HK Modular"/>
                <a:sym typeface="HK Modular"/>
              </a:rPr>
              <a:t>VERCEL</a:t>
            </a:r>
          </a:p>
        </p:txBody>
      </p:sp>
      <p:sp>
        <p:nvSpPr>
          <p:cNvPr name="TextBox 7" id="7"/>
          <p:cNvSpPr txBox="true"/>
          <p:nvPr/>
        </p:nvSpPr>
        <p:spPr>
          <a:xfrm rot="0">
            <a:off x="1762052" y="3410857"/>
            <a:ext cx="14763896" cy="5928742"/>
          </a:xfrm>
          <a:prstGeom prst="rect">
            <a:avLst/>
          </a:prstGeom>
        </p:spPr>
        <p:txBody>
          <a:bodyPr anchor="t" rtlCol="false" tIns="0" lIns="0" bIns="0" rIns="0">
            <a:spAutoFit/>
          </a:bodyPr>
          <a:lstStyle/>
          <a:p>
            <a:pPr algn="ctr" marL="662324" indent="-331162" lvl="1">
              <a:lnSpc>
                <a:spcPts val="4294"/>
              </a:lnSpc>
              <a:buAutoNum type="arabicPeriod" startAt="1"/>
            </a:pPr>
            <a:r>
              <a:rPr lang="en-US" sz="3067">
                <a:solidFill>
                  <a:srgbClr val="FFFFFF"/>
                </a:solidFill>
                <a:latin typeface="Poppins"/>
                <a:ea typeface="Poppins"/>
                <a:cs typeface="Poppins"/>
                <a:sym typeface="Poppins"/>
              </a:rPr>
              <a:t>Ve a la pagina de vercel, ahi inicia sesion con github y autoriza a vercel para que pueda acceder a tus repositorios</a:t>
            </a:r>
          </a:p>
          <a:p>
            <a:pPr algn="ctr" marL="662324" indent="-331162" lvl="1">
              <a:lnSpc>
                <a:spcPts val="4294"/>
              </a:lnSpc>
              <a:buAutoNum type="arabicPeriod" startAt="1"/>
            </a:pPr>
            <a:r>
              <a:rPr lang="en-US" sz="3067">
                <a:solidFill>
                  <a:srgbClr val="FFFFFF"/>
                </a:solidFill>
                <a:latin typeface="Poppins"/>
                <a:ea typeface="Poppins"/>
                <a:cs typeface="Poppins"/>
                <a:sym typeface="Poppins"/>
              </a:rPr>
              <a:t>En vercel haz clic en Add new Project → Import Git Repository</a:t>
            </a:r>
          </a:p>
          <a:p>
            <a:pPr algn="ctr" marL="662324" indent="-331162" lvl="1">
              <a:lnSpc>
                <a:spcPts val="4294"/>
              </a:lnSpc>
              <a:buAutoNum type="arabicPeriod" startAt="1"/>
            </a:pPr>
            <a:r>
              <a:rPr lang="en-US" sz="3067">
                <a:solidFill>
                  <a:srgbClr val="FFFFFF"/>
                </a:solidFill>
                <a:latin typeface="Poppins"/>
                <a:ea typeface="Poppins"/>
                <a:cs typeface="Poppins"/>
                <a:sym typeface="Poppins"/>
              </a:rPr>
              <a:t>Selecciona tu repositorio de GitHub, ahi vercel detectara automaticamente el framework </a:t>
            </a:r>
          </a:p>
          <a:p>
            <a:pPr algn="ctr" marL="662324" indent="-331162" lvl="1">
              <a:lnSpc>
                <a:spcPts val="4294"/>
              </a:lnSpc>
              <a:buAutoNum type="arabicPeriod" startAt="1"/>
            </a:pPr>
            <a:r>
              <a:rPr lang="en-US" sz="3067">
                <a:solidFill>
                  <a:srgbClr val="FFFFFF"/>
                </a:solidFill>
                <a:latin typeface="Poppins"/>
                <a:ea typeface="Poppins"/>
                <a:cs typeface="Poppins"/>
                <a:sym typeface="Poppins"/>
              </a:rPr>
              <a:t>Revisa o ajusta las opaciones del build:</a:t>
            </a:r>
          </a:p>
          <a:p>
            <a:pPr algn="ctr" marL="1324648" indent="-441549" lvl="2">
              <a:lnSpc>
                <a:spcPts val="4294"/>
              </a:lnSpc>
              <a:buAutoNum type="alphaLcPeriod" startAt="1"/>
            </a:pPr>
            <a:r>
              <a:rPr lang="en-US" sz="3067">
                <a:solidFill>
                  <a:srgbClr val="FFFFFF"/>
                </a:solidFill>
                <a:latin typeface="Poppins"/>
                <a:ea typeface="Poppins"/>
                <a:cs typeface="Poppins"/>
                <a:sym typeface="Poppins"/>
              </a:rPr>
              <a:t>Build command depende del framework</a:t>
            </a:r>
          </a:p>
          <a:p>
            <a:pPr algn="ctr" marL="1324648" indent="-441549" lvl="2">
              <a:lnSpc>
                <a:spcPts val="4294"/>
              </a:lnSpc>
              <a:buAutoNum type="alphaLcPeriod" startAt="1"/>
            </a:pPr>
            <a:r>
              <a:rPr lang="en-US" sz="3067">
                <a:solidFill>
                  <a:srgbClr val="FFFFFF"/>
                </a:solidFill>
                <a:latin typeface="Poppins"/>
                <a:ea typeface="Poppins"/>
                <a:cs typeface="Poppins"/>
                <a:sym typeface="Poppins"/>
              </a:rPr>
              <a:t>Output directory depende del framework</a:t>
            </a:r>
          </a:p>
          <a:p>
            <a:pPr algn="ctr" marL="662324" indent="-331162" lvl="1">
              <a:lnSpc>
                <a:spcPts val="4294"/>
              </a:lnSpc>
              <a:buAutoNum type="arabicPeriod" startAt="1"/>
            </a:pPr>
            <a:r>
              <a:rPr lang="en-US" sz="3067">
                <a:solidFill>
                  <a:srgbClr val="FFFFFF"/>
                </a:solidFill>
                <a:latin typeface="Poppins"/>
                <a:ea typeface="Poppins"/>
                <a:cs typeface="Poppins"/>
                <a:sym typeface="Poppins"/>
              </a:rPr>
              <a:t>Da clic en Deploy</a:t>
            </a:r>
          </a:p>
          <a:p>
            <a:pPr algn="ctr" marL="662324" indent="-331162" lvl="1">
              <a:lnSpc>
                <a:spcPts val="4294"/>
              </a:lnSpc>
              <a:spcBef>
                <a:spcPct val="0"/>
              </a:spcBef>
              <a:buAutoNum type="arabicPeriod" startAt="1"/>
            </a:pPr>
            <a:r>
              <a:rPr lang="en-US" sz="3067">
                <a:solidFill>
                  <a:srgbClr val="FFFFFF"/>
                </a:solidFill>
                <a:latin typeface="Poppins"/>
                <a:ea typeface="Poppins"/>
                <a:cs typeface="Poppins"/>
                <a:sym typeface="Poppins"/>
              </a:rPr>
              <a:t>Ahi espera a que se instalen las dependencias y se desplegara automaticamente, el dominio puede ser: https://tu-proyecto.vercel.app</a:t>
            </a:r>
          </a:p>
        </p:txBody>
      </p:sp>
      <p:sp>
        <p:nvSpPr>
          <p:cNvPr name="Freeform 8" id="8"/>
          <p:cNvSpPr/>
          <p:nvPr/>
        </p:nvSpPr>
        <p:spPr>
          <a:xfrm flipH="false" flipV="false" rot="0">
            <a:off x="8082044" y="-150850"/>
            <a:ext cx="2342646" cy="2342646"/>
          </a:xfrm>
          <a:custGeom>
            <a:avLst/>
            <a:gdLst/>
            <a:ahLst/>
            <a:cxnLst/>
            <a:rect r="r" b="b" t="t" l="l"/>
            <a:pathLst>
              <a:path h="2342646" w="2342646">
                <a:moveTo>
                  <a:pt x="0" y="0"/>
                </a:moveTo>
                <a:lnTo>
                  <a:pt x="2342646" y="0"/>
                </a:lnTo>
                <a:lnTo>
                  <a:pt x="2342646" y="2342646"/>
                </a:lnTo>
                <a:lnTo>
                  <a:pt x="0" y="2342646"/>
                </a:lnTo>
                <a:lnTo>
                  <a:pt x="0" y="0"/>
                </a:lnTo>
                <a:close/>
              </a:path>
            </a:pathLst>
          </a:custGeom>
          <a:blipFill>
            <a:blip r:embed="rId3"/>
            <a:stretch>
              <a:fillRect l="0" t="0" r="0" b="0"/>
            </a:stretch>
          </a:blipFill>
        </p:spPr>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3526388" y="4422270"/>
            <a:ext cx="11235223" cy="721230"/>
          </a:xfrm>
          <a:prstGeom prst="rect">
            <a:avLst/>
          </a:prstGeom>
        </p:spPr>
        <p:txBody>
          <a:bodyPr anchor="t" rtlCol="false" tIns="0" lIns="0" bIns="0" rIns="0">
            <a:spAutoFit/>
          </a:bodyPr>
          <a:lstStyle/>
          <a:p>
            <a:pPr algn="ctr">
              <a:lnSpc>
                <a:spcPts val="5876"/>
              </a:lnSpc>
              <a:spcBef>
                <a:spcPct val="0"/>
              </a:spcBef>
            </a:pPr>
            <a:r>
              <a:rPr lang="en-US" sz="4197">
                <a:solidFill>
                  <a:srgbClr val="FF009D"/>
                </a:solidFill>
                <a:latin typeface="HK Modular"/>
                <a:ea typeface="HK Modular"/>
                <a:cs typeface="HK Modular"/>
                <a:sym typeface="HK Modular"/>
              </a:rPr>
              <a:t>CONEXION ENTRE SERVICIOS</a:t>
            </a:r>
          </a:p>
        </p:txBody>
      </p:sp>
      <p:sp>
        <p:nvSpPr>
          <p:cNvPr name="Freeform 7" id="7"/>
          <p:cNvSpPr/>
          <p:nvPr/>
        </p:nvSpPr>
        <p:spPr>
          <a:xfrm flipH="false" flipV="false" rot="0">
            <a:off x="8082044" y="-150850"/>
            <a:ext cx="2342646" cy="2342646"/>
          </a:xfrm>
          <a:custGeom>
            <a:avLst/>
            <a:gdLst/>
            <a:ahLst/>
            <a:cxnLst/>
            <a:rect r="r" b="b" t="t" l="l"/>
            <a:pathLst>
              <a:path h="2342646" w="2342646">
                <a:moveTo>
                  <a:pt x="0" y="0"/>
                </a:moveTo>
                <a:lnTo>
                  <a:pt x="2342646" y="0"/>
                </a:lnTo>
                <a:lnTo>
                  <a:pt x="2342646" y="2342646"/>
                </a:lnTo>
                <a:lnTo>
                  <a:pt x="0" y="2342646"/>
                </a:lnTo>
                <a:lnTo>
                  <a:pt x="0" y="0"/>
                </a:lnTo>
                <a:close/>
              </a:path>
            </a:pathLst>
          </a:custGeom>
          <a:blipFill>
            <a:blip r:embed="rId3"/>
            <a:stretch>
              <a:fillRect l="0" t="0" r="0" b="0"/>
            </a:stretch>
          </a:blipFill>
        </p:spPr>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3526388" y="2197652"/>
            <a:ext cx="11235223" cy="721230"/>
          </a:xfrm>
          <a:prstGeom prst="rect">
            <a:avLst/>
          </a:prstGeom>
        </p:spPr>
        <p:txBody>
          <a:bodyPr anchor="t" rtlCol="false" tIns="0" lIns="0" bIns="0" rIns="0">
            <a:spAutoFit/>
          </a:bodyPr>
          <a:lstStyle/>
          <a:p>
            <a:pPr algn="ctr">
              <a:lnSpc>
                <a:spcPts val="5876"/>
              </a:lnSpc>
              <a:spcBef>
                <a:spcPct val="0"/>
              </a:spcBef>
            </a:pPr>
            <a:r>
              <a:rPr lang="en-US" sz="4197">
                <a:solidFill>
                  <a:srgbClr val="FF009D"/>
                </a:solidFill>
                <a:latin typeface="HK Modular"/>
                <a:ea typeface="HK Modular"/>
                <a:cs typeface="HK Modular"/>
                <a:sym typeface="HK Modular"/>
              </a:rPr>
              <a:t>AXIOS</a:t>
            </a:r>
          </a:p>
        </p:txBody>
      </p:sp>
      <p:sp>
        <p:nvSpPr>
          <p:cNvPr name="TextBox 7" id="7"/>
          <p:cNvSpPr txBox="true"/>
          <p:nvPr/>
        </p:nvSpPr>
        <p:spPr>
          <a:xfrm rot="0">
            <a:off x="1682185" y="3141430"/>
            <a:ext cx="15142363" cy="1560309"/>
          </a:xfrm>
          <a:prstGeom prst="rect">
            <a:avLst/>
          </a:prstGeom>
        </p:spPr>
        <p:txBody>
          <a:bodyPr anchor="t" rtlCol="false" tIns="0" lIns="0" bIns="0" rIns="0">
            <a:spAutoFit/>
          </a:bodyPr>
          <a:lstStyle/>
          <a:p>
            <a:pPr algn="ctr">
              <a:lnSpc>
                <a:spcPts val="3054"/>
              </a:lnSpc>
              <a:spcBef>
                <a:spcPct val="0"/>
              </a:spcBef>
            </a:pPr>
            <a:r>
              <a:rPr lang="en-US" sz="2181">
                <a:solidFill>
                  <a:srgbClr val="FFFFFF"/>
                </a:solidFill>
                <a:latin typeface="Poppins"/>
                <a:ea typeface="Poppins"/>
                <a:cs typeface="Poppins"/>
                <a:sym typeface="Poppins"/>
              </a:rPr>
              <a:t>Axios es una librería de JavaScript usada para realizar peticiones HTTP (GET, POST, PUT, DELETE, etc.) desde el navegador o desde Node.js.</a:t>
            </a:r>
          </a:p>
          <a:p>
            <a:pPr algn="ctr">
              <a:lnSpc>
                <a:spcPts val="3054"/>
              </a:lnSpc>
              <a:spcBef>
                <a:spcPct val="0"/>
              </a:spcBef>
            </a:pPr>
            <a:r>
              <a:rPr lang="en-US" sz="2181">
                <a:solidFill>
                  <a:srgbClr val="FFFFFF"/>
                </a:solidFill>
                <a:latin typeface="Poppins"/>
                <a:ea typeface="Poppins"/>
                <a:cs typeface="Poppins"/>
                <a:sym typeface="Poppins"/>
              </a:rPr>
              <a:t> Es muy popular en React, porque permite conectarse fácilmente a APIs REST y manejar respuestas de manera asíncrona con async/await o promises.</a:t>
            </a:r>
          </a:p>
        </p:txBody>
      </p:sp>
      <p:sp>
        <p:nvSpPr>
          <p:cNvPr name="TextBox 8" id="8"/>
          <p:cNvSpPr txBox="true"/>
          <p:nvPr/>
        </p:nvSpPr>
        <p:spPr>
          <a:xfrm rot="0">
            <a:off x="3073011" y="5266363"/>
            <a:ext cx="12141979" cy="669942"/>
          </a:xfrm>
          <a:prstGeom prst="rect">
            <a:avLst/>
          </a:prstGeom>
        </p:spPr>
        <p:txBody>
          <a:bodyPr anchor="t" rtlCol="false" tIns="0" lIns="0" bIns="0" rIns="0">
            <a:spAutoFit/>
          </a:bodyPr>
          <a:lstStyle/>
          <a:p>
            <a:pPr algn="ctr">
              <a:lnSpc>
                <a:spcPts val="5490"/>
              </a:lnSpc>
              <a:spcBef>
                <a:spcPct val="0"/>
              </a:spcBef>
            </a:pPr>
            <a:r>
              <a:rPr lang="en-US" sz="3921">
                <a:solidFill>
                  <a:srgbClr val="FF751F"/>
                </a:solidFill>
                <a:latin typeface="HK Modular"/>
                <a:ea typeface="HK Modular"/>
                <a:cs typeface="HK Modular"/>
                <a:sym typeface="HK Modular"/>
              </a:rPr>
              <a:t>CARACTERISTICAS</a:t>
            </a:r>
          </a:p>
        </p:txBody>
      </p:sp>
      <p:sp>
        <p:nvSpPr>
          <p:cNvPr name="TextBox 9" id="9"/>
          <p:cNvSpPr txBox="true"/>
          <p:nvPr/>
        </p:nvSpPr>
        <p:spPr>
          <a:xfrm rot="0">
            <a:off x="4638787" y="6291196"/>
            <a:ext cx="8840391" cy="1953895"/>
          </a:xfrm>
          <a:prstGeom prst="rect">
            <a:avLst/>
          </a:prstGeom>
        </p:spPr>
        <p:txBody>
          <a:bodyPr anchor="t" rtlCol="false" tIns="0" lIns="0" bIns="0" rIns="0">
            <a:spAutoFit/>
          </a:bodyPr>
          <a:lstStyle/>
          <a:p>
            <a:pPr algn="ctr">
              <a:lnSpc>
                <a:spcPts val="3079"/>
              </a:lnSpc>
              <a:spcBef>
                <a:spcPct val="0"/>
              </a:spcBef>
            </a:pPr>
            <a:r>
              <a:rPr lang="en-US" sz="2199">
                <a:solidFill>
                  <a:srgbClr val="FFFFFF"/>
                </a:solidFill>
                <a:latin typeface="Poppins"/>
                <a:ea typeface="Poppins"/>
                <a:cs typeface="Poppins"/>
                <a:sym typeface="Poppins"/>
              </a:rPr>
              <a:t>Soporta promesas (Promise).</a:t>
            </a:r>
          </a:p>
          <a:p>
            <a:pPr algn="ctr">
              <a:lnSpc>
                <a:spcPts val="3079"/>
              </a:lnSpc>
              <a:spcBef>
                <a:spcPct val="0"/>
              </a:spcBef>
            </a:pPr>
            <a:r>
              <a:rPr lang="en-US" sz="2199">
                <a:solidFill>
                  <a:srgbClr val="FFFFFF"/>
                </a:solidFill>
                <a:latin typeface="Poppins"/>
                <a:ea typeface="Poppins"/>
                <a:cs typeface="Poppins"/>
                <a:sym typeface="Poppins"/>
              </a:rPr>
              <a:t>Permite interceptar solicitudes y respuestas.</a:t>
            </a:r>
          </a:p>
          <a:p>
            <a:pPr algn="ctr">
              <a:lnSpc>
                <a:spcPts val="3079"/>
              </a:lnSpc>
              <a:spcBef>
                <a:spcPct val="0"/>
              </a:spcBef>
            </a:pPr>
            <a:r>
              <a:rPr lang="en-US" sz="2199">
                <a:solidFill>
                  <a:srgbClr val="FFFFFF"/>
                </a:solidFill>
                <a:latin typeface="Poppins"/>
                <a:ea typeface="Poppins"/>
                <a:cs typeface="Poppins"/>
                <a:sym typeface="Poppins"/>
              </a:rPr>
              <a:t>Puede configurar cabeceras (headers) globales o por solicitud.</a:t>
            </a:r>
          </a:p>
          <a:p>
            <a:pPr algn="ctr">
              <a:lnSpc>
                <a:spcPts val="3079"/>
              </a:lnSpc>
              <a:spcBef>
                <a:spcPct val="0"/>
              </a:spcBef>
            </a:pPr>
            <a:r>
              <a:rPr lang="en-US" sz="2199">
                <a:solidFill>
                  <a:srgbClr val="FFFFFF"/>
                </a:solidFill>
                <a:latin typeface="Poppins"/>
                <a:ea typeface="Poppins"/>
                <a:cs typeface="Poppins"/>
                <a:sym typeface="Poppins"/>
              </a:rPr>
              <a:t>Soporta cancelación de peticiones.</a:t>
            </a:r>
          </a:p>
          <a:p>
            <a:pPr algn="ctr">
              <a:lnSpc>
                <a:spcPts val="3079"/>
              </a:lnSpc>
              <a:spcBef>
                <a:spcPct val="0"/>
              </a:spcBef>
            </a:pPr>
            <a:r>
              <a:rPr lang="en-US" sz="2199">
                <a:solidFill>
                  <a:srgbClr val="FFFFFF"/>
                </a:solidFill>
                <a:latin typeface="Poppins"/>
                <a:ea typeface="Poppins"/>
                <a:cs typeface="Poppins"/>
                <a:sym typeface="Poppins"/>
              </a:rPr>
              <a:t>Puede manejar respuestas JSON automáticamente.</a:t>
            </a:r>
          </a:p>
        </p:txBody>
      </p:sp>
      <p:sp>
        <p:nvSpPr>
          <p:cNvPr name="Freeform 10" id="10"/>
          <p:cNvSpPr/>
          <p:nvPr/>
        </p:nvSpPr>
        <p:spPr>
          <a:xfrm flipH="false" flipV="false" rot="0">
            <a:off x="8082044" y="-150850"/>
            <a:ext cx="2342646" cy="2342646"/>
          </a:xfrm>
          <a:custGeom>
            <a:avLst/>
            <a:gdLst/>
            <a:ahLst/>
            <a:cxnLst/>
            <a:rect r="r" b="b" t="t" l="l"/>
            <a:pathLst>
              <a:path h="2342646" w="2342646">
                <a:moveTo>
                  <a:pt x="0" y="0"/>
                </a:moveTo>
                <a:lnTo>
                  <a:pt x="2342646" y="0"/>
                </a:lnTo>
                <a:lnTo>
                  <a:pt x="2342646" y="2342646"/>
                </a:lnTo>
                <a:lnTo>
                  <a:pt x="0" y="2342646"/>
                </a:lnTo>
                <a:lnTo>
                  <a:pt x="0" y="0"/>
                </a:lnTo>
                <a:close/>
              </a:path>
            </a:pathLst>
          </a:custGeom>
          <a:blipFill>
            <a:blip r:embed="rId3"/>
            <a:stretch>
              <a:fillRect l="0" t="0" r="0" b="0"/>
            </a:stretch>
          </a:blipFill>
        </p:spPr>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5189425" y="4139906"/>
            <a:ext cx="7909149" cy="3532241"/>
          </a:xfrm>
          <a:custGeom>
            <a:avLst/>
            <a:gdLst/>
            <a:ahLst/>
            <a:cxnLst/>
            <a:rect r="r" b="b" t="t" l="l"/>
            <a:pathLst>
              <a:path h="3532241" w="7909149">
                <a:moveTo>
                  <a:pt x="0" y="0"/>
                </a:moveTo>
                <a:lnTo>
                  <a:pt x="7909150" y="0"/>
                </a:lnTo>
                <a:lnTo>
                  <a:pt x="7909150" y="3532241"/>
                </a:lnTo>
                <a:lnTo>
                  <a:pt x="0" y="3532241"/>
                </a:lnTo>
                <a:lnTo>
                  <a:pt x="0" y="0"/>
                </a:lnTo>
                <a:close/>
              </a:path>
            </a:pathLst>
          </a:custGeom>
          <a:blipFill>
            <a:blip r:embed="rId3"/>
            <a:stretch>
              <a:fillRect l="0" t="0" r="0" b="0"/>
            </a:stretch>
          </a:blipFill>
        </p:spPr>
      </p:sp>
      <p:sp>
        <p:nvSpPr>
          <p:cNvPr name="TextBox 7" id="7"/>
          <p:cNvSpPr txBox="true"/>
          <p:nvPr/>
        </p:nvSpPr>
        <p:spPr>
          <a:xfrm rot="0">
            <a:off x="3526388" y="2197652"/>
            <a:ext cx="11235223" cy="1463358"/>
          </a:xfrm>
          <a:prstGeom prst="rect">
            <a:avLst/>
          </a:prstGeom>
        </p:spPr>
        <p:txBody>
          <a:bodyPr anchor="t" rtlCol="false" tIns="0" lIns="0" bIns="0" rIns="0">
            <a:spAutoFit/>
          </a:bodyPr>
          <a:lstStyle/>
          <a:p>
            <a:pPr algn="ctr">
              <a:lnSpc>
                <a:spcPts val="5876"/>
              </a:lnSpc>
              <a:spcBef>
                <a:spcPct val="0"/>
              </a:spcBef>
            </a:pPr>
            <a:r>
              <a:rPr lang="en-US" sz="4197">
                <a:solidFill>
                  <a:srgbClr val="FF009D"/>
                </a:solidFill>
                <a:latin typeface="HK Modular"/>
                <a:ea typeface="HK Modular"/>
                <a:cs typeface="HK Modular"/>
                <a:sym typeface="HK Modular"/>
              </a:rPr>
              <a:t>AXIOS - CONFIGURACION BASE</a:t>
            </a:r>
          </a:p>
        </p:txBody>
      </p:sp>
      <p:sp>
        <p:nvSpPr>
          <p:cNvPr name="TextBox 8" id="8"/>
          <p:cNvSpPr txBox="true"/>
          <p:nvPr/>
        </p:nvSpPr>
        <p:spPr>
          <a:xfrm rot="0">
            <a:off x="1119191" y="8093892"/>
            <a:ext cx="15658654" cy="391795"/>
          </a:xfrm>
          <a:prstGeom prst="rect">
            <a:avLst/>
          </a:prstGeom>
        </p:spPr>
        <p:txBody>
          <a:bodyPr anchor="t" rtlCol="false" tIns="0" lIns="0" bIns="0" rIns="0">
            <a:spAutoFit/>
          </a:bodyPr>
          <a:lstStyle/>
          <a:p>
            <a:pPr algn="ctr">
              <a:lnSpc>
                <a:spcPts val="3079"/>
              </a:lnSpc>
              <a:spcBef>
                <a:spcPct val="0"/>
              </a:spcBef>
            </a:pPr>
            <a:r>
              <a:rPr lang="en-US" sz="2199">
                <a:solidFill>
                  <a:srgbClr val="FFFFFF"/>
                </a:solidFill>
                <a:latin typeface="Poppins"/>
                <a:ea typeface="Poppins"/>
                <a:cs typeface="Poppins"/>
                <a:sym typeface="Poppins"/>
              </a:rPr>
              <a:t>Es una buena practica dejar el base URL como constante porque todas las peticiones la van a reutilizar despues</a:t>
            </a:r>
          </a:p>
        </p:txBody>
      </p:sp>
      <p:sp>
        <p:nvSpPr>
          <p:cNvPr name="Freeform 9" id="9"/>
          <p:cNvSpPr/>
          <p:nvPr/>
        </p:nvSpPr>
        <p:spPr>
          <a:xfrm flipH="false" flipV="false" rot="0">
            <a:off x="8082044" y="-150850"/>
            <a:ext cx="2342646" cy="2342646"/>
          </a:xfrm>
          <a:custGeom>
            <a:avLst/>
            <a:gdLst/>
            <a:ahLst/>
            <a:cxnLst/>
            <a:rect r="r" b="b" t="t" l="l"/>
            <a:pathLst>
              <a:path h="2342646" w="2342646">
                <a:moveTo>
                  <a:pt x="0" y="0"/>
                </a:moveTo>
                <a:lnTo>
                  <a:pt x="2342646" y="0"/>
                </a:lnTo>
                <a:lnTo>
                  <a:pt x="2342646" y="2342646"/>
                </a:lnTo>
                <a:lnTo>
                  <a:pt x="0" y="2342646"/>
                </a:lnTo>
                <a:lnTo>
                  <a:pt x="0" y="0"/>
                </a:lnTo>
                <a:close/>
              </a:path>
            </a:pathLst>
          </a:custGeom>
          <a:blipFill>
            <a:blip r:embed="rId4"/>
            <a:stretch>
              <a:fillRect l="0" t="0" r="0" b="0"/>
            </a:stretch>
          </a:blipFill>
        </p:spPr>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691655"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5400785" y="3925130"/>
            <a:ext cx="7208071" cy="5338128"/>
          </a:xfrm>
          <a:custGeom>
            <a:avLst/>
            <a:gdLst/>
            <a:ahLst/>
            <a:cxnLst/>
            <a:rect r="r" b="b" t="t" l="l"/>
            <a:pathLst>
              <a:path h="5338128" w="7208071">
                <a:moveTo>
                  <a:pt x="0" y="0"/>
                </a:moveTo>
                <a:lnTo>
                  <a:pt x="7208071" y="0"/>
                </a:lnTo>
                <a:lnTo>
                  <a:pt x="7208071" y="5338128"/>
                </a:lnTo>
                <a:lnTo>
                  <a:pt x="0" y="5338128"/>
                </a:lnTo>
                <a:lnTo>
                  <a:pt x="0" y="0"/>
                </a:lnTo>
                <a:close/>
              </a:path>
            </a:pathLst>
          </a:custGeom>
          <a:blipFill>
            <a:blip r:embed="rId3"/>
            <a:stretch>
              <a:fillRect l="0" t="0" r="0" b="0"/>
            </a:stretch>
          </a:blipFill>
        </p:spPr>
      </p:sp>
      <p:sp>
        <p:nvSpPr>
          <p:cNvPr name="TextBox 7" id="7"/>
          <p:cNvSpPr txBox="true"/>
          <p:nvPr/>
        </p:nvSpPr>
        <p:spPr>
          <a:xfrm rot="0">
            <a:off x="3526388" y="2197652"/>
            <a:ext cx="11235223" cy="721230"/>
          </a:xfrm>
          <a:prstGeom prst="rect">
            <a:avLst/>
          </a:prstGeom>
        </p:spPr>
        <p:txBody>
          <a:bodyPr anchor="t" rtlCol="false" tIns="0" lIns="0" bIns="0" rIns="0">
            <a:spAutoFit/>
          </a:bodyPr>
          <a:lstStyle/>
          <a:p>
            <a:pPr algn="ctr">
              <a:lnSpc>
                <a:spcPts val="5876"/>
              </a:lnSpc>
              <a:spcBef>
                <a:spcPct val="0"/>
              </a:spcBef>
            </a:pPr>
            <a:r>
              <a:rPr lang="en-US" sz="4197">
                <a:solidFill>
                  <a:srgbClr val="FF009D"/>
                </a:solidFill>
                <a:latin typeface="HK Modular"/>
                <a:ea typeface="HK Modular"/>
                <a:cs typeface="HK Modular"/>
                <a:sym typeface="HK Modular"/>
              </a:rPr>
              <a:t>EJEMPLO DE USO EN REACT</a:t>
            </a:r>
          </a:p>
        </p:txBody>
      </p:sp>
      <p:sp>
        <p:nvSpPr>
          <p:cNvPr name="TextBox 8" id="8"/>
          <p:cNvSpPr txBox="true"/>
          <p:nvPr/>
        </p:nvSpPr>
        <p:spPr>
          <a:xfrm rot="0">
            <a:off x="6089493" y="3216852"/>
            <a:ext cx="6109013" cy="365378"/>
          </a:xfrm>
          <a:prstGeom prst="rect">
            <a:avLst/>
          </a:prstGeom>
        </p:spPr>
        <p:txBody>
          <a:bodyPr anchor="t" rtlCol="false" tIns="0" lIns="0" bIns="0" rIns="0">
            <a:spAutoFit/>
          </a:bodyPr>
          <a:lstStyle/>
          <a:p>
            <a:pPr algn="ctr">
              <a:lnSpc>
                <a:spcPts val="2938"/>
              </a:lnSpc>
              <a:spcBef>
                <a:spcPct val="0"/>
              </a:spcBef>
            </a:pPr>
            <a:r>
              <a:rPr lang="en-US" sz="2098">
                <a:solidFill>
                  <a:srgbClr val="FFFFFF"/>
                </a:solidFill>
                <a:latin typeface="HK Modular"/>
                <a:ea typeface="HK Modular"/>
                <a:cs typeface="HK Modular"/>
                <a:sym typeface="HK Modular"/>
              </a:rPr>
              <a:t>DEFINICION DE LOS DTOS</a:t>
            </a:r>
          </a:p>
        </p:txBody>
      </p:sp>
      <p:sp>
        <p:nvSpPr>
          <p:cNvPr name="Freeform 9" id="9"/>
          <p:cNvSpPr/>
          <p:nvPr/>
        </p:nvSpPr>
        <p:spPr>
          <a:xfrm flipH="false" flipV="false" rot="0">
            <a:off x="8082044" y="-150850"/>
            <a:ext cx="2342646" cy="2342646"/>
          </a:xfrm>
          <a:custGeom>
            <a:avLst/>
            <a:gdLst/>
            <a:ahLst/>
            <a:cxnLst/>
            <a:rect r="r" b="b" t="t" l="l"/>
            <a:pathLst>
              <a:path h="2342646" w="2342646">
                <a:moveTo>
                  <a:pt x="0" y="0"/>
                </a:moveTo>
                <a:lnTo>
                  <a:pt x="2342646" y="0"/>
                </a:lnTo>
                <a:lnTo>
                  <a:pt x="2342646" y="2342646"/>
                </a:lnTo>
                <a:lnTo>
                  <a:pt x="0" y="2342646"/>
                </a:lnTo>
                <a:lnTo>
                  <a:pt x="0" y="0"/>
                </a:lnTo>
                <a:close/>
              </a:path>
            </a:pathLst>
          </a:custGeom>
          <a:blipFill>
            <a:blip r:embed="rId4"/>
            <a:stretch>
              <a:fillRect l="0" t="0" r="0" b="0"/>
            </a:stretch>
          </a:blipFill>
        </p:spPr>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691655"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4248265" y="4658555"/>
            <a:ext cx="10178097" cy="1477801"/>
          </a:xfrm>
          <a:custGeom>
            <a:avLst/>
            <a:gdLst/>
            <a:ahLst/>
            <a:cxnLst/>
            <a:rect r="r" b="b" t="t" l="l"/>
            <a:pathLst>
              <a:path h="1477801" w="10178097">
                <a:moveTo>
                  <a:pt x="0" y="0"/>
                </a:moveTo>
                <a:lnTo>
                  <a:pt x="10178097" y="0"/>
                </a:lnTo>
                <a:lnTo>
                  <a:pt x="10178097" y="1477801"/>
                </a:lnTo>
                <a:lnTo>
                  <a:pt x="0" y="1477801"/>
                </a:lnTo>
                <a:lnTo>
                  <a:pt x="0" y="0"/>
                </a:lnTo>
                <a:close/>
              </a:path>
            </a:pathLst>
          </a:custGeom>
          <a:blipFill>
            <a:blip r:embed="rId3"/>
            <a:stretch>
              <a:fillRect l="0" t="0" r="0" b="0"/>
            </a:stretch>
          </a:blipFill>
        </p:spPr>
      </p:sp>
      <p:sp>
        <p:nvSpPr>
          <p:cNvPr name="Freeform 7" id="7"/>
          <p:cNvSpPr/>
          <p:nvPr/>
        </p:nvSpPr>
        <p:spPr>
          <a:xfrm flipH="false" flipV="false" rot="0">
            <a:off x="4138098" y="7410662"/>
            <a:ext cx="10288264" cy="1993850"/>
          </a:xfrm>
          <a:custGeom>
            <a:avLst/>
            <a:gdLst/>
            <a:ahLst/>
            <a:cxnLst/>
            <a:rect r="r" b="b" t="t" l="l"/>
            <a:pathLst>
              <a:path h="1993850" w="10288264">
                <a:moveTo>
                  <a:pt x="0" y="0"/>
                </a:moveTo>
                <a:lnTo>
                  <a:pt x="10288264" y="0"/>
                </a:lnTo>
                <a:lnTo>
                  <a:pt x="10288264" y="1993850"/>
                </a:lnTo>
                <a:lnTo>
                  <a:pt x="0" y="1993850"/>
                </a:lnTo>
                <a:lnTo>
                  <a:pt x="0" y="0"/>
                </a:lnTo>
                <a:close/>
              </a:path>
            </a:pathLst>
          </a:custGeom>
          <a:blipFill>
            <a:blip r:embed="rId4"/>
            <a:stretch>
              <a:fillRect l="0" t="0" r="0" b="0"/>
            </a:stretch>
          </a:blipFill>
        </p:spPr>
      </p:sp>
      <p:sp>
        <p:nvSpPr>
          <p:cNvPr name="TextBox 8" id="8"/>
          <p:cNvSpPr txBox="true"/>
          <p:nvPr/>
        </p:nvSpPr>
        <p:spPr>
          <a:xfrm rot="0">
            <a:off x="3526388" y="2197652"/>
            <a:ext cx="11235223" cy="721230"/>
          </a:xfrm>
          <a:prstGeom prst="rect">
            <a:avLst/>
          </a:prstGeom>
        </p:spPr>
        <p:txBody>
          <a:bodyPr anchor="t" rtlCol="false" tIns="0" lIns="0" bIns="0" rIns="0">
            <a:spAutoFit/>
          </a:bodyPr>
          <a:lstStyle/>
          <a:p>
            <a:pPr algn="ctr">
              <a:lnSpc>
                <a:spcPts val="5876"/>
              </a:lnSpc>
              <a:spcBef>
                <a:spcPct val="0"/>
              </a:spcBef>
            </a:pPr>
            <a:r>
              <a:rPr lang="en-US" sz="4197">
                <a:solidFill>
                  <a:srgbClr val="FF009D"/>
                </a:solidFill>
                <a:latin typeface="HK Modular"/>
                <a:ea typeface="HK Modular"/>
                <a:cs typeface="HK Modular"/>
                <a:sym typeface="HK Modular"/>
              </a:rPr>
              <a:t>EJEMPLO DE USO EN REACT</a:t>
            </a:r>
          </a:p>
        </p:txBody>
      </p:sp>
      <p:sp>
        <p:nvSpPr>
          <p:cNvPr name="TextBox 9" id="9"/>
          <p:cNvSpPr txBox="true"/>
          <p:nvPr/>
        </p:nvSpPr>
        <p:spPr>
          <a:xfrm rot="0">
            <a:off x="6089493" y="3750252"/>
            <a:ext cx="6109013" cy="365378"/>
          </a:xfrm>
          <a:prstGeom prst="rect">
            <a:avLst/>
          </a:prstGeom>
        </p:spPr>
        <p:txBody>
          <a:bodyPr anchor="t" rtlCol="false" tIns="0" lIns="0" bIns="0" rIns="0">
            <a:spAutoFit/>
          </a:bodyPr>
          <a:lstStyle/>
          <a:p>
            <a:pPr algn="ctr">
              <a:lnSpc>
                <a:spcPts val="2938"/>
              </a:lnSpc>
              <a:spcBef>
                <a:spcPct val="0"/>
              </a:spcBef>
            </a:pPr>
            <a:r>
              <a:rPr lang="en-US" sz="2098">
                <a:solidFill>
                  <a:srgbClr val="FFFFFF"/>
                </a:solidFill>
                <a:latin typeface="HK Modular"/>
                <a:ea typeface="HK Modular"/>
                <a:cs typeface="HK Modular"/>
                <a:sym typeface="HK Modular"/>
              </a:rPr>
              <a:t>GET → OBTENER DATOS</a:t>
            </a:r>
          </a:p>
        </p:txBody>
      </p:sp>
      <p:sp>
        <p:nvSpPr>
          <p:cNvPr name="TextBox 10" id="10"/>
          <p:cNvSpPr txBox="true"/>
          <p:nvPr/>
        </p:nvSpPr>
        <p:spPr>
          <a:xfrm rot="0">
            <a:off x="6089493" y="6633344"/>
            <a:ext cx="6109013" cy="365378"/>
          </a:xfrm>
          <a:prstGeom prst="rect">
            <a:avLst/>
          </a:prstGeom>
        </p:spPr>
        <p:txBody>
          <a:bodyPr anchor="t" rtlCol="false" tIns="0" lIns="0" bIns="0" rIns="0">
            <a:spAutoFit/>
          </a:bodyPr>
          <a:lstStyle/>
          <a:p>
            <a:pPr algn="ctr">
              <a:lnSpc>
                <a:spcPts val="2938"/>
              </a:lnSpc>
              <a:spcBef>
                <a:spcPct val="0"/>
              </a:spcBef>
            </a:pPr>
            <a:r>
              <a:rPr lang="en-US" sz="2098">
                <a:solidFill>
                  <a:srgbClr val="FFFFFF"/>
                </a:solidFill>
                <a:latin typeface="HK Modular"/>
                <a:ea typeface="HK Modular"/>
                <a:cs typeface="HK Modular"/>
                <a:sym typeface="HK Modular"/>
              </a:rPr>
              <a:t>GET → OBTENER DATO POR ID</a:t>
            </a:r>
          </a:p>
        </p:txBody>
      </p:sp>
      <p:sp>
        <p:nvSpPr>
          <p:cNvPr name="Freeform 11" id="11"/>
          <p:cNvSpPr/>
          <p:nvPr/>
        </p:nvSpPr>
        <p:spPr>
          <a:xfrm flipH="false" flipV="false" rot="0">
            <a:off x="8082044" y="-150850"/>
            <a:ext cx="2342646" cy="2342646"/>
          </a:xfrm>
          <a:custGeom>
            <a:avLst/>
            <a:gdLst/>
            <a:ahLst/>
            <a:cxnLst/>
            <a:rect r="r" b="b" t="t" l="l"/>
            <a:pathLst>
              <a:path h="2342646" w="2342646">
                <a:moveTo>
                  <a:pt x="0" y="0"/>
                </a:moveTo>
                <a:lnTo>
                  <a:pt x="2342646" y="0"/>
                </a:lnTo>
                <a:lnTo>
                  <a:pt x="2342646" y="2342646"/>
                </a:lnTo>
                <a:lnTo>
                  <a:pt x="0" y="2342646"/>
                </a:lnTo>
                <a:lnTo>
                  <a:pt x="0" y="0"/>
                </a:lnTo>
                <a:close/>
              </a:path>
            </a:pathLst>
          </a:custGeom>
          <a:blipFill>
            <a:blip r:embed="rId5"/>
            <a:stretch>
              <a:fillRect l="0" t="0" r="0" b="0"/>
            </a:stretch>
          </a:blipFill>
        </p:spPr>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691655"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4084926" y="4546654"/>
            <a:ext cx="9839790" cy="3623922"/>
          </a:xfrm>
          <a:custGeom>
            <a:avLst/>
            <a:gdLst/>
            <a:ahLst/>
            <a:cxnLst/>
            <a:rect r="r" b="b" t="t" l="l"/>
            <a:pathLst>
              <a:path h="3623922" w="9839790">
                <a:moveTo>
                  <a:pt x="0" y="0"/>
                </a:moveTo>
                <a:lnTo>
                  <a:pt x="9839789" y="0"/>
                </a:lnTo>
                <a:lnTo>
                  <a:pt x="9839789" y="3623922"/>
                </a:lnTo>
                <a:lnTo>
                  <a:pt x="0" y="3623922"/>
                </a:lnTo>
                <a:lnTo>
                  <a:pt x="0" y="0"/>
                </a:lnTo>
                <a:close/>
              </a:path>
            </a:pathLst>
          </a:custGeom>
          <a:blipFill>
            <a:blip r:embed="rId3"/>
            <a:stretch>
              <a:fillRect l="0" t="0" r="0" b="0"/>
            </a:stretch>
          </a:blipFill>
        </p:spPr>
      </p:sp>
      <p:sp>
        <p:nvSpPr>
          <p:cNvPr name="TextBox 7" id="7"/>
          <p:cNvSpPr txBox="true"/>
          <p:nvPr/>
        </p:nvSpPr>
        <p:spPr>
          <a:xfrm rot="0">
            <a:off x="3526388" y="2197652"/>
            <a:ext cx="11235223" cy="721230"/>
          </a:xfrm>
          <a:prstGeom prst="rect">
            <a:avLst/>
          </a:prstGeom>
        </p:spPr>
        <p:txBody>
          <a:bodyPr anchor="t" rtlCol="false" tIns="0" lIns="0" bIns="0" rIns="0">
            <a:spAutoFit/>
          </a:bodyPr>
          <a:lstStyle/>
          <a:p>
            <a:pPr algn="ctr">
              <a:lnSpc>
                <a:spcPts val="5876"/>
              </a:lnSpc>
              <a:spcBef>
                <a:spcPct val="0"/>
              </a:spcBef>
            </a:pPr>
            <a:r>
              <a:rPr lang="en-US" sz="4197">
                <a:solidFill>
                  <a:srgbClr val="FF009D"/>
                </a:solidFill>
                <a:latin typeface="HK Modular"/>
                <a:ea typeface="HK Modular"/>
                <a:cs typeface="HK Modular"/>
                <a:sym typeface="HK Modular"/>
              </a:rPr>
              <a:t>EJEMPLO DE USO EN REACT</a:t>
            </a:r>
          </a:p>
        </p:txBody>
      </p:sp>
      <p:sp>
        <p:nvSpPr>
          <p:cNvPr name="TextBox 8" id="8"/>
          <p:cNvSpPr txBox="true"/>
          <p:nvPr/>
        </p:nvSpPr>
        <p:spPr>
          <a:xfrm rot="0">
            <a:off x="6089493" y="3750252"/>
            <a:ext cx="6109013" cy="365378"/>
          </a:xfrm>
          <a:prstGeom prst="rect">
            <a:avLst/>
          </a:prstGeom>
        </p:spPr>
        <p:txBody>
          <a:bodyPr anchor="t" rtlCol="false" tIns="0" lIns="0" bIns="0" rIns="0">
            <a:spAutoFit/>
          </a:bodyPr>
          <a:lstStyle/>
          <a:p>
            <a:pPr algn="ctr">
              <a:lnSpc>
                <a:spcPts val="2938"/>
              </a:lnSpc>
              <a:spcBef>
                <a:spcPct val="0"/>
              </a:spcBef>
            </a:pPr>
            <a:r>
              <a:rPr lang="en-US" sz="2098">
                <a:solidFill>
                  <a:srgbClr val="FFFFFF"/>
                </a:solidFill>
                <a:latin typeface="HK Modular"/>
                <a:ea typeface="HK Modular"/>
                <a:cs typeface="HK Modular"/>
                <a:sym typeface="HK Modular"/>
              </a:rPr>
              <a:t>POST → CREAR DATOS</a:t>
            </a:r>
          </a:p>
        </p:txBody>
      </p:sp>
      <p:sp>
        <p:nvSpPr>
          <p:cNvPr name="Freeform 9" id="9"/>
          <p:cNvSpPr/>
          <p:nvPr/>
        </p:nvSpPr>
        <p:spPr>
          <a:xfrm flipH="false" flipV="false" rot="0">
            <a:off x="8082044" y="-150850"/>
            <a:ext cx="2342646" cy="2342646"/>
          </a:xfrm>
          <a:custGeom>
            <a:avLst/>
            <a:gdLst/>
            <a:ahLst/>
            <a:cxnLst/>
            <a:rect r="r" b="b" t="t" l="l"/>
            <a:pathLst>
              <a:path h="2342646" w="2342646">
                <a:moveTo>
                  <a:pt x="0" y="0"/>
                </a:moveTo>
                <a:lnTo>
                  <a:pt x="2342646" y="0"/>
                </a:lnTo>
                <a:lnTo>
                  <a:pt x="2342646" y="2342646"/>
                </a:lnTo>
                <a:lnTo>
                  <a:pt x="0" y="2342646"/>
                </a:lnTo>
                <a:lnTo>
                  <a:pt x="0" y="0"/>
                </a:lnTo>
                <a:close/>
              </a:path>
            </a:pathLst>
          </a:custGeom>
          <a:blipFill>
            <a:blip r:embed="rId4"/>
            <a:stretch>
              <a:fillRect l="0" t="0" r="0" b="0"/>
            </a:stretch>
          </a:blipFill>
        </p:spPr>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691655"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4293260" y="4599847"/>
            <a:ext cx="10115723" cy="3628002"/>
          </a:xfrm>
          <a:custGeom>
            <a:avLst/>
            <a:gdLst/>
            <a:ahLst/>
            <a:cxnLst/>
            <a:rect r="r" b="b" t="t" l="l"/>
            <a:pathLst>
              <a:path h="3628002" w="10115723">
                <a:moveTo>
                  <a:pt x="0" y="0"/>
                </a:moveTo>
                <a:lnTo>
                  <a:pt x="10115724" y="0"/>
                </a:lnTo>
                <a:lnTo>
                  <a:pt x="10115724" y="3628002"/>
                </a:lnTo>
                <a:lnTo>
                  <a:pt x="0" y="3628002"/>
                </a:lnTo>
                <a:lnTo>
                  <a:pt x="0" y="0"/>
                </a:lnTo>
                <a:close/>
              </a:path>
            </a:pathLst>
          </a:custGeom>
          <a:blipFill>
            <a:blip r:embed="rId3"/>
            <a:stretch>
              <a:fillRect l="0" t="0" r="0" b="0"/>
            </a:stretch>
          </a:blipFill>
        </p:spPr>
      </p:sp>
      <p:sp>
        <p:nvSpPr>
          <p:cNvPr name="TextBox 7" id="7"/>
          <p:cNvSpPr txBox="true"/>
          <p:nvPr/>
        </p:nvSpPr>
        <p:spPr>
          <a:xfrm rot="0">
            <a:off x="3526388" y="2197652"/>
            <a:ext cx="11235223" cy="721230"/>
          </a:xfrm>
          <a:prstGeom prst="rect">
            <a:avLst/>
          </a:prstGeom>
        </p:spPr>
        <p:txBody>
          <a:bodyPr anchor="t" rtlCol="false" tIns="0" lIns="0" bIns="0" rIns="0">
            <a:spAutoFit/>
          </a:bodyPr>
          <a:lstStyle/>
          <a:p>
            <a:pPr algn="ctr">
              <a:lnSpc>
                <a:spcPts val="5876"/>
              </a:lnSpc>
              <a:spcBef>
                <a:spcPct val="0"/>
              </a:spcBef>
            </a:pPr>
            <a:r>
              <a:rPr lang="en-US" sz="4197">
                <a:solidFill>
                  <a:srgbClr val="FF009D"/>
                </a:solidFill>
                <a:latin typeface="HK Modular"/>
                <a:ea typeface="HK Modular"/>
                <a:cs typeface="HK Modular"/>
                <a:sym typeface="HK Modular"/>
              </a:rPr>
              <a:t>EJEMPLO DE USO EN REACT</a:t>
            </a:r>
          </a:p>
        </p:txBody>
      </p:sp>
      <p:sp>
        <p:nvSpPr>
          <p:cNvPr name="TextBox 8" id="8"/>
          <p:cNvSpPr txBox="true"/>
          <p:nvPr/>
        </p:nvSpPr>
        <p:spPr>
          <a:xfrm rot="0">
            <a:off x="6089493" y="3750252"/>
            <a:ext cx="6109013" cy="365378"/>
          </a:xfrm>
          <a:prstGeom prst="rect">
            <a:avLst/>
          </a:prstGeom>
        </p:spPr>
        <p:txBody>
          <a:bodyPr anchor="t" rtlCol="false" tIns="0" lIns="0" bIns="0" rIns="0">
            <a:spAutoFit/>
          </a:bodyPr>
          <a:lstStyle/>
          <a:p>
            <a:pPr algn="ctr">
              <a:lnSpc>
                <a:spcPts val="2938"/>
              </a:lnSpc>
              <a:spcBef>
                <a:spcPct val="0"/>
              </a:spcBef>
            </a:pPr>
            <a:r>
              <a:rPr lang="en-US" sz="2098">
                <a:solidFill>
                  <a:srgbClr val="FFFFFF"/>
                </a:solidFill>
                <a:latin typeface="HK Modular"/>
                <a:ea typeface="HK Modular"/>
                <a:cs typeface="HK Modular"/>
                <a:sym typeface="HK Modular"/>
              </a:rPr>
              <a:t>PUT → ACTUALIZAR DATOS</a:t>
            </a:r>
          </a:p>
        </p:txBody>
      </p:sp>
      <p:sp>
        <p:nvSpPr>
          <p:cNvPr name="Freeform 9" id="9"/>
          <p:cNvSpPr/>
          <p:nvPr/>
        </p:nvSpPr>
        <p:spPr>
          <a:xfrm flipH="false" flipV="false" rot="0">
            <a:off x="8082044" y="-150850"/>
            <a:ext cx="2342646" cy="2342646"/>
          </a:xfrm>
          <a:custGeom>
            <a:avLst/>
            <a:gdLst/>
            <a:ahLst/>
            <a:cxnLst/>
            <a:rect r="r" b="b" t="t" l="l"/>
            <a:pathLst>
              <a:path h="2342646" w="2342646">
                <a:moveTo>
                  <a:pt x="0" y="0"/>
                </a:moveTo>
                <a:lnTo>
                  <a:pt x="2342646" y="0"/>
                </a:lnTo>
                <a:lnTo>
                  <a:pt x="2342646" y="2342646"/>
                </a:lnTo>
                <a:lnTo>
                  <a:pt x="0" y="2342646"/>
                </a:lnTo>
                <a:lnTo>
                  <a:pt x="0" y="0"/>
                </a:lnTo>
                <a:close/>
              </a:path>
            </a:pathLst>
          </a:custGeom>
          <a:blipFill>
            <a:blip r:embed="rId4"/>
            <a:stretch>
              <a:fillRect l="0" t="0" r="0" b="0"/>
            </a:stretch>
          </a:blipFill>
        </p:spPr>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691655"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4224105" y="4979640"/>
            <a:ext cx="9839790" cy="4055913"/>
          </a:xfrm>
          <a:custGeom>
            <a:avLst/>
            <a:gdLst/>
            <a:ahLst/>
            <a:cxnLst/>
            <a:rect r="r" b="b" t="t" l="l"/>
            <a:pathLst>
              <a:path h="4055913" w="9839790">
                <a:moveTo>
                  <a:pt x="0" y="0"/>
                </a:moveTo>
                <a:lnTo>
                  <a:pt x="9839790" y="0"/>
                </a:lnTo>
                <a:lnTo>
                  <a:pt x="9839790" y="4055914"/>
                </a:lnTo>
                <a:lnTo>
                  <a:pt x="0" y="4055914"/>
                </a:lnTo>
                <a:lnTo>
                  <a:pt x="0" y="0"/>
                </a:lnTo>
                <a:close/>
              </a:path>
            </a:pathLst>
          </a:custGeom>
          <a:blipFill>
            <a:blip r:embed="rId3"/>
            <a:stretch>
              <a:fillRect l="0" t="0" r="0" b="0"/>
            </a:stretch>
          </a:blipFill>
        </p:spPr>
      </p:sp>
      <p:sp>
        <p:nvSpPr>
          <p:cNvPr name="TextBox 7" id="7"/>
          <p:cNvSpPr txBox="true"/>
          <p:nvPr/>
        </p:nvSpPr>
        <p:spPr>
          <a:xfrm rot="0">
            <a:off x="3526388" y="2197652"/>
            <a:ext cx="11235223" cy="721230"/>
          </a:xfrm>
          <a:prstGeom prst="rect">
            <a:avLst/>
          </a:prstGeom>
        </p:spPr>
        <p:txBody>
          <a:bodyPr anchor="t" rtlCol="false" tIns="0" lIns="0" bIns="0" rIns="0">
            <a:spAutoFit/>
          </a:bodyPr>
          <a:lstStyle/>
          <a:p>
            <a:pPr algn="ctr">
              <a:lnSpc>
                <a:spcPts val="5876"/>
              </a:lnSpc>
              <a:spcBef>
                <a:spcPct val="0"/>
              </a:spcBef>
            </a:pPr>
            <a:r>
              <a:rPr lang="en-US" sz="4197">
                <a:solidFill>
                  <a:srgbClr val="FF009D"/>
                </a:solidFill>
                <a:latin typeface="HK Modular"/>
                <a:ea typeface="HK Modular"/>
                <a:cs typeface="HK Modular"/>
                <a:sym typeface="HK Modular"/>
              </a:rPr>
              <a:t>EJEMPLO DE USO EN REACT</a:t>
            </a:r>
          </a:p>
        </p:txBody>
      </p:sp>
      <p:sp>
        <p:nvSpPr>
          <p:cNvPr name="TextBox 8" id="8"/>
          <p:cNvSpPr txBox="true"/>
          <p:nvPr/>
        </p:nvSpPr>
        <p:spPr>
          <a:xfrm rot="0">
            <a:off x="6089493" y="3750252"/>
            <a:ext cx="6109013" cy="736442"/>
          </a:xfrm>
          <a:prstGeom prst="rect">
            <a:avLst/>
          </a:prstGeom>
        </p:spPr>
        <p:txBody>
          <a:bodyPr anchor="t" rtlCol="false" tIns="0" lIns="0" bIns="0" rIns="0">
            <a:spAutoFit/>
          </a:bodyPr>
          <a:lstStyle/>
          <a:p>
            <a:pPr algn="ctr">
              <a:lnSpc>
                <a:spcPts val="2938"/>
              </a:lnSpc>
              <a:spcBef>
                <a:spcPct val="0"/>
              </a:spcBef>
            </a:pPr>
            <a:r>
              <a:rPr lang="en-US" sz="2098">
                <a:solidFill>
                  <a:srgbClr val="FFFFFF"/>
                </a:solidFill>
                <a:latin typeface="HK Modular"/>
                <a:ea typeface="HK Modular"/>
                <a:cs typeface="HK Modular"/>
                <a:sym typeface="HK Modular"/>
              </a:rPr>
              <a:t>PATCH → ACTUALIZACION PARCIAL</a:t>
            </a:r>
          </a:p>
        </p:txBody>
      </p:sp>
      <p:sp>
        <p:nvSpPr>
          <p:cNvPr name="Freeform 9" id="9"/>
          <p:cNvSpPr/>
          <p:nvPr/>
        </p:nvSpPr>
        <p:spPr>
          <a:xfrm flipH="false" flipV="false" rot="0">
            <a:off x="8082044" y="-150850"/>
            <a:ext cx="2342646" cy="2342646"/>
          </a:xfrm>
          <a:custGeom>
            <a:avLst/>
            <a:gdLst/>
            <a:ahLst/>
            <a:cxnLst/>
            <a:rect r="r" b="b" t="t" l="l"/>
            <a:pathLst>
              <a:path h="2342646" w="2342646">
                <a:moveTo>
                  <a:pt x="0" y="0"/>
                </a:moveTo>
                <a:lnTo>
                  <a:pt x="2342646" y="0"/>
                </a:lnTo>
                <a:lnTo>
                  <a:pt x="2342646" y="2342646"/>
                </a:lnTo>
                <a:lnTo>
                  <a:pt x="0" y="2342646"/>
                </a:lnTo>
                <a:lnTo>
                  <a:pt x="0" y="0"/>
                </a:lnTo>
                <a:close/>
              </a:path>
            </a:pathLst>
          </a:custGeom>
          <a:blipFill>
            <a:blip r:embed="rId4"/>
            <a:stretch>
              <a:fillRect l="0" t="0" r="0" b="0"/>
            </a:stretch>
          </a:blipFill>
        </p:spPr>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691655"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3995611" y="4403459"/>
            <a:ext cx="10018418" cy="1155117"/>
          </a:xfrm>
          <a:custGeom>
            <a:avLst/>
            <a:gdLst/>
            <a:ahLst/>
            <a:cxnLst/>
            <a:rect r="r" b="b" t="t" l="l"/>
            <a:pathLst>
              <a:path h="1155117" w="10018418">
                <a:moveTo>
                  <a:pt x="0" y="0"/>
                </a:moveTo>
                <a:lnTo>
                  <a:pt x="10018419" y="0"/>
                </a:lnTo>
                <a:lnTo>
                  <a:pt x="10018419" y="1155117"/>
                </a:lnTo>
                <a:lnTo>
                  <a:pt x="0" y="1155117"/>
                </a:lnTo>
                <a:lnTo>
                  <a:pt x="0" y="0"/>
                </a:lnTo>
                <a:close/>
              </a:path>
            </a:pathLst>
          </a:custGeom>
          <a:blipFill>
            <a:blip r:embed="rId3"/>
            <a:stretch>
              <a:fillRect l="0" t="0" r="0" b="0"/>
            </a:stretch>
          </a:blipFill>
        </p:spPr>
      </p:sp>
      <p:sp>
        <p:nvSpPr>
          <p:cNvPr name="Freeform 7" id="7"/>
          <p:cNvSpPr/>
          <p:nvPr/>
        </p:nvSpPr>
        <p:spPr>
          <a:xfrm flipH="false" flipV="false" rot="0">
            <a:off x="6421469" y="6496851"/>
            <a:ext cx="5777038" cy="3477123"/>
          </a:xfrm>
          <a:custGeom>
            <a:avLst/>
            <a:gdLst/>
            <a:ahLst/>
            <a:cxnLst/>
            <a:rect r="r" b="b" t="t" l="l"/>
            <a:pathLst>
              <a:path h="3477123" w="5777038">
                <a:moveTo>
                  <a:pt x="0" y="0"/>
                </a:moveTo>
                <a:lnTo>
                  <a:pt x="5777038" y="0"/>
                </a:lnTo>
                <a:lnTo>
                  <a:pt x="5777038" y="3477123"/>
                </a:lnTo>
                <a:lnTo>
                  <a:pt x="0" y="3477123"/>
                </a:lnTo>
                <a:lnTo>
                  <a:pt x="0" y="0"/>
                </a:lnTo>
                <a:close/>
              </a:path>
            </a:pathLst>
          </a:custGeom>
          <a:blipFill>
            <a:blip r:embed="rId4"/>
            <a:stretch>
              <a:fillRect l="0" t="0" r="0" b="0"/>
            </a:stretch>
          </a:blipFill>
        </p:spPr>
      </p:sp>
      <p:sp>
        <p:nvSpPr>
          <p:cNvPr name="TextBox 8" id="8"/>
          <p:cNvSpPr txBox="true"/>
          <p:nvPr/>
        </p:nvSpPr>
        <p:spPr>
          <a:xfrm rot="0">
            <a:off x="3526388" y="2197652"/>
            <a:ext cx="11235223" cy="721230"/>
          </a:xfrm>
          <a:prstGeom prst="rect">
            <a:avLst/>
          </a:prstGeom>
        </p:spPr>
        <p:txBody>
          <a:bodyPr anchor="t" rtlCol="false" tIns="0" lIns="0" bIns="0" rIns="0">
            <a:spAutoFit/>
          </a:bodyPr>
          <a:lstStyle/>
          <a:p>
            <a:pPr algn="ctr">
              <a:lnSpc>
                <a:spcPts val="5876"/>
              </a:lnSpc>
              <a:spcBef>
                <a:spcPct val="0"/>
              </a:spcBef>
            </a:pPr>
            <a:r>
              <a:rPr lang="en-US" sz="4197">
                <a:solidFill>
                  <a:srgbClr val="FF009D"/>
                </a:solidFill>
                <a:latin typeface="HK Modular"/>
                <a:ea typeface="HK Modular"/>
                <a:cs typeface="HK Modular"/>
                <a:sym typeface="HK Modular"/>
              </a:rPr>
              <a:t>EJEMPLO DE USO EN REACT</a:t>
            </a:r>
          </a:p>
        </p:txBody>
      </p:sp>
      <p:sp>
        <p:nvSpPr>
          <p:cNvPr name="TextBox 9" id="9"/>
          <p:cNvSpPr txBox="true"/>
          <p:nvPr/>
        </p:nvSpPr>
        <p:spPr>
          <a:xfrm rot="0">
            <a:off x="6089493" y="3266968"/>
            <a:ext cx="6109013" cy="736442"/>
          </a:xfrm>
          <a:prstGeom prst="rect">
            <a:avLst/>
          </a:prstGeom>
        </p:spPr>
        <p:txBody>
          <a:bodyPr anchor="t" rtlCol="false" tIns="0" lIns="0" bIns="0" rIns="0">
            <a:spAutoFit/>
          </a:bodyPr>
          <a:lstStyle/>
          <a:p>
            <a:pPr algn="ctr">
              <a:lnSpc>
                <a:spcPts val="2938"/>
              </a:lnSpc>
              <a:spcBef>
                <a:spcPct val="0"/>
              </a:spcBef>
            </a:pPr>
            <a:r>
              <a:rPr lang="en-US" sz="2098">
                <a:solidFill>
                  <a:srgbClr val="FFFFFF"/>
                </a:solidFill>
                <a:latin typeface="HK Modular"/>
                <a:ea typeface="HK Modular"/>
                <a:cs typeface="HK Modular"/>
                <a:sym typeface="HK Modular"/>
              </a:rPr>
              <a:t>DELETE → ELIMINAR INFORMACION</a:t>
            </a:r>
          </a:p>
        </p:txBody>
      </p:sp>
      <p:sp>
        <p:nvSpPr>
          <p:cNvPr name="TextBox 10" id="10"/>
          <p:cNvSpPr txBox="true"/>
          <p:nvPr/>
        </p:nvSpPr>
        <p:spPr>
          <a:xfrm rot="0">
            <a:off x="6089493" y="5911001"/>
            <a:ext cx="6109013" cy="365378"/>
          </a:xfrm>
          <a:prstGeom prst="rect">
            <a:avLst/>
          </a:prstGeom>
        </p:spPr>
        <p:txBody>
          <a:bodyPr anchor="t" rtlCol="false" tIns="0" lIns="0" bIns="0" rIns="0">
            <a:spAutoFit/>
          </a:bodyPr>
          <a:lstStyle/>
          <a:p>
            <a:pPr algn="ctr">
              <a:lnSpc>
                <a:spcPts val="2938"/>
              </a:lnSpc>
              <a:spcBef>
                <a:spcPct val="0"/>
              </a:spcBef>
            </a:pPr>
            <a:r>
              <a:rPr lang="en-US" sz="2098">
                <a:solidFill>
                  <a:srgbClr val="FFFFFF"/>
                </a:solidFill>
                <a:latin typeface="HK Modular"/>
                <a:ea typeface="HK Modular"/>
                <a:cs typeface="HK Modular"/>
                <a:sym typeface="HK Modular"/>
              </a:rPr>
              <a:t>MANEJO DE ERRORES</a:t>
            </a:r>
          </a:p>
        </p:txBody>
      </p:sp>
      <p:sp>
        <p:nvSpPr>
          <p:cNvPr name="Freeform 11" id="11"/>
          <p:cNvSpPr/>
          <p:nvPr/>
        </p:nvSpPr>
        <p:spPr>
          <a:xfrm flipH="false" flipV="false" rot="0">
            <a:off x="8082044" y="-150850"/>
            <a:ext cx="2342646" cy="2342646"/>
          </a:xfrm>
          <a:custGeom>
            <a:avLst/>
            <a:gdLst/>
            <a:ahLst/>
            <a:cxnLst/>
            <a:rect r="r" b="b" t="t" l="l"/>
            <a:pathLst>
              <a:path h="2342646" w="2342646">
                <a:moveTo>
                  <a:pt x="0" y="0"/>
                </a:moveTo>
                <a:lnTo>
                  <a:pt x="2342646" y="0"/>
                </a:lnTo>
                <a:lnTo>
                  <a:pt x="2342646" y="2342646"/>
                </a:lnTo>
                <a:lnTo>
                  <a:pt x="0" y="2342646"/>
                </a:lnTo>
                <a:lnTo>
                  <a:pt x="0" y="0"/>
                </a:lnTo>
                <a:close/>
              </a:path>
            </a:pathLst>
          </a:custGeom>
          <a:blipFill>
            <a:blip r:embed="rId5"/>
            <a:stretch>
              <a:fillRect l="0" t="0" r="0" b="0"/>
            </a:stretch>
          </a:blipFill>
        </p:spPr>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691655"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3880205" y="3899458"/>
            <a:ext cx="10527591" cy="5802034"/>
          </a:xfrm>
          <a:custGeom>
            <a:avLst/>
            <a:gdLst/>
            <a:ahLst/>
            <a:cxnLst/>
            <a:rect r="r" b="b" t="t" l="l"/>
            <a:pathLst>
              <a:path h="5802034" w="10527591">
                <a:moveTo>
                  <a:pt x="0" y="0"/>
                </a:moveTo>
                <a:lnTo>
                  <a:pt x="10527590" y="0"/>
                </a:lnTo>
                <a:lnTo>
                  <a:pt x="10527590" y="5802034"/>
                </a:lnTo>
                <a:lnTo>
                  <a:pt x="0" y="5802034"/>
                </a:lnTo>
                <a:lnTo>
                  <a:pt x="0" y="0"/>
                </a:lnTo>
                <a:close/>
              </a:path>
            </a:pathLst>
          </a:custGeom>
          <a:blipFill>
            <a:blip r:embed="rId3"/>
            <a:stretch>
              <a:fillRect l="0" t="0" r="0" b="0"/>
            </a:stretch>
          </a:blipFill>
        </p:spPr>
      </p:sp>
      <p:sp>
        <p:nvSpPr>
          <p:cNvPr name="TextBox 7" id="7"/>
          <p:cNvSpPr txBox="true"/>
          <p:nvPr/>
        </p:nvSpPr>
        <p:spPr>
          <a:xfrm rot="0">
            <a:off x="3526388" y="2197652"/>
            <a:ext cx="11235223" cy="721230"/>
          </a:xfrm>
          <a:prstGeom prst="rect">
            <a:avLst/>
          </a:prstGeom>
        </p:spPr>
        <p:txBody>
          <a:bodyPr anchor="t" rtlCol="false" tIns="0" lIns="0" bIns="0" rIns="0">
            <a:spAutoFit/>
          </a:bodyPr>
          <a:lstStyle/>
          <a:p>
            <a:pPr algn="ctr">
              <a:lnSpc>
                <a:spcPts val="5876"/>
              </a:lnSpc>
              <a:spcBef>
                <a:spcPct val="0"/>
              </a:spcBef>
            </a:pPr>
            <a:r>
              <a:rPr lang="en-US" sz="4197">
                <a:solidFill>
                  <a:srgbClr val="FF009D"/>
                </a:solidFill>
                <a:latin typeface="HK Modular"/>
                <a:ea typeface="HK Modular"/>
                <a:cs typeface="HK Modular"/>
                <a:sym typeface="HK Modular"/>
              </a:rPr>
              <a:t>EJEMPLO DE USO EN REACT</a:t>
            </a:r>
          </a:p>
        </p:txBody>
      </p:sp>
      <p:sp>
        <p:nvSpPr>
          <p:cNvPr name="TextBox 8" id="8"/>
          <p:cNvSpPr txBox="true"/>
          <p:nvPr/>
        </p:nvSpPr>
        <p:spPr>
          <a:xfrm rot="0">
            <a:off x="6089493" y="3266968"/>
            <a:ext cx="6109013" cy="365378"/>
          </a:xfrm>
          <a:prstGeom prst="rect">
            <a:avLst/>
          </a:prstGeom>
        </p:spPr>
        <p:txBody>
          <a:bodyPr anchor="t" rtlCol="false" tIns="0" lIns="0" bIns="0" rIns="0">
            <a:spAutoFit/>
          </a:bodyPr>
          <a:lstStyle/>
          <a:p>
            <a:pPr algn="ctr">
              <a:lnSpc>
                <a:spcPts val="2938"/>
              </a:lnSpc>
              <a:spcBef>
                <a:spcPct val="0"/>
              </a:spcBef>
            </a:pPr>
            <a:r>
              <a:rPr lang="en-US" sz="2098">
                <a:solidFill>
                  <a:srgbClr val="FFFFFF"/>
                </a:solidFill>
                <a:latin typeface="HK Modular"/>
                <a:ea typeface="HK Modular"/>
                <a:cs typeface="HK Modular"/>
                <a:sym typeface="HK Modular"/>
              </a:rPr>
              <a:t>ORGANIZACION DEL SERVICIO</a:t>
            </a:r>
          </a:p>
        </p:txBody>
      </p:sp>
      <p:sp>
        <p:nvSpPr>
          <p:cNvPr name="Freeform 9" id="9"/>
          <p:cNvSpPr/>
          <p:nvPr/>
        </p:nvSpPr>
        <p:spPr>
          <a:xfrm flipH="false" flipV="false" rot="0">
            <a:off x="8082044" y="-150850"/>
            <a:ext cx="2342646" cy="2342646"/>
          </a:xfrm>
          <a:custGeom>
            <a:avLst/>
            <a:gdLst/>
            <a:ahLst/>
            <a:cxnLst/>
            <a:rect r="r" b="b" t="t" l="l"/>
            <a:pathLst>
              <a:path h="2342646" w="2342646">
                <a:moveTo>
                  <a:pt x="0" y="0"/>
                </a:moveTo>
                <a:lnTo>
                  <a:pt x="2342646" y="0"/>
                </a:lnTo>
                <a:lnTo>
                  <a:pt x="2342646" y="2342646"/>
                </a:lnTo>
                <a:lnTo>
                  <a:pt x="0" y="2342646"/>
                </a:lnTo>
                <a:lnTo>
                  <a:pt x="0" y="0"/>
                </a:lnTo>
                <a:close/>
              </a:path>
            </a:pathLst>
          </a:custGeom>
          <a:blipFill>
            <a:blip r:embed="rId4"/>
            <a:stretch>
              <a:fillRect l="0" t="0" r="0" b="0"/>
            </a:stretch>
          </a:blipFill>
        </p:spPr>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691655"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6013798" y="4032396"/>
            <a:ext cx="6260404" cy="5292129"/>
          </a:xfrm>
          <a:custGeom>
            <a:avLst/>
            <a:gdLst/>
            <a:ahLst/>
            <a:cxnLst/>
            <a:rect r="r" b="b" t="t" l="l"/>
            <a:pathLst>
              <a:path h="5292129" w="6260404">
                <a:moveTo>
                  <a:pt x="0" y="0"/>
                </a:moveTo>
                <a:lnTo>
                  <a:pt x="6260404" y="0"/>
                </a:lnTo>
                <a:lnTo>
                  <a:pt x="6260404" y="5292128"/>
                </a:lnTo>
                <a:lnTo>
                  <a:pt x="0" y="5292128"/>
                </a:lnTo>
                <a:lnTo>
                  <a:pt x="0" y="0"/>
                </a:lnTo>
                <a:close/>
              </a:path>
            </a:pathLst>
          </a:custGeom>
          <a:blipFill>
            <a:blip r:embed="rId3"/>
            <a:stretch>
              <a:fillRect l="0" t="0" r="0" b="0"/>
            </a:stretch>
          </a:blipFill>
        </p:spPr>
      </p:sp>
      <p:sp>
        <p:nvSpPr>
          <p:cNvPr name="TextBox 7" id="7"/>
          <p:cNvSpPr txBox="true"/>
          <p:nvPr/>
        </p:nvSpPr>
        <p:spPr>
          <a:xfrm rot="0">
            <a:off x="3526388" y="2197652"/>
            <a:ext cx="11235223" cy="721230"/>
          </a:xfrm>
          <a:prstGeom prst="rect">
            <a:avLst/>
          </a:prstGeom>
        </p:spPr>
        <p:txBody>
          <a:bodyPr anchor="t" rtlCol="false" tIns="0" lIns="0" bIns="0" rIns="0">
            <a:spAutoFit/>
          </a:bodyPr>
          <a:lstStyle/>
          <a:p>
            <a:pPr algn="ctr">
              <a:lnSpc>
                <a:spcPts val="5876"/>
              </a:lnSpc>
              <a:spcBef>
                <a:spcPct val="0"/>
              </a:spcBef>
            </a:pPr>
            <a:r>
              <a:rPr lang="en-US" sz="4197">
                <a:solidFill>
                  <a:srgbClr val="FF009D"/>
                </a:solidFill>
                <a:latin typeface="HK Modular"/>
                <a:ea typeface="HK Modular"/>
                <a:cs typeface="HK Modular"/>
                <a:sym typeface="HK Modular"/>
              </a:rPr>
              <a:t>EJEMPLO DE USO EN REACT</a:t>
            </a:r>
          </a:p>
        </p:txBody>
      </p:sp>
      <p:sp>
        <p:nvSpPr>
          <p:cNvPr name="TextBox 8" id="8"/>
          <p:cNvSpPr txBox="true"/>
          <p:nvPr/>
        </p:nvSpPr>
        <p:spPr>
          <a:xfrm rot="0">
            <a:off x="6089493" y="3266968"/>
            <a:ext cx="6109013" cy="365378"/>
          </a:xfrm>
          <a:prstGeom prst="rect">
            <a:avLst/>
          </a:prstGeom>
        </p:spPr>
        <p:txBody>
          <a:bodyPr anchor="t" rtlCol="false" tIns="0" lIns="0" bIns="0" rIns="0">
            <a:spAutoFit/>
          </a:bodyPr>
          <a:lstStyle/>
          <a:p>
            <a:pPr algn="ctr">
              <a:lnSpc>
                <a:spcPts val="2938"/>
              </a:lnSpc>
              <a:spcBef>
                <a:spcPct val="0"/>
              </a:spcBef>
            </a:pPr>
            <a:r>
              <a:rPr lang="en-US" sz="2098">
                <a:solidFill>
                  <a:srgbClr val="FFFFFF"/>
                </a:solidFill>
                <a:latin typeface="HK Modular"/>
                <a:ea typeface="HK Modular"/>
                <a:cs typeface="HK Modular"/>
                <a:sym typeface="HK Modular"/>
              </a:rPr>
              <a:t>EJEMPLO REAL DE UN FLUJO</a:t>
            </a:r>
          </a:p>
        </p:txBody>
      </p:sp>
      <p:sp>
        <p:nvSpPr>
          <p:cNvPr name="Freeform 9" id="9"/>
          <p:cNvSpPr/>
          <p:nvPr/>
        </p:nvSpPr>
        <p:spPr>
          <a:xfrm flipH="false" flipV="false" rot="0">
            <a:off x="8082044" y="-150850"/>
            <a:ext cx="2342646" cy="2342646"/>
          </a:xfrm>
          <a:custGeom>
            <a:avLst/>
            <a:gdLst/>
            <a:ahLst/>
            <a:cxnLst/>
            <a:rect r="r" b="b" t="t" l="l"/>
            <a:pathLst>
              <a:path h="2342646" w="2342646">
                <a:moveTo>
                  <a:pt x="0" y="0"/>
                </a:moveTo>
                <a:lnTo>
                  <a:pt x="2342646" y="0"/>
                </a:lnTo>
                <a:lnTo>
                  <a:pt x="2342646" y="2342646"/>
                </a:lnTo>
                <a:lnTo>
                  <a:pt x="0" y="2342646"/>
                </a:lnTo>
                <a:lnTo>
                  <a:pt x="0" y="0"/>
                </a:lnTo>
                <a:close/>
              </a:path>
            </a:pathLst>
          </a:custGeom>
          <a:blipFill>
            <a:blip r:embed="rId4"/>
            <a:stretch>
              <a:fillRect l="0" t="0" r="0" b="0"/>
            </a:stretch>
          </a:blipFill>
        </p:spPr>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797756" y="4092099"/>
            <a:ext cx="7032300" cy="2318635"/>
          </a:xfrm>
          <a:prstGeom prst="rect">
            <a:avLst/>
          </a:prstGeom>
        </p:spPr>
        <p:txBody>
          <a:bodyPr anchor="t" rtlCol="false" tIns="0" lIns="0" bIns="0" rIns="0">
            <a:spAutoFit/>
          </a:bodyPr>
          <a:lstStyle/>
          <a:p>
            <a:pPr algn="ctr">
              <a:lnSpc>
                <a:spcPts val="4604"/>
              </a:lnSpc>
              <a:spcBef>
                <a:spcPct val="0"/>
              </a:spcBef>
            </a:pPr>
            <a:r>
              <a:rPr lang="en-US" sz="3289">
                <a:solidFill>
                  <a:srgbClr val="FF009D"/>
                </a:solidFill>
                <a:latin typeface="HK Modular"/>
                <a:ea typeface="HK Modular"/>
                <a:cs typeface="HK Modular"/>
                <a:sym typeface="HK Modular"/>
              </a:rPr>
              <a:t>HIGH LEVEL DESIGN: DOCUMENTO DE ARQUITECTURA Y DISEÑO DEL FRONT</a:t>
            </a:r>
          </a:p>
        </p:txBody>
      </p:sp>
      <p:sp>
        <p:nvSpPr>
          <p:cNvPr name="TextBox 7" id="7"/>
          <p:cNvSpPr txBox="true"/>
          <p:nvPr/>
        </p:nvSpPr>
        <p:spPr>
          <a:xfrm rot="0">
            <a:off x="8299113" y="2720067"/>
            <a:ext cx="8960187" cy="6150200"/>
          </a:xfrm>
          <a:prstGeom prst="rect">
            <a:avLst/>
          </a:prstGeom>
        </p:spPr>
        <p:txBody>
          <a:bodyPr anchor="t" rtlCol="false" tIns="0" lIns="0" bIns="0" rIns="0">
            <a:spAutoFit/>
          </a:bodyPr>
          <a:lstStyle/>
          <a:p>
            <a:pPr algn="l" marL="446894" indent="-223447" lvl="1">
              <a:lnSpc>
                <a:spcPts val="2897"/>
              </a:lnSpc>
              <a:buFont typeface="Arial"/>
              <a:buChar char="•"/>
            </a:pPr>
            <a:r>
              <a:rPr lang="en-US" sz="2069">
                <a:solidFill>
                  <a:srgbClr val="FFFFFF"/>
                </a:solidFill>
                <a:latin typeface="Canva Sans"/>
                <a:ea typeface="Canva Sans"/>
                <a:cs typeface="Canva Sans"/>
                <a:sym typeface="Canva Sans"/>
              </a:rPr>
              <a:t>Nombre del Proyecto</a:t>
            </a:r>
          </a:p>
          <a:p>
            <a:pPr algn="l" marL="446894" indent="-223447" lvl="1">
              <a:lnSpc>
                <a:spcPts val="2897"/>
              </a:lnSpc>
              <a:buFont typeface="Arial"/>
              <a:buChar char="•"/>
            </a:pPr>
            <a:r>
              <a:rPr lang="en-US" sz="2069">
                <a:solidFill>
                  <a:srgbClr val="FFFFFF"/>
                </a:solidFill>
                <a:latin typeface="Canva Sans"/>
                <a:ea typeface="Canva Sans"/>
                <a:cs typeface="Canva Sans"/>
                <a:sym typeface="Canva Sans"/>
              </a:rPr>
              <a:t>Introduccion de la Solucion</a:t>
            </a:r>
          </a:p>
          <a:p>
            <a:pPr algn="l" marL="446894" indent="-223447" lvl="1">
              <a:lnSpc>
                <a:spcPts val="2897"/>
              </a:lnSpc>
              <a:buFont typeface="Arial"/>
              <a:buChar char="•"/>
            </a:pPr>
            <a:r>
              <a:rPr lang="en-US" sz="2069">
                <a:solidFill>
                  <a:srgbClr val="FFFFFF"/>
                </a:solidFill>
                <a:latin typeface="Canva Sans"/>
                <a:ea typeface="Canva Sans"/>
                <a:cs typeface="Canva Sans"/>
                <a:sym typeface="Canva Sans"/>
              </a:rPr>
              <a:t>Pantallas y Acceso por Rol</a:t>
            </a:r>
          </a:p>
          <a:p>
            <a:pPr algn="l" marL="446894" indent="-223447" lvl="1">
              <a:lnSpc>
                <a:spcPts val="2897"/>
              </a:lnSpc>
              <a:buFont typeface="Arial"/>
              <a:buChar char="•"/>
            </a:pPr>
            <a:r>
              <a:rPr lang="en-US" sz="2069">
                <a:solidFill>
                  <a:srgbClr val="FFFFFF"/>
                </a:solidFill>
                <a:latin typeface="Canva Sans"/>
                <a:ea typeface="Canva Sans"/>
                <a:cs typeface="Canva Sans"/>
                <a:sym typeface="Canva Sans"/>
              </a:rPr>
              <a:t>Flujo de Navegacion entre pantallas (Diagrama y explicacion de cada flujo)</a:t>
            </a:r>
          </a:p>
          <a:p>
            <a:pPr algn="l" marL="446894" indent="-223447" lvl="1">
              <a:lnSpc>
                <a:spcPts val="2897"/>
              </a:lnSpc>
              <a:buFont typeface="Arial"/>
              <a:buChar char="•"/>
            </a:pPr>
            <a:r>
              <a:rPr lang="en-US" sz="2069">
                <a:solidFill>
                  <a:srgbClr val="FFFFFF"/>
                </a:solidFill>
                <a:latin typeface="Canva Sans"/>
                <a:ea typeface="Canva Sans"/>
                <a:cs typeface="Canva Sans"/>
                <a:sym typeface="Canva Sans"/>
              </a:rPr>
              <a:t>Tecnologias Utilizadas</a:t>
            </a:r>
          </a:p>
          <a:p>
            <a:pPr algn="l" marL="446894" indent="-223447" lvl="1">
              <a:lnSpc>
                <a:spcPts val="2897"/>
              </a:lnSpc>
              <a:buFont typeface="Arial"/>
              <a:buChar char="•"/>
            </a:pPr>
            <a:r>
              <a:rPr lang="en-US" sz="2069">
                <a:solidFill>
                  <a:srgbClr val="FFFFFF"/>
                </a:solidFill>
                <a:latin typeface="Canva Sans"/>
                <a:ea typeface="Canva Sans"/>
                <a:cs typeface="Canva Sans"/>
                <a:sym typeface="Canva Sans"/>
              </a:rPr>
              <a:t>Paleta de colores</a:t>
            </a:r>
          </a:p>
          <a:p>
            <a:pPr algn="l" marL="446894" indent="-223447" lvl="1">
              <a:lnSpc>
                <a:spcPts val="2897"/>
              </a:lnSpc>
              <a:buFont typeface="Arial"/>
              <a:buChar char="•"/>
            </a:pPr>
            <a:r>
              <a:rPr lang="en-US" sz="2069">
                <a:solidFill>
                  <a:srgbClr val="FFFFFF"/>
                </a:solidFill>
                <a:latin typeface="Canva Sans"/>
                <a:ea typeface="Canva Sans"/>
                <a:cs typeface="Canva Sans"/>
                <a:sym typeface="Canva Sans"/>
              </a:rPr>
              <a:t>Modelos de Referencia</a:t>
            </a:r>
          </a:p>
          <a:p>
            <a:pPr algn="l" marL="446894" indent="-223447" lvl="1">
              <a:lnSpc>
                <a:spcPts val="2897"/>
              </a:lnSpc>
              <a:buFont typeface="Arial"/>
              <a:buChar char="•"/>
            </a:pPr>
            <a:r>
              <a:rPr lang="en-US" sz="2069">
                <a:solidFill>
                  <a:srgbClr val="FFFFFF"/>
                </a:solidFill>
                <a:latin typeface="Canva Sans"/>
                <a:ea typeface="Canva Sans"/>
                <a:cs typeface="Canva Sans"/>
                <a:sym typeface="Canva Sans"/>
              </a:rPr>
              <a:t>Funcionalidades del sistema</a:t>
            </a:r>
          </a:p>
          <a:p>
            <a:pPr algn="l" marL="893788" indent="-297929" lvl="2">
              <a:lnSpc>
                <a:spcPts val="2897"/>
              </a:lnSpc>
              <a:buFont typeface="Arial"/>
              <a:buChar char="⚬"/>
            </a:pPr>
            <a:r>
              <a:rPr lang="en-US" sz="2069">
                <a:solidFill>
                  <a:srgbClr val="FFFFFF"/>
                </a:solidFill>
                <a:latin typeface="Canva Sans"/>
                <a:ea typeface="Canva Sans"/>
                <a:cs typeface="Canva Sans"/>
                <a:sym typeface="Canva Sans"/>
              </a:rPr>
              <a:t>Funcionalidad: Nombre de la funcionalidad</a:t>
            </a:r>
          </a:p>
          <a:p>
            <a:pPr algn="l" marL="1340682" indent="-335170" lvl="3">
              <a:lnSpc>
                <a:spcPts val="2897"/>
              </a:lnSpc>
              <a:buFont typeface="Arial"/>
              <a:buChar char="￭"/>
            </a:pPr>
            <a:r>
              <a:rPr lang="en-US" sz="2069">
                <a:solidFill>
                  <a:srgbClr val="FFFFFF"/>
                </a:solidFill>
                <a:latin typeface="Canva Sans"/>
                <a:ea typeface="Canva Sans"/>
                <a:cs typeface="Canva Sans"/>
                <a:sym typeface="Canva Sans"/>
              </a:rPr>
              <a:t>Descripcion de la funcionalidad</a:t>
            </a:r>
          </a:p>
          <a:p>
            <a:pPr algn="l" marL="1340682" indent="-335170" lvl="3">
              <a:lnSpc>
                <a:spcPts val="2897"/>
              </a:lnSpc>
              <a:buFont typeface="Arial"/>
              <a:buChar char="￭"/>
            </a:pPr>
            <a:r>
              <a:rPr lang="en-US" sz="2069">
                <a:solidFill>
                  <a:srgbClr val="FFFFFF"/>
                </a:solidFill>
                <a:latin typeface="Canva Sans"/>
                <a:ea typeface="Canva Sans"/>
                <a:cs typeface="Canva Sans"/>
                <a:sym typeface="Canva Sans"/>
              </a:rPr>
              <a:t>Pantallas con su descripcion</a:t>
            </a:r>
          </a:p>
          <a:p>
            <a:pPr algn="l" marL="1340682" indent="-335170" lvl="3">
              <a:lnSpc>
                <a:spcPts val="2897"/>
              </a:lnSpc>
              <a:buFont typeface="Arial"/>
              <a:buChar char="￭"/>
            </a:pPr>
            <a:r>
              <a:rPr lang="en-US" sz="2069">
                <a:solidFill>
                  <a:srgbClr val="FFFFFF"/>
                </a:solidFill>
                <a:latin typeface="Canva Sans"/>
                <a:ea typeface="Canva Sans"/>
                <a:cs typeface="Canva Sans"/>
                <a:sym typeface="Canva Sans"/>
              </a:rPr>
              <a:t>Flujo Basico</a:t>
            </a:r>
          </a:p>
          <a:p>
            <a:pPr algn="l" marL="1340682" indent="-335170" lvl="3">
              <a:lnSpc>
                <a:spcPts val="2897"/>
              </a:lnSpc>
              <a:buFont typeface="Arial"/>
              <a:buChar char="￭"/>
            </a:pPr>
            <a:r>
              <a:rPr lang="en-US" sz="2069">
                <a:solidFill>
                  <a:srgbClr val="FFFFFF"/>
                </a:solidFill>
                <a:latin typeface="Canva Sans"/>
                <a:ea typeface="Canva Sans"/>
                <a:cs typeface="Canva Sans"/>
                <a:sym typeface="Canva Sans"/>
              </a:rPr>
              <a:t>Flujo de Errores</a:t>
            </a:r>
          </a:p>
          <a:p>
            <a:pPr algn="l" marL="446894" indent="-223447" lvl="1">
              <a:lnSpc>
                <a:spcPts val="2897"/>
              </a:lnSpc>
              <a:buFont typeface="Arial"/>
              <a:buChar char="•"/>
            </a:pPr>
            <a:r>
              <a:rPr lang="en-US" sz="2069">
                <a:solidFill>
                  <a:srgbClr val="FFFFFF"/>
                </a:solidFill>
                <a:latin typeface="Canva Sans"/>
                <a:ea typeface="Canva Sans"/>
                <a:cs typeface="Canva Sans"/>
                <a:sym typeface="Canva Sans"/>
              </a:rPr>
              <a:t>Link de despliegue del Front</a:t>
            </a:r>
          </a:p>
          <a:p>
            <a:pPr algn="l" marL="446894" indent="-223447" lvl="1">
              <a:lnSpc>
                <a:spcPts val="2897"/>
              </a:lnSpc>
              <a:buFont typeface="Arial"/>
              <a:buChar char="•"/>
            </a:pPr>
            <a:r>
              <a:rPr lang="en-US" sz="2069">
                <a:solidFill>
                  <a:srgbClr val="FFFFFF"/>
                </a:solidFill>
                <a:latin typeface="Canva Sans"/>
                <a:ea typeface="Canva Sans"/>
                <a:cs typeface="Canva Sans"/>
                <a:sym typeface="Canva Sans"/>
              </a:rPr>
              <a:t>Referencias Bibliograficas</a:t>
            </a:r>
          </a:p>
          <a:p>
            <a:pPr algn="l" marL="446894" indent="-223447" lvl="1">
              <a:lnSpc>
                <a:spcPts val="2897"/>
              </a:lnSpc>
              <a:buFont typeface="Arial"/>
              <a:buChar char="•"/>
            </a:pPr>
            <a:r>
              <a:rPr lang="en-US" sz="2069">
                <a:solidFill>
                  <a:srgbClr val="FFFFFF"/>
                </a:solidFill>
                <a:latin typeface="Canva Sans"/>
                <a:ea typeface="Canva Sans"/>
                <a:cs typeface="Canva Sans"/>
                <a:sym typeface="Canva Sans"/>
              </a:rPr>
              <a:t>Historial de Revision</a:t>
            </a:r>
          </a:p>
        </p:txBody>
      </p:sp>
      <p:sp>
        <p:nvSpPr>
          <p:cNvPr name="Freeform 8" id="8"/>
          <p:cNvSpPr/>
          <p:nvPr/>
        </p:nvSpPr>
        <p:spPr>
          <a:xfrm flipH="false" flipV="false" rot="0">
            <a:off x="8082044" y="-150850"/>
            <a:ext cx="2342646" cy="2342646"/>
          </a:xfrm>
          <a:custGeom>
            <a:avLst/>
            <a:gdLst/>
            <a:ahLst/>
            <a:cxnLst/>
            <a:rect r="r" b="b" t="t" l="l"/>
            <a:pathLst>
              <a:path h="2342646" w="2342646">
                <a:moveTo>
                  <a:pt x="0" y="0"/>
                </a:moveTo>
                <a:lnTo>
                  <a:pt x="2342646" y="0"/>
                </a:lnTo>
                <a:lnTo>
                  <a:pt x="2342646" y="2342646"/>
                </a:lnTo>
                <a:lnTo>
                  <a:pt x="0" y="2342646"/>
                </a:lnTo>
                <a:lnTo>
                  <a:pt x="0" y="0"/>
                </a:lnTo>
                <a:close/>
              </a:path>
            </a:pathLst>
          </a:custGeom>
          <a:blipFill>
            <a:blip r:embed="rId3"/>
            <a:stretch>
              <a:fillRect l="0" t="0" r="0" b="0"/>
            </a:stretch>
          </a:blipFill>
        </p:spPr>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3395616" y="6146698"/>
            <a:ext cx="11301259" cy="3234985"/>
          </a:xfrm>
          <a:custGeom>
            <a:avLst/>
            <a:gdLst/>
            <a:ahLst/>
            <a:cxnLst/>
            <a:rect r="r" b="b" t="t" l="l"/>
            <a:pathLst>
              <a:path h="3234985" w="11301259">
                <a:moveTo>
                  <a:pt x="0" y="0"/>
                </a:moveTo>
                <a:lnTo>
                  <a:pt x="11301259" y="0"/>
                </a:lnTo>
                <a:lnTo>
                  <a:pt x="11301259" y="3234985"/>
                </a:lnTo>
                <a:lnTo>
                  <a:pt x="0" y="3234985"/>
                </a:lnTo>
                <a:lnTo>
                  <a:pt x="0" y="0"/>
                </a:lnTo>
                <a:close/>
              </a:path>
            </a:pathLst>
          </a:custGeom>
          <a:blipFill>
            <a:blip r:embed="rId3"/>
            <a:stretch>
              <a:fillRect l="0" t="0" r="0" b="0"/>
            </a:stretch>
          </a:blipFill>
        </p:spPr>
      </p:sp>
      <p:sp>
        <p:nvSpPr>
          <p:cNvPr name="TextBox 7" id="7"/>
          <p:cNvSpPr txBox="true"/>
          <p:nvPr/>
        </p:nvSpPr>
        <p:spPr>
          <a:xfrm rot="0">
            <a:off x="5627850" y="2115596"/>
            <a:ext cx="7032300" cy="574151"/>
          </a:xfrm>
          <a:prstGeom prst="rect">
            <a:avLst/>
          </a:prstGeom>
        </p:spPr>
        <p:txBody>
          <a:bodyPr anchor="t" rtlCol="false" tIns="0" lIns="0" bIns="0" rIns="0">
            <a:spAutoFit/>
          </a:bodyPr>
          <a:lstStyle/>
          <a:p>
            <a:pPr algn="ctr">
              <a:lnSpc>
                <a:spcPts val="4604"/>
              </a:lnSpc>
              <a:spcBef>
                <a:spcPct val="0"/>
              </a:spcBef>
            </a:pPr>
            <a:r>
              <a:rPr lang="en-US" sz="3289">
                <a:solidFill>
                  <a:srgbClr val="FF009D"/>
                </a:solidFill>
                <a:latin typeface="HK Modular"/>
                <a:ea typeface="HK Modular"/>
                <a:cs typeface="HK Modular"/>
                <a:sym typeface="HK Modular"/>
              </a:rPr>
              <a:t>EJERCICIO EN CLASE</a:t>
            </a:r>
          </a:p>
        </p:txBody>
      </p:sp>
      <p:sp>
        <p:nvSpPr>
          <p:cNvPr name="TextBox 8" id="8"/>
          <p:cNvSpPr txBox="true"/>
          <p:nvPr/>
        </p:nvSpPr>
        <p:spPr>
          <a:xfrm rot="0">
            <a:off x="4663906" y="3037654"/>
            <a:ext cx="8960187" cy="337949"/>
          </a:xfrm>
          <a:prstGeom prst="rect">
            <a:avLst/>
          </a:prstGeom>
        </p:spPr>
        <p:txBody>
          <a:bodyPr anchor="t" rtlCol="false" tIns="0" lIns="0" bIns="0" rIns="0">
            <a:spAutoFit/>
          </a:bodyPr>
          <a:lstStyle/>
          <a:p>
            <a:pPr algn="ctr">
              <a:lnSpc>
                <a:spcPts val="2897"/>
              </a:lnSpc>
            </a:pPr>
            <a:r>
              <a:rPr lang="en-US" sz="2069">
                <a:solidFill>
                  <a:srgbClr val="FFFFFF"/>
                </a:solidFill>
                <a:latin typeface="Canva Sans"/>
                <a:ea typeface="Canva Sans"/>
                <a:cs typeface="Canva Sans"/>
                <a:sym typeface="Canva Sans"/>
              </a:rPr>
              <a:t>Creacion del Front Ejercicio de la Biblioteca</a:t>
            </a:r>
          </a:p>
        </p:txBody>
      </p:sp>
      <p:sp>
        <p:nvSpPr>
          <p:cNvPr name="TextBox 9" id="9"/>
          <p:cNvSpPr txBox="true"/>
          <p:nvPr/>
        </p:nvSpPr>
        <p:spPr>
          <a:xfrm rot="0">
            <a:off x="4566151" y="4294650"/>
            <a:ext cx="8960187" cy="337949"/>
          </a:xfrm>
          <a:prstGeom prst="rect">
            <a:avLst/>
          </a:prstGeom>
        </p:spPr>
        <p:txBody>
          <a:bodyPr anchor="t" rtlCol="false" tIns="0" lIns="0" bIns="0" rIns="0">
            <a:spAutoFit/>
          </a:bodyPr>
          <a:lstStyle/>
          <a:p>
            <a:pPr algn="l" marL="446894" indent="-223447" lvl="1">
              <a:lnSpc>
                <a:spcPts val="2897"/>
              </a:lnSpc>
              <a:buAutoNum type="arabicPeriod" startAt="1"/>
            </a:pPr>
            <a:r>
              <a:rPr lang="en-US" sz="2069">
                <a:solidFill>
                  <a:srgbClr val="FFFFFF"/>
                </a:solidFill>
                <a:latin typeface="Canva Sans"/>
                <a:ea typeface="Canva Sans"/>
                <a:cs typeface="Canva Sans"/>
                <a:sym typeface="Canva Sans"/>
              </a:rPr>
              <a:t>Cuales son las funcionalidades que necesitamos representar?</a:t>
            </a:r>
          </a:p>
        </p:txBody>
      </p:sp>
      <p:sp>
        <p:nvSpPr>
          <p:cNvPr name="TextBox 10" id="10"/>
          <p:cNvSpPr txBox="true"/>
          <p:nvPr/>
        </p:nvSpPr>
        <p:spPr>
          <a:xfrm rot="0">
            <a:off x="4566151" y="3728028"/>
            <a:ext cx="8960187" cy="337949"/>
          </a:xfrm>
          <a:prstGeom prst="rect">
            <a:avLst/>
          </a:prstGeom>
        </p:spPr>
        <p:txBody>
          <a:bodyPr anchor="t" rtlCol="false" tIns="0" lIns="0" bIns="0" rIns="0">
            <a:spAutoFit/>
          </a:bodyPr>
          <a:lstStyle/>
          <a:p>
            <a:pPr algn="l" marL="446894" indent="-223447" lvl="1">
              <a:lnSpc>
                <a:spcPts val="2897"/>
              </a:lnSpc>
              <a:buAutoNum type="arabicPeriod" startAt="1"/>
            </a:pPr>
            <a:r>
              <a:rPr lang="en-US" sz="2069">
                <a:solidFill>
                  <a:srgbClr val="FFFFFF"/>
                </a:solidFill>
                <a:latin typeface="Canva Sans"/>
                <a:ea typeface="Canva Sans"/>
                <a:cs typeface="Canva Sans"/>
                <a:sym typeface="Canva Sans"/>
              </a:rPr>
              <a:t> Quien usa el sistema?</a:t>
            </a:r>
          </a:p>
        </p:txBody>
      </p:sp>
      <p:sp>
        <p:nvSpPr>
          <p:cNvPr name="TextBox 11" id="11"/>
          <p:cNvSpPr txBox="true"/>
          <p:nvPr/>
        </p:nvSpPr>
        <p:spPr>
          <a:xfrm rot="0">
            <a:off x="4566151" y="4861199"/>
            <a:ext cx="8960187" cy="337949"/>
          </a:xfrm>
          <a:prstGeom prst="rect">
            <a:avLst/>
          </a:prstGeom>
        </p:spPr>
        <p:txBody>
          <a:bodyPr anchor="t" rtlCol="false" tIns="0" lIns="0" bIns="0" rIns="0">
            <a:spAutoFit/>
          </a:bodyPr>
          <a:lstStyle/>
          <a:p>
            <a:pPr algn="l" marL="446894" indent="-223447" lvl="1">
              <a:lnSpc>
                <a:spcPts val="2897"/>
              </a:lnSpc>
              <a:buAutoNum type="arabicPeriod" startAt="1"/>
            </a:pPr>
            <a:r>
              <a:rPr lang="en-US" sz="2069">
                <a:solidFill>
                  <a:srgbClr val="FFFFFF"/>
                </a:solidFill>
                <a:latin typeface="Canva Sans"/>
                <a:ea typeface="Canva Sans"/>
                <a:cs typeface="Canva Sans"/>
                <a:sym typeface="Canva Sans"/>
              </a:rPr>
              <a:t>Cuales son los modulos que componen nuestro sistema?</a:t>
            </a:r>
          </a:p>
        </p:txBody>
      </p:sp>
      <p:sp>
        <p:nvSpPr>
          <p:cNvPr name="TextBox 12" id="12"/>
          <p:cNvSpPr txBox="true"/>
          <p:nvPr/>
        </p:nvSpPr>
        <p:spPr>
          <a:xfrm rot="0">
            <a:off x="4566151" y="5427749"/>
            <a:ext cx="8960187" cy="337949"/>
          </a:xfrm>
          <a:prstGeom prst="rect">
            <a:avLst/>
          </a:prstGeom>
        </p:spPr>
        <p:txBody>
          <a:bodyPr anchor="t" rtlCol="false" tIns="0" lIns="0" bIns="0" rIns="0">
            <a:spAutoFit/>
          </a:bodyPr>
          <a:lstStyle/>
          <a:p>
            <a:pPr algn="l" marL="446894" indent="-223447" lvl="1">
              <a:lnSpc>
                <a:spcPts val="2897"/>
              </a:lnSpc>
              <a:buAutoNum type="arabicPeriod" startAt="1"/>
            </a:pPr>
            <a:r>
              <a:rPr lang="en-US" sz="2069">
                <a:solidFill>
                  <a:srgbClr val="FFFFFF"/>
                </a:solidFill>
                <a:latin typeface="Canva Sans"/>
                <a:ea typeface="Canva Sans"/>
                <a:cs typeface="Canva Sans"/>
                <a:sym typeface="Canva Sans"/>
              </a:rPr>
              <a:t>Que pantallas necesita el sistema?</a:t>
            </a:r>
          </a:p>
        </p:txBody>
      </p:sp>
      <p:sp>
        <p:nvSpPr>
          <p:cNvPr name="Freeform 13" id="13"/>
          <p:cNvSpPr/>
          <p:nvPr/>
        </p:nvSpPr>
        <p:spPr>
          <a:xfrm flipH="false" flipV="false" rot="0">
            <a:off x="8082044" y="-150850"/>
            <a:ext cx="2342646" cy="2342646"/>
          </a:xfrm>
          <a:custGeom>
            <a:avLst/>
            <a:gdLst/>
            <a:ahLst/>
            <a:cxnLst/>
            <a:rect r="r" b="b" t="t" l="l"/>
            <a:pathLst>
              <a:path h="2342646" w="2342646">
                <a:moveTo>
                  <a:pt x="0" y="0"/>
                </a:moveTo>
                <a:lnTo>
                  <a:pt x="2342646" y="0"/>
                </a:lnTo>
                <a:lnTo>
                  <a:pt x="2342646" y="2342646"/>
                </a:lnTo>
                <a:lnTo>
                  <a:pt x="0" y="2342646"/>
                </a:lnTo>
                <a:lnTo>
                  <a:pt x="0" y="0"/>
                </a:lnTo>
                <a:close/>
              </a:path>
            </a:pathLst>
          </a:custGeom>
          <a:blipFill>
            <a:blip r:embed="rId4"/>
            <a:stretch>
              <a:fillRect l="0" t="0" r="0" b="0"/>
            </a:stretch>
          </a:blipFill>
        </p:spPr>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8457418" y="2774537"/>
            <a:ext cx="9165745" cy="6677740"/>
          </a:xfrm>
          <a:custGeom>
            <a:avLst/>
            <a:gdLst/>
            <a:ahLst/>
            <a:cxnLst/>
            <a:rect r="r" b="b" t="t" l="l"/>
            <a:pathLst>
              <a:path h="6677740" w="9165745">
                <a:moveTo>
                  <a:pt x="0" y="0"/>
                </a:moveTo>
                <a:lnTo>
                  <a:pt x="9165744" y="0"/>
                </a:lnTo>
                <a:lnTo>
                  <a:pt x="9165744" y="6677740"/>
                </a:lnTo>
                <a:lnTo>
                  <a:pt x="0" y="6677740"/>
                </a:lnTo>
                <a:lnTo>
                  <a:pt x="0" y="0"/>
                </a:lnTo>
                <a:close/>
              </a:path>
            </a:pathLst>
          </a:custGeom>
          <a:blipFill>
            <a:blip r:embed="rId3"/>
            <a:stretch>
              <a:fillRect l="-83911" t="-20910" r="0" b="-20910"/>
            </a:stretch>
          </a:blipFill>
        </p:spPr>
      </p:sp>
      <p:sp>
        <p:nvSpPr>
          <p:cNvPr name="TextBox 7" id="7"/>
          <p:cNvSpPr txBox="true"/>
          <p:nvPr/>
        </p:nvSpPr>
        <p:spPr>
          <a:xfrm rot="0">
            <a:off x="5737217" y="1866621"/>
            <a:ext cx="7032300" cy="574151"/>
          </a:xfrm>
          <a:prstGeom prst="rect">
            <a:avLst/>
          </a:prstGeom>
        </p:spPr>
        <p:txBody>
          <a:bodyPr anchor="t" rtlCol="false" tIns="0" lIns="0" bIns="0" rIns="0">
            <a:spAutoFit/>
          </a:bodyPr>
          <a:lstStyle/>
          <a:p>
            <a:pPr algn="ctr">
              <a:lnSpc>
                <a:spcPts val="4604"/>
              </a:lnSpc>
              <a:spcBef>
                <a:spcPct val="0"/>
              </a:spcBef>
            </a:pPr>
            <a:r>
              <a:rPr lang="en-US" sz="3289">
                <a:solidFill>
                  <a:srgbClr val="FF009D"/>
                </a:solidFill>
                <a:latin typeface="HK Modular"/>
                <a:ea typeface="HK Modular"/>
                <a:cs typeface="HK Modular"/>
                <a:sym typeface="HK Modular"/>
              </a:rPr>
              <a:t>TAREA</a:t>
            </a:r>
          </a:p>
        </p:txBody>
      </p:sp>
      <p:sp>
        <p:nvSpPr>
          <p:cNvPr name="TextBox 8" id="8"/>
          <p:cNvSpPr txBox="true"/>
          <p:nvPr/>
        </p:nvSpPr>
        <p:spPr>
          <a:xfrm rot="0">
            <a:off x="448759" y="4528468"/>
            <a:ext cx="7877168" cy="2380204"/>
          </a:xfrm>
          <a:prstGeom prst="rect">
            <a:avLst/>
          </a:prstGeom>
        </p:spPr>
        <p:txBody>
          <a:bodyPr anchor="t" rtlCol="false" tIns="0" lIns="0" bIns="0" rIns="0">
            <a:spAutoFit/>
          </a:bodyPr>
          <a:lstStyle/>
          <a:p>
            <a:pPr algn="l" marL="588737" indent="-294369" lvl="1">
              <a:lnSpc>
                <a:spcPts val="3817"/>
              </a:lnSpc>
              <a:buAutoNum type="arabicPeriod" startAt="1"/>
            </a:pPr>
            <a:r>
              <a:rPr lang="en-US" sz="2726">
                <a:solidFill>
                  <a:srgbClr val="FFFFFF"/>
                </a:solidFill>
                <a:latin typeface="Canva Sans"/>
                <a:ea typeface="Canva Sans"/>
                <a:cs typeface="Canva Sans"/>
                <a:sym typeface="Canva Sans"/>
              </a:rPr>
              <a:t>Completen el Preparcial - BITACORA</a:t>
            </a:r>
          </a:p>
          <a:p>
            <a:pPr algn="l" marL="588737" indent="-294369" lvl="1">
              <a:lnSpc>
                <a:spcPts val="3817"/>
              </a:lnSpc>
              <a:buAutoNum type="arabicPeriod" startAt="1"/>
            </a:pPr>
            <a:r>
              <a:rPr lang="en-US" sz="2726">
                <a:solidFill>
                  <a:srgbClr val="FFFFFF"/>
                </a:solidFill>
                <a:latin typeface="Canva Sans"/>
                <a:ea typeface="Canva Sans"/>
                <a:cs typeface="Canva Sans"/>
                <a:sym typeface="Canva Sans"/>
              </a:rPr>
              <a:t>Completen el ejercicio de la biblioteca - BITACORA</a:t>
            </a:r>
          </a:p>
          <a:p>
            <a:pPr algn="l" marL="588737" indent="-294369" lvl="1">
              <a:lnSpc>
                <a:spcPts val="3817"/>
              </a:lnSpc>
              <a:buAutoNum type="arabicPeriod" startAt="1"/>
            </a:pPr>
            <a:r>
              <a:rPr lang="en-US" sz="2726">
                <a:solidFill>
                  <a:srgbClr val="FFFFFF"/>
                </a:solidFill>
                <a:latin typeface="Canva Sans"/>
                <a:ea typeface="Canva Sans"/>
                <a:cs typeface="Canva Sans"/>
                <a:sym typeface="Canva Sans"/>
              </a:rPr>
              <a:t>Sprint #4 - Sabado 23:59 PM</a:t>
            </a:r>
          </a:p>
          <a:p>
            <a:pPr algn="l" marL="588737" indent="-294369" lvl="1">
              <a:lnSpc>
                <a:spcPts val="3817"/>
              </a:lnSpc>
              <a:buAutoNum type="arabicPeriod" startAt="1"/>
            </a:pPr>
            <a:r>
              <a:rPr lang="en-US" sz="2726">
                <a:solidFill>
                  <a:srgbClr val="FFFFFF"/>
                </a:solidFill>
                <a:latin typeface="Canva Sans"/>
                <a:ea typeface="Canva Sans"/>
                <a:cs typeface="Canva Sans"/>
                <a:sym typeface="Canva Sans"/>
              </a:rPr>
              <a:t>Preparacion Ambiente de trabajo - PARCIAL</a:t>
            </a:r>
          </a:p>
        </p:txBody>
      </p:sp>
      <p:sp>
        <p:nvSpPr>
          <p:cNvPr name="Freeform 9" id="9"/>
          <p:cNvSpPr/>
          <p:nvPr/>
        </p:nvSpPr>
        <p:spPr>
          <a:xfrm flipH="false" flipV="false" rot="0">
            <a:off x="8082044" y="-150850"/>
            <a:ext cx="2342646" cy="2342646"/>
          </a:xfrm>
          <a:custGeom>
            <a:avLst/>
            <a:gdLst/>
            <a:ahLst/>
            <a:cxnLst/>
            <a:rect r="r" b="b" t="t" l="l"/>
            <a:pathLst>
              <a:path h="2342646" w="2342646">
                <a:moveTo>
                  <a:pt x="0" y="0"/>
                </a:moveTo>
                <a:lnTo>
                  <a:pt x="2342646" y="0"/>
                </a:lnTo>
                <a:lnTo>
                  <a:pt x="2342646" y="2342646"/>
                </a:lnTo>
                <a:lnTo>
                  <a:pt x="0" y="2342646"/>
                </a:lnTo>
                <a:lnTo>
                  <a:pt x="0" y="0"/>
                </a:lnTo>
                <a:close/>
              </a:path>
            </a:pathLst>
          </a:custGeom>
          <a:blipFill>
            <a:blip r:embed="rId4"/>
            <a:stretch>
              <a:fillRect l="0" t="0" r="0" b="0"/>
            </a:stretch>
          </a:blipFill>
        </p:spPr>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ED">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ED">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ED">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9028291" y="2532582"/>
            <a:ext cx="4154158" cy="6107735"/>
          </a:xfrm>
          <a:custGeom>
            <a:avLst/>
            <a:gdLst/>
            <a:ahLst/>
            <a:cxnLst/>
            <a:rect r="r" b="b" t="t" l="l"/>
            <a:pathLst>
              <a:path h="6107735" w="4154158">
                <a:moveTo>
                  <a:pt x="0" y="0"/>
                </a:moveTo>
                <a:lnTo>
                  <a:pt x="4154157" y="0"/>
                </a:lnTo>
                <a:lnTo>
                  <a:pt x="4154157" y="6107734"/>
                </a:lnTo>
                <a:lnTo>
                  <a:pt x="0" y="6107734"/>
                </a:lnTo>
                <a:lnTo>
                  <a:pt x="0" y="0"/>
                </a:lnTo>
                <a:close/>
              </a:path>
            </a:pathLst>
          </a:custGeom>
          <a:blipFill>
            <a:blip r:embed="rId3"/>
            <a:stretch>
              <a:fillRect l="0" t="0" r="0" b="0"/>
            </a:stretch>
          </a:blipFill>
        </p:spPr>
      </p:sp>
      <p:sp>
        <p:nvSpPr>
          <p:cNvPr name="Freeform 13" id="13"/>
          <p:cNvSpPr/>
          <p:nvPr/>
        </p:nvSpPr>
        <p:spPr>
          <a:xfrm flipH="false" flipV="false" rot="0">
            <a:off x="13532728" y="3389378"/>
            <a:ext cx="4201506" cy="4201506"/>
          </a:xfrm>
          <a:custGeom>
            <a:avLst/>
            <a:gdLst/>
            <a:ahLst/>
            <a:cxnLst/>
            <a:rect r="r" b="b" t="t" l="l"/>
            <a:pathLst>
              <a:path h="4201506" w="4201506">
                <a:moveTo>
                  <a:pt x="0" y="0"/>
                </a:moveTo>
                <a:lnTo>
                  <a:pt x="4201506" y="0"/>
                </a:lnTo>
                <a:lnTo>
                  <a:pt x="4201506" y="4201506"/>
                </a:lnTo>
                <a:lnTo>
                  <a:pt x="0" y="4201506"/>
                </a:lnTo>
                <a:lnTo>
                  <a:pt x="0" y="0"/>
                </a:lnTo>
                <a:close/>
              </a:path>
            </a:pathLst>
          </a:custGeom>
          <a:blipFill>
            <a:blip r:embed="rId4"/>
            <a:stretch>
              <a:fillRect l="0" t="0" r="0" b="0"/>
            </a:stretch>
          </a:blipFill>
        </p:spPr>
      </p:sp>
      <p:sp>
        <p:nvSpPr>
          <p:cNvPr name="TextBox 14" id="14"/>
          <p:cNvSpPr txBox="true"/>
          <p:nvPr/>
        </p:nvSpPr>
        <p:spPr>
          <a:xfrm rot="0">
            <a:off x="318280" y="4839573"/>
            <a:ext cx="8935087" cy="2433724"/>
          </a:xfrm>
          <a:prstGeom prst="rect">
            <a:avLst/>
          </a:prstGeom>
        </p:spPr>
        <p:txBody>
          <a:bodyPr anchor="t" rtlCol="false" tIns="0" lIns="0" bIns="0" rIns="0">
            <a:spAutoFit/>
          </a:bodyPr>
          <a:lstStyle/>
          <a:p>
            <a:pPr algn="ctr">
              <a:lnSpc>
                <a:spcPts val="6476"/>
              </a:lnSpc>
              <a:spcBef>
                <a:spcPct val="0"/>
              </a:spcBef>
            </a:pPr>
            <a:r>
              <a:rPr lang="en-US" sz="4626">
                <a:solidFill>
                  <a:srgbClr val="FF009D"/>
                </a:solidFill>
                <a:latin typeface="HK Modular"/>
                <a:ea typeface="HK Modular"/>
                <a:cs typeface="HK Modular"/>
                <a:sym typeface="HK Modular"/>
              </a:rPr>
              <a:t>LA SESION DE PARCIAL DEL DIA VIERNES</a:t>
            </a:r>
          </a:p>
        </p:txBody>
      </p:sp>
      <p:sp>
        <p:nvSpPr>
          <p:cNvPr name="TextBox 15" id="15"/>
          <p:cNvSpPr txBox="true"/>
          <p:nvPr/>
        </p:nvSpPr>
        <p:spPr>
          <a:xfrm rot="0">
            <a:off x="1460509" y="3723445"/>
            <a:ext cx="7026709" cy="933074"/>
          </a:xfrm>
          <a:prstGeom prst="rect">
            <a:avLst/>
          </a:prstGeom>
        </p:spPr>
        <p:txBody>
          <a:bodyPr anchor="t" rtlCol="false" tIns="0" lIns="0" bIns="0" rIns="0">
            <a:spAutoFit/>
          </a:bodyPr>
          <a:lstStyle/>
          <a:p>
            <a:pPr algn="ctr">
              <a:lnSpc>
                <a:spcPts val="7529"/>
              </a:lnSpc>
              <a:spcBef>
                <a:spcPct val="0"/>
              </a:spcBef>
            </a:pPr>
            <a:r>
              <a:rPr lang="en-US" sz="5378">
                <a:solidFill>
                  <a:srgbClr val="FF751F"/>
                </a:solidFill>
                <a:latin typeface="HK Modular"/>
                <a:ea typeface="HK Modular"/>
                <a:cs typeface="HK Modular"/>
                <a:sym typeface="HK Modular"/>
              </a:rPr>
              <a:t>NOS VEMOS EN</a:t>
            </a:r>
          </a:p>
        </p:txBody>
      </p:sp>
      <p:sp>
        <p:nvSpPr>
          <p:cNvPr name="Freeform 16" id="16"/>
          <p:cNvSpPr/>
          <p:nvPr/>
        </p:nvSpPr>
        <p:spPr>
          <a:xfrm flipH="false" flipV="false" rot="0">
            <a:off x="8082044" y="-150850"/>
            <a:ext cx="2342646" cy="2342646"/>
          </a:xfrm>
          <a:custGeom>
            <a:avLst/>
            <a:gdLst/>
            <a:ahLst/>
            <a:cxnLst/>
            <a:rect r="r" b="b" t="t" l="l"/>
            <a:pathLst>
              <a:path h="2342646" w="2342646">
                <a:moveTo>
                  <a:pt x="0" y="0"/>
                </a:moveTo>
                <a:lnTo>
                  <a:pt x="2342646" y="0"/>
                </a:lnTo>
                <a:lnTo>
                  <a:pt x="2342646" y="2342646"/>
                </a:lnTo>
                <a:lnTo>
                  <a:pt x="0" y="2342646"/>
                </a:lnTo>
                <a:lnTo>
                  <a:pt x="0" y="0"/>
                </a:lnTo>
                <a:close/>
              </a:path>
            </a:pathLst>
          </a:custGeom>
          <a:blipFill>
            <a:blip r:embed="rId5"/>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DAHGI_OILGk</dc:identifier>
  <dcterms:modified xsi:type="dcterms:W3CDTF">2011-08-01T06:04:30Z</dcterms:modified>
  <cp:revision>1</cp:revision>
  <dc:title>DOSW 1 - S011</dc:title>
</cp:coreProperties>
</file>