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presentationml.slide+xml" PartName="/ppt/slides/slide51.xml"/>
  <Override ContentType="application/vnd.openxmlformats-officedocument.presentationml.slide+xml" PartName="/ppt/slides/slide52.xml"/>
  <Override ContentType="application/vnd.openxmlformats-officedocument.presentationml.slide+xml" PartName="/ppt/slides/slide53.xml"/>
  <Override ContentType="application/vnd.openxmlformats-officedocument.presentationml.slide+xml" PartName="/ppt/slides/slide54.xml"/>
  <Override ContentType="application/vnd.openxmlformats-officedocument.presentationml.slide+xml" PartName="/ppt/slides/slide55.xml"/>
  <Override ContentType="application/vnd.openxmlformats-officedocument.presentationml.slide+xml" PartName="/ppt/slides/slide56.xml"/>
  <Override ContentType="application/vnd.openxmlformats-officedocument.presentationml.slide+xml" PartName="/ppt/slides/slide57.xml"/>
  <Override ContentType="application/vnd.openxmlformats-officedocument.presentationml.slide+xml" PartName="/ppt/slides/slide58.xml"/>
  <Override ContentType="application/vnd.openxmlformats-officedocument.presentationml.slide+xml" PartName="/ppt/slides/slide59.xml"/>
  <Override ContentType="application/vnd.openxmlformats-officedocument.presentationml.slide+xml" PartName="/ppt/slides/slide60.xml"/>
  <Override ContentType="application/vnd.openxmlformats-officedocument.presentationml.slide+xml" PartName="/ppt/slides/slide61.xml"/>
  <Override ContentType="application/vnd.openxmlformats-officedocument.presentationml.slide+xml" PartName="/ppt/slides/slide62.xml"/>
  <Override ContentType="application/vnd.openxmlformats-officedocument.presentationml.slide+xml" PartName="/ppt/slides/slide63.xml"/>
  <Override ContentType="application/vnd.openxmlformats-officedocument.presentationml.slide+xml" PartName="/ppt/slides/slide64.xml"/>
  <Override ContentType="application/vnd.openxmlformats-officedocument.presentationml.slide+xml" PartName="/ppt/slides/slide65.xml"/>
  <Override ContentType="application/vnd.openxmlformats-officedocument.presentationml.slide+xml" PartName="/ppt/slides/slide66.xml"/>
  <Override ContentType="application/vnd.openxmlformats-officedocument.presentationml.slide+xml" PartName="/ppt/slides/slide67.xml"/>
  <Override ContentType="application/vnd.openxmlformats-officedocument.presentationml.slide+xml" PartName="/ppt/slides/slide68.xml"/>
  <Override ContentType="application/vnd.openxmlformats-officedocument.presentationml.slide+xml" PartName="/ppt/slides/slide69.xml"/>
  <Override ContentType="application/vnd.openxmlformats-officedocument.presentationml.slide+xml" PartName="/ppt/slides/slide70.xml"/>
  <Override ContentType="application/vnd.openxmlformats-officedocument.presentationml.slide+xml" PartName="/ppt/slides/slide71.xml"/>
  <Override ContentType="application/vnd.openxmlformats-officedocument.presentationml.slide+xml" PartName="/ppt/slides/slide72.xml"/>
  <Override ContentType="application/vnd.openxmlformats-officedocument.presentationml.slide+xml" PartName="/ppt/slides/slide73.xml"/>
  <Override ContentType="application/vnd.openxmlformats-officedocument.presentationml.slide+xml" PartName="/ppt/slides/slide74.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Lst>
  <p:sldSz cx="18288000" cy="10287000"/>
  <p:notesSz cx="6858000" cy="9144000"/>
  <p:embeddedFontLst>
    <p:embeddedFont>
      <p:font typeface="HK Modular" charset="1" panose="00000800000000000000"/>
      <p:regular r:id="rId82"/>
    </p:embeddedFont>
    <p:embeddedFont>
      <p:font typeface="RQND Pro" charset="1" panose="00000500000000000000"/>
      <p:regular r:id="rId83"/>
    </p:embeddedFont>
    <p:embeddedFont>
      <p:font typeface="Poppins" charset="1" panose="00000500000000000000"/>
      <p:regular r:id="rId84"/>
    </p:embeddedFont>
    <p:embeddedFont>
      <p:font typeface="Poppins Bold" charset="1" panose="00000800000000000000"/>
      <p:regular r:id="rId85"/>
    </p:embeddedFont>
    <p:embeddedFont>
      <p:font typeface="Canva Sans" charset="1" panose="020B0503030501040103"/>
      <p:regular r:id="rId8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slides/slide46.xml" Type="http://schemas.openxmlformats.org/officeDocument/2006/relationships/slide"/><Relationship Id="rId52" Target="slides/slide47.xml" Type="http://schemas.openxmlformats.org/officeDocument/2006/relationships/slide"/><Relationship Id="rId53" Target="slides/slide48.xml" Type="http://schemas.openxmlformats.org/officeDocument/2006/relationships/slide"/><Relationship Id="rId54" Target="slides/slide49.xml" Type="http://schemas.openxmlformats.org/officeDocument/2006/relationships/slide"/><Relationship Id="rId55" Target="slides/slide50.xml" Type="http://schemas.openxmlformats.org/officeDocument/2006/relationships/slide"/><Relationship Id="rId56" Target="slides/slide51.xml" Type="http://schemas.openxmlformats.org/officeDocument/2006/relationships/slide"/><Relationship Id="rId57" Target="slides/slide52.xml" Type="http://schemas.openxmlformats.org/officeDocument/2006/relationships/slide"/><Relationship Id="rId58" Target="slides/slide53.xml" Type="http://schemas.openxmlformats.org/officeDocument/2006/relationships/slide"/><Relationship Id="rId59" Target="slides/slide54.xml" Type="http://schemas.openxmlformats.org/officeDocument/2006/relationships/slide"/><Relationship Id="rId6" Target="slides/slide1.xml" Type="http://schemas.openxmlformats.org/officeDocument/2006/relationships/slide"/><Relationship Id="rId60" Target="slides/slide55.xml" Type="http://schemas.openxmlformats.org/officeDocument/2006/relationships/slide"/><Relationship Id="rId61" Target="slides/slide56.xml" Type="http://schemas.openxmlformats.org/officeDocument/2006/relationships/slide"/><Relationship Id="rId62" Target="slides/slide57.xml" Type="http://schemas.openxmlformats.org/officeDocument/2006/relationships/slide"/><Relationship Id="rId63" Target="slides/slide58.xml" Type="http://schemas.openxmlformats.org/officeDocument/2006/relationships/slide"/><Relationship Id="rId64" Target="slides/slide59.xml" Type="http://schemas.openxmlformats.org/officeDocument/2006/relationships/slide"/><Relationship Id="rId65" Target="slides/slide60.xml" Type="http://schemas.openxmlformats.org/officeDocument/2006/relationships/slide"/><Relationship Id="rId66" Target="slides/slide61.xml" Type="http://schemas.openxmlformats.org/officeDocument/2006/relationships/slide"/><Relationship Id="rId67" Target="slides/slide62.xml" Type="http://schemas.openxmlformats.org/officeDocument/2006/relationships/slide"/><Relationship Id="rId68" Target="slides/slide63.xml" Type="http://schemas.openxmlformats.org/officeDocument/2006/relationships/slide"/><Relationship Id="rId69" Target="slides/slide64.xml" Type="http://schemas.openxmlformats.org/officeDocument/2006/relationships/slide"/><Relationship Id="rId7" Target="slides/slide2.xml" Type="http://schemas.openxmlformats.org/officeDocument/2006/relationships/slide"/><Relationship Id="rId70" Target="slides/slide65.xml" Type="http://schemas.openxmlformats.org/officeDocument/2006/relationships/slide"/><Relationship Id="rId71" Target="slides/slide66.xml" Type="http://schemas.openxmlformats.org/officeDocument/2006/relationships/slide"/><Relationship Id="rId72" Target="slides/slide67.xml" Type="http://schemas.openxmlformats.org/officeDocument/2006/relationships/slide"/><Relationship Id="rId73" Target="slides/slide68.xml" Type="http://schemas.openxmlformats.org/officeDocument/2006/relationships/slide"/><Relationship Id="rId74" Target="slides/slide69.xml" Type="http://schemas.openxmlformats.org/officeDocument/2006/relationships/slide"/><Relationship Id="rId75" Target="slides/slide70.xml" Type="http://schemas.openxmlformats.org/officeDocument/2006/relationships/slide"/><Relationship Id="rId76" Target="slides/slide71.xml" Type="http://schemas.openxmlformats.org/officeDocument/2006/relationships/slide"/><Relationship Id="rId77" Target="slides/slide72.xml" Type="http://schemas.openxmlformats.org/officeDocument/2006/relationships/slide"/><Relationship Id="rId78" Target="slides/slide73.xml" Type="http://schemas.openxmlformats.org/officeDocument/2006/relationships/slide"/><Relationship Id="rId79" Target="slides/slide74.xml" Type="http://schemas.openxmlformats.org/officeDocument/2006/relationships/slide"/><Relationship Id="rId8" Target="slides/slide3.xml" Type="http://schemas.openxmlformats.org/officeDocument/2006/relationships/slide"/><Relationship Id="rId80" Target="slides/slide75.xml" Type="http://schemas.openxmlformats.org/officeDocument/2006/relationships/slide"/><Relationship Id="rId81" Target="slides/slide76.xml" Type="http://schemas.openxmlformats.org/officeDocument/2006/relationships/slide"/><Relationship Id="rId82" Target="fonts/font82.fntdata" Type="http://schemas.openxmlformats.org/officeDocument/2006/relationships/font"/><Relationship Id="rId83" Target="fonts/font83.fntdata" Type="http://schemas.openxmlformats.org/officeDocument/2006/relationships/font"/><Relationship Id="rId84" Target="fonts/font84.fntdata" Type="http://schemas.openxmlformats.org/officeDocument/2006/relationships/font"/><Relationship Id="rId85" Target="fonts/font85.fntdata" Type="http://schemas.openxmlformats.org/officeDocument/2006/relationships/font"/><Relationship Id="rId86" Target="fonts/font86.fntdata" Type="http://schemas.openxmlformats.org/officeDocument/2006/relationships/font"/><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5.png" Type="http://schemas.openxmlformats.org/officeDocument/2006/relationships/image"/><Relationship Id="rId6" Target="../media/image2.png" Type="http://schemas.openxmlformats.org/officeDocument/2006/relationships/image"/><Relationship Id="rId7" Target="../media/image6.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5.png" Type="http://schemas.openxmlformats.org/officeDocument/2006/relationships/image"/><Relationship Id="rId6" Target="../media/image2.png" Type="http://schemas.openxmlformats.org/officeDocument/2006/relationships/image"/><Relationship Id="rId7" Target="../media/image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10.png" Type="http://schemas.openxmlformats.org/officeDocument/2006/relationships/image"/><Relationship Id="rId4" Target="../media/image11.png" Type="http://schemas.openxmlformats.org/officeDocument/2006/relationships/image"/><Relationship Id="rId5" Target="../media/image12.png" Type="http://schemas.openxmlformats.org/officeDocument/2006/relationships/image"/><Relationship Id="rId6" Target="../media/image13.png" Type="http://schemas.openxmlformats.org/officeDocument/2006/relationships/image"/><Relationship Id="rId7" Target="../media/image14.png" Type="http://schemas.openxmlformats.org/officeDocument/2006/relationships/image"/><Relationship Id="rId8" Target="../media/image15.png" Type="http://schemas.openxmlformats.org/officeDocument/2006/relationships/image"/><Relationship Id="rId9" Target="../media/image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png" Type="http://schemas.openxmlformats.org/officeDocument/2006/relationships/image"/><Relationship Id="rId11" Target="../media/image6.png" Type="http://schemas.openxmlformats.org/officeDocument/2006/relationships/image"/><Relationship Id="rId2" Target="../media/image9.jpeg" Type="http://schemas.openxmlformats.org/officeDocument/2006/relationships/image"/><Relationship Id="rId3" Target="../media/image16.png" Type="http://schemas.openxmlformats.org/officeDocument/2006/relationships/image"/><Relationship Id="rId4" Target="../media/image17.png" Type="http://schemas.openxmlformats.org/officeDocument/2006/relationships/image"/><Relationship Id="rId5" Target="../media/image18.png" Type="http://schemas.openxmlformats.org/officeDocument/2006/relationships/image"/><Relationship Id="rId6" Target="../media/image19.png" Type="http://schemas.openxmlformats.org/officeDocument/2006/relationships/image"/><Relationship Id="rId7" Target="../media/image20.png" Type="http://schemas.openxmlformats.org/officeDocument/2006/relationships/image"/><Relationship Id="rId8" Target="../media/image21.png" Type="http://schemas.openxmlformats.org/officeDocument/2006/relationships/image"/><Relationship Id="rId9" Target="../media/image2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24.png" Type="http://schemas.openxmlformats.org/officeDocument/2006/relationships/image"/><Relationship Id="rId4" Target="../media/image25.png" Type="http://schemas.openxmlformats.org/officeDocument/2006/relationships/image"/><Relationship Id="rId5" Target="../media/image26.png" Type="http://schemas.openxmlformats.org/officeDocument/2006/relationships/image"/><Relationship Id="rId6" Target="../media/image27.png" Type="http://schemas.openxmlformats.org/officeDocument/2006/relationships/image"/><Relationship Id="rId7" Target="../media/image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28.png" Type="http://schemas.openxmlformats.org/officeDocument/2006/relationships/image"/><Relationship Id="rId4" Target="../media/image6.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29.png" Type="http://schemas.openxmlformats.org/officeDocument/2006/relationships/image"/><Relationship Id="rId4" Target="../media/image6.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6.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30.png" Type="http://schemas.openxmlformats.org/officeDocument/2006/relationships/image"/><Relationship Id="rId4" Target="../media/image6.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31.png" Type="http://schemas.openxmlformats.org/officeDocument/2006/relationships/image"/><Relationship Id="rId4" Target="../media/image32.png" Type="http://schemas.openxmlformats.org/officeDocument/2006/relationships/image"/><Relationship Id="rId5" Target="../media/image6.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6.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33.png" Type="http://schemas.openxmlformats.org/officeDocument/2006/relationships/image"/><Relationship Id="rId4" Target="../media/image34.svg" Type="http://schemas.openxmlformats.org/officeDocument/2006/relationships/image"/><Relationship Id="rId5" Target="../media/image35.png" Type="http://schemas.openxmlformats.org/officeDocument/2006/relationships/image"/><Relationship Id="rId6" Target="../media/image36.png" Type="http://schemas.openxmlformats.org/officeDocument/2006/relationships/image"/><Relationship Id="rId7" Target="../media/image6.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37.png" Type="http://schemas.openxmlformats.org/officeDocument/2006/relationships/image"/><Relationship Id="rId4" Target="../media/image38.svg" Type="http://schemas.openxmlformats.org/officeDocument/2006/relationships/image"/><Relationship Id="rId5" Target="../media/image39.png" Type="http://schemas.openxmlformats.org/officeDocument/2006/relationships/image"/><Relationship Id="rId6" Target="../media/image40.png" Type="http://schemas.openxmlformats.org/officeDocument/2006/relationships/image"/><Relationship Id="rId7" Target="../media/image6.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41.png" Type="http://schemas.openxmlformats.org/officeDocument/2006/relationships/image"/><Relationship Id="rId4" Target="../media/image42.png" Type="http://schemas.openxmlformats.org/officeDocument/2006/relationships/image"/><Relationship Id="rId5" Target="../media/image43.svg" Type="http://schemas.openxmlformats.org/officeDocument/2006/relationships/image"/><Relationship Id="rId6" Target="../media/image44.png" Type="http://schemas.openxmlformats.org/officeDocument/2006/relationships/image"/><Relationship Id="rId7" Target="../media/image6.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45.png" Type="http://schemas.openxmlformats.org/officeDocument/2006/relationships/image"/><Relationship Id="rId4" Target="../media/image46.svg" Type="http://schemas.openxmlformats.org/officeDocument/2006/relationships/image"/><Relationship Id="rId5" Target="../media/image47.png" Type="http://schemas.openxmlformats.org/officeDocument/2006/relationships/image"/><Relationship Id="rId6" Target="../media/image6.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48.png" Type="http://schemas.openxmlformats.org/officeDocument/2006/relationships/image"/><Relationship Id="rId4" Target="../media/image49.png" Type="http://schemas.openxmlformats.org/officeDocument/2006/relationships/image"/><Relationship Id="rId5" Target="../media/image50.svg" Type="http://schemas.openxmlformats.org/officeDocument/2006/relationships/image"/><Relationship Id="rId6" Target="../media/image6.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51.png" Type="http://schemas.openxmlformats.org/officeDocument/2006/relationships/image"/><Relationship Id="rId4" Target="../media/image52.svg" Type="http://schemas.openxmlformats.org/officeDocument/2006/relationships/image"/><Relationship Id="rId5" Target="../media/image53.png" Type="http://schemas.openxmlformats.org/officeDocument/2006/relationships/image"/><Relationship Id="rId6" Target="../media/image54.svg" Type="http://schemas.openxmlformats.org/officeDocument/2006/relationships/image"/><Relationship Id="rId7" Target="../media/image55.png" Type="http://schemas.openxmlformats.org/officeDocument/2006/relationships/image"/><Relationship Id="rId8" Target="../media/image6.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6.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56.png" Type="http://schemas.openxmlformats.org/officeDocument/2006/relationships/image"/><Relationship Id="rId4" Target="../media/image57.png" Type="http://schemas.openxmlformats.org/officeDocument/2006/relationships/image"/><Relationship Id="rId5" Target="../media/image58.png" Type="http://schemas.openxmlformats.org/officeDocument/2006/relationships/image"/><Relationship Id="rId6" Target="../media/image59.svg" Type="http://schemas.openxmlformats.org/officeDocument/2006/relationships/image"/><Relationship Id="rId7" Target="../media/image6.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6.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60.png" Type="http://schemas.openxmlformats.org/officeDocument/2006/relationships/image"/><Relationship Id="rId4" Target="../media/image61.png" Type="http://schemas.openxmlformats.org/officeDocument/2006/relationships/image"/><Relationship Id="rId5" Target="../media/image62.png" Type="http://schemas.openxmlformats.org/officeDocument/2006/relationships/image"/><Relationship Id="rId6" Target="../media/image63.png" Type="http://schemas.openxmlformats.org/officeDocument/2006/relationships/image"/><Relationship Id="rId7" Target="../media/image6.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64.png" Type="http://schemas.openxmlformats.org/officeDocument/2006/relationships/image"/><Relationship Id="rId4" Target="../media/image65.png" Type="http://schemas.openxmlformats.org/officeDocument/2006/relationships/image"/><Relationship Id="rId5" Target="../media/image66.png" Type="http://schemas.openxmlformats.org/officeDocument/2006/relationships/image"/><Relationship Id="rId6" Target="../media/image6.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6.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67.png" Type="http://schemas.openxmlformats.org/officeDocument/2006/relationships/image"/><Relationship Id="rId4" Target="../media/image6.png" Type="http://schemas.openxmlformats.org/officeDocument/2006/relationships/image"/><Relationship Id="rId5" Target="../media/image68.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69.png" Type="http://schemas.openxmlformats.org/officeDocument/2006/relationships/image"/><Relationship Id="rId4" Target="../media/image6.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70.png" Type="http://schemas.openxmlformats.org/officeDocument/2006/relationships/image"/><Relationship Id="rId4" Target="../media/image6.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6.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6.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71.png" Type="http://schemas.openxmlformats.org/officeDocument/2006/relationships/image"/><Relationship Id="rId4" Target="../media/image72.png" Type="http://schemas.openxmlformats.org/officeDocument/2006/relationships/image"/><Relationship Id="rId5" Target="../media/image73.png" Type="http://schemas.openxmlformats.org/officeDocument/2006/relationships/image"/><Relationship Id="rId6" Target="../media/image74.png" Type="http://schemas.openxmlformats.org/officeDocument/2006/relationships/image"/><Relationship Id="rId7" Target="../media/image75.png" Type="http://schemas.openxmlformats.org/officeDocument/2006/relationships/image"/><Relationship Id="rId8" Target="../media/image6.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71.png" Type="http://schemas.openxmlformats.org/officeDocument/2006/relationships/image"/><Relationship Id="rId4" Target="../media/image6.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71.png" Type="http://schemas.openxmlformats.org/officeDocument/2006/relationships/image"/><Relationship Id="rId4" Target="../media/image6.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76.png" Type="http://schemas.openxmlformats.org/officeDocument/2006/relationships/image"/><Relationship Id="rId4" Target="../media/image77.png" Type="http://schemas.openxmlformats.org/officeDocument/2006/relationships/image"/><Relationship Id="rId5" Target="../media/image6.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6.pn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78.png" Type="http://schemas.openxmlformats.org/officeDocument/2006/relationships/image"/><Relationship Id="rId4" Target="../media/image6.pn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78.png" Type="http://schemas.openxmlformats.org/officeDocument/2006/relationships/image"/><Relationship Id="rId4" Target="../media/image6.pn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78.png" Type="http://schemas.openxmlformats.org/officeDocument/2006/relationships/image"/><Relationship Id="rId4" Target="../media/image6.pn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78.png" Type="http://schemas.openxmlformats.org/officeDocument/2006/relationships/image"/><Relationship Id="rId4" Target="../media/image6.pn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78.png" Type="http://schemas.openxmlformats.org/officeDocument/2006/relationships/image"/><Relationship Id="rId4" Target="../media/image6.png" Type="http://schemas.openxmlformats.org/officeDocument/2006/relationships/image"/></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6.png" Type="http://schemas.openxmlformats.org/officeDocument/2006/relationships/image"/></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79.png" Type="http://schemas.openxmlformats.org/officeDocument/2006/relationships/image"/><Relationship Id="rId4" Target="../media/image6.png" Type="http://schemas.openxmlformats.org/officeDocument/2006/relationships/image"/></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80.png" Type="http://schemas.openxmlformats.org/officeDocument/2006/relationships/image"/><Relationship Id="rId4" Target="../media/image6.png" Type="http://schemas.openxmlformats.org/officeDocument/2006/relationships/image"/></Relationships>
</file>

<file path=ppt/slides/_rels/slide4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81.png" Type="http://schemas.openxmlformats.org/officeDocument/2006/relationships/image"/><Relationship Id="rId4" Target="../media/image6.png" Type="http://schemas.openxmlformats.org/officeDocument/2006/relationships/image"/></Relationships>
</file>

<file path=ppt/slides/_rels/slide4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82.png" Type="http://schemas.openxmlformats.org/officeDocument/2006/relationships/image"/><Relationship Id="rId4" Target="../media/image6.png" Type="http://schemas.openxmlformats.org/officeDocument/2006/relationships/image"/></Relationships>
</file>

<file path=ppt/slides/_rels/slide4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83.png" Type="http://schemas.openxmlformats.org/officeDocument/2006/relationships/image"/><Relationship Id="rId4" Target="../media/image6.png" Type="http://schemas.openxmlformats.org/officeDocument/2006/relationships/image"/></Relationships>
</file>

<file path=ppt/slides/_rels/slide4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6.png" Type="http://schemas.openxmlformats.org/officeDocument/2006/relationships/image"/></Relationships>
</file>

<file path=ppt/slides/_rels/slide5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84.png" Type="http://schemas.openxmlformats.org/officeDocument/2006/relationships/image"/><Relationship Id="rId4" Target="../media/image6.png" Type="http://schemas.openxmlformats.org/officeDocument/2006/relationships/image"/></Relationships>
</file>

<file path=ppt/slides/_rels/slide5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85.png" Type="http://schemas.openxmlformats.org/officeDocument/2006/relationships/image"/><Relationship Id="rId4" Target="../media/image86.png" Type="http://schemas.openxmlformats.org/officeDocument/2006/relationships/image"/><Relationship Id="rId5" Target="../media/image6.png" Type="http://schemas.openxmlformats.org/officeDocument/2006/relationships/image"/></Relationships>
</file>

<file path=ppt/slides/_rels/slide5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6.png" Type="http://schemas.openxmlformats.org/officeDocument/2006/relationships/image"/></Relationships>
</file>

<file path=ppt/slides/_rels/slide5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87.png" Type="http://schemas.openxmlformats.org/officeDocument/2006/relationships/image"/><Relationship Id="rId4" Target="../media/image6.png" Type="http://schemas.openxmlformats.org/officeDocument/2006/relationships/image"/></Relationships>
</file>

<file path=ppt/slides/_rels/slide5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6.png" Type="http://schemas.openxmlformats.org/officeDocument/2006/relationships/image"/></Relationships>
</file>

<file path=ppt/slides/_rels/slide5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6.png" Type="http://schemas.openxmlformats.org/officeDocument/2006/relationships/image"/></Relationships>
</file>

<file path=ppt/slides/_rels/slide5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88.png" Type="http://schemas.openxmlformats.org/officeDocument/2006/relationships/image"/><Relationship Id="rId4" Target="../media/image6.png" Type="http://schemas.openxmlformats.org/officeDocument/2006/relationships/image"/></Relationships>
</file>

<file path=ppt/slides/_rels/slide5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6.png" Type="http://schemas.openxmlformats.org/officeDocument/2006/relationships/image"/></Relationships>
</file>

<file path=ppt/slides/_rels/slide5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89.png" Type="http://schemas.openxmlformats.org/officeDocument/2006/relationships/image"/><Relationship Id="rId4" Target="../media/image6.png" Type="http://schemas.openxmlformats.org/officeDocument/2006/relationships/image"/></Relationships>
</file>

<file path=ppt/slides/_rels/slide5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90.png" Type="http://schemas.openxmlformats.org/officeDocument/2006/relationships/image"/><Relationship Id="rId4" Target="../media/image6.png" Type="http://schemas.openxmlformats.org/officeDocument/2006/relationships/image"/></Relationships>
</file>

<file path=ppt/slides/_rels/slide6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91.png" Type="http://schemas.openxmlformats.org/officeDocument/2006/relationships/image"/><Relationship Id="rId4" Target="../media/image6.png" Type="http://schemas.openxmlformats.org/officeDocument/2006/relationships/image"/></Relationships>
</file>

<file path=ppt/slides/_rels/slide6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92.png" Type="http://schemas.openxmlformats.org/officeDocument/2006/relationships/image"/><Relationship Id="rId4" Target="../media/image6.png" Type="http://schemas.openxmlformats.org/officeDocument/2006/relationships/image"/></Relationships>
</file>

<file path=ppt/slides/_rels/slide6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93.png" Type="http://schemas.openxmlformats.org/officeDocument/2006/relationships/image"/><Relationship Id="rId4" Target="../media/image94.png" Type="http://schemas.openxmlformats.org/officeDocument/2006/relationships/image"/><Relationship Id="rId5" Target="../media/image95.svg" Type="http://schemas.openxmlformats.org/officeDocument/2006/relationships/image"/><Relationship Id="rId6" Target="../media/image6.png" Type="http://schemas.openxmlformats.org/officeDocument/2006/relationships/image"/></Relationships>
</file>

<file path=ppt/slides/_rels/slide6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6.png" Type="http://schemas.openxmlformats.org/officeDocument/2006/relationships/image"/></Relationships>
</file>

<file path=ppt/slides/_rels/slide6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96.png" Type="http://schemas.openxmlformats.org/officeDocument/2006/relationships/image"/><Relationship Id="rId4" Target="../media/image6.png" Type="http://schemas.openxmlformats.org/officeDocument/2006/relationships/image"/></Relationships>
</file>

<file path=ppt/slides/_rels/slide6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97.png" Type="http://schemas.openxmlformats.org/officeDocument/2006/relationships/image"/><Relationship Id="rId4" Target="../media/image98.png" Type="http://schemas.openxmlformats.org/officeDocument/2006/relationships/image"/><Relationship Id="rId5" Target="../media/image6.png" Type="http://schemas.openxmlformats.org/officeDocument/2006/relationships/image"/></Relationships>
</file>

<file path=ppt/slides/_rels/slide6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99.png" Type="http://schemas.openxmlformats.org/officeDocument/2006/relationships/image"/><Relationship Id="rId4" Target="../media/image100.png" Type="http://schemas.openxmlformats.org/officeDocument/2006/relationships/image"/><Relationship Id="rId5" Target="../media/image101.png" Type="http://schemas.openxmlformats.org/officeDocument/2006/relationships/image"/><Relationship Id="rId6" Target="../media/image6.png" Type="http://schemas.openxmlformats.org/officeDocument/2006/relationships/image"/></Relationships>
</file>

<file path=ppt/slides/_rels/slide6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6.png" Type="http://schemas.openxmlformats.org/officeDocument/2006/relationships/image"/></Relationships>
</file>

<file path=ppt/slides/_rels/slide6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6.png" Type="http://schemas.openxmlformats.org/officeDocument/2006/relationships/image"/></Relationships>
</file>

<file path=ppt/slides/_rels/slide6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102.png" Type="http://schemas.openxmlformats.org/officeDocument/2006/relationships/image"/><Relationship Id="rId4" Target="../media/image6.png" Type="http://schemas.openxmlformats.org/officeDocument/2006/relationships/image"/></Relationships>
</file>

<file path=ppt/slides/_rels/slide7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103.png" Type="http://schemas.openxmlformats.org/officeDocument/2006/relationships/image"/><Relationship Id="rId4" Target="../media/image6.png" Type="http://schemas.openxmlformats.org/officeDocument/2006/relationships/image"/></Relationships>
</file>

<file path=ppt/slides/_rels/slide7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104.png" Type="http://schemas.openxmlformats.org/officeDocument/2006/relationships/image"/><Relationship Id="rId4" Target="../media/image6.png" Type="http://schemas.openxmlformats.org/officeDocument/2006/relationships/image"/></Relationships>
</file>

<file path=ppt/slides/_rels/slide7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6.png" Type="http://schemas.openxmlformats.org/officeDocument/2006/relationships/image"/></Relationships>
</file>

<file path=ppt/slides/_rels/slide7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6.png" Type="http://schemas.openxmlformats.org/officeDocument/2006/relationships/image"/></Relationships>
</file>

<file path=ppt/slides/_rels/slide7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6.png" Type="http://schemas.openxmlformats.org/officeDocument/2006/relationships/image"/></Relationships>
</file>

<file path=ppt/slides/_rels/slide7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6.png" Type="http://schemas.openxmlformats.org/officeDocument/2006/relationships/image"/></Relationships>
</file>

<file path=ppt/slides/_rels/slide7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105.png" Type="http://schemas.openxmlformats.org/officeDocument/2006/relationships/image"/><Relationship Id="rId4" Target="../media/image6.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894353" y="6745775"/>
            <a:ext cx="20076706" cy="4517259"/>
          </a:xfrm>
          <a:custGeom>
            <a:avLst/>
            <a:gdLst/>
            <a:ahLst/>
            <a:cxnLst/>
            <a:rect r="r" b="b" t="t" l="l"/>
            <a:pathLst>
              <a:path h="4517259" w="20076706">
                <a:moveTo>
                  <a:pt x="0" y="0"/>
                </a:moveTo>
                <a:lnTo>
                  <a:pt x="20076706" y="0"/>
                </a:lnTo>
                <a:lnTo>
                  <a:pt x="20076706" y="4517259"/>
                </a:lnTo>
                <a:lnTo>
                  <a:pt x="0" y="4517259"/>
                </a:lnTo>
                <a:lnTo>
                  <a:pt x="0" y="0"/>
                </a:lnTo>
                <a:close/>
              </a:path>
            </a:pathLst>
          </a:custGeom>
          <a:blipFill>
            <a:blip r:embed="rId2">
              <a:alphaModFix amt="31999"/>
            </a:blip>
            <a:stretch>
              <a:fillRect l="0" t="0" r="0" b="0"/>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100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163911" y="163050"/>
            <a:ext cx="6623053" cy="9668691"/>
          </a:xfrm>
          <a:custGeom>
            <a:avLst/>
            <a:gdLst/>
            <a:ahLst/>
            <a:cxnLst/>
            <a:rect r="r" b="b" t="t" l="l"/>
            <a:pathLst>
              <a:path h="9668691" w="6623053">
                <a:moveTo>
                  <a:pt x="0" y="0"/>
                </a:moveTo>
                <a:lnTo>
                  <a:pt x="6623054" y="0"/>
                </a:lnTo>
                <a:lnTo>
                  <a:pt x="6623054" y="9668691"/>
                </a:lnTo>
                <a:lnTo>
                  <a:pt x="0" y="9668691"/>
                </a:lnTo>
                <a:lnTo>
                  <a:pt x="0" y="0"/>
                </a:lnTo>
                <a:close/>
              </a:path>
            </a:pathLst>
          </a:custGeom>
          <a:blipFill>
            <a:blip r:embed="rId3"/>
            <a:stretch>
              <a:fillRect l="0" t="0" r="0" b="0"/>
            </a:stretch>
          </a:blipFill>
        </p:spPr>
      </p:sp>
      <p:sp>
        <p:nvSpPr>
          <p:cNvPr name="Freeform 7" id="7"/>
          <p:cNvSpPr/>
          <p:nvPr/>
        </p:nvSpPr>
        <p:spPr>
          <a:xfrm flipH="false" flipV="false" rot="0">
            <a:off x="15669932" y="-1017864"/>
            <a:ext cx="4077393" cy="4114800"/>
          </a:xfrm>
          <a:custGeom>
            <a:avLst/>
            <a:gdLst/>
            <a:ahLst/>
            <a:cxnLst/>
            <a:rect r="r" b="b" t="t" l="l"/>
            <a:pathLst>
              <a:path h="4114800" w="4077393">
                <a:moveTo>
                  <a:pt x="0" y="0"/>
                </a:moveTo>
                <a:lnTo>
                  <a:pt x="4077392" y="0"/>
                </a:lnTo>
                <a:lnTo>
                  <a:pt x="4077392" y="4114800"/>
                </a:lnTo>
                <a:lnTo>
                  <a:pt x="0" y="4114800"/>
                </a:lnTo>
                <a:lnTo>
                  <a:pt x="0" y="0"/>
                </a:lnTo>
                <a:close/>
              </a:path>
            </a:pathLst>
          </a:custGeom>
          <a:blipFill>
            <a:blip r:embed="rId4">
              <a:alphaModFix amt="14000"/>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8304904" y="2295809"/>
            <a:ext cx="601820" cy="601820"/>
          </a:xfrm>
          <a:custGeom>
            <a:avLst/>
            <a:gdLst/>
            <a:ahLst/>
            <a:cxnLst/>
            <a:rect r="r" b="b" t="t" l="l"/>
            <a:pathLst>
              <a:path h="601820" w="601820">
                <a:moveTo>
                  <a:pt x="0" y="0"/>
                </a:moveTo>
                <a:lnTo>
                  <a:pt x="601819" y="0"/>
                </a:lnTo>
                <a:lnTo>
                  <a:pt x="601819" y="601820"/>
                </a:lnTo>
                <a:lnTo>
                  <a:pt x="0" y="601820"/>
                </a:lnTo>
                <a:lnTo>
                  <a:pt x="0" y="0"/>
                </a:lnTo>
                <a:close/>
              </a:path>
            </a:pathLst>
          </a:custGeom>
          <a:blipFill>
            <a:blip r:embed="rId6"/>
            <a:stretch>
              <a:fillRect l="0" t="0" r="0" b="0"/>
            </a:stretch>
          </a:blipFill>
        </p:spPr>
      </p:sp>
      <p:sp>
        <p:nvSpPr>
          <p:cNvPr name="TextBox 9" id="9"/>
          <p:cNvSpPr txBox="true"/>
          <p:nvPr/>
        </p:nvSpPr>
        <p:spPr>
          <a:xfrm rot="0">
            <a:off x="8304904" y="4377652"/>
            <a:ext cx="8271372" cy="1115662"/>
          </a:xfrm>
          <a:prstGeom prst="rect">
            <a:avLst/>
          </a:prstGeom>
        </p:spPr>
        <p:txBody>
          <a:bodyPr anchor="t" rtlCol="false" tIns="0" lIns="0" bIns="0" rIns="0">
            <a:spAutoFit/>
          </a:bodyPr>
          <a:lstStyle/>
          <a:p>
            <a:pPr algn="l">
              <a:lnSpc>
                <a:spcPts val="9165"/>
              </a:lnSpc>
              <a:spcBef>
                <a:spcPct val="0"/>
              </a:spcBef>
            </a:pPr>
            <a:r>
              <a:rPr lang="en-US" sz="6546">
                <a:solidFill>
                  <a:srgbClr val="FF66C4"/>
                </a:solidFill>
                <a:latin typeface="HK Modular"/>
                <a:ea typeface="HK Modular"/>
                <a:cs typeface="HK Modular"/>
                <a:sym typeface="HK Modular"/>
              </a:rPr>
              <a:t>SEMANA 10</a:t>
            </a:r>
          </a:p>
        </p:txBody>
      </p:sp>
      <p:sp>
        <p:nvSpPr>
          <p:cNvPr name="TextBox 10" id="10"/>
          <p:cNvSpPr txBox="true"/>
          <p:nvPr/>
        </p:nvSpPr>
        <p:spPr>
          <a:xfrm rot="0">
            <a:off x="8304904" y="5916767"/>
            <a:ext cx="6621756" cy="892949"/>
          </a:xfrm>
          <a:prstGeom prst="rect">
            <a:avLst/>
          </a:prstGeom>
        </p:spPr>
        <p:txBody>
          <a:bodyPr anchor="t" rtlCol="false" tIns="0" lIns="0" bIns="0" rIns="0">
            <a:spAutoFit/>
          </a:bodyPr>
          <a:lstStyle/>
          <a:p>
            <a:pPr algn="l">
              <a:lnSpc>
                <a:spcPts val="7267"/>
              </a:lnSpc>
              <a:spcBef>
                <a:spcPct val="0"/>
              </a:spcBef>
            </a:pPr>
            <a:r>
              <a:rPr lang="en-US" sz="5191">
                <a:solidFill>
                  <a:srgbClr val="FF751F"/>
                </a:solidFill>
                <a:latin typeface="HK Modular"/>
                <a:ea typeface="HK Modular"/>
                <a:cs typeface="HK Modular"/>
                <a:sym typeface="HK Modular"/>
              </a:rPr>
              <a:t>DOSW 1</a:t>
            </a:r>
          </a:p>
        </p:txBody>
      </p:sp>
      <p:sp>
        <p:nvSpPr>
          <p:cNvPr name="TextBox 11" id="11"/>
          <p:cNvSpPr txBox="true"/>
          <p:nvPr/>
        </p:nvSpPr>
        <p:spPr>
          <a:xfrm rot="0">
            <a:off x="8906723" y="2356120"/>
            <a:ext cx="4748826" cy="424049"/>
          </a:xfrm>
          <a:prstGeom prst="rect">
            <a:avLst/>
          </a:prstGeom>
        </p:spPr>
        <p:txBody>
          <a:bodyPr anchor="t" rtlCol="false" tIns="0" lIns="0" bIns="0" rIns="0">
            <a:spAutoFit/>
          </a:bodyPr>
          <a:lstStyle/>
          <a:p>
            <a:pPr algn="ctr">
              <a:lnSpc>
                <a:spcPts val="3402"/>
              </a:lnSpc>
              <a:spcBef>
                <a:spcPct val="0"/>
              </a:spcBef>
            </a:pPr>
            <a:r>
              <a:rPr lang="en-US" sz="2430">
                <a:solidFill>
                  <a:srgbClr val="FFFFFF"/>
                </a:solidFill>
                <a:latin typeface="RQND Pro"/>
                <a:ea typeface="RQND Pro"/>
                <a:cs typeface="RQND Pro"/>
                <a:sym typeface="RQND Pro"/>
              </a:rPr>
              <a:t>ESCUELA COLOMBIANA DE INGENIERIA</a:t>
            </a:r>
          </a:p>
        </p:txBody>
      </p:sp>
      <p:sp>
        <p:nvSpPr>
          <p:cNvPr name="Freeform 12" id="12"/>
          <p:cNvSpPr/>
          <p:nvPr/>
        </p:nvSpPr>
        <p:spPr>
          <a:xfrm flipH="false" flipV="false" rot="0">
            <a:off x="1733001" y="2596719"/>
            <a:ext cx="5415352" cy="5415352"/>
          </a:xfrm>
          <a:custGeom>
            <a:avLst/>
            <a:gdLst/>
            <a:ahLst/>
            <a:cxnLst/>
            <a:rect r="r" b="b" t="t" l="l"/>
            <a:pathLst>
              <a:path h="5415352" w="5415352">
                <a:moveTo>
                  <a:pt x="0" y="0"/>
                </a:moveTo>
                <a:lnTo>
                  <a:pt x="5415352" y="0"/>
                </a:lnTo>
                <a:lnTo>
                  <a:pt x="5415352" y="5415352"/>
                </a:lnTo>
                <a:lnTo>
                  <a:pt x="0" y="5415352"/>
                </a:lnTo>
                <a:lnTo>
                  <a:pt x="0" y="0"/>
                </a:lnTo>
                <a:close/>
              </a:path>
            </a:pathLst>
          </a:custGeom>
          <a:blipFill>
            <a:blip r:embed="rId7"/>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894353" y="6745775"/>
            <a:ext cx="20076706" cy="4517259"/>
          </a:xfrm>
          <a:custGeom>
            <a:avLst/>
            <a:gdLst/>
            <a:ahLst/>
            <a:cxnLst/>
            <a:rect r="r" b="b" t="t" l="l"/>
            <a:pathLst>
              <a:path h="4517259" w="20076706">
                <a:moveTo>
                  <a:pt x="0" y="0"/>
                </a:moveTo>
                <a:lnTo>
                  <a:pt x="20076706" y="0"/>
                </a:lnTo>
                <a:lnTo>
                  <a:pt x="20076706" y="4517259"/>
                </a:lnTo>
                <a:lnTo>
                  <a:pt x="0" y="4517259"/>
                </a:lnTo>
                <a:lnTo>
                  <a:pt x="0" y="0"/>
                </a:lnTo>
                <a:close/>
              </a:path>
            </a:pathLst>
          </a:custGeom>
          <a:blipFill>
            <a:blip r:embed="rId2">
              <a:alphaModFix amt="31999"/>
            </a:blip>
            <a:stretch>
              <a:fillRect l="0" t="0" r="0" b="0"/>
            </a:stretch>
          </a:blipFill>
        </p:spPr>
      </p:sp>
      <p:grpSp>
        <p:nvGrpSpPr>
          <p:cNvPr name="Group 3" id="3"/>
          <p:cNvGrpSpPr/>
          <p:nvPr/>
        </p:nvGrpSpPr>
        <p:grpSpPr>
          <a:xfrm rot="-5400000">
            <a:off x="3979823" y="-7629779"/>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100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5669932" y="-1017864"/>
            <a:ext cx="4077393" cy="4114800"/>
          </a:xfrm>
          <a:custGeom>
            <a:avLst/>
            <a:gdLst/>
            <a:ahLst/>
            <a:cxnLst/>
            <a:rect r="r" b="b" t="t" l="l"/>
            <a:pathLst>
              <a:path h="4114800" w="4077393">
                <a:moveTo>
                  <a:pt x="0" y="0"/>
                </a:moveTo>
                <a:lnTo>
                  <a:pt x="4077392" y="0"/>
                </a:lnTo>
                <a:lnTo>
                  <a:pt x="4077392" y="4114800"/>
                </a:lnTo>
                <a:lnTo>
                  <a:pt x="0" y="4114800"/>
                </a:lnTo>
                <a:lnTo>
                  <a:pt x="0" y="0"/>
                </a:lnTo>
                <a:close/>
              </a:path>
            </a:pathLst>
          </a:custGeom>
          <a:blipFill>
            <a:blip r:embed="rId3">
              <a:alphaModFix amt="14000"/>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8085699" y="2337880"/>
            <a:ext cx="9389196" cy="1115662"/>
          </a:xfrm>
          <a:prstGeom prst="rect">
            <a:avLst/>
          </a:prstGeom>
        </p:spPr>
        <p:txBody>
          <a:bodyPr anchor="t" rtlCol="false" tIns="0" lIns="0" bIns="0" rIns="0">
            <a:spAutoFit/>
          </a:bodyPr>
          <a:lstStyle/>
          <a:p>
            <a:pPr algn="l">
              <a:lnSpc>
                <a:spcPts val="9165"/>
              </a:lnSpc>
              <a:spcBef>
                <a:spcPct val="0"/>
              </a:spcBef>
            </a:pPr>
            <a:r>
              <a:rPr lang="en-US" sz="6546">
                <a:solidFill>
                  <a:srgbClr val="FF007A"/>
                </a:solidFill>
                <a:latin typeface="HK Modular"/>
                <a:ea typeface="HK Modular"/>
                <a:cs typeface="HK Modular"/>
                <a:sym typeface="HK Modular"/>
              </a:rPr>
              <a:t>ORDEN DEL DIA </a:t>
            </a:r>
          </a:p>
        </p:txBody>
      </p:sp>
      <p:sp>
        <p:nvSpPr>
          <p:cNvPr name="Freeform 8" id="8"/>
          <p:cNvSpPr/>
          <p:nvPr/>
        </p:nvSpPr>
        <p:spPr>
          <a:xfrm flipH="false" flipV="false" rot="0">
            <a:off x="8085699" y="1451223"/>
            <a:ext cx="601820" cy="601820"/>
          </a:xfrm>
          <a:custGeom>
            <a:avLst/>
            <a:gdLst/>
            <a:ahLst/>
            <a:cxnLst/>
            <a:rect r="r" b="b" t="t" l="l"/>
            <a:pathLst>
              <a:path h="601820" w="601820">
                <a:moveTo>
                  <a:pt x="0" y="0"/>
                </a:moveTo>
                <a:lnTo>
                  <a:pt x="601820" y="0"/>
                </a:lnTo>
                <a:lnTo>
                  <a:pt x="601820" y="601820"/>
                </a:lnTo>
                <a:lnTo>
                  <a:pt x="0" y="601820"/>
                </a:lnTo>
                <a:lnTo>
                  <a:pt x="0" y="0"/>
                </a:lnTo>
                <a:close/>
              </a:path>
            </a:pathLst>
          </a:custGeom>
          <a:blipFill>
            <a:blip r:embed="rId5"/>
            <a:stretch>
              <a:fillRect l="0" t="0" r="0" b="0"/>
            </a:stretch>
          </a:blipFill>
        </p:spPr>
      </p:sp>
      <p:sp>
        <p:nvSpPr>
          <p:cNvPr name="TextBox 9" id="9"/>
          <p:cNvSpPr txBox="true"/>
          <p:nvPr/>
        </p:nvSpPr>
        <p:spPr>
          <a:xfrm rot="0">
            <a:off x="8856048" y="1511534"/>
            <a:ext cx="4748826" cy="424049"/>
          </a:xfrm>
          <a:prstGeom prst="rect">
            <a:avLst/>
          </a:prstGeom>
        </p:spPr>
        <p:txBody>
          <a:bodyPr anchor="t" rtlCol="false" tIns="0" lIns="0" bIns="0" rIns="0">
            <a:spAutoFit/>
          </a:bodyPr>
          <a:lstStyle/>
          <a:p>
            <a:pPr algn="ctr">
              <a:lnSpc>
                <a:spcPts val="3402"/>
              </a:lnSpc>
              <a:spcBef>
                <a:spcPct val="0"/>
              </a:spcBef>
            </a:pPr>
            <a:r>
              <a:rPr lang="en-US" sz="2430">
                <a:solidFill>
                  <a:srgbClr val="FFFFFF"/>
                </a:solidFill>
                <a:latin typeface="RQND Pro"/>
                <a:ea typeface="RQND Pro"/>
                <a:cs typeface="RQND Pro"/>
                <a:sym typeface="RQND Pro"/>
              </a:rPr>
              <a:t>ESCUELA COLOMBIANA DE INGENIERIA</a:t>
            </a:r>
          </a:p>
        </p:txBody>
      </p:sp>
      <p:sp>
        <p:nvSpPr>
          <p:cNvPr name="TextBox 10" id="10"/>
          <p:cNvSpPr txBox="true"/>
          <p:nvPr/>
        </p:nvSpPr>
        <p:spPr>
          <a:xfrm rot="0">
            <a:off x="8085699" y="4828414"/>
            <a:ext cx="8923034" cy="3889530"/>
          </a:xfrm>
          <a:prstGeom prst="rect">
            <a:avLst/>
          </a:prstGeom>
        </p:spPr>
        <p:txBody>
          <a:bodyPr anchor="t" rtlCol="false" tIns="0" lIns="0" bIns="0" rIns="0">
            <a:spAutoFit/>
          </a:bodyPr>
          <a:lstStyle/>
          <a:p>
            <a:pPr algn="l" marL="527117" indent="-263559" lvl="1">
              <a:lnSpc>
                <a:spcPts val="3418"/>
              </a:lnSpc>
              <a:buFont typeface="Arial"/>
              <a:buChar char="•"/>
            </a:pPr>
            <a:r>
              <a:rPr lang="en-US" sz="2441">
                <a:solidFill>
                  <a:srgbClr val="FFFFFF"/>
                </a:solidFill>
                <a:latin typeface="HK Modular"/>
                <a:ea typeface="HK Modular"/>
                <a:cs typeface="HK Modular"/>
                <a:sym typeface="HK Modular"/>
              </a:rPr>
              <a:t>PERSISTENCIA NO RELACIONAL:</a:t>
            </a:r>
          </a:p>
          <a:p>
            <a:pPr algn="l" marL="1054234" indent="-351411" lvl="2">
              <a:lnSpc>
                <a:spcPts val="3418"/>
              </a:lnSpc>
              <a:buFont typeface="Arial"/>
              <a:buChar char="⚬"/>
            </a:pPr>
            <a:r>
              <a:rPr lang="en-US" sz="2441">
                <a:solidFill>
                  <a:srgbClr val="FFFFFF"/>
                </a:solidFill>
                <a:latin typeface="HK Modular"/>
                <a:ea typeface="HK Modular"/>
                <a:cs typeface="HK Modular"/>
                <a:sym typeface="HK Modular"/>
              </a:rPr>
              <a:t>NOSQL VS SQL</a:t>
            </a:r>
          </a:p>
          <a:p>
            <a:pPr algn="l" marL="1054234" indent="-351411" lvl="2">
              <a:lnSpc>
                <a:spcPts val="3418"/>
              </a:lnSpc>
              <a:buFont typeface="Arial"/>
              <a:buChar char="⚬"/>
            </a:pPr>
            <a:r>
              <a:rPr lang="en-US" sz="2441">
                <a:solidFill>
                  <a:srgbClr val="FFFFFF"/>
                </a:solidFill>
                <a:latin typeface="HK Modular"/>
                <a:ea typeface="HK Modular"/>
                <a:cs typeface="HK Modular"/>
                <a:sym typeface="HK Modular"/>
              </a:rPr>
              <a:t>BA.S.E</a:t>
            </a:r>
          </a:p>
          <a:p>
            <a:pPr algn="l" marL="1054234" indent="-351411" lvl="2">
              <a:lnSpc>
                <a:spcPts val="3418"/>
              </a:lnSpc>
              <a:buFont typeface="Arial"/>
              <a:buChar char="⚬"/>
            </a:pPr>
            <a:r>
              <a:rPr lang="en-US" sz="2441">
                <a:solidFill>
                  <a:srgbClr val="FFFFFF"/>
                </a:solidFill>
                <a:latin typeface="HK Modular"/>
                <a:ea typeface="HK Modular"/>
                <a:cs typeface="HK Modular"/>
                <a:sym typeface="HK Modular"/>
              </a:rPr>
              <a:t>EMBEBIDO VS REFERENCIADO</a:t>
            </a:r>
          </a:p>
          <a:p>
            <a:pPr algn="l" marL="1054234" indent="-351411" lvl="2">
              <a:lnSpc>
                <a:spcPts val="3418"/>
              </a:lnSpc>
              <a:buFont typeface="Arial"/>
              <a:buChar char="⚬"/>
            </a:pPr>
            <a:r>
              <a:rPr lang="en-US" sz="2441">
                <a:solidFill>
                  <a:srgbClr val="FFFFFF"/>
                </a:solidFill>
                <a:latin typeface="HK Modular"/>
                <a:ea typeface="HK Modular"/>
                <a:cs typeface="HK Modular"/>
                <a:sym typeface="HK Modular"/>
              </a:rPr>
              <a:t>MONGO DB</a:t>
            </a:r>
          </a:p>
          <a:p>
            <a:pPr algn="l" marL="1054234" indent="-351411" lvl="2">
              <a:lnSpc>
                <a:spcPts val="3418"/>
              </a:lnSpc>
              <a:buFont typeface="Arial"/>
              <a:buChar char="⚬"/>
            </a:pPr>
            <a:r>
              <a:rPr lang="en-US" sz="2441">
                <a:solidFill>
                  <a:srgbClr val="FFFFFF"/>
                </a:solidFill>
                <a:latin typeface="HK Modular"/>
                <a:ea typeface="HK Modular"/>
                <a:cs typeface="HK Modular"/>
                <a:sym typeface="HK Modular"/>
              </a:rPr>
              <a:t>IMPLEMENTACION EN MI API</a:t>
            </a:r>
          </a:p>
          <a:p>
            <a:pPr algn="l" marL="1054234" indent="-351411" lvl="2">
              <a:lnSpc>
                <a:spcPts val="3418"/>
              </a:lnSpc>
              <a:buFont typeface="Arial"/>
              <a:buChar char="⚬"/>
            </a:pPr>
            <a:r>
              <a:rPr lang="en-US" sz="2441">
                <a:solidFill>
                  <a:srgbClr val="FFFFFF"/>
                </a:solidFill>
                <a:latin typeface="HK Modular"/>
                <a:ea typeface="HK Modular"/>
                <a:cs typeface="HK Modular"/>
                <a:sym typeface="HK Modular"/>
              </a:rPr>
              <a:t>MODULO DE DIAGRAMACION NO RELACIONAL</a:t>
            </a:r>
          </a:p>
          <a:p>
            <a:pPr algn="l">
              <a:lnSpc>
                <a:spcPts val="3418"/>
              </a:lnSpc>
              <a:spcBef>
                <a:spcPct val="0"/>
              </a:spcBef>
            </a:pPr>
          </a:p>
        </p:txBody>
      </p:sp>
      <p:sp>
        <p:nvSpPr>
          <p:cNvPr name="TextBox 11" id="11"/>
          <p:cNvSpPr txBox="true"/>
          <p:nvPr/>
        </p:nvSpPr>
        <p:spPr>
          <a:xfrm rot="0">
            <a:off x="8085699" y="3615432"/>
            <a:ext cx="8923034" cy="860557"/>
          </a:xfrm>
          <a:prstGeom prst="rect">
            <a:avLst/>
          </a:prstGeom>
        </p:spPr>
        <p:txBody>
          <a:bodyPr anchor="t" rtlCol="false" tIns="0" lIns="0" bIns="0" rIns="0">
            <a:spAutoFit/>
          </a:bodyPr>
          <a:lstStyle/>
          <a:p>
            <a:pPr algn="l" marL="527117" indent="-263559" lvl="1">
              <a:lnSpc>
                <a:spcPts val="3418"/>
              </a:lnSpc>
              <a:buFont typeface="Arial"/>
              <a:buChar char="•"/>
            </a:pPr>
            <a:r>
              <a:rPr lang="en-US" sz="2441">
                <a:solidFill>
                  <a:srgbClr val="FFFFFF"/>
                </a:solidFill>
                <a:latin typeface="HK Modular"/>
                <a:ea typeface="HK Modular"/>
                <a:cs typeface="HK Modular"/>
                <a:sym typeface="HK Modular"/>
              </a:rPr>
              <a:t>PERSISTENCIA RELACIONAL:</a:t>
            </a:r>
          </a:p>
          <a:p>
            <a:pPr algn="l" marL="1054234" indent="-351411" lvl="2">
              <a:lnSpc>
                <a:spcPts val="3418"/>
              </a:lnSpc>
              <a:spcBef>
                <a:spcPct val="0"/>
              </a:spcBef>
              <a:buFont typeface="Arial"/>
              <a:buChar char="⚬"/>
            </a:pPr>
            <a:r>
              <a:rPr lang="en-US" sz="2441">
                <a:solidFill>
                  <a:srgbClr val="FFFFFF"/>
                </a:solidFill>
                <a:latin typeface="HK Modular"/>
                <a:ea typeface="HK Modular"/>
                <a:cs typeface="HK Modular"/>
                <a:sym typeface="HK Modular"/>
              </a:rPr>
              <a:t>ALGINAS ANOTACIONES</a:t>
            </a:r>
          </a:p>
        </p:txBody>
      </p:sp>
      <p:sp>
        <p:nvSpPr>
          <p:cNvPr name="TextBox 12" id="12"/>
          <p:cNvSpPr txBox="true"/>
          <p:nvPr/>
        </p:nvSpPr>
        <p:spPr>
          <a:xfrm rot="0">
            <a:off x="8085699" y="8660794"/>
            <a:ext cx="8923034" cy="427847"/>
          </a:xfrm>
          <a:prstGeom prst="rect">
            <a:avLst/>
          </a:prstGeom>
        </p:spPr>
        <p:txBody>
          <a:bodyPr anchor="t" rtlCol="false" tIns="0" lIns="0" bIns="0" rIns="0">
            <a:spAutoFit/>
          </a:bodyPr>
          <a:lstStyle/>
          <a:p>
            <a:pPr algn="l" marL="527117" indent="-263559" lvl="1">
              <a:lnSpc>
                <a:spcPts val="3418"/>
              </a:lnSpc>
              <a:spcBef>
                <a:spcPct val="0"/>
              </a:spcBef>
              <a:buFont typeface="Arial"/>
              <a:buChar char="•"/>
            </a:pPr>
            <a:r>
              <a:rPr lang="en-US" sz="2441">
                <a:solidFill>
                  <a:srgbClr val="FFFFFF"/>
                </a:solidFill>
                <a:latin typeface="HK Modular"/>
                <a:ea typeface="HK Modular"/>
                <a:cs typeface="HK Modular"/>
                <a:sym typeface="HK Modular"/>
              </a:rPr>
              <a:t>COMO GUARDAR IMAGENES EN UNA API?</a:t>
            </a:r>
          </a:p>
        </p:txBody>
      </p:sp>
      <p:sp>
        <p:nvSpPr>
          <p:cNvPr name="Freeform 13" id="13"/>
          <p:cNvSpPr/>
          <p:nvPr/>
        </p:nvSpPr>
        <p:spPr>
          <a:xfrm flipH="false" flipV="false" rot="0">
            <a:off x="1163911" y="163050"/>
            <a:ext cx="6623053" cy="9668691"/>
          </a:xfrm>
          <a:custGeom>
            <a:avLst/>
            <a:gdLst/>
            <a:ahLst/>
            <a:cxnLst/>
            <a:rect r="r" b="b" t="t" l="l"/>
            <a:pathLst>
              <a:path h="9668691" w="6623053">
                <a:moveTo>
                  <a:pt x="0" y="0"/>
                </a:moveTo>
                <a:lnTo>
                  <a:pt x="6623054" y="0"/>
                </a:lnTo>
                <a:lnTo>
                  <a:pt x="6623054" y="9668691"/>
                </a:lnTo>
                <a:lnTo>
                  <a:pt x="0" y="9668691"/>
                </a:lnTo>
                <a:lnTo>
                  <a:pt x="0" y="0"/>
                </a:lnTo>
                <a:close/>
              </a:path>
            </a:pathLst>
          </a:custGeom>
          <a:blipFill>
            <a:blip r:embed="rId6"/>
            <a:stretch>
              <a:fillRect l="0" t="0" r="0" b="0"/>
            </a:stretch>
          </a:blipFill>
        </p:spPr>
      </p:sp>
      <p:sp>
        <p:nvSpPr>
          <p:cNvPr name="Freeform 14" id="14"/>
          <p:cNvSpPr/>
          <p:nvPr/>
        </p:nvSpPr>
        <p:spPr>
          <a:xfrm flipH="false" flipV="false" rot="0">
            <a:off x="1733001" y="2596719"/>
            <a:ext cx="5415352" cy="5415352"/>
          </a:xfrm>
          <a:custGeom>
            <a:avLst/>
            <a:gdLst/>
            <a:ahLst/>
            <a:cxnLst/>
            <a:rect r="r" b="b" t="t" l="l"/>
            <a:pathLst>
              <a:path h="5415352" w="5415352">
                <a:moveTo>
                  <a:pt x="0" y="0"/>
                </a:moveTo>
                <a:lnTo>
                  <a:pt x="5415352" y="0"/>
                </a:lnTo>
                <a:lnTo>
                  <a:pt x="5415352" y="5415352"/>
                </a:lnTo>
                <a:lnTo>
                  <a:pt x="0" y="5415352"/>
                </a:lnTo>
                <a:lnTo>
                  <a:pt x="0" y="0"/>
                </a:lnTo>
                <a:close/>
              </a:path>
            </a:pathLst>
          </a:custGeom>
          <a:blipFill>
            <a:blip r:embed="rId7"/>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894353" y="6745775"/>
            <a:ext cx="20076706" cy="4517259"/>
          </a:xfrm>
          <a:custGeom>
            <a:avLst/>
            <a:gdLst/>
            <a:ahLst/>
            <a:cxnLst/>
            <a:rect r="r" b="b" t="t" l="l"/>
            <a:pathLst>
              <a:path h="4517259" w="20076706">
                <a:moveTo>
                  <a:pt x="0" y="0"/>
                </a:moveTo>
                <a:lnTo>
                  <a:pt x="20076706" y="0"/>
                </a:lnTo>
                <a:lnTo>
                  <a:pt x="20076706" y="4517259"/>
                </a:lnTo>
                <a:lnTo>
                  <a:pt x="0" y="4517259"/>
                </a:lnTo>
                <a:lnTo>
                  <a:pt x="0" y="0"/>
                </a:lnTo>
                <a:close/>
              </a:path>
            </a:pathLst>
          </a:custGeom>
          <a:blipFill>
            <a:blip r:embed="rId2">
              <a:alphaModFix amt="31999"/>
            </a:blip>
            <a:stretch>
              <a:fillRect l="0" t="0" r="0" b="0"/>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100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5669932" y="-1017864"/>
            <a:ext cx="4077393" cy="4114800"/>
          </a:xfrm>
          <a:custGeom>
            <a:avLst/>
            <a:gdLst/>
            <a:ahLst/>
            <a:cxnLst/>
            <a:rect r="r" b="b" t="t" l="l"/>
            <a:pathLst>
              <a:path h="4114800" w="4077393">
                <a:moveTo>
                  <a:pt x="0" y="0"/>
                </a:moveTo>
                <a:lnTo>
                  <a:pt x="4077392" y="0"/>
                </a:lnTo>
                <a:lnTo>
                  <a:pt x="4077392" y="4114800"/>
                </a:lnTo>
                <a:lnTo>
                  <a:pt x="0" y="4114800"/>
                </a:lnTo>
                <a:lnTo>
                  <a:pt x="0" y="0"/>
                </a:lnTo>
                <a:close/>
              </a:path>
            </a:pathLst>
          </a:custGeom>
          <a:blipFill>
            <a:blip r:embed="rId3">
              <a:alphaModFix amt="14000"/>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8085699" y="1223022"/>
            <a:ext cx="9389196" cy="1115662"/>
          </a:xfrm>
          <a:prstGeom prst="rect">
            <a:avLst/>
          </a:prstGeom>
        </p:spPr>
        <p:txBody>
          <a:bodyPr anchor="t" rtlCol="false" tIns="0" lIns="0" bIns="0" rIns="0">
            <a:spAutoFit/>
          </a:bodyPr>
          <a:lstStyle/>
          <a:p>
            <a:pPr algn="l">
              <a:lnSpc>
                <a:spcPts val="9165"/>
              </a:lnSpc>
              <a:spcBef>
                <a:spcPct val="0"/>
              </a:spcBef>
            </a:pPr>
            <a:r>
              <a:rPr lang="en-US" sz="6546">
                <a:solidFill>
                  <a:srgbClr val="FF007A"/>
                </a:solidFill>
                <a:latin typeface="HK Modular"/>
                <a:ea typeface="HK Modular"/>
                <a:cs typeface="HK Modular"/>
                <a:sym typeface="HK Modular"/>
              </a:rPr>
              <a:t>ORDEN DEL DIA </a:t>
            </a:r>
          </a:p>
        </p:txBody>
      </p:sp>
      <p:sp>
        <p:nvSpPr>
          <p:cNvPr name="Freeform 8" id="8"/>
          <p:cNvSpPr/>
          <p:nvPr/>
        </p:nvSpPr>
        <p:spPr>
          <a:xfrm flipH="false" flipV="false" rot="0">
            <a:off x="8304904" y="437716"/>
            <a:ext cx="601820" cy="601820"/>
          </a:xfrm>
          <a:custGeom>
            <a:avLst/>
            <a:gdLst/>
            <a:ahLst/>
            <a:cxnLst/>
            <a:rect r="r" b="b" t="t" l="l"/>
            <a:pathLst>
              <a:path h="601820" w="601820">
                <a:moveTo>
                  <a:pt x="0" y="0"/>
                </a:moveTo>
                <a:lnTo>
                  <a:pt x="601819" y="0"/>
                </a:lnTo>
                <a:lnTo>
                  <a:pt x="601819" y="601820"/>
                </a:lnTo>
                <a:lnTo>
                  <a:pt x="0" y="601820"/>
                </a:lnTo>
                <a:lnTo>
                  <a:pt x="0" y="0"/>
                </a:lnTo>
                <a:close/>
              </a:path>
            </a:pathLst>
          </a:custGeom>
          <a:blipFill>
            <a:blip r:embed="rId5"/>
            <a:stretch>
              <a:fillRect l="0" t="0" r="0" b="0"/>
            </a:stretch>
          </a:blipFill>
        </p:spPr>
      </p:sp>
      <p:sp>
        <p:nvSpPr>
          <p:cNvPr name="TextBox 9" id="9"/>
          <p:cNvSpPr txBox="true"/>
          <p:nvPr/>
        </p:nvSpPr>
        <p:spPr>
          <a:xfrm rot="0">
            <a:off x="8906723" y="498026"/>
            <a:ext cx="4748826" cy="424049"/>
          </a:xfrm>
          <a:prstGeom prst="rect">
            <a:avLst/>
          </a:prstGeom>
        </p:spPr>
        <p:txBody>
          <a:bodyPr anchor="t" rtlCol="false" tIns="0" lIns="0" bIns="0" rIns="0">
            <a:spAutoFit/>
          </a:bodyPr>
          <a:lstStyle/>
          <a:p>
            <a:pPr algn="ctr">
              <a:lnSpc>
                <a:spcPts val="3402"/>
              </a:lnSpc>
              <a:spcBef>
                <a:spcPct val="0"/>
              </a:spcBef>
            </a:pPr>
            <a:r>
              <a:rPr lang="en-US" sz="2430">
                <a:solidFill>
                  <a:srgbClr val="FFFFFF"/>
                </a:solidFill>
                <a:latin typeface="RQND Pro"/>
                <a:ea typeface="RQND Pro"/>
                <a:cs typeface="RQND Pro"/>
                <a:sym typeface="RQND Pro"/>
              </a:rPr>
              <a:t>ESCUELA COLOMBIANA DE INGENIERIA</a:t>
            </a:r>
          </a:p>
        </p:txBody>
      </p:sp>
      <p:sp>
        <p:nvSpPr>
          <p:cNvPr name="TextBox 10" id="10"/>
          <p:cNvSpPr txBox="true"/>
          <p:nvPr/>
        </p:nvSpPr>
        <p:spPr>
          <a:xfrm rot="0">
            <a:off x="8085699" y="2710159"/>
            <a:ext cx="8923034" cy="6485792"/>
          </a:xfrm>
          <a:prstGeom prst="rect">
            <a:avLst/>
          </a:prstGeom>
        </p:spPr>
        <p:txBody>
          <a:bodyPr anchor="t" rtlCol="false" tIns="0" lIns="0" bIns="0" rIns="0">
            <a:spAutoFit/>
          </a:bodyPr>
          <a:lstStyle/>
          <a:p>
            <a:pPr algn="l" marL="527117" indent="-263559" lvl="1">
              <a:lnSpc>
                <a:spcPts val="3418"/>
              </a:lnSpc>
              <a:buFont typeface="Arial"/>
              <a:buChar char="•"/>
            </a:pPr>
            <a:r>
              <a:rPr lang="en-US" sz="2441">
                <a:solidFill>
                  <a:srgbClr val="FFFFFF"/>
                </a:solidFill>
                <a:latin typeface="HK Modular"/>
                <a:ea typeface="HK Modular"/>
                <a:cs typeface="HK Modular"/>
                <a:sym typeface="HK Modular"/>
              </a:rPr>
              <a:t>CI/CD</a:t>
            </a:r>
          </a:p>
          <a:p>
            <a:pPr algn="l" marL="527117" indent="-263559" lvl="1">
              <a:lnSpc>
                <a:spcPts val="3418"/>
              </a:lnSpc>
              <a:buFont typeface="Arial"/>
              <a:buChar char="•"/>
            </a:pPr>
            <a:r>
              <a:rPr lang="en-US" sz="2441">
                <a:solidFill>
                  <a:srgbClr val="FFFFFF"/>
                </a:solidFill>
                <a:latin typeface="HK Modular"/>
                <a:ea typeface="HK Modular"/>
                <a:cs typeface="HK Modular"/>
                <a:sym typeface="HK Modular"/>
              </a:rPr>
              <a:t>Automatizacion con Pipelines</a:t>
            </a:r>
          </a:p>
          <a:p>
            <a:pPr algn="l" marL="527117" indent="-263559" lvl="1">
              <a:lnSpc>
                <a:spcPts val="3418"/>
              </a:lnSpc>
              <a:buFont typeface="Arial"/>
              <a:buChar char="•"/>
            </a:pPr>
            <a:r>
              <a:rPr lang="en-US" sz="2441">
                <a:solidFill>
                  <a:srgbClr val="FFFFFF"/>
                </a:solidFill>
                <a:latin typeface="HK Modular"/>
                <a:ea typeface="HK Modular"/>
                <a:cs typeface="HK Modular"/>
                <a:sym typeface="HK Modular"/>
              </a:rPr>
              <a:t>Ambiente de Pruebas: SBX, Preprod y Produccion</a:t>
            </a:r>
          </a:p>
          <a:p>
            <a:pPr algn="l" marL="527117" indent="-263559" lvl="1">
              <a:lnSpc>
                <a:spcPts val="3418"/>
              </a:lnSpc>
              <a:buFont typeface="Arial"/>
              <a:buChar char="•"/>
            </a:pPr>
            <a:r>
              <a:rPr lang="en-US" sz="2441">
                <a:solidFill>
                  <a:srgbClr val="FFFFFF"/>
                </a:solidFill>
                <a:latin typeface="HK Modular"/>
                <a:ea typeface="HK Modular"/>
                <a:cs typeface="HK Modular"/>
                <a:sym typeface="HK Modular"/>
              </a:rPr>
              <a:t>DevOps</a:t>
            </a:r>
          </a:p>
          <a:p>
            <a:pPr algn="l" marL="527117" indent="-263559" lvl="1">
              <a:lnSpc>
                <a:spcPts val="3418"/>
              </a:lnSpc>
              <a:buFont typeface="Arial"/>
              <a:buChar char="•"/>
            </a:pPr>
            <a:r>
              <a:rPr lang="en-US" sz="2441">
                <a:solidFill>
                  <a:srgbClr val="FFFFFF"/>
                </a:solidFill>
                <a:latin typeface="HK Modular"/>
                <a:ea typeface="HK Modular"/>
                <a:cs typeface="HK Modular"/>
                <a:sym typeface="HK Modular"/>
              </a:rPr>
              <a:t>IT as A Service</a:t>
            </a:r>
          </a:p>
          <a:p>
            <a:pPr algn="l" marL="527117" indent="-263559" lvl="1">
              <a:lnSpc>
                <a:spcPts val="3418"/>
              </a:lnSpc>
              <a:buFont typeface="Arial"/>
              <a:buChar char="•"/>
            </a:pPr>
            <a:r>
              <a:rPr lang="en-US" sz="2441">
                <a:solidFill>
                  <a:srgbClr val="FFFFFF"/>
                </a:solidFill>
                <a:latin typeface="HK Modular"/>
                <a:ea typeface="HK Modular"/>
                <a:cs typeface="HK Modular"/>
                <a:sym typeface="HK Modular"/>
              </a:rPr>
              <a:t>Microcontenedores</a:t>
            </a:r>
          </a:p>
          <a:p>
            <a:pPr algn="l" marL="1054234" indent="-351411" lvl="2">
              <a:lnSpc>
                <a:spcPts val="3418"/>
              </a:lnSpc>
              <a:buFont typeface="Arial"/>
              <a:buChar char="⚬"/>
            </a:pPr>
            <a:r>
              <a:rPr lang="en-US" sz="2441">
                <a:solidFill>
                  <a:srgbClr val="FFFFFF"/>
                </a:solidFill>
                <a:latin typeface="HK Modular"/>
                <a:ea typeface="HK Modular"/>
                <a:cs typeface="HK Modular"/>
                <a:sym typeface="HK Modular"/>
              </a:rPr>
              <a:t>Docker vs Kubernetes</a:t>
            </a:r>
          </a:p>
          <a:p>
            <a:pPr algn="l" marL="1054234" indent="-351411" lvl="2">
              <a:lnSpc>
                <a:spcPts val="3418"/>
              </a:lnSpc>
              <a:buFont typeface="Arial"/>
              <a:buChar char="⚬"/>
            </a:pPr>
            <a:r>
              <a:rPr lang="en-US" sz="2441">
                <a:solidFill>
                  <a:srgbClr val="FFFFFF"/>
                </a:solidFill>
                <a:latin typeface="HK Modular"/>
                <a:ea typeface="HK Modular"/>
                <a:cs typeface="HK Modular"/>
                <a:sym typeface="HK Modular"/>
              </a:rPr>
              <a:t>Escalamiento Vertical Vs Horizontal</a:t>
            </a:r>
          </a:p>
          <a:p>
            <a:pPr algn="l" marL="527117" indent="-263559" lvl="1">
              <a:lnSpc>
                <a:spcPts val="3418"/>
              </a:lnSpc>
              <a:buFont typeface="Arial"/>
              <a:buChar char="•"/>
            </a:pPr>
            <a:r>
              <a:rPr lang="en-US" sz="2441">
                <a:solidFill>
                  <a:srgbClr val="FFFFFF"/>
                </a:solidFill>
                <a:latin typeface="HK Modular"/>
                <a:ea typeface="HK Modular"/>
                <a:cs typeface="HK Modular"/>
                <a:sym typeface="HK Modular"/>
              </a:rPr>
              <a:t>Modulo de Diagramacion #6: Diagrama de Despliegue</a:t>
            </a:r>
          </a:p>
          <a:p>
            <a:pPr algn="l" marL="527117" indent="-263559" lvl="1">
              <a:lnSpc>
                <a:spcPts val="3418"/>
              </a:lnSpc>
              <a:buFont typeface="Arial"/>
              <a:buChar char="•"/>
            </a:pPr>
            <a:r>
              <a:rPr lang="en-US" sz="2441">
                <a:solidFill>
                  <a:srgbClr val="FFFFFF"/>
                </a:solidFill>
                <a:latin typeface="HK Modular"/>
                <a:ea typeface="HK Modular"/>
                <a:cs typeface="HK Modular"/>
                <a:sym typeface="HK Modular"/>
              </a:rPr>
              <a:t>High Level Design: Documento de arquitectura de un sistema</a:t>
            </a:r>
          </a:p>
          <a:p>
            <a:pPr algn="l">
              <a:lnSpc>
                <a:spcPts val="3418"/>
              </a:lnSpc>
              <a:spcBef>
                <a:spcPct val="0"/>
              </a:spcBef>
            </a:pPr>
          </a:p>
        </p:txBody>
      </p:sp>
      <p:sp>
        <p:nvSpPr>
          <p:cNvPr name="Freeform 11" id="11"/>
          <p:cNvSpPr/>
          <p:nvPr/>
        </p:nvSpPr>
        <p:spPr>
          <a:xfrm flipH="false" flipV="false" rot="0">
            <a:off x="1163911" y="163050"/>
            <a:ext cx="6623053" cy="9668691"/>
          </a:xfrm>
          <a:custGeom>
            <a:avLst/>
            <a:gdLst/>
            <a:ahLst/>
            <a:cxnLst/>
            <a:rect r="r" b="b" t="t" l="l"/>
            <a:pathLst>
              <a:path h="9668691" w="6623053">
                <a:moveTo>
                  <a:pt x="0" y="0"/>
                </a:moveTo>
                <a:lnTo>
                  <a:pt x="6623054" y="0"/>
                </a:lnTo>
                <a:lnTo>
                  <a:pt x="6623054" y="9668691"/>
                </a:lnTo>
                <a:lnTo>
                  <a:pt x="0" y="9668691"/>
                </a:lnTo>
                <a:lnTo>
                  <a:pt x="0" y="0"/>
                </a:lnTo>
                <a:close/>
              </a:path>
            </a:pathLst>
          </a:custGeom>
          <a:blipFill>
            <a:blip r:embed="rId6"/>
            <a:stretch>
              <a:fillRect l="0" t="0" r="0" b="0"/>
            </a:stretch>
          </a:blipFill>
        </p:spPr>
      </p:sp>
      <p:sp>
        <p:nvSpPr>
          <p:cNvPr name="Freeform 12" id="12"/>
          <p:cNvSpPr/>
          <p:nvPr/>
        </p:nvSpPr>
        <p:spPr>
          <a:xfrm flipH="false" flipV="false" rot="0">
            <a:off x="1733001" y="2596719"/>
            <a:ext cx="5415352" cy="5415352"/>
          </a:xfrm>
          <a:custGeom>
            <a:avLst/>
            <a:gdLst/>
            <a:ahLst/>
            <a:cxnLst/>
            <a:rect r="r" b="b" t="t" l="l"/>
            <a:pathLst>
              <a:path h="5415352" w="5415352">
                <a:moveTo>
                  <a:pt x="0" y="0"/>
                </a:moveTo>
                <a:lnTo>
                  <a:pt x="5415352" y="0"/>
                </a:lnTo>
                <a:lnTo>
                  <a:pt x="5415352" y="5415352"/>
                </a:lnTo>
                <a:lnTo>
                  <a:pt x="0" y="5415352"/>
                </a:lnTo>
                <a:lnTo>
                  <a:pt x="0" y="0"/>
                </a:lnTo>
                <a:close/>
              </a:path>
            </a:pathLst>
          </a:custGeom>
          <a:blipFill>
            <a:blip r:embed="rId7"/>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ED">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ED">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392623" y="3522010"/>
            <a:ext cx="15721487" cy="3071531"/>
          </a:xfrm>
          <a:prstGeom prst="rect">
            <a:avLst/>
          </a:prstGeom>
        </p:spPr>
        <p:txBody>
          <a:bodyPr anchor="t" rtlCol="false" tIns="0" lIns="0" bIns="0" rIns="0">
            <a:spAutoFit/>
          </a:bodyPr>
          <a:lstStyle/>
          <a:p>
            <a:pPr algn="ctr">
              <a:lnSpc>
                <a:spcPts val="12353"/>
              </a:lnSpc>
              <a:spcBef>
                <a:spcPct val="0"/>
              </a:spcBef>
            </a:pPr>
            <a:r>
              <a:rPr lang="en-US" sz="8823">
                <a:solidFill>
                  <a:srgbClr val="FF751F"/>
                </a:solidFill>
                <a:latin typeface="HK Modular"/>
                <a:ea typeface="HK Modular"/>
                <a:cs typeface="HK Modular"/>
                <a:sym typeface="HK Modular"/>
              </a:rPr>
              <a:t>PERSISTENCIA RELACIONAL</a:t>
            </a:r>
          </a:p>
        </p:txBody>
      </p:sp>
      <p:sp>
        <p:nvSpPr>
          <p:cNvPr name="Freeform 13" id="13"/>
          <p:cNvSpPr/>
          <p:nvPr/>
        </p:nvSpPr>
        <p:spPr>
          <a:xfrm flipH="false" flipV="false" rot="0">
            <a:off x="7757424" y="-131797"/>
            <a:ext cx="2991887" cy="2991887"/>
          </a:xfrm>
          <a:custGeom>
            <a:avLst/>
            <a:gdLst/>
            <a:ahLst/>
            <a:cxnLst/>
            <a:rect r="r" b="b" t="t" l="l"/>
            <a:pathLst>
              <a:path h="2991887" w="2991887">
                <a:moveTo>
                  <a:pt x="0" y="0"/>
                </a:moveTo>
                <a:lnTo>
                  <a:pt x="2991886" y="0"/>
                </a:lnTo>
                <a:lnTo>
                  <a:pt x="2991886" y="2991886"/>
                </a:lnTo>
                <a:lnTo>
                  <a:pt x="0" y="2991886"/>
                </a:lnTo>
                <a:lnTo>
                  <a:pt x="0" y="0"/>
                </a:lnTo>
                <a:close/>
              </a:path>
            </a:pathLst>
          </a:custGeom>
          <a:blipFill>
            <a:blip r:embed="rId3"/>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2301891" y="5334714"/>
            <a:ext cx="5106239" cy="512332"/>
          </a:xfrm>
          <a:custGeom>
            <a:avLst/>
            <a:gdLst/>
            <a:ahLst/>
            <a:cxnLst/>
            <a:rect r="r" b="b" t="t" l="l"/>
            <a:pathLst>
              <a:path h="512332" w="5106239">
                <a:moveTo>
                  <a:pt x="0" y="0"/>
                </a:moveTo>
                <a:lnTo>
                  <a:pt x="5106240" y="0"/>
                </a:lnTo>
                <a:lnTo>
                  <a:pt x="5106240" y="512331"/>
                </a:lnTo>
                <a:lnTo>
                  <a:pt x="0" y="512331"/>
                </a:lnTo>
                <a:lnTo>
                  <a:pt x="0" y="0"/>
                </a:lnTo>
                <a:close/>
              </a:path>
            </a:pathLst>
          </a:custGeom>
          <a:blipFill>
            <a:blip r:embed="rId3"/>
            <a:stretch>
              <a:fillRect l="0" t="0" r="0" b="0"/>
            </a:stretch>
          </a:blipFill>
        </p:spPr>
      </p:sp>
      <p:sp>
        <p:nvSpPr>
          <p:cNvPr name="Freeform 7" id="7"/>
          <p:cNvSpPr/>
          <p:nvPr/>
        </p:nvSpPr>
        <p:spPr>
          <a:xfrm flipH="false" flipV="false" rot="0">
            <a:off x="12032529" y="5205185"/>
            <a:ext cx="3911979" cy="422039"/>
          </a:xfrm>
          <a:custGeom>
            <a:avLst/>
            <a:gdLst/>
            <a:ahLst/>
            <a:cxnLst/>
            <a:rect r="r" b="b" t="t" l="l"/>
            <a:pathLst>
              <a:path h="422039" w="3911979">
                <a:moveTo>
                  <a:pt x="0" y="0"/>
                </a:moveTo>
                <a:lnTo>
                  <a:pt x="3911979" y="0"/>
                </a:lnTo>
                <a:lnTo>
                  <a:pt x="3911979" y="422040"/>
                </a:lnTo>
                <a:lnTo>
                  <a:pt x="0" y="422040"/>
                </a:lnTo>
                <a:lnTo>
                  <a:pt x="0" y="0"/>
                </a:lnTo>
                <a:close/>
              </a:path>
            </a:pathLst>
          </a:custGeom>
          <a:blipFill>
            <a:blip r:embed="rId4"/>
            <a:stretch>
              <a:fillRect l="0" t="0" r="0" b="0"/>
            </a:stretch>
          </a:blipFill>
        </p:spPr>
      </p:sp>
      <p:sp>
        <p:nvSpPr>
          <p:cNvPr name="Freeform 8" id="8"/>
          <p:cNvSpPr/>
          <p:nvPr/>
        </p:nvSpPr>
        <p:spPr>
          <a:xfrm flipH="false" flipV="false" rot="0">
            <a:off x="10631227" y="6105078"/>
            <a:ext cx="6714582" cy="2269529"/>
          </a:xfrm>
          <a:custGeom>
            <a:avLst/>
            <a:gdLst/>
            <a:ahLst/>
            <a:cxnLst/>
            <a:rect r="r" b="b" t="t" l="l"/>
            <a:pathLst>
              <a:path h="2269529" w="6714582">
                <a:moveTo>
                  <a:pt x="0" y="0"/>
                </a:moveTo>
                <a:lnTo>
                  <a:pt x="6714583" y="0"/>
                </a:lnTo>
                <a:lnTo>
                  <a:pt x="6714583" y="2269529"/>
                </a:lnTo>
                <a:lnTo>
                  <a:pt x="0" y="2269529"/>
                </a:lnTo>
                <a:lnTo>
                  <a:pt x="0" y="0"/>
                </a:lnTo>
                <a:close/>
              </a:path>
            </a:pathLst>
          </a:custGeom>
          <a:blipFill>
            <a:blip r:embed="rId5"/>
            <a:stretch>
              <a:fillRect l="0" t="0" r="0" b="0"/>
            </a:stretch>
          </a:blipFill>
        </p:spPr>
      </p:sp>
      <p:sp>
        <p:nvSpPr>
          <p:cNvPr name="Freeform 9" id="9"/>
          <p:cNvSpPr/>
          <p:nvPr/>
        </p:nvSpPr>
        <p:spPr>
          <a:xfrm flipH="false" flipV="false" rot="0">
            <a:off x="2895895" y="6247095"/>
            <a:ext cx="3918232" cy="1967047"/>
          </a:xfrm>
          <a:custGeom>
            <a:avLst/>
            <a:gdLst/>
            <a:ahLst/>
            <a:cxnLst/>
            <a:rect r="r" b="b" t="t" l="l"/>
            <a:pathLst>
              <a:path h="1967047" w="3918232">
                <a:moveTo>
                  <a:pt x="0" y="0"/>
                </a:moveTo>
                <a:lnTo>
                  <a:pt x="3918232" y="0"/>
                </a:lnTo>
                <a:lnTo>
                  <a:pt x="3918232" y="1967048"/>
                </a:lnTo>
                <a:lnTo>
                  <a:pt x="0" y="1967048"/>
                </a:lnTo>
                <a:lnTo>
                  <a:pt x="0" y="0"/>
                </a:lnTo>
                <a:close/>
              </a:path>
            </a:pathLst>
          </a:custGeom>
          <a:blipFill>
            <a:blip r:embed="rId6"/>
            <a:stretch>
              <a:fillRect l="0" t="0" r="0" b="0"/>
            </a:stretch>
          </a:blipFill>
        </p:spPr>
      </p:sp>
      <p:sp>
        <p:nvSpPr>
          <p:cNvPr name="Freeform 10" id="10"/>
          <p:cNvSpPr/>
          <p:nvPr/>
        </p:nvSpPr>
        <p:spPr>
          <a:xfrm flipH="false" flipV="false" rot="0">
            <a:off x="2471910" y="8614193"/>
            <a:ext cx="4766202" cy="932959"/>
          </a:xfrm>
          <a:custGeom>
            <a:avLst/>
            <a:gdLst/>
            <a:ahLst/>
            <a:cxnLst/>
            <a:rect r="r" b="b" t="t" l="l"/>
            <a:pathLst>
              <a:path h="932959" w="4766202">
                <a:moveTo>
                  <a:pt x="0" y="0"/>
                </a:moveTo>
                <a:lnTo>
                  <a:pt x="4766202" y="0"/>
                </a:lnTo>
                <a:lnTo>
                  <a:pt x="4766202" y="932958"/>
                </a:lnTo>
                <a:lnTo>
                  <a:pt x="0" y="932958"/>
                </a:lnTo>
                <a:lnTo>
                  <a:pt x="0" y="0"/>
                </a:lnTo>
                <a:close/>
              </a:path>
            </a:pathLst>
          </a:custGeom>
          <a:blipFill>
            <a:blip r:embed="rId7"/>
            <a:stretch>
              <a:fillRect l="0" t="0" r="0" b="0"/>
            </a:stretch>
          </a:blipFill>
        </p:spPr>
      </p:sp>
      <p:sp>
        <p:nvSpPr>
          <p:cNvPr name="Freeform 11" id="11"/>
          <p:cNvSpPr/>
          <p:nvPr/>
        </p:nvSpPr>
        <p:spPr>
          <a:xfrm flipH="false" flipV="false" rot="0">
            <a:off x="11177598" y="8696927"/>
            <a:ext cx="5913157" cy="767489"/>
          </a:xfrm>
          <a:custGeom>
            <a:avLst/>
            <a:gdLst/>
            <a:ahLst/>
            <a:cxnLst/>
            <a:rect r="r" b="b" t="t" l="l"/>
            <a:pathLst>
              <a:path h="767489" w="5913157">
                <a:moveTo>
                  <a:pt x="0" y="0"/>
                </a:moveTo>
                <a:lnTo>
                  <a:pt x="5913157" y="0"/>
                </a:lnTo>
                <a:lnTo>
                  <a:pt x="5913157" y="767490"/>
                </a:lnTo>
                <a:lnTo>
                  <a:pt x="0" y="767490"/>
                </a:lnTo>
                <a:lnTo>
                  <a:pt x="0" y="0"/>
                </a:lnTo>
                <a:close/>
              </a:path>
            </a:pathLst>
          </a:custGeom>
          <a:blipFill>
            <a:blip r:embed="rId8"/>
            <a:stretch>
              <a:fillRect l="0" t="0" r="0" b="0"/>
            </a:stretch>
          </a:blipFill>
        </p:spPr>
      </p:sp>
      <p:sp>
        <p:nvSpPr>
          <p:cNvPr name="TextBox 12" id="12"/>
          <p:cNvSpPr txBox="true"/>
          <p:nvPr/>
        </p:nvSpPr>
        <p:spPr>
          <a:xfrm rot="0">
            <a:off x="1313943" y="1212167"/>
            <a:ext cx="16552439" cy="1739679"/>
          </a:xfrm>
          <a:prstGeom prst="rect">
            <a:avLst/>
          </a:prstGeom>
        </p:spPr>
        <p:txBody>
          <a:bodyPr anchor="t" rtlCol="false" tIns="0" lIns="0" bIns="0" rIns="0">
            <a:spAutoFit/>
          </a:bodyPr>
          <a:lstStyle/>
          <a:p>
            <a:pPr algn="ctr">
              <a:lnSpc>
                <a:spcPts val="7012"/>
              </a:lnSpc>
              <a:spcBef>
                <a:spcPct val="0"/>
              </a:spcBef>
            </a:pPr>
            <a:r>
              <a:rPr lang="en-US" sz="5008">
                <a:solidFill>
                  <a:srgbClr val="FF007A"/>
                </a:solidFill>
                <a:latin typeface="HK Modular"/>
                <a:ea typeface="HK Modular"/>
                <a:cs typeface="HK Modular"/>
                <a:sym typeface="HK Modular"/>
              </a:rPr>
              <a:t>ALGUNAS ANOTACIONES ADICIONALES</a:t>
            </a:r>
          </a:p>
        </p:txBody>
      </p:sp>
      <p:sp>
        <p:nvSpPr>
          <p:cNvPr name="TextBox 13" id="13"/>
          <p:cNvSpPr txBox="true"/>
          <p:nvPr/>
        </p:nvSpPr>
        <p:spPr>
          <a:xfrm rot="0">
            <a:off x="456655" y="3498752"/>
            <a:ext cx="8796712" cy="9150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@ManyToOne : Muchas filas de una tabla apuntan a una sola fila de otra</a:t>
            </a:r>
          </a:p>
        </p:txBody>
      </p:sp>
      <p:sp>
        <p:nvSpPr>
          <p:cNvPr name="TextBox 14" id="14"/>
          <p:cNvSpPr txBox="true"/>
          <p:nvPr/>
        </p:nvSpPr>
        <p:spPr>
          <a:xfrm rot="0">
            <a:off x="9590163" y="3498752"/>
            <a:ext cx="8796712" cy="9150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@OneToMany : Una fila se relaciona con muchas en otra tabla</a:t>
            </a:r>
          </a:p>
        </p:txBody>
      </p:sp>
      <p:sp>
        <p:nvSpPr>
          <p:cNvPr name="TextBox 15" id="15"/>
          <p:cNvSpPr txBox="true"/>
          <p:nvPr/>
        </p:nvSpPr>
        <p:spPr>
          <a:xfrm rot="0">
            <a:off x="1166748" y="4762046"/>
            <a:ext cx="7376526" cy="381454"/>
          </a:xfrm>
          <a:prstGeom prst="rect">
            <a:avLst/>
          </a:prstGeom>
        </p:spPr>
        <p:txBody>
          <a:bodyPr anchor="t" rtlCol="false" tIns="0" lIns="0" bIns="0" rIns="0">
            <a:spAutoFit/>
          </a:bodyPr>
          <a:lstStyle/>
          <a:p>
            <a:pPr algn="ctr">
              <a:lnSpc>
                <a:spcPts val="3124"/>
              </a:lnSpc>
              <a:spcBef>
                <a:spcPct val="0"/>
              </a:spcBef>
            </a:pPr>
            <a:r>
              <a:rPr lang="en-US" sz="2232">
                <a:solidFill>
                  <a:srgbClr val="FF751F"/>
                </a:solidFill>
                <a:latin typeface="HK Modular"/>
                <a:ea typeface="HK Modular"/>
                <a:cs typeface="HK Modular"/>
                <a:sym typeface="HK Modular"/>
              </a:rPr>
              <a:t>EJEMPLO</a:t>
            </a:r>
          </a:p>
        </p:txBody>
      </p:sp>
      <p:sp>
        <p:nvSpPr>
          <p:cNvPr name="TextBox 16" id="16"/>
          <p:cNvSpPr txBox="true"/>
          <p:nvPr/>
        </p:nvSpPr>
        <p:spPr>
          <a:xfrm rot="0">
            <a:off x="10300256" y="4595131"/>
            <a:ext cx="7376526" cy="381454"/>
          </a:xfrm>
          <a:prstGeom prst="rect">
            <a:avLst/>
          </a:prstGeom>
        </p:spPr>
        <p:txBody>
          <a:bodyPr anchor="t" rtlCol="false" tIns="0" lIns="0" bIns="0" rIns="0">
            <a:spAutoFit/>
          </a:bodyPr>
          <a:lstStyle/>
          <a:p>
            <a:pPr algn="ctr">
              <a:lnSpc>
                <a:spcPts val="3124"/>
              </a:lnSpc>
              <a:spcBef>
                <a:spcPct val="0"/>
              </a:spcBef>
            </a:pPr>
            <a:r>
              <a:rPr lang="en-US" sz="2232">
                <a:solidFill>
                  <a:srgbClr val="FF751F"/>
                </a:solidFill>
                <a:latin typeface="HK Modular"/>
                <a:ea typeface="HK Modular"/>
                <a:cs typeface="HK Modular"/>
                <a:sym typeface="HK Modular"/>
              </a:rPr>
              <a:t>EJEMPLO</a:t>
            </a:r>
          </a:p>
        </p:txBody>
      </p:sp>
      <p:sp>
        <p:nvSpPr>
          <p:cNvPr name="Freeform 17" id="17"/>
          <p:cNvSpPr/>
          <p:nvPr/>
        </p:nvSpPr>
        <p:spPr>
          <a:xfrm flipH="false" flipV="false" rot="0">
            <a:off x="8336997" y="-301270"/>
            <a:ext cx="1832739" cy="1832739"/>
          </a:xfrm>
          <a:custGeom>
            <a:avLst/>
            <a:gdLst/>
            <a:ahLst/>
            <a:cxnLst/>
            <a:rect r="r" b="b" t="t" l="l"/>
            <a:pathLst>
              <a:path h="1832739" w="1832739">
                <a:moveTo>
                  <a:pt x="0" y="0"/>
                </a:moveTo>
                <a:lnTo>
                  <a:pt x="1832740" y="0"/>
                </a:lnTo>
                <a:lnTo>
                  <a:pt x="1832740" y="1832739"/>
                </a:lnTo>
                <a:lnTo>
                  <a:pt x="0" y="1832739"/>
                </a:lnTo>
                <a:lnTo>
                  <a:pt x="0" y="0"/>
                </a:lnTo>
                <a:close/>
              </a:path>
            </a:pathLst>
          </a:custGeom>
          <a:blipFill>
            <a:blip r:embed="rId9"/>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3178689" y="5416205"/>
            <a:ext cx="3352645" cy="410164"/>
          </a:xfrm>
          <a:custGeom>
            <a:avLst/>
            <a:gdLst/>
            <a:ahLst/>
            <a:cxnLst/>
            <a:rect r="r" b="b" t="t" l="l"/>
            <a:pathLst>
              <a:path h="410164" w="3352645">
                <a:moveTo>
                  <a:pt x="0" y="0"/>
                </a:moveTo>
                <a:lnTo>
                  <a:pt x="3352645" y="0"/>
                </a:lnTo>
                <a:lnTo>
                  <a:pt x="3352645" y="410164"/>
                </a:lnTo>
                <a:lnTo>
                  <a:pt x="0" y="410164"/>
                </a:lnTo>
                <a:lnTo>
                  <a:pt x="0" y="0"/>
                </a:lnTo>
                <a:close/>
              </a:path>
            </a:pathLst>
          </a:custGeom>
          <a:blipFill>
            <a:blip r:embed="rId3"/>
            <a:stretch>
              <a:fillRect l="0" t="0" r="0" b="0"/>
            </a:stretch>
          </a:blipFill>
        </p:spPr>
      </p:sp>
      <p:sp>
        <p:nvSpPr>
          <p:cNvPr name="Freeform 7" id="7"/>
          <p:cNvSpPr/>
          <p:nvPr/>
        </p:nvSpPr>
        <p:spPr>
          <a:xfrm flipH="false" flipV="false" rot="0">
            <a:off x="3013486" y="6026394"/>
            <a:ext cx="3683051" cy="2614215"/>
          </a:xfrm>
          <a:custGeom>
            <a:avLst/>
            <a:gdLst/>
            <a:ahLst/>
            <a:cxnLst/>
            <a:rect r="r" b="b" t="t" l="l"/>
            <a:pathLst>
              <a:path h="2614215" w="3683051">
                <a:moveTo>
                  <a:pt x="0" y="0"/>
                </a:moveTo>
                <a:lnTo>
                  <a:pt x="3683050" y="0"/>
                </a:lnTo>
                <a:lnTo>
                  <a:pt x="3683050" y="2614215"/>
                </a:lnTo>
                <a:lnTo>
                  <a:pt x="0" y="2614215"/>
                </a:lnTo>
                <a:lnTo>
                  <a:pt x="0" y="0"/>
                </a:lnTo>
                <a:close/>
              </a:path>
            </a:pathLst>
          </a:custGeom>
          <a:blipFill>
            <a:blip r:embed="rId4"/>
            <a:stretch>
              <a:fillRect l="0" t="0" r="-1959" b="0"/>
            </a:stretch>
          </a:blipFill>
        </p:spPr>
      </p:sp>
      <p:sp>
        <p:nvSpPr>
          <p:cNvPr name="Freeform 8" id="8"/>
          <p:cNvSpPr/>
          <p:nvPr/>
        </p:nvSpPr>
        <p:spPr>
          <a:xfrm flipH="false" flipV="false" rot="0">
            <a:off x="2272618" y="8840634"/>
            <a:ext cx="5164785" cy="1135293"/>
          </a:xfrm>
          <a:custGeom>
            <a:avLst/>
            <a:gdLst/>
            <a:ahLst/>
            <a:cxnLst/>
            <a:rect r="r" b="b" t="t" l="l"/>
            <a:pathLst>
              <a:path h="1135293" w="5164785">
                <a:moveTo>
                  <a:pt x="0" y="0"/>
                </a:moveTo>
                <a:lnTo>
                  <a:pt x="5164786" y="0"/>
                </a:lnTo>
                <a:lnTo>
                  <a:pt x="5164786" y="1135293"/>
                </a:lnTo>
                <a:lnTo>
                  <a:pt x="0" y="1135293"/>
                </a:lnTo>
                <a:lnTo>
                  <a:pt x="0" y="0"/>
                </a:lnTo>
                <a:close/>
              </a:path>
            </a:pathLst>
          </a:custGeom>
          <a:blipFill>
            <a:blip r:embed="rId5"/>
            <a:stretch>
              <a:fillRect l="0" t="0" r="0" b="0"/>
            </a:stretch>
          </a:blipFill>
        </p:spPr>
      </p:sp>
      <p:sp>
        <p:nvSpPr>
          <p:cNvPr name="Freeform 9" id="9"/>
          <p:cNvSpPr/>
          <p:nvPr/>
        </p:nvSpPr>
        <p:spPr>
          <a:xfrm flipH="false" flipV="false" rot="0">
            <a:off x="11938913" y="5076513"/>
            <a:ext cx="4099211" cy="749856"/>
          </a:xfrm>
          <a:custGeom>
            <a:avLst/>
            <a:gdLst/>
            <a:ahLst/>
            <a:cxnLst/>
            <a:rect r="r" b="b" t="t" l="l"/>
            <a:pathLst>
              <a:path h="749856" w="4099211">
                <a:moveTo>
                  <a:pt x="0" y="0"/>
                </a:moveTo>
                <a:lnTo>
                  <a:pt x="4099211" y="0"/>
                </a:lnTo>
                <a:lnTo>
                  <a:pt x="4099211" y="749856"/>
                </a:lnTo>
                <a:lnTo>
                  <a:pt x="0" y="749856"/>
                </a:lnTo>
                <a:lnTo>
                  <a:pt x="0" y="0"/>
                </a:lnTo>
                <a:close/>
              </a:path>
            </a:pathLst>
          </a:custGeom>
          <a:blipFill>
            <a:blip r:embed="rId6"/>
            <a:stretch>
              <a:fillRect l="0" t="0" r="0" b="0"/>
            </a:stretch>
          </a:blipFill>
        </p:spPr>
      </p:sp>
      <p:sp>
        <p:nvSpPr>
          <p:cNvPr name="Freeform 10" id="10"/>
          <p:cNvSpPr/>
          <p:nvPr/>
        </p:nvSpPr>
        <p:spPr>
          <a:xfrm flipH="false" flipV="false" rot="0">
            <a:off x="8941651" y="6130173"/>
            <a:ext cx="4691117" cy="2749578"/>
          </a:xfrm>
          <a:custGeom>
            <a:avLst/>
            <a:gdLst/>
            <a:ahLst/>
            <a:cxnLst/>
            <a:rect r="r" b="b" t="t" l="l"/>
            <a:pathLst>
              <a:path h="2749578" w="4691117">
                <a:moveTo>
                  <a:pt x="0" y="0"/>
                </a:moveTo>
                <a:lnTo>
                  <a:pt x="4691118" y="0"/>
                </a:lnTo>
                <a:lnTo>
                  <a:pt x="4691118" y="2749578"/>
                </a:lnTo>
                <a:lnTo>
                  <a:pt x="0" y="2749578"/>
                </a:lnTo>
                <a:lnTo>
                  <a:pt x="0" y="0"/>
                </a:lnTo>
                <a:close/>
              </a:path>
            </a:pathLst>
          </a:custGeom>
          <a:blipFill>
            <a:blip r:embed="rId7"/>
            <a:stretch>
              <a:fillRect l="0" t="0" r="0" b="0"/>
            </a:stretch>
          </a:blipFill>
        </p:spPr>
      </p:sp>
      <p:sp>
        <p:nvSpPr>
          <p:cNvPr name="Freeform 11" id="11"/>
          <p:cNvSpPr/>
          <p:nvPr/>
        </p:nvSpPr>
        <p:spPr>
          <a:xfrm flipH="false" flipV="false" rot="0">
            <a:off x="13945616" y="6130173"/>
            <a:ext cx="4054204" cy="2450343"/>
          </a:xfrm>
          <a:custGeom>
            <a:avLst/>
            <a:gdLst/>
            <a:ahLst/>
            <a:cxnLst/>
            <a:rect r="r" b="b" t="t" l="l"/>
            <a:pathLst>
              <a:path h="2450343" w="4054204">
                <a:moveTo>
                  <a:pt x="0" y="0"/>
                </a:moveTo>
                <a:lnTo>
                  <a:pt x="4054204" y="0"/>
                </a:lnTo>
                <a:lnTo>
                  <a:pt x="4054204" y="2450343"/>
                </a:lnTo>
                <a:lnTo>
                  <a:pt x="0" y="2450343"/>
                </a:lnTo>
                <a:lnTo>
                  <a:pt x="0" y="0"/>
                </a:lnTo>
                <a:close/>
              </a:path>
            </a:pathLst>
          </a:custGeom>
          <a:blipFill>
            <a:blip r:embed="rId8"/>
            <a:stretch>
              <a:fillRect l="0" t="0" r="0" b="0"/>
            </a:stretch>
          </a:blipFill>
        </p:spPr>
      </p:sp>
      <p:sp>
        <p:nvSpPr>
          <p:cNvPr name="Freeform 12" id="12"/>
          <p:cNvSpPr/>
          <p:nvPr/>
        </p:nvSpPr>
        <p:spPr>
          <a:xfrm flipH="false" flipV="false" rot="0">
            <a:off x="11931965" y="9486900"/>
            <a:ext cx="3401607" cy="633936"/>
          </a:xfrm>
          <a:custGeom>
            <a:avLst/>
            <a:gdLst/>
            <a:ahLst/>
            <a:cxnLst/>
            <a:rect r="r" b="b" t="t" l="l"/>
            <a:pathLst>
              <a:path h="633936" w="3401607">
                <a:moveTo>
                  <a:pt x="0" y="0"/>
                </a:moveTo>
                <a:lnTo>
                  <a:pt x="3401607" y="0"/>
                </a:lnTo>
                <a:lnTo>
                  <a:pt x="3401607" y="633936"/>
                </a:lnTo>
                <a:lnTo>
                  <a:pt x="0" y="633936"/>
                </a:lnTo>
                <a:lnTo>
                  <a:pt x="0" y="0"/>
                </a:lnTo>
                <a:close/>
              </a:path>
            </a:pathLst>
          </a:custGeom>
          <a:blipFill>
            <a:blip r:embed="rId9"/>
            <a:stretch>
              <a:fillRect l="0" t="0" r="0" b="0"/>
            </a:stretch>
          </a:blipFill>
        </p:spPr>
      </p:sp>
      <p:sp>
        <p:nvSpPr>
          <p:cNvPr name="Freeform 13" id="13"/>
          <p:cNvSpPr/>
          <p:nvPr/>
        </p:nvSpPr>
        <p:spPr>
          <a:xfrm flipH="false" flipV="false" rot="0">
            <a:off x="8102068" y="8996501"/>
            <a:ext cx="10462191" cy="373650"/>
          </a:xfrm>
          <a:custGeom>
            <a:avLst/>
            <a:gdLst/>
            <a:ahLst/>
            <a:cxnLst/>
            <a:rect r="r" b="b" t="t" l="l"/>
            <a:pathLst>
              <a:path h="373650" w="10462191">
                <a:moveTo>
                  <a:pt x="0" y="0"/>
                </a:moveTo>
                <a:lnTo>
                  <a:pt x="10462191" y="0"/>
                </a:lnTo>
                <a:lnTo>
                  <a:pt x="10462191" y="373649"/>
                </a:lnTo>
                <a:lnTo>
                  <a:pt x="0" y="373649"/>
                </a:lnTo>
                <a:lnTo>
                  <a:pt x="0" y="0"/>
                </a:lnTo>
                <a:close/>
              </a:path>
            </a:pathLst>
          </a:custGeom>
          <a:blipFill>
            <a:blip r:embed="rId10"/>
            <a:stretch>
              <a:fillRect l="0" t="0" r="0" b="0"/>
            </a:stretch>
          </a:blipFill>
        </p:spPr>
      </p:sp>
      <p:sp>
        <p:nvSpPr>
          <p:cNvPr name="TextBox 14" id="14"/>
          <p:cNvSpPr txBox="true"/>
          <p:nvPr/>
        </p:nvSpPr>
        <p:spPr>
          <a:xfrm rot="0">
            <a:off x="1313943" y="1212167"/>
            <a:ext cx="16552439" cy="1739679"/>
          </a:xfrm>
          <a:prstGeom prst="rect">
            <a:avLst/>
          </a:prstGeom>
        </p:spPr>
        <p:txBody>
          <a:bodyPr anchor="t" rtlCol="false" tIns="0" lIns="0" bIns="0" rIns="0">
            <a:spAutoFit/>
          </a:bodyPr>
          <a:lstStyle/>
          <a:p>
            <a:pPr algn="ctr">
              <a:lnSpc>
                <a:spcPts val="7012"/>
              </a:lnSpc>
              <a:spcBef>
                <a:spcPct val="0"/>
              </a:spcBef>
            </a:pPr>
            <a:r>
              <a:rPr lang="en-US" sz="5008">
                <a:solidFill>
                  <a:srgbClr val="FF007A"/>
                </a:solidFill>
                <a:latin typeface="HK Modular"/>
                <a:ea typeface="HK Modular"/>
                <a:cs typeface="HK Modular"/>
                <a:sym typeface="HK Modular"/>
              </a:rPr>
              <a:t>ALGUNAS ANOTACIONES ADICIONALES</a:t>
            </a:r>
          </a:p>
        </p:txBody>
      </p:sp>
      <p:sp>
        <p:nvSpPr>
          <p:cNvPr name="TextBox 15" id="15"/>
          <p:cNvSpPr txBox="true"/>
          <p:nvPr/>
        </p:nvSpPr>
        <p:spPr>
          <a:xfrm rot="0">
            <a:off x="456655" y="3498752"/>
            <a:ext cx="8796712" cy="9150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@OneToOne : Una Fila se relaciona con exactamente una columna</a:t>
            </a:r>
          </a:p>
        </p:txBody>
      </p:sp>
      <p:sp>
        <p:nvSpPr>
          <p:cNvPr name="TextBox 16" id="16"/>
          <p:cNvSpPr txBox="true"/>
          <p:nvPr/>
        </p:nvSpPr>
        <p:spPr>
          <a:xfrm rot="0">
            <a:off x="9590163" y="3498752"/>
            <a:ext cx="8796712" cy="9150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@ManyToMany : Muchas filas se relacionan con muchas </a:t>
            </a:r>
          </a:p>
        </p:txBody>
      </p:sp>
      <p:sp>
        <p:nvSpPr>
          <p:cNvPr name="TextBox 17" id="17"/>
          <p:cNvSpPr txBox="true"/>
          <p:nvPr/>
        </p:nvSpPr>
        <p:spPr>
          <a:xfrm rot="0">
            <a:off x="1166748" y="4762046"/>
            <a:ext cx="7376526" cy="381454"/>
          </a:xfrm>
          <a:prstGeom prst="rect">
            <a:avLst/>
          </a:prstGeom>
        </p:spPr>
        <p:txBody>
          <a:bodyPr anchor="t" rtlCol="false" tIns="0" lIns="0" bIns="0" rIns="0">
            <a:spAutoFit/>
          </a:bodyPr>
          <a:lstStyle/>
          <a:p>
            <a:pPr algn="ctr">
              <a:lnSpc>
                <a:spcPts val="3124"/>
              </a:lnSpc>
              <a:spcBef>
                <a:spcPct val="0"/>
              </a:spcBef>
            </a:pPr>
            <a:r>
              <a:rPr lang="en-US" sz="2232">
                <a:solidFill>
                  <a:srgbClr val="FF751F"/>
                </a:solidFill>
                <a:latin typeface="HK Modular"/>
                <a:ea typeface="HK Modular"/>
                <a:cs typeface="HK Modular"/>
                <a:sym typeface="HK Modular"/>
              </a:rPr>
              <a:t>EJEMPLO</a:t>
            </a:r>
          </a:p>
        </p:txBody>
      </p:sp>
      <p:sp>
        <p:nvSpPr>
          <p:cNvPr name="TextBox 18" id="18"/>
          <p:cNvSpPr txBox="true"/>
          <p:nvPr/>
        </p:nvSpPr>
        <p:spPr>
          <a:xfrm rot="0">
            <a:off x="10300256" y="4595131"/>
            <a:ext cx="7376526" cy="381454"/>
          </a:xfrm>
          <a:prstGeom prst="rect">
            <a:avLst/>
          </a:prstGeom>
        </p:spPr>
        <p:txBody>
          <a:bodyPr anchor="t" rtlCol="false" tIns="0" lIns="0" bIns="0" rIns="0">
            <a:spAutoFit/>
          </a:bodyPr>
          <a:lstStyle/>
          <a:p>
            <a:pPr algn="ctr">
              <a:lnSpc>
                <a:spcPts val="3124"/>
              </a:lnSpc>
              <a:spcBef>
                <a:spcPct val="0"/>
              </a:spcBef>
            </a:pPr>
            <a:r>
              <a:rPr lang="en-US" sz="2232">
                <a:solidFill>
                  <a:srgbClr val="FF751F"/>
                </a:solidFill>
                <a:latin typeface="HK Modular"/>
                <a:ea typeface="HK Modular"/>
                <a:cs typeface="HK Modular"/>
                <a:sym typeface="HK Modular"/>
              </a:rPr>
              <a:t>EJEMPLO</a:t>
            </a:r>
          </a:p>
        </p:txBody>
      </p:sp>
      <p:sp>
        <p:nvSpPr>
          <p:cNvPr name="Freeform 19" id="19"/>
          <p:cNvSpPr/>
          <p:nvPr/>
        </p:nvSpPr>
        <p:spPr>
          <a:xfrm flipH="false" flipV="false" rot="0">
            <a:off x="8336997" y="-301270"/>
            <a:ext cx="1832739" cy="1832739"/>
          </a:xfrm>
          <a:custGeom>
            <a:avLst/>
            <a:gdLst/>
            <a:ahLst/>
            <a:cxnLst/>
            <a:rect r="r" b="b" t="t" l="l"/>
            <a:pathLst>
              <a:path h="1832739" w="1832739">
                <a:moveTo>
                  <a:pt x="0" y="0"/>
                </a:moveTo>
                <a:lnTo>
                  <a:pt x="1832740" y="0"/>
                </a:lnTo>
                <a:lnTo>
                  <a:pt x="1832740" y="1832739"/>
                </a:lnTo>
                <a:lnTo>
                  <a:pt x="0" y="1832739"/>
                </a:lnTo>
                <a:lnTo>
                  <a:pt x="0" y="0"/>
                </a:lnTo>
                <a:close/>
              </a:path>
            </a:pathLst>
          </a:custGeom>
          <a:blipFill>
            <a:blip r:embed="rId11"/>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313943" y="1212167"/>
            <a:ext cx="16552439" cy="1739679"/>
          </a:xfrm>
          <a:prstGeom prst="rect">
            <a:avLst/>
          </a:prstGeom>
        </p:spPr>
        <p:txBody>
          <a:bodyPr anchor="t" rtlCol="false" tIns="0" lIns="0" bIns="0" rIns="0">
            <a:spAutoFit/>
          </a:bodyPr>
          <a:lstStyle/>
          <a:p>
            <a:pPr algn="ctr">
              <a:lnSpc>
                <a:spcPts val="7012"/>
              </a:lnSpc>
              <a:spcBef>
                <a:spcPct val="0"/>
              </a:spcBef>
            </a:pPr>
            <a:r>
              <a:rPr lang="en-US" sz="5008">
                <a:solidFill>
                  <a:srgbClr val="FF007A"/>
                </a:solidFill>
                <a:latin typeface="HK Modular"/>
                <a:ea typeface="HK Modular"/>
                <a:cs typeface="HK Modular"/>
                <a:sym typeface="HK Modular"/>
              </a:rPr>
              <a:t>ALGUNAS ANOTACIONES ADICIONALES</a:t>
            </a:r>
          </a:p>
        </p:txBody>
      </p:sp>
      <p:sp>
        <p:nvSpPr>
          <p:cNvPr name="TextBox 7" id="7"/>
          <p:cNvSpPr txBox="true"/>
          <p:nvPr/>
        </p:nvSpPr>
        <p:spPr>
          <a:xfrm rot="0">
            <a:off x="1850871" y="3506119"/>
            <a:ext cx="15478584" cy="1962745"/>
          </a:xfrm>
          <a:prstGeom prst="rect">
            <a:avLst/>
          </a:prstGeom>
        </p:spPr>
        <p:txBody>
          <a:bodyPr anchor="t" rtlCol="false" tIns="0" lIns="0" bIns="0" rIns="0">
            <a:spAutoFit/>
          </a:bodyPr>
          <a:lstStyle/>
          <a:p>
            <a:pPr algn="l" marL="600754" indent="-300377" lvl="1">
              <a:lnSpc>
                <a:spcPts val="3895"/>
              </a:lnSpc>
              <a:buAutoNum type="arabicPeriod" startAt="1"/>
            </a:pPr>
            <a:r>
              <a:rPr lang="en-US" sz="2782">
                <a:solidFill>
                  <a:srgbClr val="FFFFFF"/>
                </a:solidFill>
                <a:latin typeface="Poppins"/>
                <a:ea typeface="Poppins"/>
                <a:cs typeface="Poppins"/>
                <a:sym typeface="Poppins"/>
              </a:rPr>
              <a:t> Si las van a utilizar utilicen siempre como fetch type LAZY</a:t>
            </a:r>
          </a:p>
          <a:p>
            <a:pPr algn="l" marL="600754" indent="-300377" lvl="1">
              <a:lnSpc>
                <a:spcPts val="3895"/>
              </a:lnSpc>
              <a:buAutoNum type="arabicPeriod" startAt="1"/>
            </a:pPr>
            <a:r>
              <a:rPr lang="en-US" sz="2782">
                <a:solidFill>
                  <a:srgbClr val="FFFFFF"/>
                </a:solidFill>
                <a:latin typeface="Poppins"/>
                <a:ea typeface="Poppins"/>
                <a:cs typeface="Poppins"/>
                <a:sym typeface="Poppins"/>
              </a:rPr>
              <a:t> Eviten usar Many To Many en sistemas complejos, es mejor usar una entidad intermedia</a:t>
            </a:r>
          </a:p>
          <a:p>
            <a:pPr algn="l" marL="600754" indent="-300377" lvl="1">
              <a:lnSpc>
                <a:spcPts val="3895"/>
              </a:lnSpc>
              <a:spcBef>
                <a:spcPct val="0"/>
              </a:spcBef>
              <a:buAutoNum type="arabicPeriod" startAt="1"/>
            </a:pPr>
            <a:r>
              <a:rPr lang="en-US" sz="2782">
                <a:solidFill>
                  <a:srgbClr val="FFFFFF"/>
                </a:solidFill>
                <a:latin typeface="Poppins"/>
                <a:ea typeface="Poppins"/>
                <a:cs typeface="Poppins"/>
                <a:sym typeface="Poppins"/>
              </a:rPr>
              <a:t> Nunca olviden sincronizar las dos tablas - Bilateral</a:t>
            </a:r>
          </a:p>
        </p:txBody>
      </p:sp>
      <p:sp>
        <p:nvSpPr>
          <p:cNvPr name="TextBox 8" id="8"/>
          <p:cNvSpPr txBox="true"/>
          <p:nvPr/>
        </p:nvSpPr>
        <p:spPr>
          <a:xfrm rot="0">
            <a:off x="5901900" y="6049889"/>
            <a:ext cx="7376526" cy="381454"/>
          </a:xfrm>
          <a:prstGeom prst="rect">
            <a:avLst/>
          </a:prstGeom>
        </p:spPr>
        <p:txBody>
          <a:bodyPr anchor="t" rtlCol="false" tIns="0" lIns="0" bIns="0" rIns="0">
            <a:spAutoFit/>
          </a:bodyPr>
          <a:lstStyle/>
          <a:p>
            <a:pPr algn="ctr">
              <a:lnSpc>
                <a:spcPts val="3124"/>
              </a:lnSpc>
              <a:spcBef>
                <a:spcPct val="0"/>
              </a:spcBef>
            </a:pPr>
            <a:r>
              <a:rPr lang="en-US" sz="2232">
                <a:solidFill>
                  <a:srgbClr val="FF751F"/>
                </a:solidFill>
                <a:latin typeface="HK Modular"/>
                <a:ea typeface="HK Modular"/>
                <a:cs typeface="HK Modular"/>
                <a:sym typeface="HK Modular"/>
              </a:rPr>
              <a:t>QUE ES FETCH TYPE</a:t>
            </a:r>
          </a:p>
        </p:txBody>
      </p:sp>
      <p:sp>
        <p:nvSpPr>
          <p:cNvPr name="TextBox 9" id="9"/>
          <p:cNvSpPr txBox="true"/>
          <p:nvPr/>
        </p:nvSpPr>
        <p:spPr>
          <a:xfrm rot="0">
            <a:off x="2020162" y="6867959"/>
            <a:ext cx="15478584" cy="984134"/>
          </a:xfrm>
          <a:prstGeom prst="rect">
            <a:avLst/>
          </a:prstGeom>
        </p:spPr>
        <p:txBody>
          <a:bodyPr anchor="t" rtlCol="false" tIns="0" lIns="0" bIns="0" rIns="0">
            <a:spAutoFit/>
          </a:bodyPr>
          <a:lstStyle/>
          <a:p>
            <a:pPr algn="l">
              <a:lnSpc>
                <a:spcPts val="3895"/>
              </a:lnSpc>
              <a:spcBef>
                <a:spcPct val="0"/>
              </a:spcBef>
            </a:pPr>
            <a:r>
              <a:rPr lang="en-US" sz="2782">
                <a:solidFill>
                  <a:srgbClr val="FFFFFF"/>
                </a:solidFill>
                <a:latin typeface="Poppins"/>
                <a:ea typeface="Poppins"/>
                <a:cs typeface="Poppins"/>
                <a:sym typeface="Poppins"/>
              </a:rPr>
              <a:t>Es la manera en la que menciono a la bd si cargo los datos relacionados de una vez o solo cuando los necesite, exiten diferentes tipos:</a:t>
            </a:r>
          </a:p>
        </p:txBody>
      </p:sp>
      <p:sp>
        <p:nvSpPr>
          <p:cNvPr name="TextBox 10" id="10"/>
          <p:cNvSpPr txBox="true"/>
          <p:nvPr/>
        </p:nvSpPr>
        <p:spPr>
          <a:xfrm rot="0">
            <a:off x="2213637" y="8318818"/>
            <a:ext cx="7376526" cy="381454"/>
          </a:xfrm>
          <a:prstGeom prst="rect">
            <a:avLst/>
          </a:prstGeom>
        </p:spPr>
        <p:txBody>
          <a:bodyPr anchor="t" rtlCol="false" tIns="0" lIns="0" bIns="0" rIns="0">
            <a:spAutoFit/>
          </a:bodyPr>
          <a:lstStyle/>
          <a:p>
            <a:pPr algn="ctr">
              <a:lnSpc>
                <a:spcPts val="3124"/>
              </a:lnSpc>
              <a:spcBef>
                <a:spcPct val="0"/>
              </a:spcBef>
            </a:pPr>
            <a:r>
              <a:rPr lang="en-US" sz="2232">
                <a:solidFill>
                  <a:srgbClr val="FF751F"/>
                </a:solidFill>
                <a:latin typeface="HK Modular"/>
                <a:ea typeface="HK Modular"/>
                <a:cs typeface="HK Modular"/>
                <a:sym typeface="HK Modular"/>
              </a:rPr>
              <a:t>LAZY</a:t>
            </a:r>
          </a:p>
        </p:txBody>
      </p:sp>
      <p:sp>
        <p:nvSpPr>
          <p:cNvPr name="TextBox 11" id="11"/>
          <p:cNvSpPr txBox="true"/>
          <p:nvPr/>
        </p:nvSpPr>
        <p:spPr>
          <a:xfrm rot="0">
            <a:off x="2213637" y="9043760"/>
            <a:ext cx="7376526" cy="381454"/>
          </a:xfrm>
          <a:prstGeom prst="rect">
            <a:avLst/>
          </a:prstGeom>
        </p:spPr>
        <p:txBody>
          <a:bodyPr anchor="t" rtlCol="false" tIns="0" lIns="0" bIns="0" rIns="0">
            <a:spAutoFit/>
          </a:bodyPr>
          <a:lstStyle/>
          <a:p>
            <a:pPr algn="ctr">
              <a:lnSpc>
                <a:spcPts val="3124"/>
              </a:lnSpc>
              <a:spcBef>
                <a:spcPct val="0"/>
              </a:spcBef>
            </a:pPr>
            <a:r>
              <a:rPr lang="en-US" sz="2232">
                <a:solidFill>
                  <a:srgbClr val="FF751F"/>
                </a:solidFill>
                <a:latin typeface="HK Modular"/>
                <a:ea typeface="HK Modular"/>
                <a:cs typeface="HK Modular"/>
                <a:sym typeface="HK Modular"/>
              </a:rPr>
              <a:t>EAGER</a:t>
            </a:r>
          </a:p>
        </p:txBody>
      </p:sp>
      <p:sp>
        <p:nvSpPr>
          <p:cNvPr name="TextBox 12" id="12"/>
          <p:cNvSpPr txBox="true"/>
          <p:nvPr/>
        </p:nvSpPr>
        <p:spPr>
          <a:xfrm rot="0">
            <a:off x="10007016" y="8930386"/>
            <a:ext cx="6863773" cy="494829"/>
          </a:xfrm>
          <a:prstGeom prst="rect">
            <a:avLst/>
          </a:prstGeom>
        </p:spPr>
        <p:txBody>
          <a:bodyPr anchor="t" rtlCol="false" tIns="0" lIns="0" bIns="0" rIns="0">
            <a:spAutoFit/>
          </a:bodyPr>
          <a:lstStyle/>
          <a:p>
            <a:pPr algn="l">
              <a:lnSpc>
                <a:spcPts val="3895"/>
              </a:lnSpc>
              <a:spcBef>
                <a:spcPct val="0"/>
              </a:spcBef>
            </a:pPr>
            <a:r>
              <a:rPr lang="en-US" sz="2782">
                <a:solidFill>
                  <a:srgbClr val="FFFFFF"/>
                </a:solidFill>
                <a:latin typeface="Poppins"/>
                <a:ea typeface="Poppins"/>
                <a:cs typeface="Poppins"/>
                <a:sym typeface="Poppins"/>
              </a:rPr>
              <a:t>Carga los datos inmediatamente</a:t>
            </a:r>
          </a:p>
        </p:txBody>
      </p:sp>
      <p:sp>
        <p:nvSpPr>
          <p:cNvPr name="TextBox 13" id="13"/>
          <p:cNvSpPr txBox="true"/>
          <p:nvPr/>
        </p:nvSpPr>
        <p:spPr>
          <a:xfrm rot="0">
            <a:off x="10007016" y="8080929"/>
            <a:ext cx="6863773" cy="494829"/>
          </a:xfrm>
          <a:prstGeom prst="rect">
            <a:avLst/>
          </a:prstGeom>
        </p:spPr>
        <p:txBody>
          <a:bodyPr anchor="t" rtlCol="false" tIns="0" lIns="0" bIns="0" rIns="0">
            <a:spAutoFit/>
          </a:bodyPr>
          <a:lstStyle/>
          <a:p>
            <a:pPr algn="l">
              <a:lnSpc>
                <a:spcPts val="3895"/>
              </a:lnSpc>
              <a:spcBef>
                <a:spcPct val="0"/>
              </a:spcBef>
            </a:pPr>
            <a:r>
              <a:rPr lang="en-US" sz="2782">
                <a:solidFill>
                  <a:srgbClr val="FFFFFF"/>
                </a:solidFill>
                <a:latin typeface="Poppins"/>
                <a:ea typeface="Poppins"/>
                <a:cs typeface="Poppins"/>
                <a:sym typeface="Poppins"/>
              </a:rPr>
              <a:t>Carga los datos solo cuando los usas</a:t>
            </a:r>
          </a:p>
        </p:txBody>
      </p:sp>
      <p:sp>
        <p:nvSpPr>
          <p:cNvPr name="Freeform 14" id="14"/>
          <p:cNvSpPr/>
          <p:nvPr/>
        </p:nvSpPr>
        <p:spPr>
          <a:xfrm flipH="false" flipV="false" rot="0">
            <a:off x="8336997" y="-301270"/>
            <a:ext cx="1832739" cy="1832739"/>
          </a:xfrm>
          <a:custGeom>
            <a:avLst/>
            <a:gdLst/>
            <a:ahLst/>
            <a:cxnLst/>
            <a:rect r="r" b="b" t="t" l="l"/>
            <a:pathLst>
              <a:path h="1832739" w="1832739">
                <a:moveTo>
                  <a:pt x="0" y="0"/>
                </a:moveTo>
                <a:lnTo>
                  <a:pt x="1832740" y="0"/>
                </a:lnTo>
                <a:lnTo>
                  <a:pt x="1832740" y="1832739"/>
                </a:lnTo>
                <a:lnTo>
                  <a:pt x="0" y="1832739"/>
                </a:lnTo>
                <a:lnTo>
                  <a:pt x="0" y="0"/>
                </a:lnTo>
                <a:close/>
              </a:path>
            </a:pathLst>
          </a:custGeom>
          <a:blipFill>
            <a:blip r:embed="rId3"/>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313943" y="6514629"/>
            <a:ext cx="5797951" cy="1383425"/>
          </a:xfrm>
          <a:custGeom>
            <a:avLst/>
            <a:gdLst/>
            <a:ahLst/>
            <a:cxnLst/>
            <a:rect r="r" b="b" t="t" l="l"/>
            <a:pathLst>
              <a:path h="1383425" w="5797951">
                <a:moveTo>
                  <a:pt x="0" y="0"/>
                </a:moveTo>
                <a:lnTo>
                  <a:pt x="5797952" y="0"/>
                </a:lnTo>
                <a:lnTo>
                  <a:pt x="5797952" y="1383425"/>
                </a:lnTo>
                <a:lnTo>
                  <a:pt x="0" y="1383425"/>
                </a:lnTo>
                <a:lnTo>
                  <a:pt x="0" y="0"/>
                </a:lnTo>
                <a:close/>
              </a:path>
            </a:pathLst>
          </a:custGeom>
          <a:blipFill>
            <a:blip r:embed="rId3"/>
            <a:stretch>
              <a:fillRect l="0" t="0" r="0" b="0"/>
            </a:stretch>
          </a:blipFill>
        </p:spPr>
      </p:sp>
      <p:sp>
        <p:nvSpPr>
          <p:cNvPr name="Freeform 7" id="7"/>
          <p:cNvSpPr/>
          <p:nvPr/>
        </p:nvSpPr>
        <p:spPr>
          <a:xfrm flipH="false" flipV="false" rot="0">
            <a:off x="9695508" y="5981464"/>
            <a:ext cx="7563792" cy="837971"/>
          </a:xfrm>
          <a:custGeom>
            <a:avLst/>
            <a:gdLst/>
            <a:ahLst/>
            <a:cxnLst/>
            <a:rect r="r" b="b" t="t" l="l"/>
            <a:pathLst>
              <a:path h="837971" w="7563792">
                <a:moveTo>
                  <a:pt x="0" y="0"/>
                </a:moveTo>
                <a:lnTo>
                  <a:pt x="7563792" y="0"/>
                </a:lnTo>
                <a:lnTo>
                  <a:pt x="7563792" y="837971"/>
                </a:lnTo>
                <a:lnTo>
                  <a:pt x="0" y="837971"/>
                </a:lnTo>
                <a:lnTo>
                  <a:pt x="0" y="0"/>
                </a:lnTo>
                <a:close/>
              </a:path>
            </a:pathLst>
          </a:custGeom>
          <a:blipFill>
            <a:blip r:embed="rId4"/>
            <a:stretch>
              <a:fillRect l="0" t="0" r="0" b="0"/>
            </a:stretch>
          </a:blipFill>
        </p:spPr>
      </p:sp>
      <p:sp>
        <p:nvSpPr>
          <p:cNvPr name="Freeform 8" id="8"/>
          <p:cNvSpPr/>
          <p:nvPr/>
        </p:nvSpPr>
        <p:spPr>
          <a:xfrm flipH="false" flipV="false" rot="0">
            <a:off x="11007945" y="6981670"/>
            <a:ext cx="4634865" cy="1046582"/>
          </a:xfrm>
          <a:custGeom>
            <a:avLst/>
            <a:gdLst/>
            <a:ahLst/>
            <a:cxnLst/>
            <a:rect r="r" b="b" t="t" l="l"/>
            <a:pathLst>
              <a:path h="1046582" w="4634865">
                <a:moveTo>
                  <a:pt x="0" y="0"/>
                </a:moveTo>
                <a:lnTo>
                  <a:pt x="4634865" y="0"/>
                </a:lnTo>
                <a:lnTo>
                  <a:pt x="4634865" y="1046583"/>
                </a:lnTo>
                <a:lnTo>
                  <a:pt x="0" y="1046583"/>
                </a:lnTo>
                <a:lnTo>
                  <a:pt x="0" y="0"/>
                </a:lnTo>
                <a:close/>
              </a:path>
            </a:pathLst>
          </a:custGeom>
          <a:blipFill>
            <a:blip r:embed="rId5"/>
            <a:stretch>
              <a:fillRect l="0" t="0" r="0" b="0"/>
            </a:stretch>
          </a:blipFill>
        </p:spPr>
      </p:sp>
      <p:sp>
        <p:nvSpPr>
          <p:cNvPr name="Freeform 9" id="9"/>
          <p:cNvSpPr/>
          <p:nvPr/>
        </p:nvSpPr>
        <p:spPr>
          <a:xfrm flipH="false" flipV="false" rot="0">
            <a:off x="10357498" y="9123628"/>
            <a:ext cx="6239812" cy="820460"/>
          </a:xfrm>
          <a:custGeom>
            <a:avLst/>
            <a:gdLst/>
            <a:ahLst/>
            <a:cxnLst/>
            <a:rect r="r" b="b" t="t" l="l"/>
            <a:pathLst>
              <a:path h="820460" w="6239812">
                <a:moveTo>
                  <a:pt x="0" y="0"/>
                </a:moveTo>
                <a:lnTo>
                  <a:pt x="6239812" y="0"/>
                </a:lnTo>
                <a:lnTo>
                  <a:pt x="6239812" y="820460"/>
                </a:lnTo>
                <a:lnTo>
                  <a:pt x="0" y="820460"/>
                </a:lnTo>
                <a:lnTo>
                  <a:pt x="0" y="0"/>
                </a:lnTo>
                <a:close/>
              </a:path>
            </a:pathLst>
          </a:custGeom>
          <a:blipFill>
            <a:blip r:embed="rId6"/>
            <a:stretch>
              <a:fillRect l="0" t="0" r="0" b="0"/>
            </a:stretch>
          </a:blipFill>
        </p:spPr>
      </p:sp>
      <p:sp>
        <p:nvSpPr>
          <p:cNvPr name="TextBox 10" id="10"/>
          <p:cNvSpPr txBox="true"/>
          <p:nvPr/>
        </p:nvSpPr>
        <p:spPr>
          <a:xfrm rot="0">
            <a:off x="1313943" y="1212167"/>
            <a:ext cx="16552439" cy="1739679"/>
          </a:xfrm>
          <a:prstGeom prst="rect">
            <a:avLst/>
          </a:prstGeom>
        </p:spPr>
        <p:txBody>
          <a:bodyPr anchor="t" rtlCol="false" tIns="0" lIns="0" bIns="0" rIns="0">
            <a:spAutoFit/>
          </a:bodyPr>
          <a:lstStyle/>
          <a:p>
            <a:pPr algn="ctr">
              <a:lnSpc>
                <a:spcPts val="7012"/>
              </a:lnSpc>
              <a:spcBef>
                <a:spcPct val="0"/>
              </a:spcBef>
            </a:pPr>
            <a:r>
              <a:rPr lang="en-US" sz="5008">
                <a:solidFill>
                  <a:srgbClr val="FF007A"/>
                </a:solidFill>
                <a:latin typeface="HK Modular"/>
                <a:ea typeface="HK Modular"/>
                <a:cs typeface="HK Modular"/>
                <a:sym typeface="HK Modular"/>
              </a:rPr>
              <a:t>ALGUNAS ANOTACIONES ADICIONALES</a:t>
            </a:r>
          </a:p>
        </p:txBody>
      </p:sp>
      <p:sp>
        <p:nvSpPr>
          <p:cNvPr name="TextBox 11" id="11"/>
          <p:cNvSpPr txBox="true"/>
          <p:nvPr/>
        </p:nvSpPr>
        <p:spPr>
          <a:xfrm rot="0">
            <a:off x="1850871" y="3506119"/>
            <a:ext cx="15478584" cy="984134"/>
          </a:xfrm>
          <a:prstGeom prst="rect">
            <a:avLst/>
          </a:prstGeom>
        </p:spPr>
        <p:txBody>
          <a:bodyPr anchor="t" rtlCol="false" tIns="0" lIns="0" bIns="0" rIns="0">
            <a:spAutoFit/>
          </a:bodyPr>
          <a:lstStyle/>
          <a:p>
            <a:pPr algn="l">
              <a:lnSpc>
                <a:spcPts val="3895"/>
              </a:lnSpc>
              <a:spcBef>
                <a:spcPct val="0"/>
              </a:spcBef>
            </a:pPr>
            <a:r>
              <a:rPr lang="en-US" sz="2782">
                <a:solidFill>
                  <a:srgbClr val="FFFFFF"/>
                </a:solidFill>
                <a:latin typeface="Poppins"/>
                <a:ea typeface="Poppins"/>
                <a:cs typeface="Poppins"/>
                <a:sym typeface="Poppins"/>
              </a:rPr>
              <a:t>EAGER puede afectar rendimiento sin que lo noten, LAZY puede lanzar errores si no se maneja bien la sesion.</a:t>
            </a:r>
          </a:p>
        </p:txBody>
      </p:sp>
      <p:sp>
        <p:nvSpPr>
          <p:cNvPr name="TextBox 12" id="12"/>
          <p:cNvSpPr txBox="true"/>
          <p:nvPr/>
        </p:nvSpPr>
        <p:spPr>
          <a:xfrm rot="0">
            <a:off x="5455737" y="4762046"/>
            <a:ext cx="7376526" cy="381454"/>
          </a:xfrm>
          <a:prstGeom prst="rect">
            <a:avLst/>
          </a:prstGeom>
        </p:spPr>
        <p:txBody>
          <a:bodyPr anchor="t" rtlCol="false" tIns="0" lIns="0" bIns="0" rIns="0">
            <a:spAutoFit/>
          </a:bodyPr>
          <a:lstStyle/>
          <a:p>
            <a:pPr algn="ctr">
              <a:lnSpc>
                <a:spcPts val="3124"/>
              </a:lnSpc>
              <a:spcBef>
                <a:spcPct val="0"/>
              </a:spcBef>
            </a:pPr>
            <a:r>
              <a:rPr lang="en-US" sz="2232">
                <a:solidFill>
                  <a:srgbClr val="FF751F"/>
                </a:solidFill>
                <a:latin typeface="HK Modular"/>
                <a:ea typeface="HK Modular"/>
                <a:cs typeface="HK Modular"/>
                <a:sym typeface="HK Modular"/>
              </a:rPr>
              <a:t>PROBLEMAS COMUNES</a:t>
            </a:r>
          </a:p>
        </p:txBody>
      </p:sp>
      <p:sp>
        <p:nvSpPr>
          <p:cNvPr name="TextBox 13" id="13"/>
          <p:cNvSpPr txBox="true"/>
          <p:nvPr/>
        </p:nvSpPr>
        <p:spPr>
          <a:xfrm rot="0">
            <a:off x="2104247" y="5695950"/>
            <a:ext cx="3604867" cy="494829"/>
          </a:xfrm>
          <a:prstGeom prst="rect">
            <a:avLst/>
          </a:prstGeom>
        </p:spPr>
        <p:txBody>
          <a:bodyPr anchor="t" rtlCol="false" tIns="0" lIns="0" bIns="0" rIns="0">
            <a:spAutoFit/>
          </a:bodyPr>
          <a:lstStyle/>
          <a:p>
            <a:pPr algn="l">
              <a:lnSpc>
                <a:spcPts val="3895"/>
              </a:lnSpc>
              <a:spcBef>
                <a:spcPct val="0"/>
              </a:spcBef>
            </a:pPr>
            <a:r>
              <a:rPr lang="en-US" sz="2782">
                <a:solidFill>
                  <a:srgbClr val="FFFFFF"/>
                </a:solidFill>
                <a:latin typeface="Poppins"/>
                <a:ea typeface="Poppins"/>
                <a:cs typeface="Poppins"/>
                <a:sym typeface="Poppins"/>
              </a:rPr>
              <a:t>1+N Query Problem: </a:t>
            </a:r>
          </a:p>
        </p:txBody>
      </p:sp>
      <p:sp>
        <p:nvSpPr>
          <p:cNvPr name="TextBox 14" id="14"/>
          <p:cNvSpPr txBox="true"/>
          <p:nvPr/>
        </p:nvSpPr>
        <p:spPr>
          <a:xfrm rot="0">
            <a:off x="2104247" y="8298104"/>
            <a:ext cx="3604867" cy="984134"/>
          </a:xfrm>
          <a:prstGeom prst="rect">
            <a:avLst/>
          </a:prstGeom>
        </p:spPr>
        <p:txBody>
          <a:bodyPr anchor="t" rtlCol="false" tIns="0" lIns="0" bIns="0" rIns="0">
            <a:spAutoFit/>
          </a:bodyPr>
          <a:lstStyle/>
          <a:p>
            <a:pPr algn="l">
              <a:lnSpc>
                <a:spcPts val="3895"/>
              </a:lnSpc>
            </a:pPr>
            <a:r>
              <a:rPr lang="en-US" sz="2782">
                <a:solidFill>
                  <a:srgbClr val="FFFFFF"/>
                </a:solidFill>
                <a:latin typeface="Poppins"/>
                <a:ea typeface="Poppins"/>
                <a:cs typeface="Poppins"/>
                <a:sym typeface="Poppins"/>
              </a:rPr>
              <a:t>1 Query a orders</a:t>
            </a:r>
          </a:p>
          <a:p>
            <a:pPr algn="l">
              <a:lnSpc>
                <a:spcPts val="3895"/>
              </a:lnSpc>
              <a:spcBef>
                <a:spcPct val="0"/>
              </a:spcBef>
            </a:pPr>
            <a:r>
              <a:rPr lang="en-US" sz="2782">
                <a:solidFill>
                  <a:srgbClr val="FFFFFF"/>
                </a:solidFill>
                <a:latin typeface="Poppins"/>
                <a:ea typeface="Poppins"/>
                <a:cs typeface="Poppins"/>
                <a:sym typeface="Poppins"/>
              </a:rPr>
              <a:t>N Queries Users</a:t>
            </a:r>
          </a:p>
        </p:txBody>
      </p:sp>
      <p:sp>
        <p:nvSpPr>
          <p:cNvPr name="TextBox 15" id="15"/>
          <p:cNvSpPr txBox="true"/>
          <p:nvPr/>
        </p:nvSpPr>
        <p:spPr>
          <a:xfrm rot="0">
            <a:off x="10871459" y="5391150"/>
            <a:ext cx="4652157" cy="494829"/>
          </a:xfrm>
          <a:prstGeom prst="rect">
            <a:avLst/>
          </a:prstGeom>
        </p:spPr>
        <p:txBody>
          <a:bodyPr anchor="t" rtlCol="false" tIns="0" lIns="0" bIns="0" rIns="0">
            <a:spAutoFit/>
          </a:bodyPr>
          <a:lstStyle/>
          <a:p>
            <a:pPr algn="l">
              <a:lnSpc>
                <a:spcPts val="3895"/>
              </a:lnSpc>
              <a:spcBef>
                <a:spcPct val="0"/>
              </a:spcBef>
            </a:pPr>
            <a:r>
              <a:rPr lang="en-US" sz="2782">
                <a:solidFill>
                  <a:srgbClr val="FFFFFF"/>
                </a:solidFill>
                <a:latin typeface="Poppins"/>
                <a:ea typeface="Poppins"/>
                <a:cs typeface="Poppins"/>
                <a:sym typeface="Poppins"/>
              </a:rPr>
              <a:t>Solucion con JOIN FETCH</a:t>
            </a:r>
          </a:p>
        </p:txBody>
      </p:sp>
      <p:sp>
        <p:nvSpPr>
          <p:cNvPr name="TextBox 16" id="16"/>
          <p:cNvSpPr txBox="true"/>
          <p:nvPr/>
        </p:nvSpPr>
        <p:spPr>
          <a:xfrm rot="0">
            <a:off x="10990653" y="8298104"/>
            <a:ext cx="4652157" cy="494829"/>
          </a:xfrm>
          <a:prstGeom prst="rect">
            <a:avLst/>
          </a:prstGeom>
        </p:spPr>
        <p:txBody>
          <a:bodyPr anchor="t" rtlCol="false" tIns="0" lIns="0" bIns="0" rIns="0">
            <a:spAutoFit/>
          </a:bodyPr>
          <a:lstStyle/>
          <a:p>
            <a:pPr algn="l">
              <a:lnSpc>
                <a:spcPts val="3895"/>
              </a:lnSpc>
              <a:spcBef>
                <a:spcPct val="0"/>
              </a:spcBef>
            </a:pPr>
            <a:r>
              <a:rPr lang="en-US" sz="2782">
                <a:solidFill>
                  <a:srgbClr val="FFFFFF"/>
                </a:solidFill>
                <a:latin typeface="Poppins"/>
                <a:ea typeface="Poppins"/>
                <a:cs typeface="Poppins"/>
                <a:sym typeface="Poppins"/>
              </a:rPr>
              <a:t>Solucion con EntityGraph</a:t>
            </a:r>
          </a:p>
        </p:txBody>
      </p:sp>
      <p:sp>
        <p:nvSpPr>
          <p:cNvPr name="Freeform 17" id="17"/>
          <p:cNvSpPr/>
          <p:nvPr/>
        </p:nvSpPr>
        <p:spPr>
          <a:xfrm flipH="false" flipV="false" rot="0">
            <a:off x="8346522" y="-301270"/>
            <a:ext cx="1832739" cy="1832739"/>
          </a:xfrm>
          <a:custGeom>
            <a:avLst/>
            <a:gdLst/>
            <a:ahLst/>
            <a:cxnLst/>
            <a:rect r="r" b="b" t="t" l="l"/>
            <a:pathLst>
              <a:path h="1832739" w="1832739">
                <a:moveTo>
                  <a:pt x="0" y="0"/>
                </a:moveTo>
                <a:lnTo>
                  <a:pt x="1832740" y="0"/>
                </a:lnTo>
                <a:lnTo>
                  <a:pt x="1832740" y="1832739"/>
                </a:lnTo>
                <a:lnTo>
                  <a:pt x="0" y="1832739"/>
                </a:lnTo>
                <a:lnTo>
                  <a:pt x="0" y="0"/>
                </a:lnTo>
                <a:close/>
              </a:path>
            </a:pathLst>
          </a:custGeom>
          <a:blipFill>
            <a:blip r:embed="rId7"/>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ED">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ED">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392623" y="3522010"/>
            <a:ext cx="15721487" cy="3071531"/>
          </a:xfrm>
          <a:prstGeom prst="rect">
            <a:avLst/>
          </a:prstGeom>
        </p:spPr>
        <p:txBody>
          <a:bodyPr anchor="t" rtlCol="false" tIns="0" lIns="0" bIns="0" rIns="0">
            <a:spAutoFit/>
          </a:bodyPr>
          <a:lstStyle/>
          <a:p>
            <a:pPr algn="ctr">
              <a:lnSpc>
                <a:spcPts val="12353"/>
              </a:lnSpc>
              <a:spcBef>
                <a:spcPct val="0"/>
              </a:spcBef>
            </a:pPr>
            <a:r>
              <a:rPr lang="en-US" sz="8823">
                <a:solidFill>
                  <a:srgbClr val="FF751F"/>
                </a:solidFill>
                <a:latin typeface="HK Modular"/>
                <a:ea typeface="HK Modular"/>
                <a:cs typeface="HK Modular"/>
                <a:sym typeface="HK Modular"/>
              </a:rPr>
              <a:t>BASES DE DATOS NO RELACIONALES</a:t>
            </a:r>
          </a:p>
        </p:txBody>
      </p:sp>
      <p:sp>
        <p:nvSpPr>
          <p:cNvPr name="Freeform 13" id="13"/>
          <p:cNvSpPr/>
          <p:nvPr/>
        </p:nvSpPr>
        <p:spPr>
          <a:xfrm flipH="false" flipV="false" rot="0">
            <a:off x="7858236" y="-366431"/>
            <a:ext cx="2790262" cy="2790262"/>
          </a:xfrm>
          <a:custGeom>
            <a:avLst/>
            <a:gdLst/>
            <a:ahLst/>
            <a:cxnLst/>
            <a:rect r="r" b="b" t="t" l="l"/>
            <a:pathLst>
              <a:path h="2790262" w="2790262">
                <a:moveTo>
                  <a:pt x="0" y="0"/>
                </a:moveTo>
                <a:lnTo>
                  <a:pt x="2790262" y="0"/>
                </a:lnTo>
                <a:lnTo>
                  <a:pt x="2790262" y="2790262"/>
                </a:lnTo>
                <a:lnTo>
                  <a:pt x="0" y="2790262"/>
                </a:lnTo>
                <a:lnTo>
                  <a:pt x="0" y="0"/>
                </a:lnTo>
                <a:close/>
              </a:path>
            </a:pathLst>
          </a:custGeom>
          <a:blipFill>
            <a:blip r:embed="rId3"/>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313943" y="1609378"/>
            <a:ext cx="16552439" cy="853854"/>
          </a:xfrm>
          <a:prstGeom prst="rect">
            <a:avLst/>
          </a:prstGeom>
        </p:spPr>
        <p:txBody>
          <a:bodyPr anchor="t" rtlCol="false" tIns="0" lIns="0" bIns="0" rIns="0">
            <a:spAutoFit/>
          </a:bodyPr>
          <a:lstStyle/>
          <a:p>
            <a:pPr algn="ctr">
              <a:lnSpc>
                <a:spcPts val="7012"/>
              </a:lnSpc>
              <a:spcBef>
                <a:spcPct val="0"/>
              </a:spcBef>
            </a:pPr>
            <a:r>
              <a:rPr lang="en-US" sz="5008">
                <a:solidFill>
                  <a:srgbClr val="FF007A"/>
                </a:solidFill>
                <a:latin typeface="HK Modular"/>
                <a:ea typeface="HK Modular"/>
                <a:cs typeface="HK Modular"/>
                <a:sym typeface="HK Modular"/>
              </a:rPr>
              <a:t>NOSQL VS SQL</a:t>
            </a:r>
          </a:p>
        </p:txBody>
      </p:sp>
      <p:sp>
        <p:nvSpPr>
          <p:cNvPr name="Freeform 7" id="7"/>
          <p:cNvSpPr/>
          <p:nvPr/>
        </p:nvSpPr>
        <p:spPr>
          <a:xfrm flipH="false" flipV="false" rot="0">
            <a:off x="10798036" y="3414871"/>
            <a:ext cx="6685270" cy="4403922"/>
          </a:xfrm>
          <a:custGeom>
            <a:avLst/>
            <a:gdLst/>
            <a:ahLst/>
            <a:cxnLst/>
            <a:rect r="r" b="b" t="t" l="l"/>
            <a:pathLst>
              <a:path h="4403922" w="6685270">
                <a:moveTo>
                  <a:pt x="0" y="0"/>
                </a:moveTo>
                <a:lnTo>
                  <a:pt x="6685270" y="0"/>
                </a:lnTo>
                <a:lnTo>
                  <a:pt x="6685270" y="4403922"/>
                </a:lnTo>
                <a:lnTo>
                  <a:pt x="0" y="4403922"/>
                </a:lnTo>
                <a:lnTo>
                  <a:pt x="0" y="0"/>
                </a:lnTo>
                <a:close/>
              </a:path>
            </a:pathLst>
          </a:custGeom>
          <a:blipFill>
            <a:blip r:embed="rId3"/>
            <a:stretch>
              <a:fillRect l="0" t="0" r="0" b="0"/>
            </a:stretch>
          </a:blipFill>
        </p:spPr>
      </p:sp>
      <p:sp>
        <p:nvSpPr>
          <p:cNvPr name="TextBox 8" id="8"/>
          <p:cNvSpPr txBox="true"/>
          <p:nvPr/>
        </p:nvSpPr>
        <p:spPr>
          <a:xfrm rot="0">
            <a:off x="1313943" y="2856864"/>
            <a:ext cx="8796712" cy="64014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Son bases de datos no relacionales que almacenan datos de manera diferente a las relaciones tabulares utilizadas en las bases de datos SQL. Mientras que las bases de datos SQL son ideales para datos estructurados, las bases de datos NoSQL son adecuadas para datos estructurados, semiestructurados y no estructurados. Como resultado, las bases de datos NoSQL no siguen un esquema rígido, sino que tienen estructuras más flexibles para adaptarse a sus tipos de datos. Además, en lugar de utilizar SQL para consultar la base de datos, las bases de datos NoSQL utilizan diversos lenguajes de consulta (algunas ni siquiera tienen un lenguaje de consulta).</a:t>
            </a:r>
          </a:p>
        </p:txBody>
      </p:sp>
      <p:sp>
        <p:nvSpPr>
          <p:cNvPr name="Freeform 9" id="9"/>
          <p:cNvSpPr/>
          <p:nvPr/>
        </p:nvSpPr>
        <p:spPr>
          <a:xfrm flipH="false" flipV="false" rot="0">
            <a:off x="8006834" y="-301270"/>
            <a:ext cx="2493066" cy="2493066"/>
          </a:xfrm>
          <a:custGeom>
            <a:avLst/>
            <a:gdLst/>
            <a:ahLst/>
            <a:cxnLst/>
            <a:rect r="r" b="b" t="t" l="l"/>
            <a:pathLst>
              <a:path h="2493066" w="2493066">
                <a:moveTo>
                  <a:pt x="0" y="0"/>
                </a:moveTo>
                <a:lnTo>
                  <a:pt x="2493066" y="0"/>
                </a:lnTo>
                <a:lnTo>
                  <a:pt x="2493066" y="2493066"/>
                </a:lnTo>
                <a:lnTo>
                  <a:pt x="0" y="2493066"/>
                </a:lnTo>
                <a:lnTo>
                  <a:pt x="0" y="0"/>
                </a:lnTo>
                <a:close/>
              </a:path>
            </a:pathLst>
          </a:custGeom>
          <a:blipFill>
            <a:blip r:embed="rId4"/>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028700" y="1840198"/>
            <a:ext cx="16552439" cy="853854"/>
          </a:xfrm>
          <a:prstGeom prst="rect">
            <a:avLst/>
          </a:prstGeom>
        </p:spPr>
        <p:txBody>
          <a:bodyPr anchor="t" rtlCol="false" tIns="0" lIns="0" bIns="0" rIns="0">
            <a:spAutoFit/>
          </a:bodyPr>
          <a:lstStyle/>
          <a:p>
            <a:pPr algn="ctr">
              <a:lnSpc>
                <a:spcPts val="7012"/>
              </a:lnSpc>
              <a:spcBef>
                <a:spcPct val="0"/>
              </a:spcBef>
            </a:pPr>
            <a:r>
              <a:rPr lang="en-US" sz="5008">
                <a:solidFill>
                  <a:srgbClr val="FF007A"/>
                </a:solidFill>
                <a:latin typeface="HK Modular"/>
                <a:ea typeface="HK Modular"/>
                <a:cs typeface="HK Modular"/>
                <a:sym typeface="HK Modular"/>
              </a:rPr>
              <a:t>VENTAJAS Y DESVENTAJAS DE NOSQL</a:t>
            </a:r>
          </a:p>
        </p:txBody>
      </p:sp>
      <p:sp>
        <p:nvSpPr>
          <p:cNvPr name="Freeform 7" id="7"/>
          <p:cNvSpPr/>
          <p:nvPr/>
        </p:nvSpPr>
        <p:spPr>
          <a:xfrm flipH="false" flipV="false" rot="0">
            <a:off x="4425724" y="3028552"/>
            <a:ext cx="9999910" cy="2949974"/>
          </a:xfrm>
          <a:custGeom>
            <a:avLst/>
            <a:gdLst/>
            <a:ahLst/>
            <a:cxnLst/>
            <a:rect r="r" b="b" t="t" l="l"/>
            <a:pathLst>
              <a:path h="2949974" w="9999910">
                <a:moveTo>
                  <a:pt x="0" y="0"/>
                </a:moveTo>
                <a:lnTo>
                  <a:pt x="9999910" y="0"/>
                </a:lnTo>
                <a:lnTo>
                  <a:pt x="9999910" y="2949974"/>
                </a:lnTo>
                <a:lnTo>
                  <a:pt x="0" y="2949974"/>
                </a:lnTo>
                <a:lnTo>
                  <a:pt x="0" y="0"/>
                </a:lnTo>
                <a:close/>
              </a:path>
            </a:pathLst>
          </a:custGeom>
          <a:blipFill>
            <a:blip r:embed="rId3"/>
            <a:stretch>
              <a:fillRect l="0" t="0" r="0" b="0"/>
            </a:stretch>
          </a:blipFill>
        </p:spPr>
      </p:sp>
      <p:sp>
        <p:nvSpPr>
          <p:cNvPr name="TextBox 8" id="8"/>
          <p:cNvSpPr txBox="true"/>
          <p:nvPr/>
        </p:nvSpPr>
        <p:spPr>
          <a:xfrm rot="0">
            <a:off x="1028700" y="6578529"/>
            <a:ext cx="6870652" cy="2120120"/>
          </a:xfrm>
          <a:prstGeom prst="rect">
            <a:avLst/>
          </a:prstGeom>
        </p:spPr>
        <p:txBody>
          <a:bodyPr anchor="t" rtlCol="false" tIns="0" lIns="0" bIns="0" rIns="0">
            <a:spAutoFit/>
          </a:bodyPr>
          <a:lstStyle/>
          <a:p>
            <a:pPr algn="ctr">
              <a:lnSpc>
                <a:spcPts val="2842"/>
              </a:lnSpc>
            </a:pPr>
            <a:r>
              <a:rPr lang="en-US" sz="2030">
                <a:solidFill>
                  <a:srgbClr val="FFFFFF"/>
                </a:solidFill>
                <a:latin typeface="Poppins"/>
                <a:ea typeface="Poppins"/>
                <a:cs typeface="Poppins"/>
                <a:sym typeface="Poppins"/>
              </a:rPr>
              <a:t>Esquema flexible </a:t>
            </a:r>
          </a:p>
          <a:p>
            <a:pPr algn="ctr">
              <a:lnSpc>
                <a:spcPts val="2842"/>
              </a:lnSpc>
            </a:pPr>
            <a:r>
              <a:rPr lang="en-US" sz="2030">
                <a:solidFill>
                  <a:srgbClr val="FFFFFF"/>
                </a:solidFill>
                <a:latin typeface="Poppins"/>
                <a:ea typeface="Poppins"/>
                <a:cs typeface="Poppins"/>
                <a:sym typeface="Poppins"/>
              </a:rPr>
              <a:t>Utilizable en plataformas de infraestructura distribuida </a:t>
            </a:r>
          </a:p>
          <a:p>
            <a:pPr algn="ctr">
              <a:lnSpc>
                <a:spcPts val="2842"/>
              </a:lnSpc>
            </a:pPr>
            <a:r>
              <a:rPr lang="en-US" sz="2030">
                <a:solidFill>
                  <a:srgbClr val="FFFFFF"/>
                </a:solidFill>
                <a:latin typeface="Poppins"/>
                <a:ea typeface="Poppins"/>
                <a:cs typeface="Poppins"/>
                <a:sym typeface="Poppins"/>
              </a:rPr>
              <a:t>Infraestructura de bajo costo</a:t>
            </a:r>
          </a:p>
          <a:p>
            <a:pPr algn="ctr">
              <a:lnSpc>
                <a:spcPts val="2842"/>
              </a:lnSpc>
            </a:pPr>
            <a:r>
              <a:rPr lang="en-US" sz="2030">
                <a:solidFill>
                  <a:srgbClr val="FFFFFF"/>
                </a:solidFill>
                <a:latin typeface="Poppins"/>
                <a:ea typeface="Poppins"/>
                <a:cs typeface="Poppins"/>
                <a:sym typeface="Poppins"/>
              </a:rPr>
              <a:t>Alta disponibilidad y rendimiento </a:t>
            </a:r>
          </a:p>
          <a:p>
            <a:pPr algn="ctr">
              <a:lnSpc>
                <a:spcPts val="2842"/>
              </a:lnSpc>
            </a:pPr>
          </a:p>
        </p:txBody>
      </p:sp>
      <p:sp>
        <p:nvSpPr>
          <p:cNvPr name="TextBox 9" id="9"/>
          <p:cNvSpPr txBox="true"/>
          <p:nvPr/>
        </p:nvSpPr>
        <p:spPr>
          <a:xfrm rot="0">
            <a:off x="10117541" y="6754742"/>
            <a:ext cx="6870652" cy="1767695"/>
          </a:xfrm>
          <a:prstGeom prst="rect">
            <a:avLst/>
          </a:prstGeom>
        </p:spPr>
        <p:txBody>
          <a:bodyPr anchor="t" rtlCol="false" tIns="0" lIns="0" bIns="0" rIns="0">
            <a:spAutoFit/>
          </a:bodyPr>
          <a:lstStyle/>
          <a:p>
            <a:pPr algn="ctr">
              <a:lnSpc>
                <a:spcPts val="2842"/>
              </a:lnSpc>
            </a:pPr>
            <a:r>
              <a:rPr lang="en-US" sz="2030">
                <a:solidFill>
                  <a:srgbClr val="FFFFFF"/>
                </a:solidFill>
                <a:latin typeface="Poppins"/>
                <a:ea typeface="Poppins"/>
                <a:cs typeface="Poppins"/>
                <a:sym typeface="Poppins"/>
              </a:rPr>
              <a:t>Tecnología menos madura y difícil de gestionar </a:t>
            </a:r>
          </a:p>
          <a:p>
            <a:pPr algn="ctr">
              <a:lnSpc>
                <a:spcPts val="2842"/>
              </a:lnSpc>
            </a:pPr>
            <a:r>
              <a:rPr lang="en-US" sz="2030">
                <a:solidFill>
                  <a:srgbClr val="FFFFFF"/>
                </a:solidFill>
                <a:latin typeface="Poppins"/>
                <a:ea typeface="Poppins"/>
                <a:cs typeface="Poppins"/>
                <a:sym typeface="Poppins"/>
              </a:rPr>
              <a:t>Capacidades de consulta limitadas </a:t>
            </a:r>
          </a:p>
          <a:p>
            <a:pPr algn="ctr">
              <a:lnSpc>
                <a:spcPts val="2842"/>
              </a:lnSpc>
            </a:pPr>
            <a:r>
              <a:rPr lang="en-US" sz="2030">
                <a:solidFill>
                  <a:srgbClr val="FFFFFF"/>
                </a:solidFill>
                <a:latin typeface="Poppins"/>
                <a:ea typeface="Poppins"/>
                <a:cs typeface="Poppins"/>
                <a:sym typeface="Poppins"/>
              </a:rPr>
              <a:t>Inconsistencia de datos y bajo rendimiento en algunos escenarios complejos</a:t>
            </a:r>
          </a:p>
          <a:p>
            <a:pPr algn="ctr">
              <a:lnSpc>
                <a:spcPts val="2842"/>
              </a:lnSpc>
            </a:pPr>
          </a:p>
        </p:txBody>
      </p:sp>
      <p:sp>
        <p:nvSpPr>
          <p:cNvPr name="Freeform 10" id="10"/>
          <p:cNvSpPr/>
          <p:nvPr/>
        </p:nvSpPr>
        <p:spPr>
          <a:xfrm flipH="false" flipV="false" rot="0">
            <a:off x="8006834" y="-301270"/>
            <a:ext cx="2493066" cy="2493066"/>
          </a:xfrm>
          <a:custGeom>
            <a:avLst/>
            <a:gdLst/>
            <a:ahLst/>
            <a:cxnLst/>
            <a:rect r="r" b="b" t="t" l="l"/>
            <a:pathLst>
              <a:path h="2493066" w="2493066">
                <a:moveTo>
                  <a:pt x="0" y="0"/>
                </a:moveTo>
                <a:lnTo>
                  <a:pt x="2493066" y="0"/>
                </a:lnTo>
                <a:lnTo>
                  <a:pt x="2493066" y="2493066"/>
                </a:lnTo>
                <a:lnTo>
                  <a:pt x="0" y="2493066"/>
                </a:lnTo>
                <a:lnTo>
                  <a:pt x="0" y="0"/>
                </a:lnTo>
                <a:close/>
              </a:path>
            </a:pathLst>
          </a:custGeom>
          <a:blipFill>
            <a:blip r:embed="rId4"/>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977148" y="1663952"/>
            <a:ext cx="16552439" cy="853854"/>
          </a:xfrm>
          <a:prstGeom prst="rect">
            <a:avLst/>
          </a:prstGeom>
        </p:spPr>
        <p:txBody>
          <a:bodyPr anchor="t" rtlCol="false" tIns="0" lIns="0" bIns="0" rIns="0">
            <a:spAutoFit/>
          </a:bodyPr>
          <a:lstStyle/>
          <a:p>
            <a:pPr algn="ctr">
              <a:lnSpc>
                <a:spcPts val="7012"/>
              </a:lnSpc>
              <a:spcBef>
                <a:spcPct val="0"/>
              </a:spcBef>
            </a:pPr>
            <a:r>
              <a:rPr lang="en-US" sz="5008">
                <a:solidFill>
                  <a:srgbClr val="FF007A"/>
                </a:solidFill>
                <a:latin typeface="HK Modular"/>
                <a:ea typeface="HK Modular"/>
                <a:cs typeface="HK Modular"/>
                <a:sym typeface="HK Modular"/>
              </a:rPr>
              <a:t>BA.S.E</a:t>
            </a:r>
          </a:p>
        </p:txBody>
      </p:sp>
      <p:sp>
        <p:nvSpPr>
          <p:cNvPr name="TextBox 7" id="7"/>
          <p:cNvSpPr txBox="true"/>
          <p:nvPr/>
        </p:nvSpPr>
        <p:spPr>
          <a:xfrm rot="0">
            <a:off x="2959575" y="2927381"/>
            <a:ext cx="12587585" cy="18294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Es el acronimo de Básicamente Disponible, Estado Suave, Consistencia Eventual. Define un conjunto de propiedades diseñadas para bases de datos NOSQL, priorizando la disponibilidad y la flexibilidad sobre la consistencia estricta</a:t>
            </a:r>
          </a:p>
        </p:txBody>
      </p:sp>
      <p:sp>
        <p:nvSpPr>
          <p:cNvPr name="TextBox 8" id="8"/>
          <p:cNvSpPr txBox="true"/>
          <p:nvPr/>
        </p:nvSpPr>
        <p:spPr>
          <a:xfrm rot="0">
            <a:off x="1028700" y="5699791"/>
            <a:ext cx="4169712" cy="812664"/>
          </a:xfrm>
          <a:prstGeom prst="rect">
            <a:avLst/>
          </a:prstGeom>
        </p:spPr>
        <p:txBody>
          <a:bodyPr anchor="t" rtlCol="false" tIns="0" lIns="0" bIns="0" rIns="0">
            <a:spAutoFit/>
          </a:bodyPr>
          <a:lstStyle/>
          <a:p>
            <a:pPr algn="ctr">
              <a:lnSpc>
                <a:spcPts val="3262"/>
              </a:lnSpc>
              <a:spcBef>
                <a:spcPct val="0"/>
              </a:spcBef>
            </a:pPr>
            <a:r>
              <a:rPr lang="en-US" sz="2330">
                <a:solidFill>
                  <a:srgbClr val="FF007A"/>
                </a:solidFill>
                <a:latin typeface="HK Modular"/>
                <a:ea typeface="HK Modular"/>
                <a:cs typeface="HK Modular"/>
                <a:sym typeface="HK Modular"/>
              </a:rPr>
              <a:t>BASICAMENTE DISPONIBLE</a:t>
            </a:r>
          </a:p>
        </p:txBody>
      </p:sp>
      <p:sp>
        <p:nvSpPr>
          <p:cNvPr name="TextBox 9" id="9"/>
          <p:cNvSpPr txBox="true"/>
          <p:nvPr/>
        </p:nvSpPr>
        <p:spPr>
          <a:xfrm rot="0">
            <a:off x="1028700" y="7457337"/>
            <a:ext cx="4169712" cy="400551"/>
          </a:xfrm>
          <a:prstGeom prst="rect">
            <a:avLst/>
          </a:prstGeom>
        </p:spPr>
        <p:txBody>
          <a:bodyPr anchor="t" rtlCol="false" tIns="0" lIns="0" bIns="0" rIns="0">
            <a:spAutoFit/>
          </a:bodyPr>
          <a:lstStyle/>
          <a:p>
            <a:pPr algn="ctr">
              <a:lnSpc>
                <a:spcPts val="3262"/>
              </a:lnSpc>
              <a:spcBef>
                <a:spcPct val="0"/>
              </a:spcBef>
            </a:pPr>
            <a:r>
              <a:rPr lang="en-US" sz="2330">
                <a:solidFill>
                  <a:srgbClr val="FF007A"/>
                </a:solidFill>
                <a:latin typeface="HK Modular"/>
                <a:ea typeface="HK Modular"/>
                <a:cs typeface="HK Modular"/>
                <a:sym typeface="HK Modular"/>
              </a:rPr>
              <a:t>ESTADO SUAVE</a:t>
            </a:r>
          </a:p>
        </p:txBody>
      </p:sp>
      <p:sp>
        <p:nvSpPr>
          <p:cNvPr name="TextBox 10" id="10"/>
          <p:cNvSpPr txBox="true"/>
          <p:nvPr/>
        </p:nvSpPr>
        <p:spPr>
          <a:xfrm rot="0">
            <a:off x="8005933" y="5764101"/>
            <a:ext cx="9253367" cy="10090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Poppins"/>
                <a:ea typeface="Poppins"/>
                <a:cs typeface="Poppins"/>
                <a:sym typeface="Poppins"/>
              </a:rPr>
              <a:t>el sistema garantiza la disponibilidad, lo que significa que responderá a las solicitudes incluso si algunas partes del sistema están inactivas o no se pueden acceder.</a:t>
            </a:r>
          </a:p>
        </p:txBody>
      </p:sp>
      <p:sp>
        <p:nvSpPr>
          <p:cNvPr name="TextBox 11" id="11"/>
          <p:cNvSpPr txBox="true"/>
          <p:nvPr/>
        </p:nvSpPr>
        <p:spPr>
          <a:xfrm rot="0">
            <a:off x="7620886" y="7491493"/>
            <a:ext cx="9908700" cy="675640"/>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Poppins"/>
                <a:ea typeface="Poppins"/>
                <a:cs typeface="Poppins"/>
                <a:sym typeface="Poppins"/>
              </a:rPr>
              <a:t>debido a actualizaciones asincrónicas, el estado del sistema puede cambiar con el tiempo, incluso sin entrada.</a:t>
            </a:r>
          </a:p>
        </p:txBody>
      </p:sp>
      <p:sp>
        <p:nvSpPr>
          <p:cNvPr name="TextBox 12" id="12"/>
          <p:cNvSpPr txBox="true"/>
          <p:nvPr/>
        </p:nvSpPr>
        <p:spPr>
          <a:xfrm rot="0">
            <a:off x="7620886" y="8582660"/>
            <a:ext cx="9908700" cy="675640"/>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Poppins"/>
                <a:ea typeface="Poppins"/>
                <a:cs typeface="Poppins"/>
                <a:sym typeface="Poppins"/>
              </a:rPr>
              <a:t>los datos eventualmente se volverán consistentes, pero puede haber períodos en los que sean inconsistentes temporalmente.</a:t>
            </a:r>
          </a:p>
        </p:txBody>
      </p:sp>
      <p:sp>
        <p:nvSpPr>
          <p:cNvPr name="TextBox 13" id="13"/>
          <p:cNvSpPr txBox="true"/>
          <p:nvPr/>
        </p:nvSpPr>
        <p:spPr>
          <a:xfrm rot="0">
            <a:off x="1028700" y="8445636"/>
            <a:ext cx="4169712" cy="812664"/>
          </a:xfrm>
          <a:prstGeom prst="rect">
            <a:avLst/>
          </a:prstGeom>
        </p:spPr>
        <p:txBody>
          <a:bodyPr anchor="t" rtlCol="false" tIns="0" lIns="0" bIns="0" rIns="0">
            <a:spAutoFit/>
          </a:bodyPr>
          <a:lstStyle/>
          <a:p>
            <a:pPr algn="ctr">
              <a:lnSpc>
                <a:spcPts val="3262"/>
              </a:lnSpc>
              <a:spcBef>
                <a:spcPct val="0"/>
              </a:spcBef>
            </a:pPr>
            <a:r>
              <a:rPr lang="en-US" sz="2330">
                <a:solidFill>
                  <a:srgbClr val="FF007A"/>
                </a:solidFill>
                <a:latin typeface="HK Modular"/>
                <a:ea typeface="HK Modular"/>
                <a:cs typeface="HK Modular"/>
                <a:sym typeface="HK Modular"/>
              </a:rPr>
              <a:t>CONSISTENCIA EVENTUAL</a:t>
            </a:r>
          </a:p>
        </p:txBody>
      </p:sp>
      <p:sp>
        <p:nvSpPr>
          <p:cNvPr name="Freeform 14" id="14"/>
          <p:cNvSpPr/>
          <p:nvPr/>
        </p:nvSpPr>
        <p:spPr>
          <a:xfrm flipH="false" flipV="false" rot="0">
            <a:off x="8006834" y="-301270"/>
            <a:ext cx="2493066" cy="2493066"/>
          </a:xfrm>
          <a:custGeom>
            <a:avLst/>
            <a:gdLst/>
            <a:ahLst/>
            <a:cxnLst/>
            <a:rect r="r" b="b" t="t" l="l"/>
            <a:pathLst>
              <a:path h="2493066" w="2493066">
                <a:moveTo>
                  <a:pt x="0" y="0"/>
                </a:moveTo>
                <a:lnTo>
                  <a:pt x="2493066" y="0"/>
                </a:lnTo>
                <a:lnTo>
                  <a:pt x="2493066" y="2493066"/>
                </a:lnTo>
                <a:lnTo>
                  <a:pt x="0" y="2493066"/>
                </a:lnTo>
                <a:lnTo>
                  <a:pt x="0" y="0"/>
                </a:lnTo>
                <a:close/>
              </a:path>
            </a:pathLst>
          </a:custGeom>
          <a:blipFill>
            <a:blip r:embed="rId3"/>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3355521" y="3240133"/>
            <a:ext cx="11301259" cy="6356958"/>
          </a:xfrm>
          <a:custGeom>
            <a:avLst/>
            <a:gdLst/>
            <a:ahLst/>
            <a:cxnLst/>
            <a:rect r="r" b="b" t="t" l="l"/>
            <a:pathLst>
              <a:path h="6356958" w="11301259">
                <a:moveTo>
                  <a:pt x="0" y="0"/>
                </a:moveTo>
                <a:lnTo>
                  <a:pt x="11301259" y="0"/>
                </a:lnTo>
                <a:lnTo>
                  <a:pt x="11301259" y="6356958"/>
                </a:lnTo>
                <a:lnTo>
                  <a:pt x="0" y="6356958"/>
                </a:lnTo>
                <a:lnTo>
                  <a:pt x="0" y="0"/>
                </a:lnTo>
                <a:close/>
              </a:path>
            </a:pathLst>
          </a:custGeom>
          <a:blipFill>
            <a:blip r:embed="rId3"/>
            <a:stretch>
              <a:fillRect l="0" t="0" r="0" b="0"/>
            </a:stretch>
          </a:blipFill>
        </p:spPr>
      </p:sp>
      <p:sp>
        <p:nvSpPr>
          <p:cNvPr name="TextBox 7" id="7"/>
          <p:cNvSpPr txBox="true"/>
          <p:nvPr/>
        </p:nvSpPr>
        <p:spPr>
          <a:xfrm rot="0">
            <a:off x="977148" y="1961246"/>
            <a:ext cx="16552439" cy="853854"/>
          </a:xfrm>
          <a:prstGeom prst="rect">
            <a:avLst/>
          </a:prstGeom>
        </p:spPr>
        <p:txBody>
          <a:bodyPr anchor="t" rtlCol="false" tIns="0" lIns="0" bIns="0" rIns="0">
            <a:spAutoFit/>
          </a:bodyPr>
          <a:lstStyle/>
          <a:p>
            <a:pPr algn="ctr">
              <a:lnSpc>
                <a:spcPts val="7012"/>
              </a:lnSpc>
              <a:spcBef>
                <a:spcPct val="0"/>
              </a:spcBef>
            </a:pPr>
            <a:r>
              <a:rPr lang="en-US" sz="5008">
                <a:solidFill>
                  <a:srgbClr val="FF007A"/>
                </a:solidFill>
                <a:latin typeface="HK Modular"/>
                <a:ea typeface="HK Modular"/>
                <a:cs typeface="HK Modular"/>
                <a:sym typeface="HK Modular"/>
              </a:rPr>
              <a:t>EMBEBIDO VS REFERENCIADO</a:t>
            </a:r>
          </a:p>
        </p:txBody>
      </p:sp>
      <p:sp>
        <p:nvSpPr>
          <p:cNvPr name="Freeform 8" id="8"/>
          <p:cNvSpPr/>
          <p:nvPr/>
        </p:nvSpPr>
        <p:spPr>
          <a:xfrm flipH="false" flipV="false" rot="0">
            <a:off x="8006834" y="-301270"/>
            <a:ext cx="2493066" cy="2493066"/>
          </a:xfrm>
          <a:custGeom>
            <a:avLst/>
            <a:gdLst/>
            <a:ahLst/>
            <a:cxnLst/>
            <a:rect r="r" b="b" t="t" l="l"/>
            <a:pathLst>
              <a:path h="2493066" w="2493066">
                <a:moveTo>
                  <a:pt x="0" y="0"/>
                </a:moveTo>
                <a:lnTo>
                  <a:pt x="2493066" y="0"/>
                </a:lnTo>
                <a:lnTo>
                  <a:pt x="2493066" y="2493066"/>
                </a:lnTo>
                <a:lnTo>
                  <a:pt x="0" y="2493066"/>
                </a:lnTo>
                <a:lnTo>
                  <a:pt x="0" y="0"/>
                </a:lnTo>
                <a:close/>
              </a:path>
            </a:pathLst>
          </a:custGeom>
          <a:blipFill>
            <a:blip r:embed="rId4"/>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977148" y="1581944"/>
            <a:ext cx="16552439" cy="853854"/>
          </a:xfrm>
          <a:prstGeom prst="rect">
            <a:avLst/>
          </a:prstGeom>
        </p:spPr>
        <p:txBody>
          <a:bodyPr anchor="t" rtlCol="false" tIns="0" lIns="0" bIns="0" rIns="0">
            <a:spAutoFit/>
          </a:bodyPr>
          <a:lstStyle/>
          <a:p>
            <a:pPr algn="ctr">
              <a:lnSpc>
                <a:spcPts val="7012"/>
              </a:lnSpc>
              <a:spcBef>
                <a:spcPct val="0"/>
              </a:spcBef>
            </a:pPr>
            <a:r>
              <a:rPr lang="en-US" sz="5008">
                <a:solidFill>
                  <a:srgbClr val="FF007A"/>
                </a:solidFill>
                <a:latin typeface="HK Modular"/>
                <a:ea typeface="HK Modular"/>
                <a:cs typeface="HK Modular"/>
                <a:sym typeface="HK Modular"/>
              </a:rPr>
              <a:t>MONGO DB</a:t>
            </a:r>
          </a:p>
        </p:txBody>
      </p:sp>
      <p:sp>
        <p:nvSpPr>
          <p:cNvPr name="Freeform 7" id="7"/>
          <p:cNvSpPr/>
          <p:nvPr/>
        </p:nvSpPr>
        <p:spPr>
          <a:xfrm flipH="false" flipV="false" rot="0">
            <a:off x="3533859" y="6360355"/>
            <a:ext cx="4032546" cy="2916875"/>
          </a:xfrm>
          <a:custGeom>
            <a:avLst/>
            <a:gdLst/>
            <a:ahLst/>
            <a:cxnLst/>
            <a:rect r="r" b="b" t="t" l="l"/>
            <a:pathLst>
              <a:path h="2916875" w="4032546">
                <a:moveTo>
                  <a:pt x="0" y="0"/>
                </a:moveTo>
                <a:lnTo>
                  <a:pt x="4032546" y="0"/>
                </a:lnTo>
                <a:lnTo>
                  <a:pt x="4032546" y="2916876"/>
                </a:lnTo>
                <a:lnTo>
                  <a:pt x="0" y="2916876"/>
                </a:lnTo>
                <a:lnTo>
                  <a:pt x="0" y="0"/>
                </a:lnTo>
                <a:close/>
              </a:path>
            </a:pathLst>
          </a:custGeom>
          <a:blipFill>
            <a:blip r:embed="rId3"/>
            <a:stretch>
              <a:fillRect l="0" t="0" r="0" b="0"/>
            </a:stretch>
          </a:blipFill>
        </p:spPr>
      </p:sp>
      <p:sp>
        <p:nvSpPr>
          <p:cNvPr name="Freeform 8" id="8"/>
          <p:cNvSpPr/>
          <p:nvPr/>
        </p:nvSpPr>
        <p:spPr>
          <a:xfrm flipH="false" flipV="false" rot="0">
            <a:off x="11638702" y="3610333"/>
            <a:ext cx="5482748" cy="2750022"/>
          </a:xfrm>
          <a:custGeom>
            <a:avLst/>
            <a:gdLst/>
            <a:ahLst/>
            <a:cxnLst/>
            <a:rect r="r" b="b" t="t" l="l"/>
            <a:pathLst>
              <a:path h="2750022" w="5482748">
                <a:moveTo>
                  <a:pt x="0" y="0"/>
                </a:moveTo>
                <a:lnTo>
                  <a:pt x="5482748" y="0"/>
                </a:lnTo>
                <a:lnTo>
                  <a:pt x="5482748" y="2750022"/>
                </a:lnTo>
                <a:lnTo>
                  <a:pt x="0" y="2750022"/>
                </a:lnTo>
                <a:lnTo>
                  <a:pt x="0" y="0"/>
                </a:lnTo>
                <a:close/>
              </a:path>
            </a:pathLst>
          </a:custGeom>
          <a:blipFill>
            <a:blip r:embed="rId4"/>
            <a:stretch>
              <a:fillRect l="0" t="0" r="0" b="0"/>
            </a:stretch>
          </a:blipFill>
        </p:spPr>
      </p:sp>
      <p:sp>
        <p:nvSpPr>
          <p:cNvPr name="TextBox 9" id="9"/>
          <p:cNvSpPr txBox="true"/>
          <p:nvPr/>
        </p:nvSpPr>
        <p:spPr>
          <a:xfrm rot="0">
            <a:off x="1028700" y="3197737"/>
            <a:ext cx="9933974" cy="9150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Es una base de datos de tipo documento, que almacena los datos en un formato JSON llamado BSON</a:t>
            </a:r>
          </a:p>
        </p:txBody>
      </p:sp>
      <p:sp>
        <p:nvSpPr>
          <p:cNvPr name="TextBox 10" id="10"/>
          <p:cNvSpPr txBox="true"/>
          <p:nvPr/>
        </p:nvSpPr>
        <p:spPr>
          <a:xfrm rot="0">
            <a:off x="977148" y="4470167"/>
            <a:ext cx="9933974" cy="13722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Un registro en Mongo es un documento, que es una estructura de datos compuesta por pares clave.valor similar a una estructura de los objetos JSON</a:t>
            </a:r>
          </a:p>
        </p:txBody>
      </p:sp>
      <p:sp>
        <p:nvSpPr>
          <p:cNvPr name="Freeform 11" id="11"/>
          <p:cNvSpPr/>
          <p:nvPr/>
        </p:nvSpPr>
        <p:spPr>
          <a:xfrm flipH="false" flipV="false" rot="0">
            <a:off x="8006834" y="-301270"/>
            <a:ext cx="2493066" cy="2493066"/>
          </a:xfrm>
          <a:custGeom>
            <a:avLst/>
            <a:gdLst/>
            <a:ahLst/>
            <a:cxnLst/>
            <a:rect r="r" b="b" t="t" l="l"/>
            <a:pathLst>
              <a:path h="2493066" w="2493066">
                <a:moveTo>
                  <a:pt x="0" y="0"/>
                </a:moveTo>
                <a:lnTo>
                  <a:pt x="2493066" y="0"/>
                </a:lnTo>
                <a:lnTo>
                  <a:pt x="2493066" y="2493066"/>
                </a:lnTo>
                <a:lnTo>
                  <a:pt x="0" y="2493066"/>
                </a:lnTo>
                <a:lnTo>
                  <a:pt x="0" y="0"/>
                </a:lnTo>
                <a:close/>
              </a:path>
            </a:pathLst>
          </a:custGeom>
          <a:blipFill>
            <a:blip r:embed="rId5"/>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977148" y="1961246"/>
            <a:ext cx="16552439" cy="853854"/>
          </a:xfrm>
          <a:prstGeom prst="rect">
            <a:avLst/>
          </a:prstGeom>
        </p:spPr>
        <p:txBody>
          <a:bodyPr anchor="t" rtlCol="false" tIns="0" lIns="0" bIns="0" rIns="0">
            <a:spAutoFit/>
          </a:bodyPr>
          <a:lstStyle/>
          <a:p>
            <a:pPr algn="ctr">
              <a:lnSpc>
                <a:spcPts val="7012"/>
              </a:lnSpc>
              <a:spcBef>
                <a:spcPct val="0"/>
              </a:spcBef>
            </a:pPr>
            <a:r>
              <a:rPr lang="en-US" sz="5008">
                <a:solidFill>
                  <a:srgbClr val="FF007A"/>
                </a:solidFill>
                <a:latin typeface="HK Modular"/>
                <a:ea typeface="HK Modular"/>
                <a:cs typeface="HK Modular"/>
                <a:sym typeface="HK Modular"/>
              </a:rPr>
              <a:t>EMBEBIDO VS REFERENCIADO</a:t>
            </a:r>
          </a:p>
        </p:txBody>
      </p:sp>
      <p:sp>
        <p:nvSpPr>
          <p:cNvPr name="TextBox 7" id="7"/>
          <p:cNvSpPr txBox="true"/>
          <p:nvPr/>
        </p:nvSpPr>
        <p:spPr>
          <a:xfrm rot="0">
            <a:off x="1028700" y="3525130"/>
            <a:ext cx="7159744" cy="18294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En el modelo embebido se incrusta la informacion relacionada, como lo son los detalles de un pedido y sus articulos, se incluye todo dentro de un solo documento</a:t>
            </a:r>
          </a:p>
        </p:txBody>
      </p:sp>
      <p:sp>
        <p:nvSpPr>
          <p:cNvPr name="TextBox 8" id="8"/>
          <p:cNvSpPr txBox="true"/>
          <p:nvPr/>
        </p:nvSpPr>
        <p:spPr>
          <a:xfrm rot="0">
            <a:off x="10369842" y="3525130"/>
            <a:ext cx="7159744" cy="18294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Los documentos estan separados y se establece una relacion mediante la insercion de un campo con el _id de un documento en otro</a:t>
            </a:r>
          </a:p>
        </p:txBody>
      </p:sp>
      <p:sp>
        <p:nvSpPr>
          <p:cNvPr name="TextBox 9" id="9"/>
          <p:cNvSpPr txBox="true"/>
          <p:nvPr/>
        </p:nvSpPr>
        <p:spPr>
          <a:xfrm rot="0">
            <a:off x="977148" y="5989357"/>
            <a:ext cx="7159744" cy="13722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Permite obtener toda la informacion ya que se realiza con una unica operacion de lectura</a:t>
            </a:r>
          </a:p>
        </p:txBody>
      </p:sp>
      <p:sp>
        <p:nvSpPr>
          <p:cNvPr name="TextBox 10" id="10"/>
          <p:cNvSpPr txBox="true"/>
          <p:nvPr/>
        </p:nvSpPr>
        <p:spPr>
          <a:xfrm rot="0">
            <a:off x="10369842" y="5793777"/>
            <a:ext cx="7159744" cy="13722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Permite mayor flexibilidad para modelar diferentes tipos de relaciones pero requiere de multiples consultas</a:t>
            </a:r>
          </a:p>
        </p:txBody>
      </p:sp>
      <p:sp>
        <p:nvSpPr>
          <p:cNvPr name="TextBox 11" id="11"/>
          <p:cNvSpPr txBox="true"/>
          <p:nvPr/>
        </p:nvSpPr>
        <p:spPr>
          <a:xfrm rot="0">
            <a:off x="10487780" y="7438287"/>
            <a:ext cx="7159744" cy="13722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Evita la duplicacion y redundancia de los datos al tener la informacion en un solo lugar</a:t>
            </a:r>
          </a:p>
        </p:txBody>
      </p:sp>
      <p:sp>
        <p:nvSpPr>
          <p:cNvPr name="TextBox 12" id="12"/>
          <p:cNvSpPr txBox="true"/>
          <p:nvPr/>
        </p:nvSpPr>
        <p:spPr>
          <a:xfrm rot="0">
            <a:off x="977148" y="7556538"/>
            <a:ext cx="7159744"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Puede tener duplicacion de informacion</a:t>
            </a:r>
          </a:p>
        </p:txBody>
      </p:sp>
      <p:sp>
        <p:nvSpPr>
          <p:cNvPr name="Freeform 13" id="13"/>
          <p:cNvSpPr/>
          <p:nvPr/>
        </p:nvSpPr>
        <p:spPr>
          <a:xfrm flipH="false" flipV="false" rot="0">
            <a:off x="8006834" y="-301270"/>
            <a:ext cx="2493066" cy="2493066"/>
          </a:xfrm>
          <a:custGeom>
            <a:avLst/>
            <a:gdLst/>
            <a:ahLst/>
            <a:cxnLst/>
            <a:rect r="r" b="b" t="t" l="l"/>
            <a:pathLst>
              <a:path h="2493066" w="2493066">
                <a:moveTo>
                  <a:pt x="0" y="0"/>
                </a:moveTo>
                <a:lnTo>
                  <a:pt x="2493066" y="0"/>
                </a:lnTo>
                <a:lnTo>
                  <a:pt x="2493066" y="2493066"/>
                </a:lnTo>
                <a:lnTo>
                  <a:pt x="0" y="2493066"/>
                </a:lnTo>
                <a:lnTo>
                  <a:pt x="0" y="0"/>
                </a:lnTo>
                <a:close/>
              </a:path>
            </a:pathLst>
          </a:custGeom>
          <a:blipFill>
            <a:blip r:embed="rId3"/>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977148" y="4150609"/>
            <a:ext cx="992891" cy="992891"/>
          </a:xfrm>
          <a:custGeom>
            <a:avLst/>
            <a:gdLst/>
            <a:ahLst/>
            <a:cxnLst/>
            <a:rect r="r" b="b" t="t" l="l"/>
            <a:pathLst>
              <a:path h="992891" w="992891">
                <a:moveTo>
                  <a:pt x="0" y="0"/>
                </a:moveTo>
                <a:lnTo>
                  <a:pt x="992891" y="0"/>
                </a:lnTo>
                <a:lnTo>
                  <a:pt x="992891" y="992891"/>
                </a:lnTo>
                <a:lnTo>
                  <a:pt x="0" y="99289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970039" y="5300288"/>
            <a:ext cx="8072033" cy="4409348"/>
          </a:xfrm>
          <a:custGeom>
            <a:avLst/>
            <a:gdLst/>
            <a:ahLst/>
            <a:cxnLst/>
            <a:rect r="r" b="b" t="t" l="l"/>
            <a:pathLst>
              <a:path h="4409348" w="8072033">
                <a:moveTo>
                  <a:pt x="0" y="0"/>
                </a:moveTo>
                <a:lnTo>
                  <a:pt x="8072033" y="0"/>
                </a:lnTo>
                <a:lnTo>
                  <a:pt x="8072033" y="4409348"/>
                </a:lnTo>
                <a:lnTo>
                  <a:pt x="0" y="4409348"/>
                </a:lnTo>
                <a:lnTo>
                  <a:pt x="0" y="0"/>
                </a:lnTo>
                <a:close/>
              </a:path>
            </a:pathLst>
          </a:custGeom>
          <a:blipFill>
            <a:blip r:embed="rId5"/>
            <a:stretch>
              <a:fillRect l="0" t="0" r="0" b="0"/>
            </a:stretch>
          </a:blipFill>
        </p:spPr>
      </p:sp>
      <p:sp>
        <p:nvSpPr>
          <p:cNvPr name="Freeform 8" id="8"/>
          <p:cNvSpPr/>
          <p:nvPr/>
        </p:nvSpPr>
        <p:spPr>
          <a:xfrm flipH="false" flipV="false" rot="0">
            <a:off x="11627900" y="5572994"/>
            <a:ext cx="2465505" cy="3863936"/>
          </a:xfrm>
          <a:custGeom>
            <a:avLst/>
            <a:gdLst/>
            <a:ahLst/>
            <a:cxnLst/>
            <a:rect r="r" b="b" t="t" l="l"/>
            <a:pathLst>
              <a:path h="3863936" w="2465505">
                <a:moveTo>
                  <a:pt x="0" y="0"/>
                </a:moveTo>
                <a:lnTo>
                  <a:pt x="2465506" y="0"/>
                </a:lnTo>
                <a:lnTo>
                  <a:pt x="2465506" y="3863936"/>
                </a:lnTo>
                <a:lnTo>
                  <a:pt x="0" y="3863936"/>
                </a:lnTo>
                <a:lnTo>
                  <a:pt x="0" y="0"/>
                </a:lnTo>
                <a:close/>
              </a:path>
            </a:pathLst>
          </a:custGeom>
          <a:blipFill>
            <a:blip r:embed="rId6"/>
            <a:stretch>
              <a:fillRect l="0" t="0" r="0" b="0"/>
            </a:stretch>
          </a:blipFill>
        </p:spPr>
      </p:sp>
      <p:sp>
        <p:nvSpPr>
          <p:cNvPr name="TextBox 9" id="9"/>
          <p:cNvSpPr txBox="true"/>
          <p:nvPr/>
        </p:nvSpPr>
        <p:spPr>
          <a:xfrm rot="0">
            <a:off x="977148" y="1961246"/>
            <a:ext cx="16552439" cy="1739679"/>
          </a:xfrm>
          <a:prstGeom prst="rect">
            <a:avLst/>
          </a:prstGeom>
        </p:spPr>
        <p:txBody>
          <a:bodyPr anchor="t" rtlCol="false" tIns="0" lIns="0" bIns="0" rIns="0">
            <a:spAutoFit/>
          </a:bodyPr>
          <a:lstStyle/>
          <a:p>
            <a:pPr algn="ctr">
              <a:lnSpc>
                <a:spcPts val="7012"/>
              </a:lnSpc>
              <a:spcBef>
                <a:spcPct val="0"/>
              </a:spcBef>
            </a:pPr>
            <a:r>
              <a:rPr lang="en-US" sz="5008">
                <a:solidFill>
                  <a:srgbClr val="FF007A"/>
                </a:solidFill>
                <a:latin typeface="HK Modular"/>
                <a:ea typeface="HK Modular"/>
                <a:cs typeface="HK Modular"/>
                <a:sym typeface="HK Modular"/>
              </a:rPr>
              <a:t>COMO IMPLEMENTAR UNA BASE DE DATOS NO RELACIONAL EN MI API?</a:t>
            </a:r>
          </a:p>
        </p:txBody>
      </p:sp>
      <p:sp>
        <p:nvSpPr>
          <p:cNvPr name="TextBox 10" id="10"/>
          <p:cNvSpPr txBox="true"/>
          <p:nvPr/>
        </p:nvSpPr>
        <p:spPr>
          <a:xfrm rot="0">
            <a:off x="2850208" y="4384799"/>
            <a:ext cx="12587585"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Configurar Mongo DB y utilizar MongoDB Compass</a:t>
            </a:r>
          </a:p>
        </p:txBody>
      </p:sp>
      <p:sp>
        <p:nvSpPr>
          <p:cNvPr name="Freeform 11" id="11"/>
          <p:cNvSpPr/>
          <p:nvPr/>
        </p:nvSpPr>
        <p:spPr>
          <a:xfrm flipH="false" flipV="false" rot="0">
            <a:off x="8006834" y="-301270"/>
            <a:ext cx="2493066" cy="2493066"/>
          </a:xfrm>
          <a:custGeom>
            <a:avLst/>
            <a:gdLst/>
            <a:ahLst/>
            <a:cxnLst/>
            <a:rect r="r" b="b" t="t" l="l"/>
            <a:pathLst>
              <a:path h="2493066" w="2493066">
                <a:moveTo>
                  <a:pt x="0" y="0"/>
                </a:moveTo>
                <a:lnTo>
                  <a:pt x="2493066" y="0"/>
                </a:lnTo>
                <a:lnTo>
                  <a:pt x="2493066" y="2493066"/>
                </a:lnTo>
                <a:lnTo>
                  <a:pt x="0" y="2493066"/>
                </a:lnTo>
                <a:lnTo>
                  <a:pt x="0" y="0"/>
                </a:lnTo>
                <a:close/>
              </a:path>
            </a:pathLst>
          </a:custGeom>
          <a:blipFill>
            <a:blip r:embed="rId7"/>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313943" y="4235743"/>
            <a:ext cx="822623" cy="822623"/>
          </a:xfrm>
          <a:custGeom>
            <a:avLst/>
            <a:gdLst/>
            <a:ahLst/>
            <a:cxnLst/>
            <a:rect r="r" b="b" t="t" l="l"/>
            <a:pathLst>
              <a:path h="822623" w="822623">
                <a:moveTo>
                  <a:pt x="0" y="0"/>
                </a:moveTo>
                <a:lnTo>
                  <a:pt x="822623" y="0"/>
                </a:lnTo>
                <a:lnTo>
                  <a:pt x="822623" y="822623"/>
                </a:lnTo>
                <a:lnTo>
                  <a:pt x="0" y="8226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2769993" y="5509117"/>
            <a:ext cx="3789652" cy="4244410"/>
          </a:xfrm>
          <a:custGeom>
            <a:avLst/>
            <a:gdLst/>
            <a:ahLst/>
            <a:cxnLst/>
            <a:rect r="r" b="b" t="t" l="l"/>
            <a:pathLst>
              <a:path h="4244410" w="3789652">
                <a:moveTo>
                  <a:pt x="0" y="0"/>
                </a:moveTo>
                <a:lnTo>
                  <a:pt x="3789652" y="0"/>
                </a:lnTo>
                <a:lnTo>
                  <a:pt x="3789652" y="4244411"/>
                </a:lnTo>
                <a:lnTo>
                  <a:pt x="0" y="4244411"/>
                </a:lnTo>
                <a:lnTo>
                  <a:pt x="0" y="0"/>
                </a:lnTo>
                <a:close/>
              </a:path>
            </a:pathLst>
          </a:custGeom>
          <a:blipFill>
            <a:blip r:embed="rId5"/>
            <a:stretch>
              <a:fillRect l="0" t="0" r="0" b="0"/>
            </a:stretch>
          </a:blipFill>
        </p:spPr>
      </p:sp>
      <p:sp>
        <p:nvSpPr>
          <p:cNvPr name="Freeform 8" id="8"/>
          <p:cNvSpPr/>
          <p:nvPr/>
        </p:nvSpPr>
        <p:spPr>
          <a:xfrm flipH="false" flipV="false" rot="0">
            <a:off x="7724696" y="5717736"/>
            <a:ext cx="7291036" cy="3364192"/>
          </a:xfrm>
          <a:custGeom>
            <a:avLst/>
            <a:gdLst/>
            <a:ahLst/>
            <a:cxnLst/>
            <a:rect r="r" b="b" t="t" l="l"/>
            <a:pathLst>
              <a:path h="3364192" w="7291036">
                <a:moveTo>
                  <a:pt x="0" y="0"/>
                </a:moveTo>
                <a:lnTo>
                  <a:pt x="7291037" y="0"/>
                </a:lnTo>
                <a:lnTo>
                  <a:pt x="7291037" y="3364192"/>
                </a:lnTo>
                <a:lnTo>
                  <a:pt x="0" y="3364192"/>
                </a:lnTo>
                <a:lnTo>
                  <a:pt x="0" y="0"/>
                </a:lnTo>
                <a:close/>
              </a:path>
            </a:pathLst>
          </a:custGeom>
          <a:blipFill>
            <a:blip r:embed="rId6"/>
            <a:stretch>
              <a:fillRect l="0" t="0" r="0" b="0"/>
            </a:stretch>
          </a:blipFill>
        </p:spPr>
      </p:sp>
      <p:sp>
        <p:nvSpPr>
          <p:cNvPr name="TextBox 9" id="9"/>
          <p:cNvSpPr txBox="true"/>
          <p:nvPr/>
        </p:nvSpPr>
        <p:spPr>
          <a:xfrm rot="0">
            <a:off x="977148" y="1961246"/>
            <a:ext cx="16552439" cy="1739679"/>
          </a:xfrm>
          <a:prstGeom prst="rect">
            <a:avLst/>
          </a:prstGeom>
        </p:spPr>
        <p:txBody>
          <a:bodyPr anchor="t" rtlCol="false" tIns="0" lIns="0" bIns="0" rIns="0">
            <a:spAutoFit/>
          </a:bodyPr>
          <a:lstStyle/>
          <a:p>
            <a:pPr algn="ctr">
              <a:lnSpc>
                <a:spcPts val="7012"/>
              </a:lnSpc>
              <a:spcBef>
                <a:spcPct val="0"/>
              </a:spcBef>
            </a:pPr>
            <a:r>
              <a:rPr lang="en-US" sz="5008">
                <a:solidFill>
                  <a:srgbClr val="FF007A"/>
                </a:solidFill>
                <a:latin typeface="HK Modular"/>
                <a:ea typeface="HK Modular"/>
                <a:cs typeface="HK Modular"/>
                <a:sym typeface="HK Modular"/>
              </a:rPr>
              <a:t>COMO IMPLEMENTAR UNA BASE DE DATOS NO RELACIONAL EN MI API?</a:t>
            </a:r>
          </a:p>
        </p:txBody>
      </p:sp>
      <p:sp>
        <p:nvSpPr>
          <p:cNvPr name="TextBox 10" id="10"/>
          <p:cNvSpPr txBox="true"/>
          <p:nvPr/>
        </p:nvSpPr>
        <p:spPr>
          <a:xfrm rot="0">
            <a:off x="3349914" y="4384799"/>
            <a:ext cx="12587585" cy="9150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Establecer la conexion con el cluster de mongo y generar el proyecto con su dependencia</a:t>
            </a:r>
          </a:p>
        </p:txBody>
      </p:sp>
      <p:sp>
        <p:nvSpPr>
          <p:cNvPr name="Freeform 11" id="11"/>
          <p:cNvSpPr/>
          <p:nvPr/>
        </p:nvSpPr>
        <p:spPr>
          <a:xfrm flipH="false" flipV="false" rot="0">
            <a:off x="8006834" y="-301270"/>
            <a:ext cx="2493066" cy="2493066"/>
          </a:xfrm>
          <a:custGeom>
            <a:avLst/>
            <a:gdLst/>
            <a:ahLst/>
            <a:cxnLst/>
            <a:rect r="r" b="b" t="t" l="l"/>
            <a:pathLst>
              <a:path h="2493066" w="2493066">
                <a:moveTo>
                  <a:pt x="0" y="0"/>
                </a:moveTo>
                <a:lnTo>
                  <a:pt x="2493066" y="0"/>
                </a:lnTo>
                <a:lnTo>
                  <a:pt x="2493066" y="2493066"/>
                </a:lnTo>
                <a:lnTo>
                  <a:pt x="0" y="2493066"/>
                </a:lnTo>
                <a:lnTo>
                  <a:pt x="0" y="0"/>
                </a:lnTo>
                <a:close/>
              </a:path>
            </a:pathLst>
          </a:custGeom>
          <a:blipFill>
            <a:blip r:embed="rId7"/>
            <a:stretch>
              <a:fillRect l="0" t="0" r="0" b="0"/>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4452349" y="4340920"/>
            <a:ext cx="9602036" cy="1349559"/>
          </a:xfrm>
          <a:custGeom>
            <a:avLst/>
            <a:gdLst/>
            <a:ahLst/>
            <a:cxnLst/>
            <a:rect r="r" b="b" t="t" l="l"/>
            <a:pathLst>
              <a:path h="1349559" w="9602036">
                <a:moveTo>
                  <a:pt x="0" y="0"/>
                </a:moveTo>
                <a:lnTo>
                  <a:pt x="9602036" y="0"/>
                </a:lnTo>
                <a:lnTo>
                  <a:pt x="9602036" y="1349559"/>
                </a:lnTo>
                <a:lnTo>
                  <a:pt x="0" y="1349559"/>
                </a:lnTo>
                <a:lnTo>
                  <a:pt x="0" y="0"/>
                </a:lnTo>
                <a:close/>
              </a:path>
            </a:pathLst>
          </a:custGeom>
          <a:blipFill>
            <a:blip r:embed="rId3"/>
            <a:stretch>
              <a:fillRect l="0" t="0" r="0" b="0"/>
            </a:stretch>
          </a:blipFill>
        </p:spPr>
      </p:sp>
      <p:sp>
        <p:nvSpPr>
          <p:cNvPr name="TextBox 7" id="7"/>
          <p:cNvSpPr txBox="true"/>
          <p:nvPr/>
        </p:nvSpPr>
        <p:spPr>
          <a:xfrm rot="0">
            <a:off x="3754713" y="835632"/>
            <a:ext cx="11445321" cy="2778590"/>
          </a:xfrm>
          <a:prstGeom prst="rect">
            <a:avLst/>
          </a:prstGeom>
        </p:spPr>
        <p:txBody>
          <a:bodyPr anchor="t" rtlCol="false" tIns="0" lIns="0" bIns="0" rIns="0">
            <a:spAutoFit/>
          </a:bodyPr>
          <a:lstStyle/>
          <a:p>
            <a:pPr algn="ctr">
              <a:lnSpc>
                <a:spcPts val="5527"/>
              </a:lnSpc>
            </a:pPr>
            <a:r>
              <a:rPr lang="en-US" sz="3948">
                <a:solidFill>
                  <a:srgbClr val="FF007A"/>
                </a:solidFill>
                <a:latin typeface="HK Modular"/>
                <a:ea typeface="HK Modular"/>
                <a:cs typeface="HK Modular"/>
                <a:sym typeface="HK Modular"/>
              </a:rPr>
              <a:t>COMO IMPLEMENTAR UNA BASE DE DATOS NO RELACIONAL EN MI API?</a:t>
            </a:r>
          </a:p>
          <a:p>
            <a:pPr algn="ctr">
              <a:lnSpc>
                <a:spcPts val="5527"/>
              </a:lnSpc>
              <a:spcBef>
                <a:spcPct val="0"/>
              </a:spcBef>
            </a:pPr>
          </a:p>
        </p:txBody>
      </p:sp>
      <p:sp>
        <p:nvSpPr>
          <p:cNvPr name="TextBox 8" id="8"/>
          <p:cNvSpPr txBox="true"/>
          <p:nvPr/>
        </p:nvSpPr>
        <p:spPr>
          <a:xfrm rot="0">
            <a:off x="1994309" y="3156387"/>
            <a:ext cx="14993883"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En el application.properties o en el application.yaml configuremos las variables</a:t>
            </a:r>
          </a:p>
        </p:txBody>
      </p:sp>
      <p:sp>
        <p:nvSpPr>
          <p:cNvPr name="Freeform 9" id="9"/>
          <p:cNvSpPr/>
          <p:nvPr/>
        </p:nvSpPr>
        <p:spPr>
          <a:xfrm flipH="false" flipV="false" rot="0">
            <a:off x="1518613" y="2864005"/>
            <a:ext cx="1109274" cy="1109274"/>
          </a:xfrm>
          <a:custGeom>
            <a:avLst/>
            <a:gdLst/>
            <a:ahLst/>
            <a:cxnLst/>
            <a:rect r="r" b="b" t="t" l="l"/>
            <a:pathLst>
              <a:path h="1109274" w="1109274">
                <a:moveTo>
                  <a:pt x="0" y="0"/>
                </a:moveTo>
                <a:lnTo>
                  <a:pt x="1109274" y="0"/>
                </a:lnTo>
                <a:lnTo>
                  <a:pt x="1109274" y="1109274"/>
                </a:lnTo>
                <a:lnTo>
                  <a:pt x="0" y="11092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4053501" y="6414379"/>
            <a:ext cx="10399731" cy="2198473"/>
          </a:xfrm>
          <a:custGeom>
            <a:avLst/>
            <a:gdLst/>
            <a:ahLst/>
            <a:cxnLst/>
            <a:rect r="r" b="b" t="t" l="l"/>
            <a:pathLst>
              <a:path h="2198473" w="10399731">
                <a:moveTo>
                  <a:pt x="0" y="0"/>
                </a:moveTo>
                <a:lnTo>
                  <a:pt x="10399732" y="0"/>
                </a:lnTo>
                <a:lnTo>
                  <a:pt x="10399732" y="2198473"/>
                </a:lnTo>
                <a:lnTo>
                  <a:pt x="0" y="2198473"/>
                </a:lnTo>
                <a:lnTo>
                  <a:pt x="0" y="0"/>
                </a:lnTo>
                <a:close/>
              </a:path>
            </a:pathLst>
          </a:custGeom>
          <a:blipFill>
            <a:blip r:embed="rId6"/>
            <a:stretch>
              <a:fillRect l="0" t="0" r="0" b="0"/>
            </a:stretch>
          </a:blipFill>
        </p:spPr>
      </p:sp>
      <p:sp>
        <p:nvSpPr>
          <p:cNvPr name="Freeform 11" id="11"/>
          <p:cNvSpPr/>
          <p:nvPr/>
        </p:nvSpPr>
        <p:spPr>
          <a:xfrm flipH="false" flipV="false" rot="0">
            <a:off x="826717" y="370939"/>
            <a:ext cx="2493066" cy="2493066"/>
          </a:xfrm>
          <a:custGeom>
            <a:avLst/>
            <a:gdLst/>
            <a:ahLst/>
            <a:cxnLst/>
            <a:rect r="r" b="b" t="t" l="l"/>
            <a:pathLst>
              <a:path h="2493066" w="2493066">
                <a:moveTo>
                  <a:pt x="0" y="0"/>
                </a:moveTo>
                <a:lnTo>
                  <a:pt x="2493066" y="0"/>
                </a:lnTo>
                <a:lnTo>
                  <a:pt x="2493066" y="2493066"/>
                </a:lnTo>
                <a:lnTo>
                  <a:pt x="0" y="2493066"/>
                </a:lnTo>
                <a:lnTo>
                  <a:pt x="0" y="0"/>
                </a:lnTo>
                <a:close/>
              </a:path>
            </a:pathLst>
          </a:custGeom>
          <a:blipFill>
            <a:blip r:embed="rId7"/>
            <a:stretch>
              <a:fillRect l="0" t="0" r="0" b="0"/>
            </a:stretch>
          </a:blipFill>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1818636" y="3333043"/>
            <a:ext cx="959316" cy="914348"/>
            <a:chOff x="0" y="0"/>
            <a:chExt cx="812800" cy="774700"/>
          </a:xfrm>
        </p:grpSpPr>
        <p:sp>
          <p:nvSpPr>
            <p:cNvPr name="Freeform 7" id="7"/>
            <p:cNvSpPr/>
            <p:nvPr/>
          </p:nvSpPr>
          <p:spPr>
            <a:xfrm flipH="false" flipV="false" rot="0">
              <a:off x="0" y="0"/>
              <a:ext cx="812800" cy="774700"/>
            </a:xfrm>
            <a:custGeom>
              <a:avLst/>
              <a:gdLst/>
              <a:ahLst/>
              <a:cxnLst/>
              <a:rect r="r" b="b" t="t" l="l"/>
              <a:pathLst>
                <a:path h="774700" w="8128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FF751F"/>
            </a:solidFill>
          </p:spPr>
        </p:sp>
        <p:sp>
          <p:nvSpPr>
            <p:cNvPr name="TextBox 8" id="8"/>
            <p:cNvSpPr txBox="true"/>
            <p:nvPr/>
          </p:nvSpPr>
          <p:spPr>
            <a:xfrm>
              <a:off x="228600" y="228600"/>
              <a:ext cx="355600" cy="38100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1818636" y="5294724"/>
            <a:ext cx="959316" cy="914348"/>
            <a:chOff x="0" y="0"/>
            <a:chExt cx="812800" cy="774700"/>
          </a:xfrm>
        </p:grpSpPr>
        <p:sp>
          <p:nvSpPr>
            <p:cNvPr name="Freeform 10" id="10"/>
            <p:cNvSpPr/>
            <p:nvPr/>
          </p:nvSpPr>
          <p:spPr>
            <a:xfrm flipH="false" flipV="false" rot="0">
              <a:off x="0" y="0"/>
              <a:ext cx="812800" cy="774700"/>
            </a:xfrm>
            <a:custGeom>
              <a:avLst/>
              <a:gdLst/>
              <a:ahLst/>
              <a:cxnLst/>
              <a:rect r="r" b="b" t="t" l="l"/>
              <a:pathLst>
                <a:path h="774700" w="8128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FF751F"/>
            </a:solidFill>
          </p:spPr>
        </p:sp>
        <p:sp>
          <p:nvSpPr>
            <p:cNvPr name="TextBox 11" id="11"/>
            <p:cNvSpPr txBox="true"/>
            <p:nvPr/>
          </p:nvSpPr>
          <p:spPr>
            <a:xfrm>
              <a:off x="228600" y="228600"/>
              <a:ext cx="355600" cy="381000"/>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1166048" y="3286917"/>
            <a:ext cx="960474" cy="960474"/>
          </a:xfrm>
          <a:custGeom>
            <a:avLst/>
            <a:gdLst/>
            <a:ahLst/>
            <a:cxnLst/>
            <a:rect r="r" b="b" t="t" l="l"/>
            <a:pathLst>
              <a:path h="960474" w="960474">
                <a:moveTo>
                  <a:pt x="0" y="0"/>
                </a:moveTo>
                <a:lnTo>
                  <a:pt x="960475" y="0"/>
                </a:lnTo>
                <a:lnTo>
                  <a:pt x="960475" y="960474"/>
                </a:lnTo>
                <a:lnTo>
                  <a:pt x="0" y="96047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3" id="13"/>
          <p:cNvSpPr/>
          <p:nvPr/>
        </p:nvSpPr>
        <p:spPr>
          <a:xfrm flipH="false" flipV="false" rot="0">
            <a:off x="2455575" y="4899543"/>
            <a:ext cx="8126496" cy="4358757"/>
          </a:xfrm>
          <a:custGeom>
            <a:avLst/>
            <a:gdLst/>
            <a:ahLst/>
            <a:cxnLst/>
            <a:rect r="r" b="b" t="t" l="l"/>
            <a:pathLst>
              <a:path h="4358757" w="8126496">
                <a:moveTo>
                  <a:pt x="0" y="0"/>
                </a:moveTo>
                <a:lnTo>
                  <a:pt x="8126496" y="0"/>
                </a:lnTo>
                <a:lnTo>
                  <a:pt x="8126496" y="4358757"/>
                </a:lnTo>
                <a:lnTo>
                  <a:pt x="0" y="4358757"/>
                </a:lnTo>
                <a:lnTo>
                  <a:pt x="0" y="0"/>
                </a:lnTo>
                <a:close/>
              </a:path>
            </a:pathLst>
          </a:custGeom>
          <a:blipFill>
            <a:blip r:embed="rId5"/>
            <a:stretch>
              <a:fillRect l="0" t="0" r="0" b="0"/>
            </a:stretch>
          </a:blipFill>
        </p:spPr>
      </p:sp>
      <p:sp>
        <p:nvSpPr>
          <p:cNvPr name="TextBox 14" id="14"/>
          <p:cNvSpPr txBox="true"/>
          <p:nvPr/>
        </p:nvSpPr>
        <p:spPr>
          <a:xfrm rot="0">
            <a:off x="3754713" y="835632"/>
            <a:ext cx="11445321" cy="2080302"/>
          </a:xfrm>
          <a:prstGeom prst="rect">
            <a:avLst/>
          </a:prstGeom>
        </p:spPr>
        <p:txBody>
          <a:bodyPr anchor="t" rtlCol="false" tIns="0" lIns="0" bIns="0" rIns="0">
            <a:spAutoFit/>
          </a:bodyPr>
          <a:lstStyle/>
          <a:p>
            <a:pPr algn="ctr">
              <a:lnSpc>
                <a:spcPts val="5527"/>
              </a:lnSpc>
              <a:spcBef>
                <a:spcPct val="0"/>
              </a:spcBef>
            </a:pPr>
            <a:r>
              <a:rPr lang="en-US" sz="3948">
                <a:solidFill>
                  <a:srgbClr val="FF007A"/>
                </a:solidFill>
                <a:latin typeface="HK Modular"/>
                <a:ea typeface="HK Modular"/>
                <a:cs typeface="HK Modular"/>
                <a:sym typeface="HK Modular"/>
              </a:rPr>
              <a:t>COMO IMPLEMENTAR UNA BASE DE DATOS RELACIONAL EN MI API?</a:t>
            </a:r>
          </a:p>
        </p:txBody>
      </p:sp>
      <p:sp>
        <p:nvSpPr>
          <p:cNvPr name="TextBox 15" id="15"/>
          <p:cNvSpPr txBox="true"/>
          <p:nvPr/>
        </p:nvSpPr>
        <p:spPr>
          <a:xfrm rot="0">
            <a:off x="2455575" y="3266368"/>
            <a:ext cx="7946306" cy="9150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Es momento de definir las entidades en este caso los documentos</a:t>
            </a:r>
          </a:p>
        </p:txBody>
      </p:sp>
      <p:sp>
        <p:nvSpPr>
          <p:cNvPr name="TextBox 16" id="16"/>
          <p:cNvSpPr txBox="true"/>
          <p:nvPr/>
        </p:nvSpPr>
        <p:spPr>
          <a:xfrm rot="0">
            <a:off x="12989130" y="3275893"/>
            <a:ext cx="5119110" cy="1781811"/>
          </a:xfrm>
          <a:prstGeom prst="rect">
            <a:avLst/>
          </a:prstGeom>
        </p:spPr>
        <p:txBody>
          <a:bodyPr anchor="t" rtlCol="false" tIns="0" lIns="0" bIns="0" rIns="0">
            <a:spAutoFit/>
          </a:bodyPr>
          <a:lstStyle/>
          <a:p>
            <a:pPr algn="ctr">
              <a:lnSpc>
                <a:spcPts val="2344"/>
              </a:lnSpc>
              <a:spcBef>
                <a:spcPct val="0"/>
              </a:spcBef>
            </a:pPr>
            <a:r>
              <a:rPr lang="en-US" sz="1674">
                <a:solidFill>
                  <a:srgbClr val="FFFFFF"/>
                </a:solidFill>
                <a:latin typeface="Poppins"/>
                <a:ea typeface="Poppins"/>
                <a:cs typeface="Poppins"/>
                <a:sym typeface="Poppins"/>
              </a:rPr>
              <a:t>Un Documento es la manera en la que nombramos una entidad de software que representa una estructura no relacional, usamos la anotacion de ejemplo GroceryDocyment en codigo para identificar el tipo de objeto</a:t>
            </a:r>
          </a:p>
        </p:txBody>
      </p:sp>
      <p:sp>
        <p:nvSpPr>
          <p:cNvPr name="TextBox 17" id="17"/>
          <p:cNvSpPr txBox="true"/>
          <p:nvPr/>
        </p:nvSpPr>
        <p:spPr>
          <a:xfrm rot="0">
            <a:off x="12989130" y="5594312"/>
            <a:ext cx="5119110" cy="898209"/>
          </a:xfrm>
          <a:prstGeom prst="rect">
            <a:avLst/>
          </a:prstGeom>
        </p:spPr>
        <p:txBody>
          <a:bodyPr anchor="t" rtlCol="false" tIns="0" lIns="0" bIns="0" rIns="0">
            <a:spAutoFit/>
          </a:bodyPr>
          <a:lstStyle/>
          <a:p>
            <a:pPr algn="ctr">
              <a:lnSpc>
                <a:spcPts val="2344"/>
              </a:lnSpc>
              <a:spcBef>
                <a:spcPct val="0"/>
              </a:spcBef>
            </a:pPr>
            <a:r>
              <a:rPr lang="en-US" sz="1674">
                <a:solidFill>
                  <a:srgbClr val="FFFFFF"/>
                </a:solidFill>
                <a:latin typeface="Poppins"/>
                <a:ea typeface="Poppins"/>
                <a:cs typeface="Poppins"/>
                <a:sym typeface="Poppins"/>
              </a:rPr>
              <a:t>Un Document tambien puede utilizar las anotaciones de lombok asi nos liberamos de realizar manualmente ciertos metodos de clase</a:t>
            </a:r>
          </a:p>
        </p:txBody>
      </p:sp>
      <p:sp>
        <p:nvSpPr>
          <p:cNvPr name="Freeform 18" id="18"/>
          <p:cNvSpPr/>
          <p:nvPr/>
        </p:nvSpPr>
        <p:spPr>
          <a:xfrm flipH="false" flipV="false" rot="0">
            <a:off x="879990" y="422868"/>
            <a:ext cx="2493066" cy="2493066"/>
          </a:xfrm>
          <a:custGeom>
            <a:avLst/>
            <a:gdLst/>
            <a:ahLst/>
            <a:cxnLst/>
            <a:rect r="r" b="b" t="t" l="l"/>
            <a:pathLst>
              <a:path h="2493066" w="2493066">
                <a:moveTo>
                  <a:pt x="0" y="0"/>
                </a:moveTo>
                <a:lnTo>
                  <a:pt x="2493066" y="0"/>
                </a:lnTo>
                <a:lnTo>
                  <a:pt x="2493066" y="2493066"/>
                </a:lnTo>
                <a:lnTo>
                  <a:pt x="0" y="2493066"/>
                </a:lnTo>
                <a:lnTo>
                  <a:pt x="0" y="0"/>
                </a:lnTo>
                <a:close/>
              </a:path>
            </a:pathLst>
          </a:custGeom>
          <a:blipFill>
            <a:blip r:embed="rId6"/>
            <a:stretch>
              <a:fillRect l="0" t="0" r="0" b="0"/>
            </a:stretch>
          </a:blipFill>
        </p:spPr>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1818636" y="3333043"/>
            <a:ext cx="959316" cy="914348"/>
            <a:chOff x="0" y="0"/>
            <a:chExt cx="812800" cy="774700"/>
          </a:xfrm>
        </p:grpSpPr>
        <p:sp>
          <p:nvSpPr>
            <p:cNvPr name="Freeform 7" id="7"/>
            <p:cNvSpPr/>
            <p:nvPr/>
          </p:nvSpPr>
          <p:spPr>
            <a:xfrm flipH="false" flipV="false" rot="0">
              <a:off x="0" y="0"/>
              <a:ext cx="812800" cy="774700"/>
            </a:xfrm>
            <a:custGeom>
              <a:avLst/>
              <a:gdLst/>
              <a:ahLst/>
              <a:cxnLst/>
              <a:rect r="r" b="b" t="t" l="l"/>
              <a:pathLst>
                <a:path h="774700" w="8128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FF751F"/>
            </a:solidFill>
          </p:spPr>
        </p:sp>
        <p:sp>
          <p:nvSpPr>
            <p:cNvPr name="TextBox 8" id="8"/>
            <p:cNvSpPr txBox="true"/>
            <p:nvPr/>
          </p:nvSpPr>
          <p:spPr>
            <a:xfrm>
              <a:off x="228600" y="228600"/>
              <a:ext cx="355600" cy="38100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1818636" y="5294724"/>
            <a:ext cx="959316" cy="914348"/>
            <a:chOff x="0" y="0"/>
            <a:chExt cx="812800" cy="774700"/>
          </a:xfrm>
        </p:grpSpPr>
        <p:sp>
          <p:nvSpPr>
            <p:cNvPr name="Freeform 10" id="10"/>
            <p:cNvSpPr/>
            <p:nvPr/>
          </p:nvSpPr>
          <p:spPr>
            <a:xfrm flipH="false" flipV="false" rot="0">
              <a:off x="0" y="0"/>
              <a:ext cx="812800" cy="774700"/>
            </a:xfrm>
            <a:custGeom>
              <a:avLst/>
              <a:gdLst/>
              <a:ahLst/>
              <a:cxnLst/>
              <a:rect r="r" b="b" t="t" l="l"/>
              <a:pathLst>
                <a:path h="774700" w="8128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FF751F"/>
            </a:solidFill>
          </p:spPr>
        </p:sp>
        <p:sp>
          <p:nvSpPr>
            <p:cNvPr name="TextBox 11" id="11"/>
            <p:cNvSpPr txBox="true"/>
            <p:nvPr/>
          </p:nvSpPr>
          <p:spPr>
            <a:xfrm>
              <a:off x="228600" y="228600"/>
              <a:ext cx="355600" cy="381000"/>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1028700" y="4919494"/>
            <a:ext cx="10356272" cy="3536288"/>
          </a:xfrm>
          <a:custGeom>
            <a:avLst/>
            <a:gdLst/>
            <a:ahLst/>
            <a:cxnLst/>
            <a:rect r="r" b="b" t="t" l="l"/>
            <a:pathLst>
              <a:path h="3536288" w="10356272">
                <a:moveTo>
                  <a:pt x="0" y="0"/>
                </a:moveTo>
                <a:lnTo>
                  <a:pt x="10356272" y="0"/>
                </a:lnTo>
                <a:lnTo>
                  <a:pt x="10356272" y="3536288"/>
                </a:lnTo>
                <a:lnTo>
                  <a:pt x="0" y="3536288"/>
                </a:lnTo>
                <a:lnTo>
                  <a:pt x="0" y="0"/>
                </a:lnTo>
                <a:close/>
              </a:path>
            </a:pathLst>
          </a:custGeom>
          <a:blipFill>
            <a:blip r:embed="rId3"/>
            <a:stretch>
              <a:fillRect l="0" t="0" r="0" b="0"/>
            </a:stretch>
          </a:blipFill>
        </p:spPr>
      </p:sp>
      <p:sp>
        <p:nvSpPr>
          <p:cNvPr name="TextBox 13" id="13"/>
          <p:cNvSpPr txBox="true"/>
          <p:nvPr/>
        </p:nvSpPr>
        <p:spPr>
          <a:xfrm rot="0">
            <a:off x="3754713" y="835632"/>
            <a:ext cx="11445321" cy="2080302"/>
          </a:xfrm>
          <a:prstGeom prst="rect">
            <a:avLst/>
          </a:prstGeom>
        </p:spPr>
        <p:txBody>
          <a:bodyPr anchor="t" rtlCol="false" tIns="0" lIns="0" bIns="0" rIns="0">
            <a:spAutoFit/>
          </a:bodyPr>
          <a:lstStyle/>
          <a:p>
            <a:pPr algn="ctr">
              <a:lnSpc>
                <a:spcPts val="5527"/>
              </a:lnSpc>
              <a:spcBef>
                <a:spcPct val="0"/>
              </a:spcBef>
            </a:pPr>
            <a:r>
              <a:rPr lang="en-US" sz="3948">
                <a:solidFill>
                  <a:srgbClr val="FF007A"/>
                </a:solidFill>
                <a:latin typeface="HK Modular"/>
                <a:ea typeface="HK Modular"/>
                <a:cs typeface="HK Modular"/>
                <a:sym typeface="HK Modular"/>
              </a:rPr>
              <a:t>COMO IMPLEMENTAR UNA BASE DE DATOS RELACIONAL EN MI API?</a:t>
            </a:r>
          </a:p>
        </p:txBody>
      </p:sp>
      <p:sp>
        <p:nvSpPr>
          <p:cNvPr name="TextBox 14" id="14"/>
          <p:cNvSpPr txBox="true"/>
          <p:nvPr/>
        </p:nvSpPr>
        <p:spPr>
          <a:xfrm rot="0">
            <a:off x="2455575" y="3266368"/>
            <a:ext cx="7946306" cy="9150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Creamos nuestro Repository y lo extendemos de la Interface que nos ofrece Mongo</a:t>
            </a:r>
          </a:p>
        </p:txBody>
      </p:sp>
      <p:sp>
        <p:nvSpPr>
          <p:cNvPr name="TextBox 15" id="15"/>
          <p:cNvSpPr txBox="true"/>
          <p:nvPr/>
        </p:nvSpPr>
        <p:spPr>
          <a:xfrm rot="0">
            <a:off x="12989130" y="3275893"/>
            <a:ext cx="5119110" cy="898209"/>
          </a:xfrm>
          <a:prstGeom prst="rect">
            <a:avLst/>
          </a:prstGeom>
        </p:spPr>
        <p:txBody>
          <a:bodyPr anchor="t" rtlCol="false" tIns="0" lIns="0" bIns="0" rIns="0">
            <a:spAutoFit/>
          </a:bodyPr>
          <a:lstStyle/>
          <a:p>
            <a:pPr algn="ctr">
              <a:lnSpc>
                <a:spcPts val="2344"/>
              </a:lnSpc>
              <a:spcBef>
                <a:spcPct val="0"/>
              </a:spcBef>
            </a:pPr>
            <a:r>
              <a:rPr lang="en-US" sz="1674">
                <a:solidFill>
                  <a:srgbClr val="FFFFFF"/>
                </a:solidFill>
                <a:latin typeface="Poppins"/>
                <a:ea typeface="Poppins"/>
                <a:cs typeface="Poppins"/>
                <a:sym typeface="Poppins"/>
              </a:rPr>
              <a:t>MongoRepository es la interface que nos ofrece Spring data para realizar las operaciones que necesitamos</a:t>
            </a:r>
          </a:p>
        </p:txBody>
      </p:sp>
      <p:sp>
        <p:nvSpPr>
          <p:cNvPr name="TextBox 16" id="16"/>
          <p:cNvSpPr txBox="true"/>
          <p:nvPr/>
        </p:nvSpPr>
        <p:spPr>
          <a:xfrm rot="0">
            <a:off x="12989130" y="5371501"/>
            <a:ext cx="5119110" cy="1487277"/>
          </a:xfrm>
          <a:prstGeom prst="rect">
            <a:avLst/>
          </a:prstGeom>
        </p:spPr>
        <p:txBody>
          <a:bodyPr anchor="t" rtlCol="false" tIns="0" lIns="0" bIns="0" rIns="0">
            <a:spAutoFit/>
          </a:bodyPr>
          <a:lstStyle/>
          <a:p>
            <a:pPr algn="ctr">
              <a:lnSpc>
                <a:spcPts val="2344"/>
              </a:lnSpc>
              <a:spcBef>
                <a:spcPct val="0"/>
              </a:spcBef>
            </a:pPr>
            <a:r>
              <a:rPr lang="en-US" sz="1674">
                <a:solidFill>
                  <a:srgbClr val="FFFFFF"/>
                </a:solidFill>
                <a:latin typeface="Poppins"/>
                <a:ea typeface="Poppins"/>
                <a:cs typeface="Poppins"/>
                <a:sym typeface="Poppins"/>
              </a:rPr>
              <a:t>Es necesario colocar primero el objeto o documento que representa la tabla y luego el tipo del identificador que tiene ese objeto (debe ser el mismo que se establece en el objeto documento)</a:t>
            </a:r>
          </a:p>
        </p:txBody>
      </p:sp>
      <p:sp>
        <p:nvSpPr>
          <p:cNvPr name="Freeform 17" id="17"/>
          <p:cNvSpPr/>
          <p:nvPr/>
        </p:nvSpPr>
        <p:spPr>
          <a:xfrm flipH="false" flipV="false" rot="0">
            <a:off x="1028700" y="3086100"/>
            <a:ext cx="1020087" cy="1020087"/>
          </a:xfrm>
          <a:custGeom>
            <a:avLst/>
            <a:gdLst/>
            <a:ahLst/>
            <a:cxnLst/>
            <a:rect r="r" b="b" t="t" l="l"/>
            <a:pathLst>
              <a:path h="1020087" w="1020087">
                <a:moveTo>
                  <a:pt x="0" y="0"/>
                </a:moveTo>
                <a:lnTo>
                  <a:pt x="1020087" y="0"/>
                </a:lnTo>
                <a:lnTo>
                  <a:pt x="1020087" y="1020087"/>
                </a:lnTo>
                <a:lnTo>
                  <a:pt x="0" y="102008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8" id="18"/>
          <p:cNvSpPr/>
          <p:nvPr/>
        </p:nvSpPr>
        <p:spPr>
          <a:xfrm flipH="false" flipV="false" rot="0">
            <a:off x="879990" y="422868"/>
            <a:ext cx="2493066" cy="2493066"/>
          </a:xfrm>
          <a:custGeom>
            <a:avLst/>
            <a:gdLst/>
            <a:ahLst/>
            <a:cxnLst/>
            <a:rect r="r" b="b" t="t" l="l"/>
            <a:pathLst>
              <a:path h="2493066" w="2493066">
                <a:moveTo>
                  <a:pt x="0" y="0"/>
                </a:moveTo>
                <a:lnTo>
                  <a:pt x="2493066" y="0"/>
                </a:lnTo>
                <a:lnTo>
                  <a:pt x="2493066" y="2493066"/>
                </a:lnTo>
                <a:lnTo>
                  <a:pt x="0" y="2493066"/>
                </a:lnTo>
                <a:lnTo>
                  <a:pt x="0" y="0"/>
                </a:lnTo>
                <a:close/>
              </a:path>
            </a:pathLst>
          </a:custGeom>
          <a:blipFill>
            <a:blip r:embed="rId6"/>
            <a:stretch>
              <a:fillRect l="0" t="0" r="0" b="0"/>
            </a:stretch>
          </a:blipFill>
        </p:spPr>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028700" y="3057839"/>
            <a:ext cx="772709" cy="772709"/>
          </a:xfrm>
          <a:custGeom>
            <a:avLst/>
            <a:gdLst/>
            <a:ahLst/>
            <a:cxnLst/>
            <a:rect r="r" b="b" t="t" l="l"/>
            <a:pathLst>
              <a:path h="772709" w="772709">
                <a:moveTo>
                  <a:pt x="0" y="0"/>
                </a:moveTo>
                <a:lnTo>
                  <a:pt x="772709" y="0"/>
                </a:lnTo>
                <a:lnTo>
                  <a:pt x="772709" y="772709"/>
                </a:lnTo>
                <a:lnTo>
                  <a:pt x="0" y="77270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941554" y="4522888"/>
            <a:ext cx="859855" cy="859855"/>
          </a:xfrm>
          <a:custGeom>
            <a:avLst/>
            <a:gdLst/>
            <a:ahLst/>
            <a:cxnLst/>
            <a:rect r="r" b="b" t="t" l="l"/>
            <a:pathLst>
              <a:path h="859855" w="859855">
                <a:moveTo>
                  <a:pt x="0" y="0"/>
                </a:moveTo>
                <a:lnTo>
                  <a:pt x="859855" y="0"/>
                </a:lnTo>
                <a:lnTo>
                  <a:pt x="859855" y="859855"/>
                </a:lnTo>
                <a:lnTo>
                  <a:pt x="0" y="85985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5853930" y="5796095"/>
            <a:ext cx="7732172" cy="3991303"/>
          </a:xfrm>
          <a:custGeom>
            <a:avLst/>
            <a:gdLst/>
            <a:ahLst/>
            <a:cxnLst/>
            <a:rect r="r" b="b" t="t" l="l"/>
            <a:pathLst>
              <a:path h="3991303" w="7732172">
                <a:moveTo>
                  <a:pt x="0" y="0"/>
                </a:moveTo>
                <a:lnTo>
                  <a:pt x="7732172" y="0"/>
                </a:lnTo>
                <a:lnTo>
                  <a:pt x="7732172" y="3991304"/>
                </a:lnTo>
                <a:lnTo>
                  <a:pt x="0" y="3991304"/>
                </a:lnTo>
                <a:lnTo>
                  <a:pt x="0" y="0"/>
                </a:lnTo>
                <a:close/>
              </a:path>
            </a:pathLst>
          </a:custGeom>
          <a:blipFill>
            <a:blip r:embed="rId7"/>
            <a:stretch>
              <a:fillRect l="0" t="0" r="0" b="0"/>
            </a:stretch>
          </a:blipFill>
        </p:spPr>
      </p:sp>
      <p:sp>
        <p:nvSpPr>
          <p:cNvPr name="TextBox 9" id="9"/>
          <p:cNvSpPr txBox="true"/>
          <p:nvPr/>
        </p:nvSpPr>
        <p:spPr>
          <a:xfrm rot="0">
            <a:off x="3754713" y="835632"/>
            <a:ext cx="11445321" cy="2080302"/>
          </a:xfrm>
          <a:prstGeom prst="rect">
            <a:avLst/>
          </a:prstGeom>
        </p:spPr>
        <p:txBody>
          <a:bodyPr anchor="t" rtlCol="false" tIns="0" lIns="0" bIns="0" rIns="0">
            <a:spAutoFit/>
          </a:bodyPr>
          <a:lstStyle/>
          <a:p>
            <a:pPr algn="ctr">
              <a:lnSpc>
                <a:spcPts val="5527"/>
              </a:lnSpc>
              <a:spcBef>
                <a:spcPct val="0"/>
              </a:spcBef>
            </a:pPr>
            <a:r>
              <a:rPr lang="en-US" sz="3948">
                <a:solidFill>
                  <a:srgbClr val="FF007A"/>
                </a:solidFill>
                <a:latin typeface="HK Modular"/>
                <a:ea typeface="HK Modular"/>
                <a:cs typeface="HK Modular"/>
                <a:sym typeface="HK Modular"/>
              </a:rPr>
              <a:t>COMO IMPLEMENTAR UNA BASE DE DATOS RELACIONAL EN MI API?</a:t>
            </a:r>
          </a:p>
        </p:txBody>
      </p:sp>
      <p:sp>
        <p:nvSpPr>
          <p:cNvPr name="TextBox 10" id="10"/>
          <p:cNvSpPr txBox="true"/>
          <p:nvPr/>
        </p:nvSpPr>
        <p:spPr>
          <a:xfrm rot="0">
            <a:off x="1980431" y="3191152"/>
            <a:ext cx="14993883" cy="9150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Creamos un servicio para manejar la logica que es el encargado de usar el repositorio y un controlador REST que es el que llama nuestro servicio</a:t>
            </a:r>
          </a:p>
        </p:txBody>
      </p:sp>
      <p:sp>
        <p:nvSpPr>
          <p:cNvPr name="TextBox 11" id="11"/>
          <p:cNvSpPr txBox="true"/>
          <p:nvPr/>
        </p:nvSpPr>
        <p:spPr>
          <a:xfrm rot="0">
            <a:off x="1980431" y="4690560"/>
            <a:ext cx="14993883"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Usamos @EnableMongoRepositories en la clase main de nuestra aplicacion</a:t>
            </a:r>
          </a:p>
        </p:txBody>
      </p:sp>
      <p:sp>
        <p:nvSpPr>
          <p:cNvPr name="Freeform 12" id="12"/>
          <p:cNvSpPr/>
          <p:nvPr/>
        </p:nvSpPr>
        <p:spPr>
          <a:xfrm flipH="false" flipV="false" rot="0">
            <a:off x="879990" y="422868"/>
            <a:ext cx="2493066" cy="2493066"/>
          </a:xfrm>
          <a:custGeom>
            <a:avLst/>
            <a:gdLst/>
            <a:ahLst/>
            <a:cxnLst/>
            <a:rect r="r" b="b" t="t" l="l"/>
            <a:pathLst>
              <a:path h="2493066" w="2493066">
                <a:moveTo>
                  <a:pt x="0" y="0"/>
                </a:moveTo>
                <a:lnTo>
                  <a:pt x="2493066" y="0"/>
                </a:lnTo>
                <a:lnTo>
                  <a:pt x="2493066" y="2493066"/>
                </a:lnTo>
                <a:lnTo>
                  <a:pt x="0" y="2493066"/>
                </a:lnTo>
                <a:lnTo>
                  <a:pt x="0" y="0"/>
                </a:lnTo>
                <a:close/>
              </a:path>
            </a:pathLst>
          </a:custGeom>
          <a:blipFill>
            <a:blip r:embed="rId8"/>
            <a:stretch>
              <a:fillRect l="0" t="0" r="0" b="0"/>
            </a:stretch>
          </a:blipFill>
        </p:spPr>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ED">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ED">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392623" y="2740960"/>
            <a:ext cx="15721487" cy="4633631"/>
          </a:xfrm>
          <a:prstGeom prst="rect">
            <a:avLst/>
          </a:prstGeom>
        </p:spPr>
        <p:txBody>
          <a:bodyPr anchor="t" rtlCol="false" tIns="0" lIns="0" bIns="0" rIns="0">
            <a:spAutoFit/>
          </a:bodyPr>
          <a:lstStyle/>
          <a:p>
            <a:pPr algn="ctr">
              <a:lnSpc>
                <a:spcPts val="12353"/>
              </a:lnSpc>
              <a:spcBef>
                <a:spcPct val="0"/>
              </a:spcBef>
            </a:pPr>
            <a:r>
              <a:rPr lang="en-US" sz="8823">
                <a:solidFill>
                  <a:srgbClr val="FF751F"/>
                </a:solidFill>
                <a:latin typeface="HK Modular"/>
                <a:ea typeface="HK Modular"/>
                <a:cs typeface="HK Modular"/>
                <a:sym typeface="HK Modular"/>
              </a:rPr>
              <a:t>MODULO DE DIAGRAMACION BD RELACIONAL</a:t>
            </a:r>
          </a:p>
        </p:txBody>
      </p:sp>
      <p:sp>
        <p:nvSpPr>
          <p:cNvPr name="Freeform 13" id="13"/>
          <p:cNvSpPr/>
          <p:nvPr/>
        </p:nvSpPr>
        <p:spPr>
          <a:xfrm flipH="false" flipV="false" rot="0">
            <a:off x="7584548" y="-548656"/>
            <a:ext cx="3509905" cy="3509905"/>
          </a:xfrm>
          <a:custGeom>
            <a:avLst/>
            <a:gdLst/>
            <a:ahLst/>
            <a:cxnLst/>
            <a:rect r="r" b="b" t="t" l="l"/>
            <a:pathLst>
              <a:path h="3509905" w="3509905">
                <a:moveTo>
                  <a:pt x="0" y="0"/>
                </a:moveTo>
                <a:lnTo>
                  <a:pt x="3509905" y="0"/>
                </a:lnTo>
                <a:lnTo>
                  <a:pt x="3509905" y="3509905"/>
                </a:lnTo>
                <a:lnTo>
                  <a:pt x="0" y="3509905"/>
                </a:lnTo>
                <a:lnTo>
                  <a:pt x="0" y="0"/>
                </a:lnTo>
                <a:close/>
              </a:path>
            </a:pathLst>
          </a:custGeom>
          <a:blipFill>
            <a:blip r:embed="rId3"/>
            <a:stretch>
              <a:fillRect l="0" t="0" r="0" b="0"/>
            </a:stretch>
          </a:blipFill>
        </p:spPr>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0083568" y="2648970"/>
            <a:ext cx="5979605" cy="2387760"/>
          </a:xfrm>
          <a:custGeom>
            <a:avLst/>
            <a:gdLst/>
            <a:ahLst/>
            <a:cxnLst/>
            <a:rect r="r" b="b" t="t" l="l"/>
            <a:pathLst>
              <a:path h="2387760" w="5979605">
                <a:moveTo>
                  <a:pt x="0" y="0"/>
                </a:moveTo>
                <a:lnTo>
                  <a:pt x="5979605" y="0"/>
                </a:lnTo>
                <a:lnTo>
                  <a:pt x="5979605" y="2387760"/>
                </a:lnTo>
                <a:lnTo>
                  <a:pt x="0" y="2387760"/>
                </a:lnTo>
                <a:lnTo>
                  <a:pt x="0" y="0"/>
                </a:lnTo>
                <a:close/>
              </a:path>
            </a:pathLst>
          </a:custGeom>
          <a:blipFill>
            <a:blip r:embed="rId3"/>
            <a:stretch>
              <a:fillRect l="0" t="0" r="0" b="0"/>
            </a:stretch>
          </a:blipFill>
        </p:spPr>
      </p:sp>
      <p:sp>
        <p:nvSpPr>
          <p:cNvPr name="Freeform 7" id="7"/>
          <p:cNvSpPr/>
          <p:nvPr/>
        </p:nvSpPr>
        <p:spPr>
          <a:xfrm flipH="false" flipV="false" rot="0">
            <a:off x="8775282" y="6745654"/>
            <a:ext cx="6268689" cy="3142658"/>
          </a:xfrm>
          <a:custGeom>
            <a:avLst/>
            <a:gdLst/>
            <a:ahLst/>
            <a:cxnLst/>
            <a:rect r="r" b="b" t="t" l="l"/>
            <a:pathLst>
              <a:path h="3142658" w="6268689">
                <a:moveTo>
                  <a:pt x="0" y="0"/>
                </a:moveTo>
                <a:lnTo>
                  <a:pt x="6268688" y="0"/>
                </a:lnTo>
                <a:lnTo>
                  <a:pt x="6268688" y="3142659"/>
                </a:lnTo>
                <a:lnTo>
                  <a:pt x="0" y="3142659"/>
                </a:lnTo>
                <a:lnTo>
                  <a:pt x="0" y="0"/>
                </a:lnTo>
                <a:close/>
              </a:path>
            </a:pathLst>
          </a:custGeom>
          <a:blipFill>
            <a:blip r:embed="rId4"/>
            <a:stretch>
              <a:fillRect l="0" t="0" r="0" b="0"/>
            </a:stretch>
          </a:blipFill>
        </p:spPr>
      </p:sp>
      <p:sp>
        <p:nvSpPr>
          <p:cNvPr name="TextBox 8" id="8"/>
          <p:cNvSpPr txBox="true"/>
          <p:nvPr/>
        </p:nvSpPr>
        <p:spPr>
          <a:xfrm rot="0">
            <a:off x="840132" y="3613532"/>
            <a:ext cx="7935150" cy="4572636"/>
          </a:xfrm>
          <a:prstGeom prst="rect">
            <a:avLst/>
          </a:prstGeom>
        </p:spPr>
        <p:txBody>
          <a:bodyPr anchor="t" rtlCol="false" tIns="0" lIns="0" bIns="0" rIns="0">
            <a:spAutoFit/>
          </a:bodyPr>
          <a:lstStyle/>
          <a:p>
            <a:pPr algn="l" marL="561336" indent="-280668" lvl="1">
              <a:lnSpc>
                <a:spcPts val="3639"/>
              </a:lnSpc>
              <a:buFont typeface="Arial"/>
              <a:buChar char="•"/>
            </a:pPr>
            <a:r>
              <a:rPr lang="en-US" sz="2599">
                <a:solidFill>
                  <a:srgbClr val="FFFFFF"/>
                </a:solidFill>
                <a:latin typeface="Poppins"/>
                <a:ea typeface="Poppins"/>
                <a:cs typeface="Poppins"/>
                <a:sym typeface="Poppins"/>
              </a:rPr>
              <a:t>El esquema puede variar dinámicamente agregando campos y conceptos en tiempo de ejecución y variar entre las distintas particiones de almacenamiento.</a:t>
            </a:r>
          </a:p>
          <a:p>
            <a:pPr algn="l" marL="561336" indent="-280668" lvl="1">
              <a:lnSpc>
                <a:spcPts val="3639"/>
              </a:lnSpc>
              <a:buFont typeface="Arial"/>
              <a:buChar char="•"/>
            </a:pPr>
            <a:r>
              <a:rPr lang="en-US" sz="2599">
                <a:solidFill>
                  <a:srgbClr val="FFFFFF"/>
                </a:solidFill>
                <a:latin typeface="Poppins"/>
                <a:ea typeface="Poppins"/>
                <a:cs typeface="Poppins"/>
                <a:sym typeface="Poppins"/>
              </a:rPr>
              <a:t>Es necesario que identifiquen lo que quieren diseñar y como se estructura su objeto.</a:t>
            </a:r>
          </a:p>
          <a:p>
            <a:pPr algn="l" marL="561336" indent="-280668" lvl="1">
              <a:lnSpc>
                <a:spcPts val="3639"/>
              </a:lnSpc>
              <a:buFont typeface="Arial"/>
              <a:buChar char="•"/>
            </a:pPr>
            <a:r>
              <a:rPr lang="en-US" sz="2599">
                <a:solidFill>
                  <a:srgbClr val="FFFFFF"/>
                </a:solidFill>
                <a:latin typeface="Poppins"/>
                <a:ea typeface="Poppins"/>
                <a:cs typeface="Poppins"/>
                <a:sym typeface="Poppins"/>
              </a:rPr>
              <a:t>Hay 3 propuestas para poderlas modelar:</a:t>
            </a:r>
          </a:p>
          <a:p>
            <a:pPr algn="l" marL="1122671" indent="-374224" lvl="2">
              <a:lnSpc>
                <a:spcPts val="3639"/>
              </a:lnSpc>
              <a:buFont typeface="Arial"/>
              <a:buChar char="⚬"/>
            </a:pPr>
            <a:r>
              <a:rPr lang="en-US" b="true" sz="2599">
                <a:solidFill>
                  <a:srgbClr val="FFFFFF"/>
                </a:solidFill>
                <a:latin typeface="Poppins Bold"/>
                <a:ea typeface="Poppins Bold"/>
                <a:cs typeface="Poppins Bold"/>
                <a:sym typeface="Poppins Bold"/>
              </a:rPr>
              <a:t>Modelo y meta-modelo conceptual</a:t>
            </a:r>
          </a:p>
          <a:p>
            <a:pPr algn="l" marL="1122671" indent="-374224" lvl="2">
              <a:lnSpc>
                <a:spcPts val="3639"/>
              </a:lnSpc>
              <a:buFont typeface="Arial"/>
              <a:buChar char="⚬"/>
            </a:pPr>
            <a:r>
              <a:rPr lang="en-US" sz="2599">
                <a:solidFill>
                  <a:srgbClr val="FFFFFF"/>
                </a:solidFill>
                <a:latin typeface="Poppins"/>
                <a:ea typeface="Poppins"/>
                <a:cs typeface="Poppins"/>
                <a:sym typeface="Poppins"/>
              </a:rPr>
              <a:t>Meta-modelo lógico</a:t>
            </a:r>
          </a:p>
          <a:p>
            <a:pPr algn="l" marL="1122671" indent="-374224" lvl="2">
              <a:lnSpc>
                <a:spcPts val="3639"/>
              </a:lnSpc>
              <a:buFont typeface="Arial"/>
              <a:buChar char="⚬"/>
            </a:pPr>
            <a:r>
              <a:rPr lang="en-US" sz="2599">
                <a:solidFill>
                  <a:srgbClr val="FFFFFF"/>
                </a:solidFill>
                <a:latin typeface="Poppins"/>
                <a:ea typeface="Poppins"/>
                <a:cs typeface="Poppins"/>
                <a:sym typeface="Poppins"/>
              </a:rPr>
              <a:t>Modelo y meta-modelo físico</a:t>
            </a:r>
          </a:p>
        </p:txBody>
      </p:sp>
      <p:sp>
        <p:nvSpPr>
          <p:cNvPr name="Freeform 9" id="9"/>
          <p:cNvSpPr/>
          <p:nvPr/>
        </p:nvSpPr>
        <p:spPr>
          <a:xfrm flipH="false" flipV="false" rot="5112520">
            <a:off x="11451179" y="5574527"/>
            <a:ext cx="1512251" cy="470688"/>
          </a:xfrm>
          <a:custGeom>
            <a:avLst/>
            <a:gdLst/>
            <a:ahLst/>
            <a:cxnLst/>
            <a:rect r="r" b="b" t="t" l="l"/>
            <a:pathLst>
              <a:path h="470688" w="1512251">
                <a:moveTo>
                  <a:pt x="0" y="0"/>
                </a:moveTo>
                <a:lnTo>
                  <a:pt x="1512251" y="0"/>
                </a:lnTo>
                <a:lnTo>
                  <a:pt x="1512251" y="470688"/>
                </a:lnTo>
                <a:lnTo>
                  <a:pt x="0" y="47068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0" id="10"/>
          <p:cNvSpPr txBox="true"/>
          <p:nvPr/>
        </p:nvSpPr>
        <p:spPr>
          <a:xfrm rot="0">
            <a:off x="977148" y="1526654"/>
            <a:ext cx="16552439" cy="853854"/>
          </a:xfrm>
          <a:prstGeom prst="rect">
            <a:avLst/>
          </a:prstGeom>
        </p:spPr>
        <p:txBody>
          <a:bodyPr anchor="t" rtlCol="false" tIns="0" lIns="0" bIns="0" rIns="0">
            <a:spAutoFit/>
          </a:bodyPr>
          <a:lstStyle/>
          <a:p>
            <a:pPr algn="ctr">
              <a:lnSpc>
                <a:spcPts val="7012"/>
              </a:lnSpc>
              <a:spcBef>
                <a:spcPct val="0"/>
              </a:spcBef>
            </a:pPr>
            <a:r>
              <a:rPr lang="en-US" sz="5008">
                <a:solidFill>
                  <a:srgbClr val="FF007A"/>
                </a:solidFill>
                <a:latin typeface="HK Modular"/>
                <a:ea typeface="HK Modular"/>
                <a:cs typeface="HK Modular"/>
                <a:sym typeface="HK Modular"/>
              </a:rPr>
              <a:t>MODELO DE DOCUMENTOS</a:t>
            </a:r>
          </a:p>
        </p:txBody>
      </p:sp>
      <p:sp>
        <p:nvSpPr>
          <p:cNvPr name="Freeform 11" id="11"/>
          <p:cNvSpPr/>
          <p:nvPr/>
        </p:nvSpPr>
        <p:spPr>
          <a:xfrm flipH="false" flipV="false" rot="0">
            <a:off x="7894490" y="-497815"/>
            <a:ext cx="2499020" cy="2499020"/>
          </a:xfrm>
          <a:custGeom>
            <a:avLst/>
            <a:gdLst/>
            <a:ahLst/>
            <a:cxnLst/>
            <a:rect r="r" b="b" t="t" l="l"/>
            <a:pathLst>
              <a:path h="2499020" w="2499020">
                <a:moveTo>
                  <a:pt x="0" y="0"/>
                </a:moveTo>
                <a:lnTo>
                  <a:pt x="2499020" y="0"/>
                </a:lnTo>
                <a:lnTo>
                  <a:pt x="2499020" y="2499021"/>
                </a:lnTo>
                <a:lnTo>
                  <a:pt x="0" y="2499021"/>
                </a:lnTo>
                <a:lnTo>
                  <a:pt x="0" y="0"/>
                </a:lnTo>
                <a:close/>
              </a:path>
            </a:pathLst>
          </a:custGeom>
          <a:blipFill>
            <a:blip r:embed="rId7"/>
            <a:stretch>
              <a:fillRect l="0" t="0" r="0" b="0"/>
            </a:stretch>
          </a:blipFill>
        </p:spPr>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ED">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ED">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283256" y="3456097"/>
            <a:ext cx="15721487" cy="3071531"/>
          </a:xfrm>
          <a:prstGeom prst="rect">
            <a:avLst/>
          </a:prstGeom>
        </p:spPr>
        <p:txBody>
          <a:bodyPr anchor="t" rtlCol="false" tIns="0" lIns="0" bIns="0" rIns="0">
            <a:spAutoFit/>
          </a:bodyPr>
          <a:lstStyle/>
          <a:p>
            <a:pPr algn="ctr">
              <a:lnSpc>
                <a:spcPts val="12353"/>
              </a:lnSpc>
              <a:spcBef>
                <a:spcPct val="0"/>
              </a:spcBef>
            </a:pPr>
            <a:r>
              <a:rPr lang="en-US" sz="8823">
                <a:solidFill>
                  <a:srgbClr val="FF751F"/>
                </a:solidFill>
                <a:latin typeface="HK Modular"/>
                <a:ea typeface="HK Modular"/>
                <a:cs typeface="HK Modular"/>
                <a:sym typeface="HK Modular"/>
              </a:rPr>
              <a:t>COMO GUARDAR IMAGENES EN BD?</a:t>
            </a:r>
          </a:p>
        </p:txBody>
      </p:sp>
      <p:sp>
        <p:nvSpPr>
          <p:cNvPr name="Freeform 13" id="13"/>
          <p:cNvSpPr/>
          <p:nvPr/>
        </p:nvSpPr>
        <p:spPr>
          <a:xfrm flipH="false" flipV="false" rot="0">
            <a:off x="7584548" y="-548656"/>
            <a:ext cx="3509905" cy="3509905"/>
          </a:xfrm>
          <a:custGeom>
            <a:avLst/>
            <a:gdLst/>
            <a:ahLst/>
            <a:cxnLst/>
            <a:rect r="r" b="b" t="t" l="l"/>
            <a:pathLst>
              <a:path h="3509905" w="3509905">
                <a:moveTo>
                  <a:pt x="0" y="0"/>
                </a:moveTo>
                <a:lnTo>
                  <a:pt x="3509905" y="0"/>
                </a:lnTo>
                <a:lnTo>
                  <a:pt x="3509905" y="3509905"/>
                </a:lnTo>
                <a:lnTo>
                  <a:pt x="0" y="3509905"/>
                </a:lnTo>
                <a:lnTo>
                  <a:pt x="0" y="0"/>
                </a:lnTo>
                <a:close/>
              </a:path>
            </a:pathLst>
          </a:custGeom>
          <a:blipFill>
            <a:blip r:embed="rId3"/>
            <a:stretch>
              <a:fillRect l="0" t="0" r="0" b="0"/>
            </a:stretch>
          </a:blipFill>
        </p:spPr>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2850255" y="4584905"/>
            <a:ext cx="5256101" cy="2920056"/>
          </a:xfrm>
          <a:custGeom>
            <a:avLst/>
            <a:gdLst/>
            <a:ahLst/>
            <a:cxnLst/>
            <a:rect r="r" b="b" t="t" l="l"/>
            <a:pathLst>
              <a:path h="2920056" w="5256101">
                <a:moveTo>
                  <a:pt x="0" y="0"/>
                </a:moveTo>
                <a:lnTo>
                  <a:pt x="5256101" y="0"/>
                </a:lnTo>
                <a:lnTo>
                  <a:pt x="5256101" y="2920057"/>
                </a:lnTo>
                <a:lnTo>
                  <a:pt x="0" y="2920057"/>
                </a:lnTo>
                <a:lnTo>
                  <a:pt x="0" y="0"/>
                </a:lnTo>
                <a:close/>
              </a:path>
            </a:pathLst>
          </a:custGeom>
          <a:blipFill>
            <a:blip r:embed="rId3"/>
            <a:stretch>
              <a:fillRect l="0" t="0" r="0" b="0"/>
            </a:stretch>
          </a:blipFill>
        </p:spPr>
      </p:sp>
      <p:sp>
        <p:nvSpPr>
          <p:cNvPr name="Freeform 7" id="7"/>
          <p:cNvSpPr/>
          <p:nvPr/>
        </p:nvSpPr>
        <p:spPr>
          <a:xfrm flipH="false" flipV="false" rot="0">
            <a:off x="1829319" y="7859062"/>
            <a:ext cx="7297974" cy="1848983"/>
          </a:xfrm>
          <a:custGeom>
            <a:avLst/>
            <a:gdLst/>
            <a:ahLst/>
            <a:cxnLst/>
            <a:rect r="r" b="b" t="t" l="l"/>
            <a:pathLst>
              <a:path h="1848983" w="7297974">
                <a:moveTo>
                  <a:pt x="0" y="0"/>
                </a:moveTo>
                <a:lnTo>
                  <a:pt x="7297974" y="0"/>
                </a:lnTo>
                <a:lnTo>
                  <a:pt x="7297974" y="1848983"/>
                </a:lnTo>
                <a:lnTo>
                  <a:pt x="0" y="1848983"/>
                </a:lnTo>
                <a:lnTo>
                  <a:pt x="0" y="0"/>
                </a:lnTo>
                <a:close/>
              </a:path>
            </a:pathLst>
          </a:custGeom>
          <a:blipFill>
            <a:blip r:embed="rId4"/>
            <a:stretch>
              <a:fillRect l="0" t="0" r="0" b="0"/>
            </a:stretch>
          </a:blipFill>
        </p:spPr>
      </p:sp>
      <p:sp>
        <p:nvSpPr>
          <p:cNvPr name="Freeform 8" id="8"/>
          <p:cNvSpPr/>
          <p:nvPr/>
        </p:nvSpPr>
        <p:spPr>
          <a:xfrm flipH="false" flipV="false" rot="0">
            <a:off x="12269893" y="4294712"/>
            <a:ext cx="3588447" cy="3073358"/>
          </a:xfrm>
          <a:custGeom>
            <a:avLst/>
            <a:gdLst/>
            <a:ahLst/>
            <a:cxnLst/>
            <a:rect r="r" b="b" t="t" l="l"/>
            <a:pathLst>
              <a:path h="3073358" w="3588447">
                <a:moveTo>
                  <a:pt x="0" y="0"/>
                </a:moveTo>
                <a:lnTo>
                  <a:pt x="3588447" y="0"/>
                </a:lnTo>
                <a:lnTo>
                  <a:pt x="3588447" y="3073358"/>
                </a:lnTo>
                <a:lnTo>
                  <a:pt x="0" y="3073358"/>
                </a:lnTo>
                <a:lnTo>
                  <a:pt x="0" y="0"/>
                </a:lnTo>
                <a:close/>
              </a:path>
            </a:pathLst>
          </a:custGeom>
          <a:blipFill>
            <a:blip r:embed="rId5"/>
            <a:stretch>
              <a:fillRect l="0" t="0" r="0" b="0"/>
            </a:stretch>
          </a:blipFill>
        </p:spPr>
      </p:sp>
      <p:sp>
        <p:nvSpPr>
          <p:cNvPr name="Freeform 9" id="9"/>
          <p:cNvSpPr/>
          <p:nvPr/>
        </p:nvSpPr>
        <p:spPr>
          <a:xfrm flipH="false" flipV="false" rot="0">
            <a:off x="10981792" y="7676412"/>
            <a:ext cx="6164648" cy="2214283"/>
          </a:xfrm>
          <a:custGeom>
            <a:avLst/>
            <a:gdLst/>
            <a:ahLst/>
            <a:cxnLst/>
            <a:rect r="r" b="b" t="t" l="l"/>
            <a:pathLst>
              <a:path h="2214283" w="6164648">
                <a:moveTo>
                  <a:pt x="0" y="0"/>
                </a:moveTo>
                <a:lnTo>
                  <a:pt x="6164649" y="0"/>
                </a:lnTo>
                <a:lnTo>
                  <a:pt x="6164649" y="2214283"/>
                </a:lnTo>
                <a:lnTo>
                  <a:pt x="0" y="2214283"/>
                </a:lnTo>
                <a:lnTo>
                  <a:pt x="0" y="0"/>
                </a:lnTo>
                <a:close/>
              </a:path>
            </a:pathLst>
          </a:custGeom>
          <a:blipFill>
            <a:blip r:embed="rId6"/>
            <a:stretch>
              <a:fillRect l="0" t="0" r="0" b="0"/>
            </a:stretch>
          </a:blipFill>
        </p:spPr>
      </p:sp>
      <p:sp>
        <p:nvSpPr>
          <p:cNvPr name="TextBox 10" id="10"/>
          <p:cNvSpPr txBox="true"/>
          <p:nvPr/>
        </p:nvSpPr>
        <p:spPr>
          <a:xfrm rot="0">
            <a:off x="823240" y="2583103"/>
            <a:ext cx="16980314" cy="1829436"/>
          </a:xfrm>
          <a:prstGeom prst="rect">
            <a:avLst/>
          </a:prstGeom>
        </p:spPr>
        <p:txBody>
          <a:bodyPr anchor="t" rtlCol="false" tIns="0" lIns="0" bIns="0" rIns="0">
            <a:spAutoFit/>
          </a:bodyPr>
          <a:lstStyle/>
          <a:p>
            <a:pPr algn="l" marL="561336" indent="-280668" lvl="1">
              <a:lnSpc>
                <a:spcPts val="3639"/>
              </a:lnSpc>
              <a:buFont typeface="Arial"/>
              <a:buChar char="•"/>
            </a:pPr>
            <a:r>
              <a:rPr lang="en-US" sz="2599">
                <a:solidFill>
                  <a:srgbClr val="FFFFFF"/>
                </a:solidFill>
                <a:latin typeface="Poppins"/>
                <a:ea typeface="Poppins"/>
                <a:cs typeface="Poppins"/>
                <a:sym typeface="Poppins"/>
              </a:rPr>
              <a:t>Se utiliza un tipo binario: BLOB (MySQL, oracle) o BYTEA (PostgreSQL)</a:t>
            </a:r>
          </a:p>
          <a:p>
            <a:pPr algn="l" marL="561336" indent="-280668" lvl="1">
              <a:lnSpc>
                <a:spcPts val="3639"/>
              </a:lnSpc>
              <a:buFont typeface="Arial"/>
              <a:buChar char="•"/>
            </a:pPr>
            <a:r>
              <a:rPr lang="en-US" sz="2599">
                <a:solidFill>
                  <a:srgbClr val="FFFFFF"/>
                </a:solidFill>
                <a:latin typeface="Poppins"/>
                <a:ea typeface="Poppins"/>
                <a:cs typeface="Poppins"/>
                <a:sym typeface="Poppins"/>
              </a:rPr>
              <a:t>Pueden guardarla como string siempre y cuando sea una URL que exista en internet</a:t>
            </a:r>
          </a:p>
          <a:p>
            <a:pPr algn="l" marL="1122671" indent="-374224" lvl="2">
              <a:lnSpc>
                <a:spcPts val="3639"/>
              </a:lnSpc>
              <a:buFont typeface="Arial"/>
              <a:buChar char="⚬"/>
            </a:pPr>
            <a:r>
              <a:rPr lang="en-US" sz="2599">
                <a:solidFill>
                  <a:srgbClr val="FFFFFF"/>
                </a:solidFill>
                <a:latin typeface="Poppins"/>
                <a:ea typeface="Poppins"/>
                <a:cs typeface="Poppins"/>
                <a:sym typeface="Poppins"/>
              </a:rPr>
              <a:t>La gran desventaja es que si esa imagen se elimina del servidor remoto se rompe el link y toca modificarlo</a:t>
            </a:r>
          </a:p>
        </p:txBody>
      </p:sp>
      <p:sp>
        <p:nvSpPr>
          <p:cNvPr name="TextBox 11" id="11"/>
          <p:cNvSpPr txBox="true"/>
          <p:nvPr/>
        </p:nvSpPr>
        <p:spPr>
          <a:xfrm rot="0">
            <a:off x="977148" y="1337942"/>
            <a:ext cx="16552439" cy="853854"/>
          </a:xfrm>
          <a:prstGeom prst="rect">
            <a:avLst/>
          </a:prstGeom>
        </p:spPr>
        <p:txBody>
          <a:bodyPr anchor="t" rtlCol="false" tIns="0" lIns="0" bIns="0" rIns="0">
            <a:spAutoFit/>
          </a:bodyPr>
          <a:lstStyle/>
          <a:p>
            <a:pPr algn="ctr">
              <a:lnSpc>
                <a:spcPts val="7012"/>
              </a:lnSpc>
              <a:spcBef>
                <a:spcPct val="0"/>
              </a:spcBef>
            </a:pPr>
            <a:r>
              <a:rPr lang="en-US" sz="5008">
                <a:solidFill>
                  <a:srgbClr val="FF007A"/>
                </a:solidFill>
                <a:latin typeface="HK Modular"/>
                <a:ea typeface="HK Modular"/>
                <a:cs typeface="HK Modular"/>
                <a:sym typeface="HK Modular"/>
              </a:rPr>
              <a:t>IMAGENES EN DB - RELACIONAL</a:t>
            </a:r>
          </a:p>
        </p:txBody>
      </p:sp>
      <p:sp>
        <p:nvSpPr>
          <p:cNvPr name="Freeform 12" id="12"/>
          <p:cNvSpPr/>
          <p:nvPr/>
        </p:nvSpPr>
        <p:spPr>
          <a:xfrm flipH="false" flipV="false" rot="0">
            <a:off x="8132822" y="-328341"/>
            <a:ext cx="2361151" cy="2361151"/>
          </a:xfrm>
          <a:custGeom>
            <a:avLst/>
            <a:gdLst/>
            <a:ahLst/>
            <a:cxnLst/>
            <a:rect r="r" b="b" t="t" l="l"/>
            <a:pathLst>
              <a:path h="2361151" w="2361151">
                <a:moveTo>
                  <a:pt x="0" y="0"/>
                </a:moveTo>
                <a:lnTo>
                  <a:pt x="2361151" y="0"/>
                </a:lnTo>
                <a:lnTo>
                  <a:pt x="2361151" y="2361150"/>
                </a:lnTo>
                <a:lnTo>
                  <a:pt x="0" y="2361150"/>
                </a:lnTo>
                <a:lnTo>
                  <a:pt x="0" y="0"/>
                </a:lnTo>
                <a:close/>
              </a:path>
            </a:pathLst>
          </a:custGeom>
          <a:blipFill>
            <a:blip r:embed="rId7"/>
            <a:stretch>
              <a:fillRect l="0" t="0" r="0" b="0"/>
            </a:stretch>
          </a:blipFill>
        </p:spPr>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2449209" y="4897133"/>
            <a:ext cx="4894717" cy="1779897"/>
          </a:xfrm>
          <a:custGeom>
            <a:avLst/>
            <a:gdLst/>
            <a:ahLst/>
            <a:cxnLst/>
            <a:rect r="r" b="b" t="t" l="l"/>
            <a:pathLst>
              <a:path h="1779897" w="4894717">
                <a:moveTo>
                  <a:pt x="0" y="0"/>
                </a:moveTo>
                <a:lnTo>
                  <a:pt x="4894717" y="0"/>
                </a:lnTo>
                <a:lnTo>
                  <a:pt x="4894717" y="1779897"/>
                </a:lnTo>
                <a:lnTo>
                  <a:pt x="0" y="1779897"/>
                </a:lnTo>
                <a:lnTo>
                  <a:pt x="0" y="0"/>
                </a:lnTo>
                <a:close/>
              </a:path>
            </a:pathLst>
          </a:custGeom>
          <a:blipFill>
            <a:blip r:embed="rId3"/>
            <a:stretch>
              <a:fillRect l="0" t="0" r="0" b="0"/>
            </a:stretch>
          </a:blipFill>
        </p:spPr>
      </p:sp>
      <p:sp>
        <p:nvSpPr>
          <p:cNvPr name="Freeform 7" id="7"/>
          <p:cNvSpPr/>
          <p:nvPr/>
        </p:nvSpPr>
        <p:spPr>
          <a:xfrm flipH="false" flipV="false" rot="0">
            <a:off x="9575142" y="4412539"/>
            <a:ext cx="6987259" cy="2749085"/>
          </a:xfrm>
          <a:custGeom>
            <a:avLst/>
            <a:gdLst/>
            <a:ahLst/>
            <a:cxnLst/>
            <a:rect r="r" b="b" t="t" l="l"/>
            <a:pathLst>
              <a:path h="2749085" w="6987259">
                <a:moveTo>
                  <a:pt x="0" y="0"/>
                </a:moveTo>
                <a:lnTo>
                  <a:pt x="6987259" y="0"/>
                </a:lnTo>
                <a:lnTo>
                  <a:pt x="6987259" y="2749085"/>
                </a:lnTo>
                <a:lnTo>
                  <a:pt x="0" y="2749085"/>
                </a:lnTo>
                <a:lnTo>
                  <a:pt x="0" y="0"/>
                </a:lnTo>
                <a:close/>
              </a:path>
            </a:pathLst>
          </a:custGeom>
          <a:blipFill>
            <a:blip r:embed="rId4"/>
            <a:stretch>
              <a:fillRect l="0" t="0" r="0" b="0"/>
            </a:stretch>
          </a:blipFill>
        </p:spPr>
      </p:sp>
      <p:sp>
        <p:nvSpPr>
          <p:cNvPr name="Freeform 8" id="8"/>
          <p:cNvSpPr/>
          <p:nvPr/>
        </p:nvSpPr>
        <p:spPr>
          <a:xfrm flipH="false" flipV="false" rot="0">
            <a:off x="4896567" y="7790644"/>
            <a:ext cx="8172204" cy="1648991"/>
          </a:xfrm>
          <a:custGeom>
            <a:avLst/>
            <a:gdLst/>
            <a:ahLst/>
            <a:cxnLst/>
            <a:rect r="r" b="b" t="t" l="l"/>
            <a:pathLst>
              <a:path h="1648991" w="8172204">
                <a:moveTo>
                  <a:pt x="0" y="0"/>
                </a:moveTo>
                <a:lnTo>
                  <a:pt x="8172205" y="0"/>
                </a:lnTo>
                <a:lnTo>
                  <a:pt x="8172205" y="1648991"/>
                </a:lnTo>
                <a:lnTo>
                  <a:pt x="0" y="1648991"/>
                </a:lnTo>
                <a:lnTo>
                  <a:pt x="0" y="0"/>
                </a:lnTo>
                <a:close/>
              </a:path>
            </a:pathLst>
          </a:custGeom>
          <a:blipFill>
            <a:blip r:embed="rId5"/>
            <a:stretch>
              <a:fillRect l="0" t="0" r="0" b="0"/>
            </a:stretch>
          </a:blipFill>
        </p:spPr>
      </p:sp>
      <p:sp>
        <p:nvSpPr>
          <p:cNvPr name="TextBox 9" id="9"/>
          <p:cNvSpPr txBox="true"/>
          <p:nvPr/>
        </p:nvSpPr>
        <p:spPr>
          <a:xfrm rot="0">
            <a:off x="823240" y="2583103"/>
            <a:ext cx="16980314" cy="1372236"/>
          </a:xfrm>
          <a:prstGeom prst="rect">
            <a:avLst/>
          </a:prstGeom>
        </p:spPr>
        <p:txBody>
          <a:bodyPr anchor="t" rtlCol="false" tIns="0" lIns="0" bIns="0" rIns="0">
            <a:spAutoFit/>
          </a:bodyPr>
          <a:lstStyle/>
          <a:p>
            <a:pPr algn="l" marL="561336" indent="-280668" lvl="1">
              <a:lnSpc>
                <a:spcPts val="3639"/>
              </a:lnSpc>
              <a:buFont typeface="Arial"/>
              <a:buChar char="•"/>
            </a:pPr>
            <a:r>
              <a:rPr lang="en-US" sz="2599">
                <a:solidFill>
                  <a:srgbClr val="FFFFFF"/>
                </a:solidFill>
                <a:latin typeface="Poppins"/>
                <a:ea typeface="Poppins"/>
                <a:cs typeface="Poppins"/>
                <a:sym typeface="Poppins"/>
              </a:rPr>
              <a:t>Se puede guardar como un tipo binario</a:t>
            </a:r>
          </a:p>
          <a:p>
            <a:pPr algn="l" marL="561336" indent="-280668" lvl="1">
              <a:lnSpc>
                <a:spcPts val="3639"/>
              </a:lnSpc>
              <a:buFont typeface="Arial"/>
              <a:buChar char="•"/>
            </a:pPr>
            <a:r>
              <a:rPr lang="en-US" sz="2599">
                <a:solidFill>
                  <a:srgbClr val="FFFFFF"/>
                </a:solidFill>
                <a:latin typeface="Poppins"/>
                <a:ea typeface="Poppins"/>
                <a:cs typeface="Poppins"/>
                <a:sym typeface="Poppins"/>
              </a:rPr>
              <a:t>Se puede guardar utilizando GridFS que es un sistema interno para archivos grandes</a:t>
            </a:r>
          </a:p>
          <a:p>
            <a:pPr algn="l" marL="561336" indent="-280668" lvl="1">
              <a:lnSpc>
                <a:spcPts val="3639"/>
              </a:lnSpc>
              <a:buFont typeface="Arial"/>
              <a:buChar char="•"/>
            </a:pPr>
            <a:r>
              <a:rPr lang="en-US" sz="2599">
                <a:solidFill>
                  <a:srgbClr val="FFFFFF"/>
                </a:solidFill>
                <a:latin typeface="Poppins"/>
                <a:ea typeface="Poppins"/>
                <a:cs typeface="Poppins"/>
                <a:sym typeface="Poppins"/>
              </a:rPr>
              <a:t>Se puede guardar como URL</a:t>
            </a:r>
          </a:p>
        </p:txBody>
      </p:sp>
      <p:sp>
        <p:nvSpPr>
          <p:cNvPr name="TextBox 10" id="10"/>
          <p:cNvSpPr txBox="true"/>
          <p:nvPr/>
        </p:nvSpPr>
        <p:spPr>
          <a:xfrm rot="0">
            <a:off x="977148" y="1337942"/>
            <a:ext cx="16552439" cy="853854"/>
          </a:xfrm>
          <a:prstGeom prst="rect">
            <a:avLst/>
          </a:prstGeom>
        </p:spPr>
        <p:txBody>
          <a:bodyPr anchor="t" rtlCol="false" tIns="0" lIns="0" bIns="0" rIns="0">
            <a:spAutoFit/>
          </a:bodyPr>
          <a:lstStyle/>
          <a:p>
            <a:pPr algn="ctr">
              <a:lnSpc>
                <a:spcPts val="7012"/>
              </a:lnSpc>
              <a:spcBef>
                <a:spcPct val="0"/>
              </a:spcBef>
            </a:pPr>
            <a:r>
              <a:rPr lang="en-US" sz="5008">
                <a:solidFill>
                  <a:srgbClr val="FF007A"/>
                </a:solidFill>
                <a:latin typeface="HK Modular"/>
                <a:ea typeface="HK Modular"/>
                <a:cs typeface="HK Modular"/>
                <a:sym typeface="HK Modular"/>
              </a:rPr>
              <a:t>IMAGENES EN DB - NO RELACIONAL</a:t>
            </a:r>
          </a:p>
        </p:txBody>
      </p:sp>
      <p:sp>
        <p:nvSpPr>
          <p:cNvPr name="Freeform 11" id="11"/>
          <p:cNvSpPr/>
          <p:nvPr/>
        </p:nvSpPr>
        <p:spPr>
          <a:xfrm flipH="false" flipV="false" rot="0">
            <a:off x="8132822" y="-328341"/>
            <a:ext cx="2361151" cy="2361151"/>
          </a:xfrm>
          <a:custGeom>
            <a:avLst/>
            <a:gdLst/>
            <a:ahLst/>
            <a:cxnLst/>
            <a:rect r="r" b="b" t="t" l="l"/>
            <a:pathLst>
              <a:path h="2361151" w="2361151">
                <a:moveTo>
                  <a:pt x="0" y="0"/>
                </a:moveTo>
                <a:lnTo>
                  <a:pt x="2361151" y="0"/>
                </a:lnTo>
                <a:lnTo>
                  <a:pt x="2361151" y="2361150"/>
                </a:lnTo>
                <a:lnTo>
                  <a:pt x="0" y="2361150"/>
                </a:lnTo>
                <a:lnTo>
                  <a:pt x="0" y="0"/>
                </a:lnTo>
                <a:close/>
              </a:path>
            </a:pathLst>
          </a:custGeom>
          <a:blipFill>
            <a:blip r:embed="rId6"/>
            <a:stretch>
              <a:fillRect l="0" t="0" r="0" b="0"/>
            </a:stretch>
          </a:blipFill>
        </p:spPr>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ED">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ED">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537813" y="4834804"/>
            <a:ext cx="15721487" cy="1509431"/>
          </a:xfrm>
          <a:prstGeom prst="rect">
            <a:avLst/>
          </a:prstGeom>
        </p:spPr>
        <p:txBody>
          <a:bodyPr anchor="t" rtlCol="false" tIns="0" lIns="0" bIns="0" rIns="0">
            <a:spAutoFit/>
          </a:bodyPr>
          <a:lstStyle/>
          <a:p>
            <a:pPr algn="ctr">
              <a:lnSpc>
                <a:spcPts val="12353"/>
              </a:lnSpc>
              <a:spcBef>
                <a:spcPct val="0"/>
              </a:spcBef>
            </a:pPr>
            <a:r>
              <a:rPr lang="en-US" sz="8823">
                <a:solidFill>
                  <a:srgbClr val="FF5757"/>
                </a:solidFill>
                <a:latin typeface="HK Modular"/>
                <a:ea typeface="HK Modular"/>
                <a:cs typeface="HK Modular"/>
                <a:sym typeface="HK Modular"/>
              </a:rPr>
              <a:t>CI/CD</a:t>
            </a:r>
          </a:p>
        </p:txBody>
      </p:sp>
      <p:sp>
        <p:nvSpPr>
          <p:cNvPr name="Freeform 13" id="13"/>
          <p:cNvSpPr/>
          <p:nvPr/>
        </p:nvSpPr>
        <p:spPr>
          <a:xfrm flipH="false" flipV="false" rot="0">
            <a:off x="7364615" y="-203689"/>
            <a:ext cx="3949772" cy="3949772"/>
          </a:xfrm>
          <a:custGeom>
            <a:avLst/>
            <a:gdLst/>
            <a:ahLst/>
            <a:cxnLst/>
            <a:rect r="r" b="b" t="t" l="l"/>
            <a:pathLst>
              <a:path h="3949772" w="3949772">
                <a:moveTo>
                  <a:pt x="0" y="0"/>
                </a:moveTo>
                <a:lnTo>
                  <a:pt x="3949772" y="0"/>
                </a:lnTo>
                <a:lnTo>
                  <a:pt x="3949772" y="3949773"/>
                </a:lnTo>
                <a:lnTo>
                  <a:pt x="0" y="3949773"/>
                </a:lnTo>
                <a:lnTo>
                  <a:pt x="0" y="0"/>
                </a:lnTo>
                <a:close/>
              </a:path>
            </a:pathLst>
          </a:custGeom>
          <a:blipFill>
            <a:blip r:embed="rId3"/>
            <a:stretch>
              <a:fillRect l="0" t="0" r="0" b="0"/>
            </a:stretch>
          </a:blipFill>
        </p:spPr>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870706" y="5355053"/>
            <a:ext cx="6959350" cy="1744072"/>
          </a:xfrm>
          <a:prstGeom prst="rect">
            <a:avLst/>
          </a:prstGeom>
        </p:spPr>
        <p:txBody>
          <a:bodyPr anchor="t" rtlCol="false" tIns="0" lIns="0" bIns="0" rIns="0">
            <a:spAutoFit/>
          </a:bodyPr>
          <a:lstStyle/>
          <a:p>
            <a:pPr algn="ctr">
              <a:lnSpc>
                <a:spcPts val="2772"/>
              </a:lnSpc>
              <a:spcBef>
                <a:spcPct val="0"/>
              </a:spcBef>
            </a:pPr>
            <a:r>
              <a:rPr lang="en-US" sz="1980">
                <a:solidFill>
                  <a:srgbClr val="FFFFFF"/>
                </a:solidFill>
                <a:latin typeface="Poppins"/>
                <a:ea typeface="Poppins"/>
                <a:cs typeface="Poppins"/>
                <a:sym typeface="Poppins"/>
              </a:rPr>
              <a:t>Integracion y despliegue continuo - describen una forma de trabajo donde los cambios de codigo pasan por una cadena automatizada que construye, prueba, empaqueta y despliegua software de manera confiable y repetible</a:t>
            </a:r>
          </a:p>
        </p:txBody>
      </p:sp>
      <p:sp>
        <p:nvSpPr>
          <p:cNvPr name="TextBox 7" id="7"/>
          <p:cNvSpPr txBox="true"/>
          <p:nvPr/>
        </p:nvSpPr>
        <p:spPr>
          <a:xfrm rot="0">
            <a:off x="1152505" y="3010467"/>
            <a:ext cx="6677552" cy="1509431"/>
          </a:xfrm>
          <a:prstGeom prst="rect">
            <a:avLst/>
          </a:prstGeom>
        </p:spPr>
        <p:txBody>
          <a:bodyPr anchor="t" rtlCol="false" tIns="0" lIns="0" bIns="0" rIns="0">
            <a:spAutoFit/>
          </a:bodyPr>
          <a:lstStyle/>
          <a:p>
            <a:pPr algn="ctr">
              <a:lnSpc>
                <a:spcPts val="12353"/>
              </a:lnSpc>
              <a:spcBef>
                <a:spcPct val="0"/>
              </a:spcBef>
            </a:pPr>
            <a:r>
              <a:rPr lang="en-US" sz="8823">
                <a:solidFill>
                  <a:srgbClr val="FF007A"/>
                </a:solidFill>
                <a:latin typeface="HK Modular"/>
                <a:ea typeface="HK Modular"/>
                <a:cs typeface="HK Modular"/>
                <a:sym typeface="HK Modular"/>
              </a:rPr>
              <a:t>CI/CD</a:t>
            </a:r>
          </a:p>
        </p:txBody>
      </p:sp>
      <p:sp>
        <p:nvSpPr>
          <p:cNvPr name="Freeform 8" id="8"/>
          <p:cNvSpPr/>
          <p:nvPr/>
        </p:nvSpPr>
        <p:spPr>
          <a:xfrm flipH="false" flipV="false" rot="0">
            <a:off x="9016276" y="2402341"/>
            <a:ext cx="8711263" cy="4834751"/>
          </a:xfrm>
          <a:custGeom>
            <a:avLst/>
            <a:gdLst/>
            <a:ahLst/>
            <a:cxnLst/>
            <a:rect r="r" b="b" t="t" l="l"/>
            <a:pathLst>
              <a:path h="4834751" w="8711263">
                <a:moveTo>
                  <a:pt x="0" y="0"/>
                </a:moveTo>
                <a:lnTo>
                  <a:pt x="8711264" y="0"/>
                </a:lnTo>
                <a:lnTo>
                  <a:pt x="8711264" y="4834751"/>
                </a:lnTo>
                <a:lnTo>
                  <a:pt x="0" y="4834751"/>
                </a:lnTo>
                <a:lnTo>
                  <a:pt x="0" y="0"/>
                </a:lnTo>
                <a:close/>
              </a:path>
            </a:pathLst>
          </a:custGeom>
          <a:blipFill>
            <a:blip r:embed="rId3"/>
            <a:stretch>
              <a:fillRect l="0" t="0" r="0" b="0"/>
            </a:stretch>
          </a:blipFill>
        </p:spPr>
      </p:sp>
      <p:sp>
        <p:nvSpPr>
          <p:cNvPr name="Freeform 9" id="9"/>
          <p:cNvSpPr/>
          <p:nvPr/>
        </p:nvSpPr>
        <p:spPr>
          <a:xfrm flipH="false" flipV="false" rot="0">
            <a:off x="8041110" y="0"/>
            <a:ext cx="2424514" cy="2424514"/>
          </a:xfrm>
          <a:custGeom>
            <a:avLst/>
            <a:gdLst/>
            <a:ahLst/>
            <a:cxnLst/>
            <a:rect r="r" b="b" t="t" l="l"/>
            <a:pathLst>
              <a:path h="2424514" w="2424514">
                <a:moveTo>
                  <a:pt x="0" y="0"/>
                </a:moveTo>
                <a:lnTo>
                  <a:pt x="2424514" y="0"/>
                </a:lnTo>
                <a:lnTo>
                  <a:pt x="2424514" y="2424514"/>
                </a:lnTo>
                <a:lnTo>
                  <a:pt x="0" y="2424514"/>
                </a:lnTo>
                <a:lnTo>
                  <a:pt x="0" y="0"/>
                </a:lnTo>
                <a:close/>
              </a:path>
            </a:pathLst>
          </a:custGeom>
          <a:blipFill>
            <a:blip r:embed="rId4"/>
            <a:stretch>
              <a:fillRect l="0" t="0" r="0" b="0"/>
            </a:stretch>
          </a:blipFill>
        </p:spPr>
      </p:sp>
      <p:sp>
        <p:nvSpPr>
          <p:cNvPr name="Freeform 10" id="10"/>
          <p:cNvSpPr/>
          <p:nvPr/>
        </p:nvSpPr>
        <p:spPr>
          <a:xfrm flipH="false" flipV="false" rot="0">
            <a:off x="3643932" y="7365825"/>
            <a:ext cx="11000137" cy="2501444"/>
          </a:xfrm>
          <a:custGeom>
            <a:avLst/>
            <a:gdLst/>
            <a:ahLst/>
            <a:cxnLst/>
            <a:rect r="r" b="b" t="t" l="l"/>
            <a:pathLst>
              <a:path h="2501444" w="11000137">
                <a:moveTo>
                  <a:pt x="0" y="0"/>
                </a:moveTo>
                <a:lnTo>
                  <a:pt x="11000136" y="0"/>
                </a:lnTo>
                <a:lnTo>
                  <a:pt x="11000136" y="2501444"/>
                </a:lnTo>
                <a:lnTo>
                  <a:pt x="0" y="2501444"/>
                </a:lnTo>
                <a:lnTo>
                  <a:pt x="0" y="0"/>
                </a:lnTo>
                <a:close/>
              </a:path>
            </a:pathLst>
          </a:custGeom>
          <a:blipFill>
            <a:blip r:embed="rId5"/>
            <a:stretch>
              <a:fillRect l="0" t="0" r="0" b="0"/>
            </a:stretch>
          </a:blipFill>
        </p:spPr>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5825806" y="6853199"/>
            <a:ext cx="6047030" cy="3023515"/>
          </a:xfrm>
          <a:custGeom>
            <a:avLst/>
            <a:gdLst/>
            <a:ahLst/>
            <a:cxnLst/>
            <a:rect r="r" b="b" t="t" l="l"/>
            <a:pathLst>
              <a:path h="3023515" w="6047030">
                <a:moveTo>
                  <a:pt x="0" y="0"/>
                </a:moveTo>
                <a:lnTo>
                  <a:pt x="6047030" y="0"/>
                </a:lnTo>
                <a:lnTo>
                  <a:pt x="6047030" y="3023515"/>
                </a:lnTo>
                <a:lnTo>
                  <a:pt x="0" y="3023515"/>
                </a:lnTo>
                <a:lnTo>
                  <a:pt x="0" y="0"/>
                </a:lnTo>
                <a:close/>
              </a:path>
            </a:pathLst>
          </a:custGeom>
          <a:blipFill>
            <a:blip r:embed="rId3"/>
            <a:stretch>
              <a:fillRect l="0" t="0" r="0" b="0"/>
            </a:stretch>
          </a:blipFill>
        </p:spPr>
      </p:sp>
      <p:sp>
        <p:nvSpPr>
          <p:cNvPr name="TextBox 7" id="7"/>
          <p:cNvSpPr txBox="true"/>
          <p:nvPr/>
        </p:nvSpPr>
        <p:spPr>
          <a:xfrm rot="0">
            <a:off x="6569248" y="1792845"/>
            <a:ext cx="4828289" cy="1100794"/>
          </a:xfrm>
          <a:prstGeom prst="rect">
            <a:avLst/>
          </a:prstGeom>
        </p:spPr>
        <p:txBody>
          <a:bodyPr anchor="t" rtlCol="false" tIns="0" lIns="0" bIns="0" rIns="0">
            <a:spAutoFit/>
          </a:bodyPr>
          <a:lstStyle/>
          <a:p>
            <a:pPr algn="ctr">
              <a:lnSpc>
                <a:spcPts val="8932"/>
              </a:lnSpc>
              <a:spcBef>
                <a:spcPct val="0"/>
              </a:spcBef>
            </a:pPr>
            <a:r>
              <a:rPr lang="en-US" sz="6380">
                <a:solidFill>
                  <a:srgbClr val="FF007A"/>
                </a:solidFill>
                <a:latin typeface="HK Modular"/>
                <a:ea typeface="HK Modular"/>
                <a:cs typeface="HK Modular"/>
                <a:sym typeface="HK Modular"/>
              </a:rPr>
              <a:t>CI/CD</a:t>
            </a:r>
          </a:p>
        </p:txBody>
      </p:sp>
      <p:sp>
        <p:nvSpPr>
          <p:cNvPr name="TextBox 8" id="8"/>
          <p:cNvSpPr txBox="true"/>
          <p:nvPr/>
        </p:nvSpPr>
        <p:spPr>
          <a:xfrm rot="0">
            <a:off x="1179586" y="3277606"/>
            <a:ext cx="6650471" cy="3009575"/>
          </a:xfrm>
          <a:prstGeom prst="rect">
            <a:avLst/>
          </a:prstGeom>
        </p:spPr>
        <p:txBody>
          <a:bodyPr anchor="t" rtlCol="false" tIns="0" lIns="0" bIns="0" rIns="0">
            <a:spAutoFit/>
          </a:bodyPr>
          <a:lstStyle/>
          <a:p>
            <a:pPr algn="l" marL="407573" indent="-203787" lvl="1">
              <a:lnSpc>
                <a:spcPts val="2642"/>
              </a:lnSpc>
              <a:buFont typeface="Arial"/>
              <a:buChar char="•"/>
            </a:pPr>
            <a:r>
              <a:rPr lang="en-US" sz="1887">
                <a:solidFill>
                  <a:srgbClr val="FFFFFF"/>
                </a:solidFill>
                <a:latin typeface="Poppins"/>
                <a:ea typeface="Poppins"/>
                <a:cs typeface="Poppins"/>
                <a:sym typeface="Poppins"/>
              </a:rPr>
              <a:t>Los</a:t>
            </a:r>
            <a:r>
              <a:rPr lang="en-US" sz="1887">
                <a:solidFill>
                  <a:srgbClr val="FFFFFF"/>
                </a:solidFill>
                <a:latin typeface="Poppins"/>
                <a:ea typeface="Poppins"/>
                <a:cs typeface="Poppins"/>
                <a:sym typeface="Poppins"/>
              </a:rPr>
              <a:t> desarrolladores suben su códi</a:t>
            </a:r>
            <a:r>
              <a:rPr lang="en-US" sz="1887">
                <a:solidFill>
                  <a:srgbClr val="FFFFFF"/>
                </a:solidFill>
                <a:latin typeface="Poppins"/>
                <a:ea typeface="Poppins"/>
                <a:cs typeface="Poppins"/>
                <a:sym typeface="Poppins"/>
              </a:rPr>
              <a:t>go con frecuencia a un repositorio central (ej. GitHub, GitLab, Bitbucket).</a:t>
            </a:r>
          </a:p>
          <a:p>
            <a:pPr algn="l" marL="407573" indent="-203787" lvl="1">
              <a:lnSpc>
                <a:spcPts val="2642"/>
              </a:lnSpc>
              <a:buFont typeface="Arial"/>
              <a:buChar char="•"/>
            </a:pPr>
            <a:r>
              <a:rPr lang="en-US" sz="1887">
                <a:solidFill>
                  <a:srgbClr val="FFFFFF"/>
                </a:solidFill>
                <a:latin typeface="Poppins"/>
                <a:ea typeface="Poppins"/>
                <a:cs typeface="Poppins"/>
                <a:sym typeface="Poppins"/>
              </a:rPr>
              <a:t>Cada vez que hay un cambio, un pipeline ejecuta:</a:t>
            </a:r>
          </a:p>
          <a:p>
            <a:pPr algn="l" marL="815147" indent="-271716" lvl="2">
              <a:lnSpc>
                <a:spcPts val="2642"/>
              </a:lnSpc>
              <a:buFont typeface="Arial"/>
              <a:buChar char="⚬"/>
            </a:pPr>
            <a:r>
              <a:rPr lang="en-US" sz="1887">
                <a:solidFill>
                  <a:srgbClr val="FFFFFF"/>
                </a:solidFill>
                <a:latin typeface="Poppins"/>
                <a:ea typeface="Poppins"/>
                <a:cs typeface="Poppins"/>
                <a:sym typeface="Poppins"/>
              </a:rPr>
              <a:t>Compilación del código</a:t>
            </a:r>
          </a:p>
          <a:p>
            <a:pPr algn="l" marL="815147" indent="-271716" lvl="2">
              <a:lnSpc>
                <a:spcPts val="2642"/>
              </a:lnSpc>
              <a:buFont typeface="Arial"/>
              <a:buChar char="⚬"/>
            </a:pPr>
            <a:r>
              <a:rPr lang="en-US" sz="1887">
                <a:solidFill>
                  <a:srgbClr val="FFFFFF"/>
                </a:solidFill>
                <a:latin typeface="Poppins"/>
                <a:ea typeface="Poppins"/>
                <a:cs typeface="Poppins"/>
                <a:sym typeface="Poppins"/>
              </a:rPr>
              <a:t>Ejecución de pruebas unitarias</a:t>
            </a:r>
          </a:p>
          <a:p>
            <a:pPr algn="l" marL="815147" indent="-271716" lvl="2">
              <a:lnSpc>
                <a:spcPts val="2642"/>
              </a:lnSpc>
              <a:buFont typeface="Arial"/>
              <a:buChar char="⚬"/>
            </a:pPr>
            <a:r>
              <a:rPr lang="en-US" sz="1887">
                <a:solidFill>
                  <a:srgbClr val="FFFFFF"/>
                </a:solidFill>
                <a:latin typeface="Poppins"/>
                <a:ea typeface="Poppins"/>
                <a:cs typeface="Poppins"/>
                <a:sym typeface="Poppins"/>
              </a:rPr>
              <a:t>Análisis de calidad (ej. SonarQube, linters)</a:t>
            </a:r>
          </a:p>
          <a:p>
            <a:pPr algn="l" marL="815147" indent="-271716" lvl="2">
              <a:lnSpc>
                <a:spcPts val="2642"/>
              </a:lnSpc>
              <a:buFont typeface="Arial"/>
              <a:buChar char="⚬"/>
            </a:pPr>
            <a:r>
              <a:rPr lang="en-US" sz="1887">
                <a:solidFill>
                  <a:srgbClr val="FFFFFF"/>
                </a:solidFill>
                <a:latin typeface="Poppins"/>
                <a:ea typeface="Poppins"/>
                <a:cs typeface="Poppins"/>
                <a:sym typeface="Poppins"/>
              </a:rPr>
              <a:t>Detecta errores rápidamente antes de que lleguen a producción.</a:t>
            </a:r>
          </a:p>
        </p:txBody>
      </p:sp>
      <p:sp>
        <p:nvSpPr>
          <p:cNvPr name="TextBox 9" id="9"/>
          <p:cNvSpPr txBox="true"/>
          <p:nvPr/>
        </p:nvSpPr>
        <p:spPr>
          <a:xfrm rot="0">
            <a:off x="10105042" y="3560615"/>
            <a:ext cx="8043038" cy="2419113"/>
          </a:xfrm>
          <a:prstGeom prst="rect">
            <a:avLst/>
          </a:prstGeom>
        </p:spPr>
        <p:txBody>
          <a:bodyPr anchor="t" rtlCol="false" tIns="0" lIns="0" bIns="0" rIns="0">
            <a:spAutoFit/>
          </a:bodyPr>
          <a:lstStyle/>
          <a:p>
            <a:pPr algn="l" marL="430611" indent="-215306" lvl="1">
              <a:lnSpc>
                <a:spcPts val="2792"/>
              </a:lnSpc>
              <a:buFont typeface="Arial"/>
              <a:buChar char="•"/>
            </a:pPr>
            <a:r>
              <a:rPr lang="en-US" sz="1994">
                <a:solidFill>
                  <a:srgbClr val="FFFFFF"/>
                </a:solidFill>
                <a:latin typeface="Poppins"/>
                <a:ea typeface="Poppins"/>
                <a:cs typeface="Poppins"/>
                <a:sym typeface="Poppins"/>
              </a:rPr>
              <a:t>Continuous Delivery: asegura que la aplicación esté siempre lista para ser desplegada. El despliegue puede ser manual.</a:t>
            </a:r>
          </a:p>
          <a:p>
            <a:pPr algn="l" marL="430611" indent="-215306" lvl="1">
              <a:lnSpc>
                <a:spcPts val="2792"/>
              </a:lnSpc>
              <a:buFont typeface="Arial"/>
              <a:buChar char="•"/>
            </a:pPr>
            <a:r>
              <a:rPr lang="en-US" sz="1994">
                <a:solidFill>
                  <a:srgbClr val="FFFFFF"/>
                </a:solidFill>
                <a:latin typeface="Poppins"/>
                <a:ea typeface="Poppins"/>
                <a:cs typeface="Poppins"/>
                <a:sym typeface="Poppins"/>
              </a:rPr>
              <a:t>Continuous Deployment: los cambios pasan automáticamente a producción si superan todas las pruebas.</a:t>
            </a:r>
          </a:p>
          <a:p>
            <a:pPr algn="ctr">
              <a:lnSpc>
                <a:spcPts val="2792"/>
              </a:lnSpc>
              <a:spcBef>
                <a:spcPct val="0"/>
              </a:spcBef>
            </a:pPr>
          </a:p>
        </p:txBody>
      </p:sp>
      <p:sp>
        <p:nvSpPr>
          <p:cNvPr name="Freeform 10" id="10"/>
          <p:cNvSpPr/>
          <p:nvPr/>
        </p:nvSpPr>
        <p:spPr>
          <a:xfrm flipH="false" flipV="false" rot="0">
            <a:off x="7830057" y="-232718"/>
            <a:ext cx="2424514" cy="2424514"/>
          </a:xfrm>
          <a:custGeom>
            <a:avLst/>
            <a:gdLst/>
            <a:ahLst/>
            <a:cxnLst/>
            <a:rect r="r" b="b" t="t" l="l"/>
            <a:pathLst>
              <a:path h="2424514" w="2424514">
                <a:moveTo>
                  <a:pt x="0" y="0"/>
                </a:moveTo>
                <a:lnTo>
                  <a:pt x="2424514" y="0"/>
                </a:lnTo>
                <a:lnTo>
                  <a:pt x="2424514" y="2424514"/>
                </a:lnTo>
                <a:lnTo>
                  <a:pt x="0" y="2424514"/>
                </a:lnTo>
                <a:lnTo>
                  <a:pt x="0" y="0"/>
                </a:lnTo>
                <a:close/>
              </a:path>
            </a:pathLst>
          </a:custGeom>
          <a:blipFill>
            <a:blip r:embed="rId4"/>
            <a:stretch>
              <a:fillRect l="0" t="0" r="0" b="0"/>
            </a:stretch>
          </a:blipFill>
        </p:spPr>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381601" y="2685404"/>
            <a:ext cx="6677552" cy="1509431"/>
          </a:xfrm>
          <a:prstGeom prst="rect">
            <a:avLst/>
          </a:prstGeom>
        </p:spPr>
        <p:txBody>
          <a:bodyPr anchor="t" rtlCol="false" tIns="0" lIns="0" bIns="0" rIns="0">
            <a:spAutoFit/>
          </a:bodyPr>
          <a:lstStyle/>
          <a:p>
            <a:pPr algn="ctr">
              <a:lnSpc>
                <a:spcPts val="12353"/>
              </a:lnSpc>
              <a:spcBef>
                <a:spcPct val="0"/>
              </a:spcBef>
            </a:pPr>
            <a:r>
              <a:rPr lang="en-US" sz="8823">
                <a:solidFill>
                  <a:srgbClr val="FF007A"/>
                </a:solidFill>
                <a:latin typeface="HK Modular"/>
                <a:ea typeface="HK Modular"/>
                <a:cs typeface="HK Modular"/>
                <a:sym typeface="HK Modular"/>
              </a:rPr>
              <a:t>CI/CD</a:t>
            </a:r>
          </a:p>
        </p:txBody>
      </p:sp>
      <p:sp>
        <p:nvSpPr>
          <p:cNvPr name="Freeform 7" id="7"/>
          <p:cNvSpPr/>
          <p:nvPr/>
        </p:nvSpPr>
        <p:spPr>
          <a:xfrm flipH="false" flipV="false" rot="0">
            <a:off x="10457943" y="5555040"/>
            <a:ext cx="6265676" cy="4174507"/>
          </a:xfrm>
          <a:custGeom>
            <a:avLst/>
            <a:gdLst/>
            <a:ahLst/>
            <a:cxnLst/>
            <a:rect r="r" b="b" t="t" l="l"/>
            <a:pathLst>
              <a:path h="4174507" w="6265676">
                <a:moveTo>
                  <a:pt x="0" y="0"/>
                </a:moveTo>
                <a:lnTo>
                  <a:pt x="6265677" y="0"/>
                </a:lnTo>
                <a:lnTo>
                  <a:pt x="6265677" y="4174507"/>
                </a:lnTo>
                <a:lnTo>
                  <a:pt x="0" y="4174507"/>
                </a:lnTo>
                <a:lnTo>
                  <a:pt x="0" y="0"/>
                </a:lnTo>
                <a:close/>
              </a:path>
            </a:pathLst>
          </a:custGeom>
          <a:blipFill>
            <a:blip r:embed="rId3"/>
            <a:stretch>
              <a:fillRect l="0" t="0" r="0" b="0"/>
            </a:stretch>
          </a:blipFill>
        </p:spPr>
      </p:sp>
      <p:sp>
        <p:nvSpPr>
          <p:cNvPr name="TextBox 8" id="8"/>
          <p:cNvSpPr txBox="true"/>
          <p:nvPr/>
        </p:nvSpPr>
        <p:spPr>
          <a:xfrm rot="0">
            <a:off x="9692713" y="2134646"/>
            <a:ext cx="7991495" cy="1005089"/>
          </a:xfrm>
          <a:prstGeom prst="rect">
            <a:avLst/>
          </a:prstGeom>
        </p:spPr>
        <p:txBody>
          <a:bodyPr anchor="t" rtlCol="false" tIns="0" lIns="0" bIns="0" rIns="0">
            <a:spAutoFit/>
          </a:bodyPr>
          <a:lstStyle/>
          <a:p>
            <a:pPr algn="ctr">
              <a:lnSpc>
                <a:spcPts val="2642"/>
              </a:lnSpc>
              <a:spcBef>
                <a:spcPct val="0"/>
              </a:spcBef>
            </a:pPr>
            <a:r>
              <a:rPr lang="en-US" sz="1887">
                <a:solidFill>
                  <a:srgbClr val="FFFFFF"/>
                </a:solidFill>
                <a:latin typeface="Poppins"/>
                <a:ea typeface="Poppins"/>
                <a:cs typeface="Poppins"/>
                <a:sym typeface="Poppins"/>
              </a:rPr>
              <a:t> En I</a:t>
            </a:r>
            <a:r>
              <a:rPr lang="en-US" sz="1887">
                <a:solidFill>
                  <a:srgbClr val="FFFFFF"/>
                </a:solidFill>
                <a:latin typeface="Poppins"/>
                <a:ea typeface="Poppins"/>
                <a:cs typeface="Poppins"/>
                <a:sym typeface="Poppins"/>
              </a:rPr>
              <a:t>ntegración Continua (CI), cada commit o Pull Request se integra temprano para detectar conflictos y defectos cuando todavía son baratos de corregir. </a:t>
            </a:r>
          </a:p>
        </p:txBody>
      </p:sp>
      <p:sp>
        <p:nvSpPr>
          <p:cNvPr name="TextBox 9" id="9"/>
          <p:cNvSpPr txBox="true"/>
          <p:nvPr/>
        </p:nvSpPr>
        <p:spPr>
          <a:xfrm rot="0">
            <a:off x="9917065" y="3701959"/>
            <a:ext cx="7536330" cy="1243481"/>
          </a:xfrm>
          <a:prstGeom prst="rect">
            <a:avLst/>
          </a:prstGeom>
        </p:spPr>
        <p:txBody>
          <a:bodyPr anchor="t" rtlCol="false" tIns="0" lIns="0" bIns="0" rIns="0">
            <a:spAutoFit/>
          </a:bodyPr>
          <a:lstStyle/>
          <a:p>
            <a:pPr algn="ctr">
              <a:lnSpc>
                <a:spcPts val="2469"/>
              </a:lnSpc>
              <a:spcBef>
                <a:spcPct val="0"/>
              </a:spcBef>
            </a:pPr>
            <a:r>
              <a:rPr lang="en-US" sz="1763">
                <a:solidFill>
                  <a:srgbClr val="FFFFFF"/>
                </a:solidFill>
                <a:latin typeface="Poppins"/>
                <a:ea typeface="Poppins"/>
                <a:cs typeface="Poppins"/>
                <a:sym typeface="Poppins"/>
              </a:rPr>
              <a:t>La Entrega/Despliegue Continua (CD) extiende ese flujo hacia ambientes reales, de modo que el software pueda llegar a usuarios con menor riesgo, gracias a lotes pequeños y pasos verificables.</a:t>
            </a:r>
          </a:p>
        </p:txBody>
      </p:sp>
      <p:sp>
        <p:nvSpPr>
          <p:cNvPr name="TextBox 10" id="10"/>
          <p:cNvSpPr txBox="true"/>
          <p:nvPr/>
        </p:nvSpPr>
        <p:spPr>
          <a:xfrm rot="0">
            <a:off x="1275731" y="5496384"/>
            <a:ext cx="7244193" cy="3761916"/>
          </a:xfrm>
          <a:prstGeom prst="rect">
            <a:avLst/>
          </a:prstGeom>
        </p:spPr>
        <p:txBody>
          <a:bodyPr anchor="t" rtlCol="false" tIns="0" lIns="0" bIns="0" rIns="0">
            <a:spAutoFit/>
          </a:bodyPr>
          <a:lstStyle/>
          <a:p>
            <a:pPr algn="just">
              <a:lnSpc>
                <a:spcPts val="2992"/>
              </a:lnSpc>
            </a:pPr>
            <a:r>
              <a:rPr lang="en-US" sz="2137">
                <a:solidFill>
                  <a:srgbClr val="FFFFFF"/>
                </a:solidFill>
                <a:latin typeface="Poppins"/>
                <a:ea typeface="Poppins"/>
                <a:cs typeface="Poppins"/>
                <a:sym typeface="Poppins"/>
              </a:rPr>
              <a:t>Para poder medir que tan bien se está llevando el proceso de CI/CD y su impacto de valor, existen métricas estandar que nos ayudan, </a:t>
            </a:r>
          </a:p>
          <a:p>
            <a:pPr algn="just">
              <a:lnSpc>
                <a:spcPts val="2992"/>
              </a:lnSpc>
            </a:pPr>
          </a:p>
          <a:p>
            <a:pPr algn="just">
              <a:lnSpc>
                <a:spcPts val="2992"/>
              </a:lnSpc>
              <a:spcBef>
                <a:spcPct val="0"/>
              </a:spcBef>
            </a:pPr>
            <a:r>
              <a:rPr lang="en-US" sz="2137">
                <a:solidFill>
                  <a:srgbClr val="FFFFFF"/>
                </a:solidFill>
                <a:latin typeface="Poppins"/>
                <a:ea typeface="Poppins"/>
                <a:cs typeface="Poppins"/>
                <a:sym typeface="Poppins"/>
              </a:rPr>
              <a:t>Una de las maneras de hacerlo es con dora, que tiene un conjunto de indicadores clave utilizados para medir el rendimiento de los equipos de desarrollo de software. Estas métricas, definidas por el grupo DevOps Research and Assessment (DORA), incluyen:</a:t>
            </a:r>
          </a:p>
        </p:txBody>
      </p:sp>
      <p:sp>
        <p:nvSpPr>
          <p:cNvPr name="Freeform 11" id="11"/>
          <p:cNvSpPr/>
          <p:nvPr/>
        </p:nvSpPr>
        <p:spPr>
          <a:xfrm flipH="false" flipV="false" rot="0">
            <a:off x="7830057" y="-232718"/>
            <a:ext cx="2424514" cy="2424514"/>
          </a:xfrm>
          <a:custGeom>
            <a:avLst/>
            <a:gdLst/>
            <a:ahLst/>
            <a:cxnLst/>
            <a:rect r="r" b="b" t="t" l="l"/>
            <a:pathLst>
              <a:path h="2424514" w="2424514">
                <a:moveTo>
                  <a:pt x="0" y="0"/>
                </a:moveTo>
                <a:lnTo>
                  <a:pt x="2424514" y="0"/>
                </a:lnTo>
                <a:lnTo>
                  <a:pt x="2424514" y="2424514"/>
                </a:lnTo>
                <a:lnTo>
                  <a:pt x="0" y="2424514"/>
                </a:lnTo>
                <a:lnTo>
                  <a:pt x="0" y="0"/>
                </a:lnTo>
                <a:close/>
              </a:path>
            </a:pathLst>
          </a:custGeom>
          <a:blipFill>
            <a:blip r:embed="rId4"/>
            <a:stretch>
              <a:fillRect l="0" t="0" r="0" b="0"/>
            </a:stretch>
          </a:blipFill>
        </p:spPr>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ED">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ED">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283256" y="4303060"/>
            <a:ext cx="15721487" cy="3071531"/>
          </a:xfrm>
          <a:prstGeom prst="rect">
            <a:avLst/>
          </a:prstGeom>
        </p:spPr>
        <p:txBody>
          <a:bodyPr anchor="t" rtlCol="false" tIns="0" lIns="0" bIns="0" rIns="0">
            <a:spAutoFit/>
          </a:bodyPr>
          <a:lstStyle/>
          <a:p>
            <a:pPr algn="ctr">
              <a:lnSpc>
                <a:spcPts val="12353"/>
              </a:lnSpc>
              <a:spcBef>
                <a:spcPct val="0"/>
              </a:spcBef>
            </a:pPr>
            <a:r>
              <a:rPr lang="en-US" sz="8823">
                <a:solidFill>
                  <a:srgbClr val="FF5757"/>
                </a:solidFill>
                <a:latin typeface="HK Modular"/>
                <a:ea typeface="HK Modular"/>
                <a:cs typeface="HK Modular"/>
                <a:sym typeface="HK Modular"/>
              </a:rPr>
              <a:t>AUTOMATIZACION CON PIPELINES</a:t>
            </a:r>
          </a:p>
        </p:txBody>
      </p:sp>
      <p:sp>
        <p:nvSpPr>
          <p:cNvPr name="Freeform 13" id="13"/>
          <p:cNvSpPr/>
          <p:nvPr/>
        </p:nvSpPr>
        <p:spPr>
          <a:xfrm flipH="false" flipV="false" rot="0">
            <a:off x="7830057" y="-232718"/>
            <a:ext cx="2424514" cy="2424514"/>
          </a:xfrm>
          <a:custGeom>
            <a:avLst/>
            <a:gdLst/>
            <a:ahLst/>
            <a:cxnLst/>
            <a:rect r="r" b="b" t="t" l="l"/>
            <a:pathLst>
              <a:path h="2424514" w="2424514">
                <a:moveTo>
                  <a:pt x="0" y="0"/>
                </a:moveTo>
                <a:lnTo>
                  <a:pt x="2424514" y="0"/>
                </a:lnTo>
                <a:lnTo>
                  <a:pt x="2424514" y="2424514"/>
                </a:lnTo>
                <a:lnTo>
                  <a:pt x="0" y="2424514"/>
                </a:lnTo>
                <a:lnTo>
                  <a:pt x="0" y="0"/>
                </a:lnTo>
                <a:close/>
              </a:path>
            </a:pathLst>
          </a:custGeom>
          <a:blipFill>
            <a:blip r:embed="rId3"/>
            <a:stretch>
              <a:fillRect l="0" t="0" r="0" b="0"/>
            </a:stretch>
          </a:blipFill>
        </p:spPr>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4833410" y="1867160"/>
            <a:ext cx="8317196" cy="1629490"/>
          </a:xfrm>
          <a:prstGeom prst="rect">
            <a:avLst/>
          </a:prstGeom>
        </p:spPr>
        <p:txBody>
          <a:bodyPr anchor="t" rtlCol="false" tIns="0" lIns="0" bIns="0" rIns="0">
            <a:spAutoFit/>
          </a:bodyPr>
          <a:lstStyle/>
          <a:p>
            <a:pPr algn="ctr">
              <a:lnSpc>
                <a:spcPts val="6535"/>
              </a:lnSpc>
              <a:spcBef>
                <a:spcPct val="0"/>
              </a:spcBef>
            </a:pPr>
            <a:r>
              <a:rPr lang="en-US" sz="4667">
                <a:solidFill>
                  <a:srgbClr val="FF007A"/>
                </a:solidFill>
                <a:latin typeface="HK Modular"/>
                <a:ea typeface="HK Modular"/>
                <a:cs typeface="HK Modular"/>
                <a:sym typeface="HK Modular"/>
              </a:rPr>
              <a:t>AUTOMATIZACION CON PIPELINES</a:t>
            </a:r>
          </a:p>
        </p:txBody>
      </p:sp>
      <p:sp>
        <p:nvSpPr>
          <p:cNvPr name="TextBox 7" id="7"/>
          <p:cNvSpPr txBox="true"/>
          <p:nvPr/>
        </p:nvSpPr>
        <p:spPr>
          <a:xfrm rot="0">
            <a:off x="1979318" y="3899792"/>
            <a:ext cx="14548098" cy="34226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Poppins"/>
                <a:ea typeface="Poppins"/>
                <a:cs typeface="Poppins"/>
                <a:sym typeface="Poppins"/>
              </a:rPr>
              <a:t>Un pipeline es una serie de etapas automatizadas que transforman el código fuente en una aplicación lista para usarse.</a:t>
            </a:r>
          </a:p>
        </p:txBody>
      </p:sp>
      <p:sp>
        <p:nvSpPr>
          <p:cNvPr name="TextBox 8" id="8"/>
          <p:cNvSpPr txBox="true"/>
          <p:nvPr/>
        </p:nvSpPr>
        <p:spPr>
          <a:xfrm rot="0">
            <a:off x="3382741" y="4906783"/>
            <a:ext cx="12729939" cy="4676140"/>
          </a:xfrm>
          <a:prstGeom prst="rect">
            <a:avLst/>
          </a:prstGeom>
        </p:spPr>
        <p:txBody>
          <a:bodyPr anchor="t" rtlCol="false" tIns="0" lIns="0" bIns="0" rIns="0">
            <a:spAutoFit/>
          </a:bodyPr>
          <a:lstStyle/>
          <a:p>
            <a:pPr algn="l" marL="410209" indent="-205105" lvl="1">
              <a:lnSpc>
                <a:spcPts val="2659"/>
              </a:lnSpc>
              <a:buAutoNum type="arabicPeriod" startAt="1"/>
            </a:pPr>
            <a:r>
              <a:rPr lang="en-US" sz="1899">
                <a:solidFill>
                  <a:srgbClr val="FFFFFF"/>
                </a:solidFill>
                <a:latin typeface="Poppins"/>
                <a:ea typeface="Poppins"/>
                <a:cs typeface="Poppins"/>
                <a:sym typeface="Poppins"/>
              </a:rPr>
              <a:t>Build (Compilación):</a:t>
            </a:r>
          </a:p>
          <a:p>
            <a:pPr algn="l" marL="820419" indent="-273473" lvl="2">
              <a:lnSpc>
                <a:spcPts val="2659"/>
              </a:lnSpc>
              <a:buAutoNum type="alphaLcPeriod" startAt="1"/>
            </a:pPr>
            <a:r>
              <a:rPr lang="en-US" sz="1899">
                <a:solidFill>
                  <a:srgbClr val="FFFFFF"/>
                </a:solidFill>
                <a:latin typeface="Poppins"/>
                <a:ea typeface="Poppins"/>
                <a:cs typeface="Poppins"/>
                <a:sym typeface="Poppins"/>
              </a:rPr>
              <a:t> Instalar dependencias, compilar código, empaquetar (ej. npm install, mvn package, docker build).</a:t>
            </a:r>
          </a:p>
          <a:p>
            <a:pPr algn="l" marL="410209" indent="-205105" lvl="1">
              <a:lnSpc>
                <a:spcPts val="2659"/>
              </a:lnSpc>
              <a:buAutoNum type="arabicPeriod" startAt="1"/>
            </a:pPr>
            <a:r>
              <a:rPr lang="en-US" sz="1899">
                <a:solidFill>
                  <a:srgbClr val="FFFFFF"/>
                </a:solidFill>
                <a:latin typeface="Poppins"/>
                <a:ea typeface="Poppins"/>
                <a:cs typeface="Poppins"/>
                <a:sym typeface="Poppins"/>
              </a:rPr>
              <a:t>Test (Pruebas):</a:t>
            </a:r>
          </a:p>
          <a:p>
            <a:pPr algn="l" marL="820419" indent="-273473" lvl="2">
              <a:lnSpc>
                <a:spcPts val="2659"/>
              </a:lnSpc>
              <a:buAutoNum type="alphaLcPeriod" startAt="1"/>
            </a:pPr>
            <a:r>
              <a:rPr lang="en-US" sz="1899">
                <a:solidFill>
                  <a:srgbClr val="FFFFFF"/>
                </a:solidFill>
                <a:latin typeface="Poppins"/>
                <a:ea typeface="Poppins"/>
                <a:cs typeface="Poppins"/>
                <a:sym typeface="Poppins"/>
              </a:rPr>
              <a:t>Unitarias, integración, contract testing, e2e. - Automatizadas para validar cada commit.</a:t>
            </a:r>
          </a:p>
          <a:p>
            <a:pPr algn="l" marL="410209" indent="-205105" lvl="1">
              <a:lnSpc>
                <a:spcPts val="2659"/>
              </a:lnSpc>
              <a:buAutoNum type="arabicPeriod" startAt="1"/>
            </a:pPr>
            <a:r>
              <a:rPr lang="en-US" sz="1899">
                <a:solidFill>
                  <a:srgbClr val="FFFFFF"/>
                </a:solidFill>
                <a:latin typeface="Poppins"/>
                <a:ea typeface="Poppins"/>
                <a:cs typeface="Poppins"/>
                <a:sym typeface="Poppins"/>
              </a:rPr>
              <a:t>Analysis (Análisis de calidad y seguridad)</a:t>
            </a:r>
          </a:p>
          <a:p>
            <a:pPr algn="l" marL="820419" indent="-273473" lvl="2">
              <a:lnSpc>
                <a:spcPts val="2659"/>
              </a:lnSpc>
              <a:buAutoNum type="alphaLcPeriod" startAt="1"/>
            </a:pPr>
            <a:r>
              <a:rPr lang="en-US" sz="1899">
                <a:solidFill>
                  <a:srgbClr val="FFFFFF"/>
                </a:solidFill>
                <a:latin typeface="Poppins"/>
                <a:ea typeface="Poppins"/>
                <a:cs typeface="Poppins"/>
                <a:sym typeface="Poppins"/>
              </a:rPr>
              <a:t>Estático (linters, SonarQube, ESLint).</a:t>
            </a:r>
          </a:p>
          <a:p>
            <a:pPr algn="l" marL="820419" indent="-273473" lvl="2">
              <a:lnSpc>
                <a:spcPts val="2659"/>
              </a:lnSpc>
              <a:buAutoNum type="alphaLcPeriod" startAt="1"/>
            </a:pPr>
            <a:r>
              <a:rPr lang="en-US" sz="1899">
                <a:solidFill>
                  <a:srgbClr val="FFFFFF"/>
                </a:solidFill>
                <a:latin typeface="Poppins"/>
                <a:ea typeface="Poppins"/>
                <a:cs typeface="Poppins"/>
                <a:sym typeface="Poppins"/>
              </a:rPr>
              <a:t>Seguridad (Snyk, OWASP Dependency Check).</a:t>
            </a:r>
          </a:p>
          <a:p>
            <a:pPr algn="l" marL="410209" indent="-205105" lvl="1">
              <a:lnSpc>
                <a:spcPts val="2659"/>
              </a:lnSpc>
              <a:buAutoNum type="arabicPeriod" startAt="1"/>
            </a:pPr>
            <a:r>
              <a:rPr lang="en-US" sz="1899">
                <a:solidFill>
                  <a:srgbClr val="FFFFFF"/>
                </a:solidFill>
                <a:latin typeface="Poppins"/>
                <a:ea typeface="Poppins"/>
                <a:cs typeface="Poppins"/>
                <a:sym typeface="Poppins"/>
              </a:rPr>
              <a:t>Deploy (Despliegue)</a:t>
            </a:r>
          </a:p>
          <a:p>
            <a:pPr algn="l" marL="820419" indent="-273473" lvl="2">
              <a:lnSpc>
                <a:spcPts val="2659"/>
              </a:lnSpc>
              <a:buAutoNum type="alphaLcPeriod" startAt="1"/>
            </a:pPr>
            <a:r>
              <a:rPr lang="en-US" sz="1899">
                <a:solidFill>
                  <a:srgbClr val="FFFFFF"/>
                </a:solidFill>
                <a:latin typeface="Poppins"/>
                <a:ea typeface="Poppins"/>
                <a:cs typeface="Poppins"/>
                <a:sym typeface="Poppins"/>
              </a:rPr>
              <a:t>Despliegue a entornos: DEV, QA, Sndbox, Preprod y producción.</a:t>
            </a:r>
          </a:p>
          <a:p>
            <a:pPr algn="l" marL="820419" indent="-273473" lvl="2">
              <a:lnSpc>
                <a:spcPts val="2659"/>
              </a:lnSpc>
              <a:buAutoNum type="alphaLcPeriod" startAt="1"/>
            </a:pPr>
            <a:r>
              <a:rPr lang="en-US" sz="1899">
                <a:solidFill>
                  <a:srgbClr val="FFFFFF"/>
                </a:solidFill>
                <a:latin typeface="Poppins"/>
                <a:ea typeface="Poppins"/>
                <a:cs typeface="Poppins"/>
                <a:sym typeface="Poppins"/>
              </a:rPr>
              <a:t>Uso de contenedores (Docker, Kubernetes).</a:t>
            </a:r>
          </a:p>
          <a:p>
            <a:pPr algn="l" marL="820419" indent="-273473" lvl="2">
              <a:lnSpc>
                <a:spcPts val="2659"/>
              </a:lnSpc>
              <a:buAutoNum type="alphaLcPeriod" startAt="1"/>
            </a:pPr>
            <a:r>
              <a:rPr lang="en-US" sz="1899">
                <a:solidFill>
                  <a:srgbClr val="FFFFFF"/>
                </a:solidFill>
                <a:latin typeface="Poppins"/>
                <a:ea typeface="Poppins"/>
                <a:cs typeface="Poppins"/>
                <a:sym typeface="Poppins"/>
              </a:rPr>
              <a:t>Estrategias: blue/green, canary, rolling updates.</a:t>
            </a:r>
          </a:p>
          <a:p>
            <a:pPr algn="l" marL="410209" indent="-205105" lvl="1">
              <a:lnSpc>
                <a:spcPts val="2659"/>
              </a:lnSpc>
              <a:buAutoNum type="arabicPeriod" startAt="1"/>
            </a:pPr>
            <a:r>
              <a:rPr lang="en-US" sz="1899">
                <a:solidFill>
                  <a:srgbClr val="FFFFFF"/>
                </a:solidFill>
                <a:latin typeface="Poppins"/>
                <a:ea typeface="Poppins"/>
                <a:cs typeface="Poppins"/>
                <a:sym typeface="Poppins"/>
              </a:rPr>
              <a:t>Monitoring (Monitoreo y Feedback)</a:t>
            </a:r>
          </a:p>
          <a:p>
            <a:pPr algn="l" marL="820419" indent="-273473" lvl="2">
              <a:lnSpc>
                <a:spcPts val="2659"/>
              </a:lnSpc>
              <a:buAutoNum type="alphaLcPeriod" startAt="1"/>
            </a:pPr>
            <a:r>
              <a:rPr lang="en-US" sz="1899">
                <a:solidFill>
                  <a:srgbClr val="FFFFFF"/>
                </a:solidFill>
                <a:latin typeface="Poppins"/>
                <a:ea typeface="Poppins"/>
                <a:cs typeface="Poppins"/>
                <a:sym typeface="Poppins"/>
              </a:rPr>
              <a:t>Integración con herramientas de logging y monitoreo (Prometheus, Grafana, ELK, Datadog).</a:t>
            </a:r>
          </a:p>
          <a:p>
            <a:pPr algn="l" marL="820419" indent="-273473" lvl="2">
              <a:lnSpc>
                <a:spcPts val="2659"/>
              </a:lnSpc>
              <a:buAutoNum type="alphaLcPeriod" startAt="1"/>
            </a:pPr>
            <a:r>
              <a:rPr lang="en-US" sz="1899">
                <a:solidFill>
                  <a:srgbClr val="FFFFFF"/>
                </a:solidFill>
                <a:latin typeface="Poppins"/>
                <a:ea typeface="Poppins"/>
                <a:cs typeface="Poppins"/>
                <a:sym typeface="Poppins"/>
              </a:rPr>
              <a:t>Alertas automáticas si algo falla.</a:t>
            </a:r>
          </a:p>
        </p:txBody>
      </p:sp>
      <p:sp>
        <p:nvSpPr>
          <p:cNvPr name="Freeform 9" id="9"/>
          <p:cNvSpPr/>
          <p:nvPr/>
        </p:nvSpPr>
        <p:spPr>
          <a:xfrm flipH="false" flipV="false" rot="0">
            <a:off x="7830057" y="-232718"/>
            <a:ext cx="2424514" cy="2424514"/>
          </a:xfrm>
          <a:custGeom>
            <a:avLst/>
            <a:gdLst/>
            <a:ahLst/>
            <a:cxnLst/>
            <a:rect r="r" b="b" t="t" l="l"/>
            <a:pathLst>
              <a:path h="2424514" w="2424514">
                <a:moveTo>
                  <a:pt x="0" y="0"/>
                </a:moveTo>
                <a:lnTo>
                  <a:pt x="2424514" y="0"/>
                </a:lnTo>
                <a:lnTo>
                  <a:pt x="2424514" y="2424514"/>
                </a:lnTo>
                <a:lnTo>
                  <a:pt x="0" y="2424514"/>
                </a:lnTo>
                <a:lnTo>
                  <a:pt x="0" y="0"/>
                </a:lnTo>
                <a:close/>
              </a:path>
            </a:pathLst>
          </a:custGeom>
          <a:blipFill>
            <a:blip r:embed="rId3"/>
            <a:stretch>
              <a:fillRect l="0" t="0" r="0" b="0"/>
            </a:stretch>
          </a:blipFill>
        </p:spPr>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230044" y="5143500"/>
            <a:ext cx="1764581" cy="2136595"/>
          </a:xfrm>
          <a:custGeom>
            <a:avLst/>
            <a:gdLst/>
            <a:ahLst/>
            <a:cxnLst/>
            <a:rect r="r" b="b" t="t" l="l"/>
            <a:pathLst>
              <a:path h="2136595" w="1764581">
                <a:moveTo>
                  <a:pt x="0" y="0"/>
                </a:moveTo>
                <a:lnTo>
                  <a:pt x="1764581" y="0"/>
                </a:lnTo>
                <a:lnTo>
                  <a:pt x="1764581" y="2136595"/>
                </a:lnTo>
                <a:lnTo>
                  <a:pt x="0" y="2136595"/>
                </a:lnTo>
                <a:lnTo>
                  <a:pt x="0" y="0"/>
                </a:lnTo>
                <a:close/>
              </a:path>
            </a:pathLst>
          </a:custGeom>
          <a:blipFill>
            <a:blip r:embed="rId3"/>
            <a:stretch>
              <a:fillRect l="-57628" t="0" r="-57628" b="0"/>
            </a:stretch>
          </a:blipFill>
        </p:spPr>
      </p:sp>
      <p:sp>
        <p:nvSpPr>
          <p:cNvPr name="Freeform 7" id="7"/>
          <p:cNvSpPr/>
          <p:nvPr/>
        </p:nvSpPr>
        <p:spPr>
          <a:xfrm flipH="false" flipV="false" rot="0">
            <a:off x="4118027" y="5252972"/>
            <a:ext cx="1812762" cy="2027123"/>
          </a:xfrm>
          <a:custGeom>
            <a:avLst/>
            <a:gdLst/>
            <a:ahLst/>
            <a:cxnLst/>
            <a:rect r="r" b="b" t="t" l="l"/>
            <a:pathLst>
              <a:path h="2027123" w="1812762">
                <a:moveTo>
                  <a:pt x="0" y="0"/>
                </a:moveTo>
                <a:lnTo>
                  <a:pt x="1812762" y="0"/>
                </a:lnTo>
                <a:lnTo>
                  <a:pt x="1812762" y="2027123"/>
                </a:lnTo>
                <a:lnTo>
                  <a:pt x="0" y="2027123"/>
                </a:lnTo>
                <a:lnTo>
                  <a:pt x="0" y="0"/>
                </a:lnTo>
                <a:close/>
              </a:path>
            </a:pathLst>
          </a:custGeom>
          <a:blipFill>
            <a:blip r:embed="rId4"/>
            <a:stretch>
              <a:fillRect l="-59212" t="0" r="-72293" b="0"/>
            </a:stretch>
          </a:blipFill>
        </p:spPr>
      </p:sp>
      <p:sp>
        <p:nvSpPr>
          <p:cNvPr name="Freeform 8" id="8"/>
          <p:cNvSpPr/>
          <p:nvPr/>
        </p:nvSpPr>
        <p:spPr>
          <a:xfrm flipH="false" flipV="false" rot="0">
            <a:off x="7054191" y="5813475"/>
            <a:ext cx="2820601" cy="906118"/>
          </a:xfrm>
          <a:custGeom>
            <a:avLst/>
            <a:gdLst/>
            <a:ahLst/>
            <a:cxnLst/>
            <a:rect r="r" b="b" t="t" l="l"/>
            <a:pathLst>
              <a:path h="906118" w="2820601">
                <a:moveTo>
                  <a:pt x="0" y="0"/>
                </a:moveTo>
                <a:lnTo>
                  <a:pt x="2820601" y="0"/>
                </a:lnTo>
                <a:lnTo>
                  <a:pt x="2820601" y="906118"/>
                </a:lnTo>
                <a:lnTo>
                  <a:pt x="0" y="906118"/>
                </a:lnTo>
                <a:lnTo>
                  <a:pt x="0" y="0"/>
                </a:lnTo>
                <a:close/>
              </a:path>
            </a:pathLst>
          </a:custGeom>
          <a:blipFill>
            <a:blip r:embed="rId5"/>
            <a:stretch>
              <a:fillRect l="0" t="0" r="0" b="0"/>
            </a:stretch>
          </a:blipFill>
        </p:spPr>
      </p:sp>
      <p:sp>
        <p:nvSpPr>
          <p:cNvPr name="Freeform 9" id="9"/>
          <p:cNvSpPr/>
          <p:nvPr/>
        </p:nvSpPr>
        <p:spPr>
          <a:xfrm flipH="false" flipV="false" rot="0">
            <a:off x="10816090" y="5143500"/>
            <a:ext cx="1963134" cy="1963134"/>
          </a:xfrm>
          <a:custGeom>
            <a:avLst/>
            <a:gdLst/>
            <a:ahLst/>
            <a:cxnLst/>
            <a:rect r="r" b="b" t="t" l="l"/>
            <a:pathLst>
              <a:path h="1963134" w="1963134">
                <a:moveTo>
                  <a:pt x="0" y="0"/>
                </a:moveTo>
                <a:lnTo>
                  <a:pt x="1963134" y="0"/>
                </a:lnTo>
                <a:lnTo>
                  <a:pt x="1963134" y="1963134"/>
                </a:lnTo>
                <a:lnTo>
                  <a:pt x="0" y="1963134"/>
                </a:lnTo>
                <a:lnTo>
                  <a:pt x="0" y="0"/>
                </a:lnTo>
                <a:close/>
              </a:path>
            </a:pathLst>
          </a:custGeom>
          <a:blipFill>
            <a:blip r:embed="rId6"/>
            <a:stretch>
              <a:fillRect l="0" t="0" r="0" b="0"/>
            </a:stretch>
          </a:blipFill>
        </p:spPr>
      </p:sp>
      <p:sp>
        <p:nvSpPr>
          <p:cNvPr name="Freeform 10" id="10"/>
          <p:cNvSpPr/>
          <p:nvPr/>
        </p:nvSpPr>
        <p:spPr>
          <a:xfrm flipH="false" flipV="false" rot="0">
            <a:off x="14119078" y="5410605"/>
            <a:ext cx="2848687" cy="1602386"/>
          </a:xfrm>
          <a:custGeom>
            <a:avLst/>
            <a:gdLst/>
            <a:ahLst/>
            <a:cxnLst/>
            <a:rect r="r" b="b" t="t" l="l"/>
            <a:pathLst>
              <a:path h="1602386" w="2848687">
                <a:moveTo>
                  <a:pt x="0" y="0"/>
                </a:moveTo>
                <a:lnTo>
                  <a:pt x="2848686" y="0"/>
                </a:lnTo>
                <a:lnTo>
                  <a:pt x="2848686" y="1602386"/>
                </a:lnTo>
                <a:lnTo>
                  <a:pt x="0" y="1602386"/>
                </a:lnTo>
                <a:lnTo>
                  <a:pt x="0" y="0"/>
                </a:lnTo>
                <a:close/>
              </a:path>
            </a:pathLst>
          </a:custGeom>
          <a:blipFill>
            <a:blip r:embed="rId7"/>
            <a:stretch>
              <a:fillRect l="0" t="0" r="0" b="0"/>
            </a:stretch>
          </a:blipFill>
        </p:spPr>
      </p:sp>
      <p:sp>
        <p:nvSpPr>
          <p:cNvPr name="TextBox 11" id="11"/>
          <p:cNvSpPr txBox="true"/>
          <p:nvPr/>
        </p:nvSpPr>
        <p:spPr>
          <a:xfrm rot="0">
            <a:off x="4833410" y="1867160"/>
            <a:ext cx="8317196" cy="2455894"/>
          </a:xfrm>
          <a:prstGeom prst="rect">
            <a:avLst/>
          </a:prstGeom>
        </p:spPr>
        <p:txBody>
          <a:bodyPr anchor="t" rtlCol="false" tIns="0" lIns="0" bIns="0" rIns="0">
            <a:spAutoFit/>
          </a:bodyPr>
          <a:lstStyle/>
          <a:p>
            <a:pPr algn="ctr">
              <a:lnSpc>
                <a:spcPts val="6535"/>
              </a:lnSpc>
              <a:spcBef>
                <a:spcPct val="0"/>
              </a:spcBef>
            </a:pPr>
            <a:r>
              <a:rPr lang="en-US" sz="4667">
                <a:solidFill>
                  <a:srgbClr val="FF007A"/>
                </a:solidFill>
                <a:latin typeface="HK Modular"/>
                <a:ea typeface="HK Modular"/>
                <a:cs typeface="HK Modular"/>
                <a:sym typeface="HK Modular"/>
              </a:rPr>
              <a:t>HERRAMIENTAS POPULARES PARA PIPELINES</a:t>
            </a:r>
          </a:p>
        </p:txBody>
      </p:sp>
      <p:sp>
        <p:nvSpPr>
          <p:cNvPr name="TextBox 12" id="12"/>
          <p:cNvSpPr txBox="true"/>
          <p:nvPr/>
        </p:nvSpPr>
        <p:spPr>
          <a:xfrm rot="0">
            <a:off x="1230044" y="7466862"/>
            <a:ext cx="1764581" cy="323215"/>
          </a:xfrm>
          <a:prstGeom prst="rect">
            <a:avLst/>
          </a:prstGeom>
        </p:spPr>
        <p:txBody>
          <a:bodyPr anchor="t" rtlCol="false" tIns="0" lIns="0" bIns="0" rIns="0">
            <a:spAutoFit/>
          </a:bodyPr>
          <a:lstStyle/>
          <a:p>
            <a:pPr algn="l">
              <a:lnSpc>
                <a:spcPts val="2659"/>
              </a:lnSpc>
            </a:pPr>
            <a:r>
              <a:rPr lang="en-US" sz="1899">
                <a:solidFill>
                  <a:srgbClr val="FFFFFF"/>
                </a:solidFill>
                <a:latin typeface="Canva Sans"/>
                <a:ea typeface="Canva Sans"/>
                <a:cs typeface="Canva Sans"/>
                <a:sym typeface="Canva Sans"/>
              </a:rPr>
              <a:t>GitHub Actions</a:t>
            </a:r>
          </a:p>
        </p:txBody>
      </p:sp>
      <p:sp>
        <p:nvSpPr>
          <p:cNvPr name="TextBox 13" id="13"/>
          <p:cNvSpPr txBox="true"/>
          <p:nvPr/>
        </p:nvSpPr>
        <p:spPr>
          <a:xfrm rot="0">
            <a:off x="4269031" y="7466862"/>
            <a:ext cx="1510754" cy="323215"/>
          </a:xfrm>
          <a:prstGeom prst="rect">
            <a:avLst/>
          </a:prstGeom>
        </p:spPr>
        <p:txBody>
          <a:bodyPr anchor="t" rtlCol="false" tIns="0" lIns="0" bIns="0" rIns="0">
            <a:spAutoFit/>
          </a:bodyPr>
          <a:lstStyle/>
          <a:p>
            <a:pPr algn="l">
              <a:lnSpc>
                <a:spcPts val="2659"/>
              </a:lnSpc>
            </a:pPr>
            <a:r>
              <a:rPr lang="en-US" sz="1899">
                <a:solidFill>
                  <a:srgbClr val="FFFFFF"/>
                </a:solidFill>
                <a:latin typeface="Canva Sans"/>
                <a:ea typeface="Canva Sans"/>
                <a:cs typeface="Canva Sans"/>
                <a:sym typeface="Canva Sans"/>
              </a:rPr>
              <a:t>GitLab CI/CD</a:t>
            </a:r>
          </a:p>
        </p:txBody>
      </p:sp>
      <p:sp>
        <p:nvSpPr>
          <p:cNvPr name="TextBox 14" id="14"/>
          <p:cNvSpPr txBox="true"/>
          <p:nvPr/>
        </p:nvSpPr>
        <p:spPr>
          <a:xfrm rot="0">
            <a:off x="8026118" y="7466862"/>
            <a:ext cx="876746" cy="323215"/>
          </a:xfrm>
          <a:prstGeom prst="rect">
            <a:avLst/>
          </a:prstGeom>
        </p:spPr>
        <p:txBody>
          <a:bodyPr anchor="t" rtlCol="false" tIns="0" lIns="0" bIns="0" rIns="0">
            <a:spAutoFit/>
          </a:bodyPr>
          <a:lstStyle/>
          <a:p>
            <a:pPr algn="l">
              <a:lnSpc>
                <a:spcPts val="2659"/>
              </a:lnSpc>
            </a:pPr>
            <a:r>
              <a:rPr lang="en-US" sz="1899">
                <a:solidFill>
                  <a:srgbClr val="FFFFFF"/>
                </a:solidFill>
                <a:latin typeface="Canva Sans"/>
                <a:ea typeface="Canva Sans"/>
                <a:cs typeface="Canva Sans"/>
                <a:sym typeface="Canva Sans"/>
              </a:rPr>
              <a:t>Jenkins</a:t>
            </a:r>
          </a:p>
        </p:txBody>
      </p:sp>
      <p:sp>
        <p:nvSpPr>
          <p:cNvPr name="TextBox 15" id="15"/>
          <p:cNvSpPr txBox="true"/>
          <p:nvPr/>
        </p:nvSpPr>
        <p:spPr>
          <a:xfrm rot="0">
            <a:off x="11340196" y="7466862"/>
            <a:ext cx="914921" cy="323215"/>
          </a:xfrm>
          <a:prstGeom prst="rect">
            <a:avLst/>
          </a:prstGeom>
        </p:spPr>
        <p:txBody>
          <a:bodyPr anchor="t" rtlCol="false" tIns="0" lIns="0" bIns="0" rIns="0">
            <a:spAutoFit/>
          </a:bodyPr>
          <a:lstStyle/>
          <a:p>
            <a:pPr algn="l">
              <a:lnSpc>
                <a:spcPts val="2659"/>
              </a:lnSpc>
            </a:pPr>
            <a:r>
              <a:rPr lang="en-US" sz="1899">
                <a:solidFill>
                  <a:srgbClr val="FFFFFF"/>
                </a:solidFill>
                <a:latin typeface="Canva Sans"/>
                <a:ea typeface="Canva Sans"/>
                <a:cs typeface="Canva Sans"/>
                <a:sym typeface="Canva Sans"/>
              </a:rPr>
              <a:t>CircleCI</a:t>
            </a:r>
          </a:p>
        </p:txBody>
      </p:sp>
      <p:sp>
        <p:nvSpPr>
          <p:cNvPr name="TextBox 16" id="16"/>
          <p:cNvSpPr txBox="true"/>
          <p:nvPr/>
        </p:nvSpPr>
        <p:spPr>
          <a:xfrm rot="0">
            <a:off x="14209309" y="7466862"/>
            <a:ext cx="2758455" cy="323215"/>
          </a:xfrm>
          <a:prstGeom prst="rect">
            <a:avLst/>
          </a:prstGeom>
        </p:spPr>
        <p:txBody>
          <a:bodyPr anchor="t" rtlCol="false" tIns="0" lIns="0" bIns="0" rIns="0">
            <a:spAutoFit/>
          </a:bodyPr>
          <a:lstStyle/>
          <a:p>
            <a:pPr algn="l">
              <a:lnSpc>
                <a:spcPts val="2659"/>
              </a:lnSpc>
            </a:pPr>
            <a:r>
              <a:rPr lang="en-US" sz="1899">
                <a:solidFill>
                  <a:srgbClr val="FFFFFF"/>
                </a:solidFill>
                <a:latin typeface="Canva Sans"/>
                <a:ea typeface="Canva Sans"/>
                <a:cs typeface="Canva Sans"/>
                <a:sym typeface="Canva Sans"/>
              </a:rPr>
              <a:t>Azure DevOps Pipelines</a:t>
            </a:r>
          </a:p>
        </p:txBody>
      </p:sp>
      <p:sp>
        <p:nvSpPr>
          <p:cNvPr name="Freeform 17" id="17"/>
          <p:cNvSpPr/>
          <p:nvPr/>
        </p:nvSpPr>
        <p:spPr>
          <a:xfrm flipH="false" flipV="false" rot="0">
            <a:off x="7839582" y="-232718"/>
            <a:ext cx="2424514" cy="2424514"/>
          </a:xfrm>
          <a:custGeom>
            <a:avLst/>
            <a:gdLst/>
            <a:ahLst/>
            <a:cxnLst/>
            <a:rect r="r" b="b" t="t" l="l"/>
            <a:pathLst>
              <a:path h="2424514" w="2424514">
                <a:moveTo>
                  <a:pt x="0" y="0"/>
                </a:moveTo>
                <a:lnTo>
                  <a:pt x="2424514" y="0"/>
                </a:lnTo>
                <a:lnTo>
                  <a:pt x="2424514" y="2424514"/>
                </a:lnTo>
                <a:lnTo>
                  <a:pt x="0" y="2424514"/>
                </a:lnTo>
                <a:lnTo>
                  <a:pt x="0" y="0"/>
                </a:lnTo>
                <a:close/>
              </a:path>
            </a:pathLst>
          </a:custGeom>
          <a:blipFill>
            <a:blip r:embed="rId8"/>
            <a:stretch>
              <a:fillRect l="0" t="0" r="0" b="0"/>
            </a:stretch>
          </a:blipFill>
        </p:spPr>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964972" y="4878824"/>
            <a:ext cx="2868437" cy="3473171"/>
          </a:xfrm>
          <a:custGeom>
            <a:avLst/>
            <a:gdLst/>
            <a:ahLst/>
            <a:cxnLst/>
            <a:rect r="r" b="b" t="t" l="l"/>
            <a:pathLst>
              <a:path h="3473171" w="2868437">
                <a:moveTo>
                  <a:pt x="0" y="0"/>
                </a:moveTo>
                <a:lnTo>
                  <a:pt x="2868438" y="0"/>
                </a:lnTo>
                <a:lnTo>
                  <a:pt x="2868438" y="3473171"/>
                </a:lnTo>
                <a:lnTo>
                  <a:pt x="0" y="3473171"/>
                </a:lnTo>
                <a:lnTo>
                  <a:pt x="0" y="0"/>
                </a:lnTo>
                <a:close/>
              </a:path>
            </a:pathLst>
          </a:custGeom>
          <a:blipFill>
            <a:blip r:embed="rId3"/>
            <a:stretch>
              <a:fillRect l="-57628" t="0" r="-57628" b="0"/>
            </a:stretch>
          </a:blipFill>
        </p:spPr>
      </p:sp>
      <p:sp>
        <p:nvSpPr>
          <p:cNvPr name="TextBox 7" id="7"/>
          <p:cNvSpPr txBox="true"/>
          <p:nvPr/>
        </p:nvSpPr>
        <p:spPr>
          <a:xfrm rot="0">
            <a:off x="4833410" y="1867160"/>
            <a:ext cx="8317196" cy="803087"/>
          </a:xfrm>
          <a:prstGeom prst="rect">
            <a:avLst/>
          </a:prstGeom>
        </p:spPr>
        <p:txBody>
          <a:bodyPr anchor="t" rtlCol="false" tIns="0" lIns="0" bIns="0" rIns="0">
            <a:spAutoFit/>
          </a:bodyPr>
          <a:lstStyle/>
          <a:p>
            <a:pPr algn="ctr">
              <a:lnSpc>
                <a:spcPts val="6535"/>
              </a:lnSpc>
              <a:spcBef>
                <a:spcPct val="0"/>
              </a:spcBef>
            </a:pPr>
            <a:r>
              <a:rPr lang="en-US" sz="4667">
                <a:solidFill>
                  <a:srgbClr val="FF007A"/>
                </a:solidFill>
                <a:latin typeface="HK Modular"/>
                <a:ea typeface="HK Modular"/>
                <a:cs typeface="HK Modular"/>
                <a:sym typeface="HK Modular"/>
              </a:rPr>
              <a:t>GITHUB ACTIONS</a:t>
            </a:r>
          </a:p>
        </p:txBody>
      </p:sp>
      <p:sp>
        <p:nvSpPr>
          <p:cNvPr name="TextBox 8" id="8"/>
          <p:cNvSpPr txBox="true"/>
          <p:nvPr/>
        </p:nvSpPr>
        <p:spPr>
          <a:xfrm rot="0">
            <a:off x="2307835" y="2915824"/>
            <a:ext cx="13672331" cy="803715"/>
          </a:xfrm>
          <a:prstGeom prst="rect">
            <a:avLst/>
          </a:prstGeom>
        </p:spPr>
        <p:txBody>
          <a:bodyPr anchor="t" rtlCol="false" tIns="0" lIns="0" bIns="0" rIns="0">
            <a:spAutoFit/>
          </a:bodyPr>
          <a:lstStyle/>
          <a:p>
            <a:pPr algn="l">
              <a:lnSpc>
                <a:spcPts val="3169"/>
              </a:lnSpc>
            </a:pPr>
            <a:r>
              <a:rPr lang="en-US" sz="2264">
                <a:solidFill>
                  <a:srgbClr val="FFFFFF"/>
                </a:solidFill>
                <a:latin typeface="Poppins"/>
                <a:ea typeface="Poppins"/>
                <a:cs typeface="Poppins"/>
                <a:sym typeface="Poppins"/>
              </a:rPr>
              <a:t>Es la herramienta de CI/CD (Integración y Despliegue Continuo) integrada en GitHub que permite automatizar flujos de trabajo directamente desde tu repositorio.</a:t>
            </a:r>
          </a:p>
        </p:txBody>
      </p:sp>
      <p:sp>
        <p:nvSpPr>
          <p:cNvPr name="TextBox 9" id="9"/>
          <p:cNvSpPr txBox="true"/>
          <p:nvPr/>
        </p:nvSpPr>
        <p:spPr>
          <a:xfrm rot="0">
            <a:off x="5803760" y="4574643"/>
            <a:ext cx="10836979" cy="4903691"/>
          </a:xfrm>
          <a:prstGeom prst="rect">
            <a:avLst/>
          </a:prstGeom>
        </p:spPr>
        <p:txBody>
          <a:bodyPr anchor="t" rtlCol="false" tIns="0" lIns="0" bIns="0" rIns="0">
            <a:spAutoFit/>
          </a:bodyPr>
          <a:lstStyle/>
          <a:p>
            <a:pPr algn="l">
              <a:lnSpc>
                <a:spcPts val="3261"/>
              </a:lnSpc>
            </a:pPr>
            <a:r>
              <a:rPr lang="en-US" sz="2329">
                <a:solidFill>
                  <a:srgbClr val="FFFFFF"/>
                </a:solidFill>
                <a:latin typeface="Poppins"/>
                <a:ea typeface="Poppins"/>
                <a:cs typeface="Poppins"/>
                <a:sym typeface="Poppins"/>
              </a:rPr>
              <a:t>Es un servicio que corre workflows (flujos de trabajo) definidos en archivos YAML.</a:t>
            </a:r>
          </a:p>
          <a:p>
            <a:pPr algn="l">
              <a:lnSpc>
                <a:spcPts val="3261"/>
              </a:lnSpc>
            </a:pPr>
          </a:p>
          <a:p>
            <a:pPr algn="l">
              <a:lnSpc>
                <a:spcPts val="3261"/>
              </a:lnSpc>
            </a:pPr>
            <a:r>
              <a:rPr lang="en-US" sz="2329">
                <a:solidFill>
                  <a:srgbClr val="FFFFFF"/>
                </a:solidFill>
                <a:latin typeface="Poppins"/>
                <a:ea typeface="Poppins"/>
                <a:cs typeface="Poppins"/>
                <a:sym typeface="Poppins"/>
              </a:rPr>
              <a:t>Estos workflows se ejecutan automáticamente en respuesta a eventos dentro del repositorio (ejemplo: un push, un pull request, creación de release).</a:t>
            </a:r>
          </a:p>
          <a:p>
            <a:pPr algn="l">
              <a:lnSpc>
                <a:spcPts val="3261"/>
              </a:lnSpc>
            </a:pPr>
          </a:p>
          <a:p>
            <a:pPr algn="l">
              <a:lnSpc>
                <a:spcPts val="3261"/>
              </a:lnSpc>
            </a:pPr>
            <a:r>
              <a:rPr lang="en-US" sz="2329">
                <a:solidFill>
                  <a:srgbClr val="FFFFFF"/>
                </a:solidFill>
                <a:latin typeface="Poppins"/>
                <a:ea typeface="Poppins"/>
                <a:cs typeface="Poppins"/>
                <a:sym typeface="Poppins"/>
              </a:rPr>
              <a:t>Se usan para tareas como:</a:t>
            </a:r>
          </a:p>
          <a:p>
            <a:pPr algn="l" marL="1006061" indent="-335354" lvl="2">
              <a:lnSpc>
                <a:spcPts val="3261"/>
              </a:lnSpc>
              <a:buFont typeface="Arial"/>
              <a:buChar char="⚬"/>
            </a:pPr>
            <a:r>
              <a:rPr lang="en-US" sz="2329">
                <a:solidFill>
                  <a:srgbClr val="FFFFFF"/>
                </a:solidFill>
                <a:latin typeface="Poppins"/>
                <a:ea typeface="Poppins"/>
                <a:cs typeface="Poppins"/>
                <a:sym typeface="Poppins"/>
              </a:rPr>
              <a:t>Compilar y probar código.</a:t>
            </a:r>
          </a:p>
          <a:p>
            <a:pPr algn="l" marL="1006061" indent="-335354" lvl="2">
              <a:lnSpc>
                <a:spcPts val="3261"/>
              </a:lnSpc>
              <a:buFont typeface="Arial"/>
              <a:buChar char="⚬"/>
            </a:pPr>
            <a:r>
              <a:rPr lang="en-US" sz="2329">
                <a:solidFill>
                  <a:srgbClr val="FFFFFF"/>
                </a:solidFill>
                <a:latin typeface="Poppins"/>
                <a:ea typeface="Poppins"/>
                <a:cs typeface="Poppins"/>
                <a:sym typeface="Poppins"/>
              </a:rPr>
              <a:t>Hacer despliegues automáticos.</a:t>
            </a:r>
          </a:p>
          <a:p>
            <a:pPr algn="l" marL="1006061" indent="-335354" lvl="2">
              <a:lnSpc>
                <a:spcPts val="3261"/>
              </a:lnSpc>
              <a:buFont typeface="Arial"/>
              <a:buChar char="⚬"/>
            </a:pPr>
            <a:r>
              <a:rPr lang="en-US" sz="2329">
                <a:solidFill>
                  <a:srgbClr val="FFFFFF"/>
                </a:solidFill>
                <a:latin typeface="Poppins"/>
                <a:ea typeface="Poppins"/>
                <a:cs typeface="Poppins"/>
                <a:sym typeface="Poppins"/>
              </a:rPr>
              <a:t>Ejecutar análisis de calidad.</a:t>
            </a:r>
          </a:p>
          <a:p>
            <a:pPr algn="l" marL="1006061" indent="-335354" lvl="2">
              <a:lnSpc>
                <a:spcPts val="3261"/>
              </a:lnSpc>
              <a:buFont typeface="Arial"/>
              <a:buChar char="⚬"/>
            </a:pPr>
            <a:r>
              <a:rPr lang="en-US" sz="2329">
                <a:solidFill>
                  <a:srgbClr val="FFFFFF"/>
                </a:solidFill>
                <a:latin typeface="Poppins"/>
                <a:ea typeface="Poppins"/>
                <a:cs typeface="Poppins"/>
                <a:sym typeface="Poppins"/>
              </a:rPr>
              <a:t>Publicar paquetes (npm, Maven, Docker Hub, etc.).</a:t>
            </a:r>
          </a:p>
        </p:txBody>
      </p:sp>
      <p:sp>
        <p:nvSpPr>
          <p:cNvPr name="Freeform 10" id="10"/>
          <p:cNvSpPr/>
          <p:nvPr/>
        </p:nvSpPr>
        <p:spPr>
          <a:xfrm flipH="false" flipV="false" rot="0">
            <a:off x="7830057" y="-232718"/>
            <a:ext cx="2424514" cy="2424514"/>
          </a:xfrm>
          <a:custGeom>
            <a:avLst/>
            <a:gdLst/>
            <a:ahLst/>
            <a:cxnLst/>
            <a:rect r="r" b="b" t="t" l="l"/>
            <a:pathLst>
              <a:path h="2424514" w="2424514">
                <a:moveTo>
                  <a:pt x="0" y="0"/>
                </a:moveTo>
                <a:lnTo>
                  <a:pt x="2424514" y="0"/>
                </a:lnTo>
                <a:lnTo>
                  <a:pt x="2424514" y="2424514"/>
                </a:lnTo>
                <a:lnTo>
                  <a:pt x="0" y="2424514"/>
                </a:lnTo>
                <a:lnTo>
                  <a:pt x="0" y="0"/>
                </a:lnTo>
                <a:close/>
              </a:path>
            </a:pathLst>
          </a:custGeom>
          <a:blipFill>
            <a:blip r:embed="rId4"/>
            <a:stretch>
              <a:fillRect l="0" t="0" r="0" b="0"/>
            </a:stretch>
          </a:blipFill>
        </p:spPr>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964972" y="4878824"/>
            <a:ext cx="2868437" cy="3473171"/>
          </a:xfrm>
          <a:custGeom>
            <a:avLst/>
            <a:gdLst/>
            <a:ahLst/>
            <a:cxnLst/>
            <a:rect r="r" b="b" t="t" l="l"/>
            <a:pathLst>
              <a:path h="3473171" w="2868437">
                <a:moveTo>
                  <a:pt x="0" y="0"/>
                </a:moveTo>
                <a:lnTo>
                  <a:pt x="2868438" y="0"/>
                </a:lnTo>
                <a:lnTo>
                  <a:pt x="2868438" y="3473171"/>
                </a:lnTo>
                <a:lnTo>
                  <a:pt x="0" y="3473171"/>
                </a:lnTo>
                <a:lnTo>
                  <a:pt x="0" y="0"/>
                </a:lnTo>
                <a:close/>
              </a:path>
            </a:pathLst>
          </a:custGeom>
          <a:blipFill>
            <a:blip r:embed="rId3"/>
            <a:stretch>
              <a:fillRect l="-57628" t="0" r="-57628" b="0"/>
            </a:stretch>
          </a:blipFill>
        </p:spPr>
      </p:sp>
      <p:sp>
        <p:nvSpPr>
          <p:cNvPr name="TextBox 7" id="7"/>
          <p:cNvSpPr txBox="true"/>
          <p:nvPr/>
        </p:nvSpPr>
        <p:spPr>
          <a:xfrm rot="0">
            <a:off x="4833410" y="1867160"/>
            <a:ext cx="8317196" cy="803087"/>
          </a:xfrm>
          <a:prstGeom prst="rect">
            <a:avLst/>
          </a:prstGeom>
        </p:spPr>
        <p:txBody>
          <a:bodyPr anchor="t" rtlCol="false" tIns="0" lIns="0" bIns="0" rIns="0">
            <a:spAutoFit/>
          </a:bodyPr>
          <a:lstStyle/>
          <a:p>
            <a:pPr algn="ctr">
              <a:lnSpc>
                <a:spcPts val="6535"/>
              </a:lnSpc>
              <a:spcBef>
                <a:spcPct val="0"/>
              </a:spcBef>
            </a:pPr>
            <a:r>
              <a:rPr lang="en-US" sz="4667">
                <a:solidFill>
                  <a:srgbClr val="FF007A"/>
                </a:solidFill>
                <a:latin typeface="HK Modular"/>
                <a:ea typeface="HK Modular"/>
                <a:cs typeface="HK Modular"/>
                <a:sym typeface="HK Modular"/>
              </a:rPr>
              <a:t>GITHUB ACTIONS</a:t>
            </a:r>
          </a:p>
        </p:txBody>
      </p:sp>
      <p:sp>
        <p:nvSpPr>
          <p:cNvPr name="TextBox 8" id="8"/>
          <p:cNvSpPr txBox="true"/>
          <p:nvPr/>
        </p:nvSpPr>
        <p:spPr>
          <a:xfrm rot="0">
            <a:off x="6522994" y="2951114"/>
            <a:ext cx="4938027" cy="406440"/>
          </a:xfrm>
          <a:prstGeom prst="rect">
            <a:avLst/>
          </a:prstGeom>
        </p:spPr>
        <p:txBody>
          <a:bodyPr anchor="t" rtlCol="false" tIns="0" lIns="0" bIns="0" rIns="0">
            <a:spAutoFit/>
          </a:bodyPr>
          <a:lstStyle/>
          <a:p>
            <a:pPr algn="l">
              <a:lnSpc>
                <a:spcPts val="3169"/>
              </a:lnSpc>
            </a:pPr>
            <a:r>
              <a:rPr lang="en-US" sz="2264">
                <a:solidFill>
                  <a:srgbClr val="FFFFFF"/>
                </a:solidFill>
                <a:latin typeface="Poppins"/>
                <a:ea typeface="Poppins"/>
                <a:cs typeface="Poppins"/>
                <a:sym typeface="Poppins"/>
              </a:rPr>
              <a:t>los componentes principales son:</a:t>
            </a:r>
          </a:p>
        </p:txBody>
      </p:sp>
      <p:sp>
        <p:nvSpPr>
          <p:cNvPr name="TextBox 9" id="9"/>
          <p:cNvSpPr txBox="true"/>
          <p:nvPr/>
        </p:nvSpPr>
        <p:spPr>
          <a:xfrm rot="0">
            <a:off x="5803760" y="3939421"/>
            <a:ext cx="10836979" cy="5732020"/>
          </a:xfrm>
          <a:prstGeom prst="rect">
            <a:avLst/>
          </a:prstGeom>
        </p:spPr>
        <p:txBody>
          <a:bodyPr anchor="t" rtlCol="false" tIns="0" lIns="0" bIns="0" rIns="0">
            <a:spAutoFit/>
          </a:bodyPr>
          <a:lstStyle/>
          <a:p>
            <a:pPr algn="l" marL="503030" indent="-251515" lvl="1">
              <a:lnSpc>
                <a:spcPts val="3261"/>
              </a:lnSpc>
              <a:buFont typeface="Arial"/>
              <a:buChar char="•"/>
            </a:pPr>
            <a:r>
              <a:rPr lang="en-US" sz="2329">
                <a:solidFill>
                  <a:srgbClr val="FFFFFF"/>
                </a:solidFill>
                <a:latin typeface="Poppins"/>
                <a:ea typeface="Poppins"/>
                <a:cs typeface="Poppins"/>
                <a:sym typeface="Poppins"/>
              </a:rPr>
              <a:t>WORKFLOW: El archivo .yml en el directorio .github/workflows, donde define el pipeline con todos sus pasos</a:t>
            </a:r>
          </a:p>
          <a:p>
            <a:pPr algn="l">
              <a:lnSpc>
                <a:spcPts val="3261"/>
              </a:lnSpc>
            </a:pPr>
          </a:p>
          <a:p>
            <a:pPr algn="l" marL="503030" indent="-251515" lvl="1">
              <a:lnSpc>
                <a:spcPts val="3261"/>
              </a:lnSpc>
              <a:buFont typeface="Arial"/>
              <a:buChar char="•"/>
            </a:pPr>
            <a:r>
              <a:rPr lang="en-US" sz="2329">
                <a:solidFill>
                  <a:srgbClr val="FFFFFF"/>
                </a:solidFill>
                <a:latin typeface="Poppins"/>
                <a:ea typeface="Poppins"/>
                <a:cs typeface="Poppins"/>
                <a:sym typeface="Poppins"/>
              </a:rPr>
              <a:t>EVENTS: Es lo que dispara el workflow - push cuando suben cambios, pull_request cuando abren un PR, schedule tareas programadas</a:t>
            </a:r>
          </a:p>
          <a:p>
            <a:pPr algn="l">
              <a:lnSpc>
                <a:spcPts val="3261"/>
              </a:lnSpc>
            </a:pPr>
          </a:p>
          <a:p>
            <a:pPr algn="l" marL="503030" indent="-251515" lvl="1">
              <a:lnSpc>
                <a:spcPts val="3261"/>
              </a:lnSpc>
              <a:buFont typeface="Arial"/>
              <a:buChar char="•"/>
            </a:pPr>
            <a:r>
              <a:rPr lang="en-US" sz="2329">
                <a:solidFill>
                  <a:srgbClr val="FFFFFF"/>
                </a:solidFill>
                <a:latin typeface="Poppins"/>
                <a:ea typeface="Poppins"/>
                <a:cs typeface="Poppins"/>
                <a:sym typeface="Poppins"/>
              </a:rPr>
              <a:t>JOBS: Cada workflow tiene uno o varios jobs - un Job es un conjunto de pasos que corren en un mismo ambiente (Windows, Ubuntu, Mac)</a:t>
            </a:r>
          </a:p>
          <a:p>
            <a:pPr algn="l">
              <a:lnSpc>
                <a:spcPts val="3261"/>
              </a:lnSpc>
            </a:pPr>
          </a:p>
          <a:p>
            <a:pPr algn="l" marL="503030" indent="-251515" lvl="1">
              <a:lnSpc>
                <a:spcPts val="3261"/>
              </a:lnSpc>
              <a:buFont typeface="Arial"/>
              <a:buChar char="•"/>
            </a:pPr>
            <a:r>
              <a:rPr lang="en-US" sz="2329">
                <a:solidFill>
                  <a:srgbClr val="FFFFFF"/>
                </a:solidFill>
                <a:latin typeface="Poppins"/>
                <a:ea typeface="Poppins"/>
                <a:cs typeface="Poppins"/>
                <a:sym typeface="Poppins"/>
              </a:rPr>
              <a:t>STEPS: Acciones o comandos que se ejecutan dentro del JOB - instalar dependencias, correr test, etc</a:t>
            </a:r>
          </a:p>
          <a:p>
            <a:pPr algn="l">
              <a:lnSpc>
                <a:spcPts val="3261"/>
              </a:lnSpc>
            </a:pPr>
          </a:p>
          <a:p>
            <a:pPr algn="l" marL="503030" indent="-251515" lvl="1">
              <a:lnSpc>
                <a:spcPts val="3261"/>
              </a:lnSpc>
              <a:buFont typeface="Arial"/>
              <a:buChar char="•"/>
            </a:pPr>
            <a:r>
              <a:rPr lang="en-US" sz="2329">
                <a:solidFill>
                  <a:srgbClr val="FFFFFF"/>
                </a:solidFill>
                <a:latin typeface="Poppins"/>
                <a:ea typeface="Poppins"/>
                <a:cs typeface="Poppins"/>
                <a:sym typeface="Poppins"/>
              </a:rPr>
              <a:t>ACTIONS: Son scripts predefinidos que se pueden reutilizar</a:t>
            </a:r>
          </a:p>
          <a:p>
            <a:pPr algn="l">
              <a:lnSpc>
                <a:spcPts val="3261"/>
              </a:lnSpc>
            </a:pPr>
          </a:p>
        </p:txBody>
      </p:sp>
      <p:sp>
        <p:nvSpPr>
          <p:cNvPr name="Freeform 10" id="10"/>
          <p:cNvSpPr/>
          <p:nvPr/>
        </p:nvSpPr>
        <p:spPr>
          <a:xfrm flipH="false" flipV="false" rot="0">
            <a:off x="7830057" y="-232718"/>
            <a:ext cx="2424514" cy="2424514"/>
          </a:xfrm>
          <a:custGeom>
            <a:avLst/>
            <a:gdLst/>
            <a:ahLst/>
            <a:cxnLst/>
            <a:rect r="r" b="b" t="t" l="l"/>
            <a:pathLst>
              <a:path h="2424514" w="2424514">
                <a:moveTo>
                  <a:pt x="0" y="0"/>
                </a:moveTo>
                <a:lnTo>
                  <a:pt x="2424514" y="0"/>
                </a:lnTo>
                <a:lnTo>
                  <a:pt x="2424514" y="2424514"/>
                </a:lnTo>
                <a:lnTo>
                  <a:pt x="0" y="2424514"/>
                </a:lnTo>
                <a:lnTo>
                  <a:pt x="0" y="0"/>
                </a:lnTo>
                <a:close/>
              </a:path>
            </a:pathLst>
          </a:custGeom>
          <a:blipFill>
            <a:blip r:embed="rId4"/>
            <a:stretch>
              <a:fillRect l="0" t="0" r="0" b="0"/>
            </a:stretch>
          </a:blipFill>
        </p:spPr>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2010718" y="2936507"/>
            <a:ext cx="5819338" cy="6960385"/>
          </a:xfrm>
          <a:custGeom>
            <a:avLst/>
            <a:gdLst/>
            <a:ahLst/>
            <a:cxnLst/>
            <a:rect r="r" b="b" t="t" l="l"/>
            <a:pathLst>
              <a:path h="6960385" w="5819338">
                <a:moveTo>
                  <a:pt x="0" y="0"/>
                </a:moveTo>
                <a:lnTo>
                  <a:pt x="5819339" y="0"/>
                </a:lnTo>
                <a:lnTo>
                  <a:pt x="5819339" y="6960384"/>
                </a:lnTo>
                <a:lnTo>
                  <a:pt x="0" y="6960384"/>
                </a:lnTo>
                <a:lnTo>
                  <a:pt x="0" y="0"/>
                </a:lnTo>
                <a:close/>
              </a:path>
            </a:pathLst>
          </a:custGeom>
          <a:blipFill>
            <a:blip r:embed="rId3"/>
            <a:stretch>
              <a:fillRect l="0" t="0" r="0" b="0"/>
            </a:stretch>
          </a:blipFill>
        </p:spPr>
      </p:sp>
      <p:sp>
        <p:nvSpPr>
          <p:cNvPr name="Freeform 7" id="7"/>
          <p:cNvSpPr/>
          <p:nvPr/>
        </p:nvSpPr>
        <p:spPr>
          <a:xfrm flipH="false" flipV="false" rot="0">
            <a:off x="9901028" y="3449205"/>
            <a:ext cx="6955572" cy="5364836"/>
          </a:xfrm>
          <a:custGeom>
            <a:avLst/>
            <a:gdLst/>
            <a:ahLst/>
            <a:cxnLst/>
            <a:rect r="r" b="b" t="t" l="l"/>
            <a:pathLst>
              <a:path h="5364836" w="6955572">
                <a:moveTo>
                  <a:pt x="0" y="0"/>
                </a:moveTo>
                <a:lnTo>
                  <a:pt x="6955572" y="0"/>
                </a:lnTo>
                <a:lnTo>
                  <a:pt x="6955572" y="5364836"/>
                </a:lnTo>
                <a:lnTo>
                  <a:pt x="0" y="5364836"/>
                </a:lnTo>
                <a:lnTo>
                  <a:pt x="0" y="0"/>
                </a:lnTo>
                <a:close/>
              </a:path>
            </a:pathLst>
          </a:custGeom>
          <a:blipFill>
            <a:blip r:embed="rId4"/>
            <a:stretch>
              <a:fillRect l="0" t="0" r="0" b="0"/>
            </a:stretch>
          </a:blipFill>
        </p:spPr>
      </p:sp>
      <p:sp>
        <p:nvSpPr>
          <p:cNvPr name="TextBox 8" id="8"/>
          <p:cNvSpPr txBox="true"/>
          <p:nvPr/>
        </p:nvSpPr>
        <p:spPr>
          <a:xfrm rot="0">
            <a:off x="4833410" y="1867160"/>
            <a:ext cx="8317196" cy="803087"/>
          </a:xfrm>
          <a:prstGeom prst="rect">
            <a:avLst/>
          </a:prstGeom>
        </p:spPr>
        <p:txBody>
          <a:bodyPr anchor="t" rtlCol="false" tIns="0" lIns="0" bIns="0" rIns="0">
            <a:spAutoFit/>
          </a:bodyPr>
          <a:lstStyle/>
          <a:p>
            <a:pPr algn="ctr">
              <a:lnSpc>
                <a:spcPts val="6535"/>
              </a:lnSpc>
              <a:spcBef>
                <a:spcPct val="0"/>
              </a:spcBef>
            </a:pPr>
            <a:r>
              <a:rPr lang="en-US" sz="4667">
                <a:solidFill>
                  <a:srgbClr val="FF007A"/>
                </a:solidFill>
                <a:latin typeface="HK Modular"/>
                <a:ea typeface="HK Modular"/>
                <a:cs typeface="HK Modular"/>
                <a:sym typeface="HK Modular"/>
              </a:rPr>
              <a:t>GITHUB ACTIONS</a:t>
            </a:r>
          </a:p>
        </p:txBody>
      </p:sp>
      <p:sp>
        <p:nvSpPr>
          <p:cNvPr name="Freeform 9" id="9"/>
          <p:cNvSpPr/>
          <p:nvPr/>
        </p:nvSpPr>
        <p:spPr>
          <a:xfrm flipH="false" flipV="false" rot="0">
            <a:off x="7830057" y="-232718"/>
            <a:ext cx="2424514" cy="2424514"/>
          </a:xfrm>
          <a:custGeom>
            <a:avLst/>
            <a:gdLst/>
            <a:ahLst/>
            <a:cxnLst/>
            <a:rect r="r" b="b" t="t" l="l"/>
            <a:pathLst>
              <a:path h="2424514" w="2424514">
                <a:moveTo>
                  <a:pt x="0" y="0"/>
                </a:moveTo>
                <a:lnTo>
                  <a:pt x="2424514" y="0"/>
                </a:lnTo>
                <a:lnTo>
                  <a:pt x="2424514" y="2424514"/>
                </a:lnTo>
                <a:lnTo>
                  <a:pt x="0" y="2424514"/>
                </a:lnTo>
                <a:lnTo>
                  <a:pt x="0" y="0"/>
                </a:lnTo>
                <a:close/>
              </a:path>
            </a:pathLst>
          </a:custGeom>
          <a:blipFill>
            <a:blip r:embed="rId5"/>
            <a:stretch>
              <a:fillRect l="0" t="0" r="0" b="0"/>
            </a:stretch>
          </a:blipFill>
        </p:spPr>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ED">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ED">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543838" y="3715118"/>
            <a:ext cx="15715462" cy="3557135"/>
          </a:xfrm>
          <a:prstGeom prst="rect">
            <a:avLst/>
          </a:prstGeom>
        </p:spPr>
        <p:txBody>
          <a:bodyPr anchor="t" rtlCol="false" tIns="0" lIns="0" bIns="0" rIns="0">
            <a:spAutoFit/>
          </a:bodyPr>
          <a:lstStyle/>
          <a:p>
            <a:pPr algn="ctr">
              <a:lnSpc>
                <a:spcPts val="9478"/>
              </a:lnSpc>
              <a:spcBef>
                <a:spcPct val="0"/>
              </a:spcBef>
            </a:pPr>
            <a:r>
              <a:rPr lang="en-US" sz="6770">
                <a:solidFill>
                  <a:srgbClr val="FF5757"/>
                </a:solidFill>
                <a:latin typeface="HK Modular"/>
                <a:ea typeface="HK Modular"/>
                <a:cs typeface="HK Modular"/>
                <a:sym typeface="HK Modular"/>
              </a:rPr>
              <a:t>AMBIENTE DE PRUEBAS: SBX, PREPROD Y PRODUCCION</a:t>
            </a:r>
          </a:p>
        </p:txBody>
      </p:sp>
      <p:sp>
        <p:nvSpPr>
          <p:cNvPr name="Freeform 13" id="13"/>
          <p:cNvSpPr/>
          <p:nvPr/>
        </p:nvSpPr>
        <p:spPr>
          <a:xfrm flipH="false" flipV="false" rot="0">
            <a:off x="7830057" y="-232718"/>
            <a:ext cx="2424514" cy="2424514"/>
          </a:xfrm>
          <a:custGeom>
            <a:avLst/>
            <a:gdLst/>
            <a:ahLst/>
            <a:cxnLst/>
            <a:rect r="r" b="b" t="t" l="l"/>
            <a:pathLst>
              <a:path h="2424514" w="2424514">
                <a:moveTo>
                  <a:pt x="0" y="0"/>
                </a:moveTo>
                <a:lnTo>
                  <a:pt x="2424514" y="0"/>
                </a:lnTo>
                <a:lnTo>
                  <a:pt x="2424514" y="2424514"/>
                </a:lnTo>
                <a:lnTo>
                  <a:pt x="0" y="2424514"/>
                </a:lnTo>
                <a:lnTo>
                  <a:pt x="0" y="0"/>
                </a:lnTo>
                <a:close/>
              </a:path>
            </a:pathLst>
          </a:custGeom>
          <a:blipFill>
            <a:blip r:embed="rId3"/>
            <a:stretch>
              <a:fillRect l="0" t="0" r="0" b="0"/>
            </a:stretch>
          </a:blipFill>
        </p:spPr>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3812010" y="4790599"/>
            <a:ext cx="10203285" cy="4688032"/>
          </a:xfrm>
          <a:custGeom>
            <a:avLst/>
            <a:gdLst/>
            <a:ahLst/>
            <a:cxnLst/>
            <a:rect r="r" b="b" t="t" l="l"/>
            <a:pathLst>
              <a:path h="4688032" w="10203285">
                <a:moveTo>
                  <a:pt x="0" y="0"/>
                </a:moveTo>
                <a:lnTo>
                  <a:pt x="10203285" y="0"/>
                </a:lnTo>
                <a:lnTo>
                  <a:pt x="10203285" y="4688031"/>
                </a:lnTo>
                <a:lnTo>
                  <a:pt x="0" y="4688031"/>
                </a:lnTo>
                <a:lnTo>
                  <a:pt x="0" y="0"/>
                </a:lnTo>
                <a:close/>
              </a:path>
            </a:pathLst>
          </a:custGeom>
          <a:blipFill>
            <a:blip r:embed="rId3"/>
            <a:stretch>
              <a:fillRect l="-5560" t="0" r="-7803" b="-18122"/>
            </a:stretch>
          </a:blipFill>
        </p:spPr>
      </p:sp>
      <p:sp>
        <p:nvSpPr>
          <p:cNvPr name="TextBox 7" id="7"/>
          <p:cNvSpPr txBox="true"/>
          <p:nvPr/>
        </p:nvSpPr>
        <p:spPr>
          <a:xfrm rot="0">
            <a:off x="1543838" y="2058446"/>
            <a:ext cx="15715462" cy="1159969"/>
          </a:xfrm>
          <a:prstGeom prst="rect">
            <a:avLst/>
          </a:prstGeom>
        </p:spPr>
        <p:txBody>
          <a:bodyPr anchor="t" rtlCol="false" tIns="0" lIns="0" bIns="0" rIns="0">
            <a:spAutoFit/>
          </a:bodyPr>
          <a:lstStyle/>
          <a:p>
            <a:pPr algn="ctr">
              <a:lnSpc>
                <a:spcPts val="9478"/>
              </a:lnSpc>
              <a:spcBef>
                <a:spcPct val="0"/>
              </a:spcBef>
            </a:pPr>
            <a:r>
              <a:rPr lang="en-US" sz="6770">
                <a:solidFill>
                  <a:srgbClr val="FF751F"/>
                </a:solidFill>
                <a:latin typeface="HK Modular"/>
                <a:ea typeface="HK Modular"/>
                <a:cs typeface="HK Modular"/>
                <a:sym typeface="HK Modular"/>
              </a:rPr>
              <a:t>AMBIENTE DE PRUEBAS</a:t>
            </a:r>
          </a:p>
        </p:txBody>
      </p:sp>
      <p:sp>
        <p:nvSpPr>
          <p:cNvPr name="TextBox 8" id="8"/>
          <p:cNvSpPr txBox="true"/>
          <p:nvPr/>
        </p:nvSpPr>
        <p:spPr>
          <a:xfrm rot="0">
            <a:off x="788258" y="3373537"/>
            <a:ext cx="16711483" cy="9150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U</a:t>
            </a:r>
            <a:r>
              <a:rPr lang="en-US" sz="2599">
                <a:solidFill>
                  <a:srgbClr val="FFFFFF"/>
                </a:solidFill>
                <a:latin typeface="Poppins"/>
                <a:ea typeface="Poppins"/>
                <a:cs typeface="Poppins"/>
                <a:sym typeface="Poppins"/>
              </a:rPr>
              <a:t>n ambiente de pruebas existe para ganar confianza incremental antes de exponer cambios a usuarios.</a:t>
            </a:r>
          </a:p>
        </p:txBody>
      </p:sp>
      <p:sp>
        <p:nvSpPr>
          <p:cNvPr name="Freeform 9" id="9"/>
          <p:cNvSpPr/>
          <p:nvPr/>
        </p:nvSpPr>
        <p:spPr>
          <a:xfrm flipH="false" flipV="false" rot="0">
            <a:off x="7830057" y="-232718"/>
            <a:ext cx="2424514" cy="2424514"/>
          </a:xfrm>
          <a:custGeom>
            <a:avLst/>
            <a:gdLst/>
            <a:ahLst/>
            <a:cxnLst/>
            <a:rect r="r" b="b" t="t" l="l"/>
            <a:pathLst>
              <a:path h="2424514" w="2424514">
                <a:moveTo>
                  <a:pt x="0" y="0"/>
                </a:moveTo>
                <a:lnTo>
                  <a:pt x="2424514" y="0"/>
                </a:lnTo>
                <a:lnTo>
                  <a:pt x="2424514" y="2424514"/>
                </a:lnTo>
                <a:lnTo>
                  <a:pt x="0" y="2424514"/>
                </a:lnTo>
                <a:lnTo>
                  <a:pt x="0" y="0"/>
                </a:lnTo>
                <a:close/>
              </a:path>
            </a:pathLst>
          </a:custGeom>
          <a:blipFill>
            <a:blip r:embed="rId4"/>
            <a:stretch>
              <a:fillRect l="0" t="0" r="0" b="0"/>
            </a:stretch>
          </a:blipFill>
        </p:spPr>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88258" y="5143500"/>
            <a:ext cx="10203285" cy="4688032"/>
          </a:xfrm>
          <a:custGeom>
            <a:avLst/>
            <a:gdLst/>
            <a:ahLst/>
            <a:cxnLst/>
            <a:rect r="r" b="b" t="t" l="l"/>
            <a:pathLst>
              <a:path h="4688032" w="10203285">
                <a:moveTo>
                  <a:pt x="0" y="0"/>
                </a:moveTo>
                <a:lnTo>
                  <a:pt x="10203285" y="0"/>
                </a:lnTo>
                <a:lnTo>
                  <a:pt x="10203285" y="4688032"/>
                </a:lnTo>
                <a:lnTo>
                  <a:pt x="0" y="4688032"/>
                </a:lnTo>
                <a:lnTo>
                  <a:pt x="0" y="0"/>
                </a:lnTo>
                <a:close/>
              </a:path>
            </a:pathLst>
          </a:custGeom>
          <a:blipFill>
            <a:blip r:embed="rId3"/>
            <a:stretch>
              <a:fillRect l="-5560" t="0" r="-7803" b="-18122"/>
            </a:stretch>
          </a:blipFill>
        </p:spPr>
      </p:sp>
      <p:sp>
        <p:nvSpPr>
          <p:cNvPr name="TextBox 7" id="7"/>
          <p:cNvSpPr txBox="true"/>
          <p:nvPr/>
        </p:nvSpPr>
        <p:spPr>
          <a:xfrm rot="0">
            <a:off x="1543838" y="2058446"/>
            <a:ext cx="15715462" cy="1159969"/>
          </a:xfrm>
          <a:prstGeom prst="rect">
            <a:avLst/>
          </a:prstGeom>
        </p:spPr>
        <p:txBody>
          <a:bodyPr anchor="t" rtlCol="false" tIns="0" lIns="0" bIns="0" rIns="0">
            <a:spAutoFit/>
          </a:bodyPr>
          <a:lstStyle/>
          <a:p>
            <a:pPr algn="ctr">
              <a:lnSpc>
                <a:spcPts val="9478"/>
              </a:lnSpc>
              <a:spcBef>
                <a:spcPct val="0"/>
              </a:spcBef>
            </a:pPr>
            <a:r>
              <a:rPr lang="en-US" sz="6770">
                <a:solidFill>
                  <a:srgbClr val="FF751F"/>
                </a:solidFill>
                <a:latin typeface="HK Modular"/>
                <a:ea typeface="HK Modular"/>
                <a:cs typeface="HK Modular"/>
                <a:sym typeface="HK Modular"/>
              </a:rPr>
              <a:t>DEV</a:t>
            </a:r>
          </a:p>
        </p:txBody>
      </p:sp>
      <p:sp>
        <p:nvSpPr>
          <p:cNvPr name="TextBox 8" id="8"/>
          <p:cNvSpPr txBox="true"/>
          <p:nvPr/>
        </p:nvSpPr>
        <p:spPr>
          <a:xfrm rot="0">
            <a:off x="788258" y="3461502"/>
            <a:ext cx="16711483" cy="13722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Este ambiente es local para los desarrolladores, donde cada uno puede trabajar de forma independiente, teniendo como punto de encuentro únicamente las ramas. Las reglas de este ambiente son:</a:t>
            </a:r>
          </a:p>
        </p:txBody>
      </p:sp>
      <p:sp>
        <p:nvSpPr>
          <p:cNvPr name="TextBox 9" id="9"/>
          <p:cNvSpPr txBox="true"/>
          <p:nvPr/>
        </p:nvSpPr>
        <p:spPr>
          <a:xfrm rot="0">
            <a:off x="11245372" y="5201957"/>
            <a:ext cx="6653800" cy="5029836"/>
          </a:xfrm>
          <a:prstGeom prst="rect">
            <a:avLst/>
          </a:prstGeom>
        </p:spPr>
        <p:txBody>
          <a:bodyPr anchor="t" rtlCol="false" tIns="0" lIns="0" bIns="0" rIns="0">
            <a:spAutoFit/>
          </a:bodyPr>
          <a:lstStyle/>
          <a:p>
            <a:pPr algn="ctr" marL="561336" indent="-280668" lvl="1">
              <a:lnSpc>
                <a:spcPts val="3639"/>
              </a:lnSpc>
              <a:buFont typeface="Arial"/>
              <a:buChar char="•"/>
            </a:pPr>
            <a:r>
              <a:rPr lang="en-US" sz="2599">
                <a:solidFill>
                  <a:srgbClr val="FFFFFF"/>
                </a:solidFill>
                <a:latin typeface="Poppins"/>
                <a:ea typeface="Poppins"/>
                <a:cs typeface="Poppins"/>
                <a:sym typeface="Poppins"/>
              </a:rPr>
              <a:t>No se cuenta con ambiente de desarrollos compartidos para evitar errores en el código y conflictos con bases de datos.</a:t>
            </a:r>
            <a:r>
              <a:rPr lang="en-US" sz="2599">
                <a:solidFill>
                  <a:srgbClr val="FFFFFF"/>
                </a:solidFill>
                <a:latin typeface="Poppins"/>
                <a:ea typeface="Poppins"/>
                <a:cs typeface="Poppins"/>
                <a:sym typeface="Poppins"/>
              </a:rPr>
              <a:t> </a:t>
            </a:r>
          </a:p>
          <a:p>
            <a:pPr algn="ctr">
              <a:lnSpc>
                <a:spcPts val="3639"/>
              </a:lnSpc>
            </a:pPr>
          </a:p>
          <a:p>
            <a:pPr algn="ctr" marL="561336" indent="-280668" lvl="1">
              <a:lnSpc>
                <a:spcPts val="3639"/>
              </a:lnSpc>
              <a:buFont typeface="Arial"/>
              <a:buChar char="•"/>
            </a:pPr>
            <a:r>
              <a:rPr lang="en-US" sz="2599">
                <a:solidFill>
                  <a:srgbClr val="FFFFFF"/>
                </a:solidFill>
                <a:latin typeface="Poppins"/>
                <a:ea typeface="Poppins"/>
                <a:cs typeface="Poppins"/>
                <a:sym typeface="Poppins"/>
              </a:rPr>
              <a:t>El ambiente debe manejar las mismas versiones de herramientas, lenguajes, frameworks y bases de datos que los ambientes productivos.</a:t>
            </a:r>
          </a:p>
          <a:p>
            <a:pPr algn="ctr">
              <a:lnSpc>
                <a:spcPts val="3639"/>
              </a:lnSpc>
              <a:spcBef>
                <a:spcPct val="0"/>
              </a:spcBef>
            </a:pPr>
          </a:p>
        </p:txBody>
      </p:sp>
      <p:sp>
        <p:nvSpPr>
          <p:cNvPr name="Freeform 10" id="10"/>
          <p:cNvSpPr/>
          <p:nvPr/>
        </p:nvSpPr>
        <p:spPr>
          <a:xfrm flipH="false" flipV="false" rot="0">
            <a:off x="7830057" y="-232718"/>
            <a:ext cx="2424514" cy="2424514"/>
          </a:xfrm>
          <a:custGeom>
            <a:avLst/>
            <a:gdLst/>
            <a:ahLst/>
            <a:cxnLst/>
            <a:rect r="r" b="b" t="t" l="l"/>
            <a:pathLst>
              <a:path h="2424514" w="2424514">
                <a:moveTo>
                  <a:pt x="0" y="0"/>
                </a:moveTo>
                <a:lnTo>
                  <a:pt x="2424514" y="0"/>
                </a:lnTo>
                <a:lnTo>
                  <a:pt x="2424514" y="2424514"/>
                </a:lnTo>
                <a:lnTo>
                  <a:pt x="0" y="2424514"/>
                </a:lnTo>
                <a:lnTo>
                  <a:pt x="0" y="0"/>
                </a:lnTo>
                <a:close/>
              </a:path>
            </a:pathLst>
          </a:custGeom>
          <a:blipFill>
            <a:blip r:embed="rId4"/>
            <a:stretch>
              <a:fillRect l="0" t="0" r="0" b="0"/>
            </a:stretch>
          </a:blipFill>
        </p:spPr>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88258" y="5143500"/>
            <a:ext cx="10203285" cy="4688032"/>
          </a:xfrm>
          <a:custGeom>
            <a:avLst/>
            <a:gdLst/>
            <a:ahLst/>
            <a:cxnLst/>
            <a:rect r="r" b="b" t="t" l="l"/>
            <a:pathLst>
              <a:path h="4688032" w="10203285">
                <a:moveTo>
                  <a:pt x="0" y="0"/>
                </a:moveTo>
                <a:lnTo>
                  <a:pt x="10203285" y="0"/>
                </a:lnTo>
                <a:lnTo>
                  <a:pt x="10203285" y="4688032"/>
                </a:lnTo>
                <a:lnTo>
                  <a:pt x="0" y="4688032"/>
                </a:lnTo>
                <a:lnTo>
                  <a:pt x="0" y="0"/>
                </a:lnTo>
                <a:close/>
              </a:path>
            </a:pathLst>
          </a:custGeom>
          <a:blipFill>
            <a:blip r:embed="rId3"/>
            <a:stretch>
              <a:fillRect l="-5560" t="0" r="-7803" b="-18122"/>
            </a:stretch>
          </a:blipFill>
        </p:spPr>
      </p:sp>
      <p:sp>
        <p:nvSpPr>
          <p:cNvPr name="TextBox 7" id="7"/>
          <p:cNvSpPr txBox="true"/>
          <p:nvPr/>
        </p:nvSpPr>
        <p:spPr>
          <a:xfrm rot="0">
            <a:off x="1543838" y="1920533"/>
            <a:ext cx="15715462" cy="1159969"/>
          </a:xfrm>
          <a:prstGeom prst="rect">
            <a:avLst/>
          </a:prstGeom>
        </p:spPr>
        <p:txBody>
          <a:bodyPr anchor="t" rtlCol="false" tIns="0" lIns="0" bIns="0" rIns="0">
            <a:spAutoFit/>
          </a:bodyPr>
          <a:lstStyle/>
          <a:p>
            <a:pPr algn="ctr">
              <a:lnSpc>
                <a:spcPts val="9478"/>
              </a:lnSpc>
              <a:spcBef>
                <a:spcPct val="0"/>
              </a:spcBef>
            </a:pPr>
            <a:r>
              <a:rPr lang="en-US" sz="6770">
                <a:solidFill>
                  <a:srgbClr val="FF751F"/>
                </a:solidFill>
                <a:latin typeface="HK Modular"/>
                <a:ea typeface="HK Modular"/>
                <a:cs typeface="HK Modular"/>
                <a:sym typeface="HK Modular"/>
              </a:rPr>
              <a:t>PRUEBAS - QA</a:t>
            </a:r>
          </a:p>
        </p:txBody>
      </p:sp>
      <p:sp>
        <p:nvSpPr>
          <p:cNvPr name="TextBox 8" id="8"/>
          <p:cNvSpPr txBox="true"/>
          <p:nvPr/>
        </p:nvSpPr>
        <p:spPr>
          <a:xfrm rot="0">
            <a:off x="788258" y="3461502"/>
            <a:ext cx="16711483" cy="13722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Este ambiente es homólogo a nivel de configuración del ambiente productivo. Está destinado para pruebas únicamente, las cuales son realizadas por el tester del proyecto. Las reglas de este ambiente son:</a:t>
            </a:r>
          </a:p>
        </p:txBody>
      </p:sp>
      <p:sp>
        <p:nvSpPr>
          <p:cNvPr name="TextBox 9" id="9"/>
          <p:cNvSpPr txBox="true"/>
          <p:nvPr/>
        </p:nvSpPr>
        <p:spPr>
          <a:xfrm rot="0">
            <a:off x="11245372" y="5228963"/>
            <a:ext cx="6573992" cy="4161948"/>
          </a:xfrm>
          <a:prstGeom prst="rect">
            <a:avLst/>
          </a:prstGeom>
        </p:spPr>
        <p:txBody>
          <a:bodyPr anchor="t" rtlCol="false" tIns="0" lIns="0" bIns="0" rIns="0">
            <a:spAutoFit/>
          </a:bodyPr>
          <a:lstStyle/>
          <a:p>
            <a:pPr algn="just">
              <a:lnSpc>
                <a:spcPts val="2756"/>
              </a:lnSpc>
            </a:pPr>
          </a:p>
          <a:p>
            <a:pPr algn="just" marL="425095" indent="-212548" lvl="1">
              <a:lnSpc>
                <a:spcPts val="2756"/>
              </a:lnSpc>
              <a:buFont typeface="Arial"/>
              <a:buChar char="•"/>
            </a:pPr>
            <a:r>
              <a:rPr lang="en-US" sz="1968">
                <a:solidFill>
                  <a:srgbClr val="FFFFFF"/>
                </a:solidFill>
                <a:latin typeface="Poppins"/>
                <a:ea typeface="Poppins"/>
                <a:cs typeface="Poppins"/>
                <a:sym typeface="Poppins"/>
              </a:rPr>
              <a:t>El ambiente debe cumplir con una configuración identica al productivo, es decir a nivel de sistema operativo, servidor, permisos, roles, puertos, variables de ambiente, etc.</a:t>
            </a:r>
          </a:p>
          <a:p>
            <a:pPr algn="just" marL="425095" indent="-212548" lvl="1">
              <a:lnSpc>
                <a:spcPts val="2756"/>
              </a:lnSpc>
              <a:buFont typeface="Arial"/>
              <a:buChar char="•"/>
            </a:pPr>
            <a:r>
              <a:rPr lang="en-US" sz="1968">
                <a:solidFill>
                  <a:srgbClr val="FFFFFF"/>
                </a:solidFill>
                <a:latin typeface="Poppins"/>
                <a:ea typeface="Poppins"/>
                <a:cs typeface="Poppins"/>
                <a:sym typeface="Poppins"/>
              </a:rPr>
              <a:t>El ambiente puede diferir en cuanto a algunas características de la arquitectura (replicación, autoescalamiento) pero no en sus componentes (servicios, cache, colas de tareas, etc).</a:t>
            </a:r>
          </a:p>
          <a:p>
            <a:pPr algn="just" marL="425095" indent="-212548" lvl="1">
              <a:lnSpc>
                <a:spcPts val="2756"/>
              </a:lnSpc>
              <a:buFont typeface="Arial"/>
              <a:buChar char="•"/>
            </a:pPr>
            <a:r>
              <a:rPr lang="en-US" sz="1968">
                <a:solidFill>
                  <a:srgbClr val="FFFFFF"/>
                </a:solidFill>
                <a:latin typeface="Poppins"/>
                <a:ea typeface="Poppins"/>
                <a:cs typeface="Poppins"/>
                <a:sym typeface="Poppins"/>
              </a:rPr>
              <a:t>El equipo de pruebas es responsable de mantener este ambiente estable</a:t>
            </a:r>
          </a:p>
          <a:p>
            <a:pPr algn="just">
              <a:lnSpc>
                <a:spcPts val="2756"/>
              </a:lnSpc>
              <a:spcBef>
                <a:spcPct val="0"/>
              </a:spcBef>
            </a:pPr>
          </a:p>
        </p:txBody>
      </p:sp>
      <p:sp>
        <p:nvSpPr>
          <p:cNvPr name="Freeform 10" id="10"/>
          <p:cNvSpPr/>
          <p:nvPr/>
        </p:nvSpPr>
        <p:spPr>
          <a:xfrm flipH="false" flipV="false" rot="0">
            <a:off x="7830057" y="-232718"/>
            <a:ext cx="2424514" cy="2424514"/>
          </a:xfrm>
          <a:custGeom>
            <a:avLst/>
            <a:gdLst/>
            <a:ahLst/>
            <a:cxnLst/>
            <a:rect r="r" b="b" t="t" l="l"/>
            <a:pathLst>
              <a:path h="2424514" w="2424514">
                <a:moveTo>
                  <a:pt x="0" y="0"/>
                </a:moveTo>
                <a:lnTo>
                  <a:pt x="2424514" y="0"/>
                </a:lnTo>
                <a:lnTo>
                  <a:pt x="2424514" y="2424514"/>
                </a:lnTo>
                <a:lnTo>
                  <a:pt x="0" y="2424514"/>
                </a:lnTo>
                <a:lnTo>
                  <a:pt x="0" y="0"/>
                </a:lnTo>
                <a:close/>
              </a:path>
            </a:pathLst>
          </a:custGeom>
          <a:blipFill>
            <a:blip r:embed="rId4"/>
            <a:stretch>
              <a:fillRect l="0" t="0" r="0" b="0"/>
            </a:stretch>
          </a:blipFill>
        </p:spPr>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88258" y="5143500"/>
            <a:ext cx="10203285" cy="4688032"/>
          </a:xfrm>
          <a:custGeom>
            <a:avLst/>
            <a:gdLst/>
            <a:ahLst/>
            <a:cxnLst/>
            <a:rect r="r" b="b" t="t" l="l"/>
            <a:pathLst>
              <a:path h="4688032" w="10203285">
                <a:moveTo>
                  <a:pt x="0" y="0"/>
                </a:moveTo>
                <a:lnTo>
                  <a:pt x="10203285" y="0"/>
                </a:lnTo>
                <a:lnTo>
                  <a:pt x="10203285" y="4688032"/>
                </a:lnTo>
                <a:lnTo>
                  <a:pt x="0" y="4688032"/>
                </a:lnTo>
                <a:lnTo>
                  <a:pt x="0" y="0"/>
                </a:lnTo>
                <a:close/>
              </a:path>
            </a:pathLst>
          </a:custGeom>
          <a:blipFill>
            <a:blip r:embed="rId3"/>
            <a:stretch>
              <a:fillRect l="-5560" t="0" r="-7803" b="-18122"/>
            </a:stretch>
          </a:blipFill>
        </p:spPr>
      </p:sp>
      <p:sp>
        <p:nvSpPr>
          <p:cNvPr name="TextBox 7" id="7"/>
          <p:cNvSpPr txBox="true"/>
          <p:nvPr/>
        </p:nvSpPr>
        <p:spPr>
          <a:xfrm rot="0">
            <a:off x="1543838" y="1920533"/>
            <a:ext cx="15715462" cy="1159969"/>
          </a:xfrm>
          <a:prstGeom prst="rect">
            <a:avLst/>
          </a:prstGeom>
        </p:spPr>
        <p:txBody>
          <a:bodyPr anchor="t" rtlCol="false" tIns="0" lIns="0" bIns="0" rIns="0">
            <a:spAutoFit/>
          </a:bodyPr>
          <a:lstStyle/>
          <a:p>
            <a:pPr algn="ctr">
              <a:lnSpc>
                <a:spcPts val="9478"/>
              </a:lnSpc>
              <a:spcBef>
                <a:spcPct val="0"/>
              </a:spcBef>
            </a:pPr>
            <a:r>
              <a:rPr lang="en-US" sz="6770">
                <a:solidFill>
                  <a:srgbClr val="FF751F"/>
                </a:solidFill>
                <a:latin typeface="HK Modular"/>
                <a:ea typeface="HK Modular"/>
                <a:cs typeface="HK Modular"/>
                <a:sym typeface="HK Modular"/>
              </a:rPr>
              <a:t>PREPROD</a:t>
            </a:r>
          </a:p>
        </p:txBody>
      </p:sp>
      <p:sp>
        <p:nvSpPr>
          <p:cNvPr name="TextBox 8" id="8"/>
          <p:cNvSpPr txBox="true"/>
          <p:nvPr/>
        </p:nvSpPr>
        <p:spPr>
          <a:xfrm rot="0">
            <a:off x="788258" y="3461502"/>
            <a:ext cx="16711483" cy="9150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Este ambiente es homólogo a todo nivel con el ambiente productivo. Está destinado para realizar pruebas de aceptación con el líder funcional y el usuario final. Las reglas de este ambiente son:</a:t>
            </a:r>
          </a:p>
        </p:txBody>
      </p:sp>
      <p:sp>
        <p:nvSpPr>
          <p:cNvPr name="TextBox 9" id="9"/>
          <p:cNvSpPr txBox="true"/>
          <p:nvPr/>
        </p:nvSpPr>
        <p:spPr>
          <a:xfrm rot="0">
            <a:off x="11154926" y="4928337"/>
            <a:ext cx="6790564" cy="4809198"/>
          </a:xfrm>
          <a:prstGeom prst="rect">
            <a:avLst/>
          </a:prstGeom>
        </p:spPr>
        <p:txBody>
          <a:bodyPr anchor="t" rtlCol="false" tIns="0" lIns="0" bIns="0" rIns="0">
            <a:spAutoFit/>
          </a:bodyPr>
          <a:lstStyle/>
          <a:p>
            <a:pPr algn="just">
              <a:lnSpc>
                <a:spcPts val="3184"/>
              </a:lnSpc>
            </a:pPr>
          </a:p>
          <a:p>
            <a:pPr algn="just" marL="491138" indent="-245569" lvl="1">
              <a:lnSpc>
                <a:spcPts val="3184"/>
              </a:lnSpc>
              <a:buFont typeface="Arial"/>
              <a:buChar char="•"/>
            </a:pPr>
            <a:r>
              <a:rPr lang="en-US" sz="2274">
                <a:solidFill>
                  <a:srgbClr val="FFFFFF"/>
                </a:solidFill>
                <a:latin typeface="Poppins"/>
                <a:ea typeface="Poppins"/>
                <a:cs typeface="Poppins"/>
                <a:sym typeface="Poppins"/>
              </a:rPr>
              <a:t>El ambiente debe cumplir con una configuración identica al productivo, es decir a nivel de sistema operativo, servidor, permisos, roles, puertos, variables de ambiente, etc.</a:t>
            </a:r>
          </a:p>
          <a:p>
            <a:pPr algn="just" marL="491138" indent="-245569" lvl="1">
              <a:lnSpc>
                <a:spcPts val="3184"/>
              </a:lnSpc>
              <a:buFont typeface="Arial"/>
              <a:buChar char="•"/>
            </a:pPr>
            <a:r>
              <a:rPr lang="en-US" sz="2274">
                <a:solidFill>
                  <a:srgbClr val="FFFFFF"/>
                </a:solidFill>
                <a:latin typeface="Poppins"/>
                <a:ea typeface="Poppins"/>
                <a:cs typeface="Poppins"/>
                <a:sym typeface="Poppins"/>
              </a:rPr>
              <a:t>El ambiente no debe diferir en cuanto a arquitectura ni componentes frente al ambiente productivo.</a:t>
            </a:r>
          </a:p>
          <a:p>
            <a:pPr algn="just" marL="491138" indent="-245569" lvl="1">
              <a:lnSpc>
                <a:spcPts val="3184"/>
              </a:lnSpc>
              <a:buFont typeface="Arial"/>
              <a:buChar char="•"/>
            </a:pPr>
            <a:r>
              <a:rPr lang="en-US" sz="2274">
                <a:solidFill>
                  <a:srgbClr val="FFFFFF"/>
                </a:solidFill>
                <a:latin typeface="Poppins"/>
                <a:ea typeface="Poppins"/>
                <a:cs typeface="Poppins"/>
                <a:sym typeface="Poppins"/>
              </a:rPr>
              <a:t>El equipo de operaciones es responsable de mantener este ambiente estable</a:t>
            </a:r>
          </a:p>
          <a:p>
            <a:pPr algn="just">
              <a:lnSpc>
                <a:spcPts val="3184"/>
              </a:lnSpc>
              <a:spcBef>
                <a:spcPct val="0"/>
              </a:spcBef>
            </a:pPr>
          </a:p>
        </p:txBody>
      </p:sp>
      <p:sp>
        <p:nvSpPr>
          <p:cNvPr name="Freeform 10" id="10"/>
          <p:cNvSpPr/>
          <p:nvPr/>
        </p:nvSpPr>
        <p:spPr>
          <a:xfrm flipH="false" flipV="false" rot="0">
            <a:off x="7830057" y="-232718"/>
            <a:ext cx="2424514" cy="2424514"/>
          </a:xfrm>
          <a:custGeom>
            <a:avLst/>
            <a:gdLst/>
            <a:ahLst/>
            <a:cxnLst/>
            <a:rect r="r" b="b" t="t" l="l"/>
            <a:pathLst>
              <a:path h="2424514" w="2424514">
                <a:moveTo>
                  <a:pt x="0" y="0"/>
                </a:moveTo>
                <a:lnTo>
                  <a:pt x="2424514" y="0"/>
                </a:lnTo>
                <a:lnTo>
                  <a:pt x="2424514" y="2424514"/>
                </a:lnTo>
                <a:lnTo>
                  <a:pt x="0" y="2424514"/>
                </a:lnTo>
                <a:lnTo>
                  <a:pt x="0" y="0"/>
                </a:lnTo>
                <a:close/>
              </a:path>
            </a:pathLst>
          </a:custGeom>
          <a:blipFill>
            <a:blip r:embed="rId4"/>
            <a:stretch>
              <a:fillRect l="0" t="0" r="0" b="0"/>
            </a:stretch>
          </a:blipFill>
        </p:spPr>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88258" y="4822244"/>
            <a:ext cx="10203285" cy="4688032"/>
          </a:xfrm>
          <a:custGeom>
            <a:avLst/>
            <a:gdLst/>
            <a:ahLst/>
            <a:cxnLst/>
            <a:rect r="r" b="b" t="t" l="l"/>
            <a:pathLst>
              <a:path h="4688032" w="10203285">
                <a:moveTo>
                  <a:pt x="0" y="0"/>
                </a:moveTo>
                <a:lnTo>
                  <a:pt x="10203285" y="0"/>
                </a:lnTo>
                <a:lnTo>
                  <a:pt x="10203285" y="4688032"/>
                </a:lnTo>
                <a:lnTo>
                  <a:pt x="0" y="4688032"/>
                </a:lnTo>
                <a:lnTo>
                  <a:pt x="0" y="0"/>
                </a:lnTo>
                <a:close/>
              </a:path>
            </a:pathLst>
          </a:custGeom>
          <a:blipFill>
            <a:blip r:embed="rId3"/>
            <a:stretch>
              <a:fillRect l="-5560" t="0" r="-7803" b="-18122"/>
            </a:stretch>
          </a:blipFill>
        </p:spPr>
      </p:sp>
      <p:sp>
        <p:nvSpPr>
          <p:cNvPr name="TextBox 7" id="7"/>
          <p:cNvSpPr txBox="true"/>
          <p:nvPr/>
        </p:nvSpPr>
        <p:spPr>
          <a:xfrm rot="0">
            <a:off x="1543838" y="1920533"/>
            <a:ext cx="15715462" cy="1159969"/>
          </a:xfrm>
          <a:prstGeom prst="rect">
            <a:avLst/>
          </a:prstGeom>
        </p:spPr>
        <p:txBody>
          <a:bodyPr anchor="t" rtlCol="false" tIns="0" lIns="0" bIns="0" rIns="0">
            <a:spAutoFit/>
          </a:bodyPr>
          <a:lstStyle/>
          <a:p>
            <a:pPr algn="ctr">
              <a:lnSpc>
                <a:spcPts val="9478"/>
              </a:lnSpc>
              <a:spcBef>
                <a:spcPct val="0"/>
              </a:spcBef>
            </a:pPr>
            <a:r>
              <a:rPr lang="en-US" sz="6770">
                <a:solidFill>
                  <a:srgbClr val="FF751F"/>
                </a:solidFill>
                <a:latin typeface="HK Modular"/>
                <a:ea typeface="HK Modular"/>
                <a:cs typeface="HK Modular"/>
                <a:sym typeface="HK Modular"/>
              </a:rPr>
              <a:t>PRODUCCION</a:t>
            </a:r>
          </a:p>
        </p:txBody>
      </p:sp>
      <p:sp>
        <p:nvSpPr>
          <p:cNvPr name="TextBox 8" id="8"/>
          <p:cNvSpPr txBox="true"/>
          <p:nvPr/>
        </p:nvSpPr>
        <p:spPr>
          <a:xfrm rot="0">
            <a:off x="788258" y="3461502"/>
            <a:ext cx="16711483"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Este ambiente es el de producción de la aplicación. Las reglas de este ambiente son:</a:t>
            </a:r>
          </a:p>
        </p:txBody>
      </p:sp>
      <p:sp>
        <p:nvSpPr>
          <p:cNvPr name="TextBox 9" id="9"/>
          <p:cNvSpPr txBox="true"/>
          <p:nvPr/>
        </p:nvSpPr>
        <p:spPr>
          <a:xfrm rot="0">
            <a:off x="11154926" y="4928337"/>
            <a:ext cx="6790564" cy="4409172"/>
          </a:xfrm>
          <a:prstGeom prst="rect">
            <a:avLst/>
          </a:prstGeom>
        </p:spPr>
        <p:txBody>
          <a:bodyPr anchor="t" rtlCol="false" tIns="0" lIns="0" bIns="0" rIns="0">
            <a:spAutoFit/>
          </a:bodyPr>
          <a:lstStyle/>
          <a:p>
            <a:pPr algn="just">
              <a:lnSpc>
                <a:spcPts val="3184"/>
              </a:lnSpc>
            </a:pPr>
          </a:p>
          <a:p>
            <a:pPr algn="just" marL="491138" indent="-245569" lvl="1">
              <a:lnSpc>
                <a:spcPts val="3184"/>
              </a:lnSpc>
              <a:buFont typeface="Arial"/>
              <a:buChar char="•"/>
            </a:pPr>
            <a:r>
              <a:rPr lang="en-US" sz="2274">
                <a:solidFill>
                  <a:srgbClr val="FFFFFF"/>
                </a:solidFill>
                <a:latin typeface="Poppins"/>
                <a:ea typeface="Poppins"/>
                <a:cs typeface="Poppins"/>
                <a:sym typeface="Poppins"/>
              </a:rPr>
              <a:t>Siempre debe tener una versión estable de la aplicación en ejecución</a:t>
            </a:r>
          </a:p>
          <a:p>
            <a:pPr algn="just">
              <a:lnSpc>
                <a:spcPts val="3184"/>
              </a:lnSpc>
            </a:pPr>
          </a:p>
          <a:p>
            <a:pPr algn="just" marL="491138" indent="-245569" lvl="1">
              <a:lnSpc>
                <a:spcPts val="3184"/>
              </a:lnSpc>
              <a:buFont typeface="Arial"/>
              <a:buChar char="•"/>
            </a:pPr>
            <a:r>
              <a:rPr lang="en-US" sz="2274">
                <a:solidFill>
                  <a:srgbClr val="FFFFFF"/>
                </a:solidFill>
                <a:latin typeface="Poppins"/>
                <a:ea typeface="Poppins"/>
                <a:cs typeface="Poppins"/>
                <a:sym typeface="Poppins"/>
              </a:rPr>
              <a:t>El equipo de operaciones es responsable de mantener este ambiente estable</a:t>
            </a:r>
          </a:p>
          <a:p>
            <a:pPr algn="just">
              <a:lnSpc>
                <a:spcPts val="3184"/>
              </a:lnSpc>
            </a:pPr>
          </a:p>
          <a:p>
            <a:pPr algn="just" marL="491138" indent="-245569" lvl="1">
              <a:lnSpc>
                <a:spcPts val="3184"/>
              </a:lnSpc>
              <a:buFont typeface="Arial"/>
              <a:buChar char="•"/>
            </a:pPr>
            <a:r>
              <a:rPr lang="en-US" sz="2274">
                <a:solidFill>
                  <a:srgbClr val="FFFFFF"/>
                </a:solidFill>
                <a:latin typeface="Poppins"/>
                <a:ea typeface="Poppins"/>
                <a:cs typeface="Poppins"/>
                <a:sym typeface="Poppins"/>
              </a:rPr>
              <a:t>El equipo de operaciones son los únicos que pueden desplegar una versión anterior de la aplicación si se considera necesario</a:t>
            </a:r>
          </a:p>
          <a:p>
            <a:pPr algn="just">
              <a:lnSpc>
                <a:spcPts val="3184"/>
              </a:lnSpc>
              <a:spcBef>
                <a:spcPct val="0"/>
              </a:spcBef>
            </a:pPr>
          </a:p>
        </p:txBody>
      </p:sp>
      <p:sp>
        <p:nvSpPr>
          <p:cNvPr name="Freeform 10" id="10"/>
          <p:cNvSpPr/>
          <p:nvPr/>
        </p:nvSpPr>
        <p:spPr>
          <a:xfrm flipH="false" flipV="false" rot="0">
            <a:off x="7830057" y="-232718"/>
            <a:ext cx="2424514" cy="2424514"/>
          </a:xfrm>
          <a:custGeom>
            <a:avLst/>
            <a:gdLst/>
            <a:ahLst/>
            <a:cxnLst/>
            <a:rect r="r" b="b" t="t" l="l"/>
            <a:pathLst>
              <a:path h="2424514" w="2424514">
                <a:moveTo>
                  <a:pt x="0" y="0"/>
                </a:moveTo>
                <a:lnTo>
                  <a:pt x="2424514" y="0"/>
                </a:lnTo>
                <a:lnTo>
                  <a:pt x="2424514" y="2424514"/>
                </a:lnTo>
                <a:lnTo>
                  <a:pt x="0" y="2424514"/>
                </a:lnTo>
                <a:lnTo>
                  <a:pt x="0" y="0"/>
                </a:lnTo>
                <a:close/>
              </a:path>
            </a:pathLst>
          </a:custGeom>
          <a:blipFill>
            <a:blip r:embed="rId4"/>
            <a:stretch>
              <a:fillRect l="0" t="0" r="0" b="0"/>
            </a:stretch>
          </a:blipFill>
        </p:spPr>
      </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ED">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ED">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395636" y="5010150"/>
            <a:ext cx="15715462" cy="1159969"/>
          </a:xfrm>
          <a:prstGeom prst="rect">
            <a:avLst/>
          </a:prstGeom>
        </p:spPr>
        <p:txBody>
          <a:bodyPr anchor="t" rtlCol="false" tIns="0" lIns="0" bIns="0" rIns="0">
            <a:spAutoFit/>
          </a:bodyPr>
          <a:lstStyle/>
          <a:p>
            <a:pPr algn="ctr">
              <a:lnSpc>
                <a:spcPts val="9478"/>
              </a:lnSpc>
              <a:spcBef>
                <a:spcPct val="0"/>
              </a:spcBef>
            </a:pPr>
            <a:r>
              <a:rPr lang="en-US" sz="6770">
                <a:solidFill>
                  <a:srgbClr val="FF5757"/>
                </a:solidFill>
                <a:latin typeface="HK Modular"/>
                <a:ea typeface="HK Modular"/>
                <a:cs typeface="HK Modular"/>
                <a:sym typeface="HK Modular"/>
              </a:rPr>
              <a:t>DEVOPS</a:t>
            </a:r>
          </a:p>
        </p:txBody>
      </p:sp>
      <p:sp>
        <p:nvSpPr>
          <p:cNvPr name="Freeform 13" id="13"/>
          <p:cNvSpPr/>
          <p:nvPr/>
        </p:nvSpPr>
        <p:spPr>
          <a:xfrm flipH="false" flipV="false" rot="0">
            <a:off x="7830057" y="-232718"/>
            <a:ext cx="2424514" cy="2424514"/>
          </a:xfrm>
          <a:custGeom>
            <a:avLst/>
            <a:gdLst/>
            <a:ahLst/>
            <a:cxnLst/>
            <a:rect r="r" b="b" t="t" l="l"/>
            <a:pathLst>
              <a:path h="2424514" w="2424514">
                <a:moveTo>
                  <a:pt x="0" y="0"/>
                </a:moveTo>
                <a:lnTo>
                  <a:pt x="2424514" y="0"/>
                </a:lnTo>
                <a:lnTo>
                  <a:pt x="2424514" y="2424514"/>
                </a:lnTo>
                <a:lnTo>
                  <a:pt x="0" y="2424514"/>
                </a:lnTo>
                <a:lnTo>
                  <a:pt x="0" y="0"/>
                </a:lnTo>
                <a:close/>
              </a:path>
            </a:pathLst>
          </a:custGeom>
          <a:blipFill>
            <a:blip r:embed="rId3"/>
            <a:stretch>
              <a:fillRect l="0" t="0" r="0" b="0"/>
            </a:stretch>
          </a:blipFill>
        </p:spPr>
      </p:sp>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915970" y="3883387"/>
            <a:ext cx="8481475" cy="4760228"/>
          </a:xfrm>
          <a:custGeom>
            <a:avLst/>
            <a:gdLst/>
            <a:ahLst/>
            <a:cxnLst/>
            <a:rect r="r" b="b" t="t" l="l"/>
            <a:pathLst>
              <a:path h="4760228" w="8481475">
                <a:moveTo>
                  <a:pt x="0" y="0"/>
                </a:moveTo>
                <a:lnTo>
                  <a:pt x="8481475" y="0"/>
                </a:lnTo>
                <a:lnTo>
                  <a:pt x="8481475" y="4760227"/>
                </a:lnTo>
                <a:lnTo>
                  <a:pt x="0" y="4760227"/>
                </a:lnTo>
                <a:lnTo>
                  <a:pt x="0" y="0"/>
                </a:lnTo>
                <a:close/>
              </a:path>
            </a:pathLst>
          </a:custGeom>
          <a:blipFill>
            <a:blip r:embed="rId3"/>
            <a:stretch>
              <a:fillRect l="0" t="0" r="0" b="0"/>
            </a:stretch>
          </a:blipFill>
        </p:spPr>
      </p:sp>
      <p:sp>
        <p:nvSpPr>
          <p:cNvPr name="TextBox 7" id="7"/>
          <p:cNvSpPr txBox="true"/>
          <p:nvPr/>
        </p:nvSpPr>
        <p:spPr>
          <a:xfrm rot="0">
            <a:off x="1286269" y="1886975"/>
            <a:ext cx="15715462" cy="1159969"/>
          </a:xfrm>
          <a:prstGeom prst="rect">
            <a:avLst/>
          </a:prstGeom>
        </p:spPr>
        <p:txBody>
          <a:bodyPr anchor="t" rtlCol="false" tIns="0" lIns="0" bIns="0" rIns="0">
            <a:spAutoFit/>
          </a:bodyPr>
          <a:lstStyle/>
          <a:p>
            <a:pPr algn="ctr">
              <a:lnSpc>
                <a:spcPts val="9478"/>
              </a:lnSpc>
              <a:spcBef>
                <a:spcPct val="0"/>
              </a:spcBef>
            </a:pPr>
            <a:r>
              <a:rPr lang="en-US" sz="6770">
                <a:solidFill>
                  <a:srgbClr val="FF5757"/>
                </a:solidFill>
                <a:latin typeface="HK Modular"/>
                <a:ea typeface="HK Modular"/>
                <a:cs typeface="HK Modular"/>
                <a:sym typeface="HK Modular"/>
              </a:rPr>
              <a:t>DEVOPS</a:t>
            </a:r>
          </a:p>
        </p:txBody>
      </p:sp>
      <p:sp>
        <p:nvSpPr>
          <p:cNvPr name="TextBox 8" id="8"/>
          <p:cNvSpPr txBox="true"/>
          <p:nvPr/>
        </p:nvSpPr>
        <p:spPr>
          <a:xfrm rot="0">
            <a:off x="10000602" y="3943845"/>
            <a:ext cx="7777468" cy="5029836"/>
          </a:xfrm>
          <a:prstGeom prst="rect">
            <a:avLst/>
          </a:prstGeom>
        </p:spPr>
        <p:txBody>
          <a:bodyPr anchor="t" rtlCol="false" tIns="0" lIns="0" bIns="0" rIns="0">
            <a:spAutoFit/>
          </a:bodyPr>
          <a:lstStyle/>
          <a:p>
            <a:pPr algn="just">
              <a:lnSpc>
                <a:spcPts val="3639"/>
              </a:lnSpc>
              <a:spcBef>
                <a:spcPct val="0"/>
              </a:spcBef>
            </a:pPr>
            <a:r>
              <a:rPr lang="en-US" sz="2599">
                <a:solidFill>
                  <a:srgbClr val="FFFFFF"/>
                </a:solidFill>
                <a:latin typeface="Poppins"/>
                <a:ea typeface="Poppins"/>
                <a:cs typeface="Poppins"/>
                <a:sym typeface="Poppins"/>
              </a:rPr>
              <a:t>DevOp</a:t>
            </a:r>
            <a:r>
              <a:rPr lang="en-US" sz="2599">
                <a:solidFill>
                  <a:srgbClr val="FFFFFF"/>
                </a:solidFill>
                <a:latin typeface="Poppins"/>
                <a:ea typeface="Poppins"/>
                <a:cs typeface="Poppins"/>
                <a:sym typeface="Poppins"/>
              </a:rPr>
              <a:t>s es una práctica que combina personas, procesos y tecnología para acortar el ciclo de vida del desarrollo de software, integrando los equipos de desarrollo (Dev) y operaciones (Ops) con el objetivo de entregar valor de manera continua, rápida y confiable a los clientes. Se enfoca en la colaboración, la automatización de tareas repetitivas y el uso de ciclos de retroalimentación constante para mejorar la calidad del producto y la eficiencia del equipo. </a:t>
            </a:r>
          </a:p>
        </p:txBody>
      </p:sp>
      <p:sp>
        <p:nvSpPr>
          <p:cNvPr name="Freeform 9" id="9"/>
          <p:cNvSpPr/>
          <p:nvPr/>
        </p:nvSpPr>
        <p:spPr>
          <a:xfrm flipH="false" flipV="false" rot="0">
            <a:off x="7830057" y="-232718"/>
            <a:ext cx="2424514" cy="2424514"/>
          </a:xfrm>
          <a:custGeom>
            <a:avLst/>
            <a:gdLst/>
            <a:ahLst/>
            <a:cxnLst/>
            <a:rect r="r" b="b" t="t" l="l"/>
            <a:pathLst>
              <a:path h="2424514" w="2424514">
                <a:moveTo>
                  <a:pt x="0" y="0"/>
                </a:moveTo>
                <a:lnTo>
                  <a:pt x="2424514" y="0"/>
                </a:lnTo>
                <a:lnTo>
                  <a:pt x="2424514" y="2424514"/>
                </a:lnTo>
                <a:lnTo>
                  <a:pt x="0" y="2424514"/>
                </a:lnTo>
                <a:lnTo>
                  <a:pt x="0" y="0"/>
                </a:lnTo>
                <a:close/>
              </a:path>
            </a:pathLst>
          </a:custGeom>
          <a:blipFill>
            <a:blip r:embed="rId4"/>
            <a:stretch>
              <a:fillRect l="0" t="0" r="0" b="0"/>
            </a:stretch>
          </a:blipFill>
        </p:spPr>
      </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286269" y="1886975"/>
            <a:ext cx="15715462" cy="1159969"/>
          </a:xfrm>
          <a:prstGeom prst="rect">
            <a:avLst/>
          </a:prstGeom>
        </p:spPr>
        <p:txBody>
          <a:bodyPr anchor="t" rtlCol="false" tIns="0" lIns="0" bIns="0" rIns="0">
            <a:spAutoFit/>
          </a:bodyPr>
          <a:lstStyle/>
          <a:p>
            <a:pPr algn="ctr">
              <a:lnSpc>
                <a:spcPts val="9478"/>
              </a:lnSpc>
              <a:spcBef>
                <a:spcPct val="0"/>
              </a:spcBef>
            </a:pPr>
            <a:r>
              <a:rPr lang="en-US" sz="6770">
                <a:solidFill>
                  <a:srgbClr val="FF5757"/>
                </a:solidFill>
                <a:latin typeface="HK Modular"/>
                <a:ea typeface="HK Modular"/>
                <a:cs typeface="HK Modular"/>
                <a:sym typeface="HK Modular"/>
              </a:rPr>
              <a:t>DEVOPS</a:t>
            </a:r>
          </a:p>
        </p:txBody>
      </p:sp>
      <p:sp>
        <p:nvSpPr>
          <p:cNvPr name="Freeform 7" id="7"/>
          <p:cNvSpPr/>
          <p:nvPr/>
        </p:nvSpPr>
        <p:spPr>
          <a:xfrm flipH="false" flipV="false" rot="0">
            <a:off x="1028700" y="4692177"/>
            <a:ext cx="8115300" cy="3844623"/>
          </a:xfrm>
          <a:custGeom>
            <a:avLst/>
            <a:gdLst/>
            <a:ahLst/>
            <a:cxnLst/>
            <a:rect r="r" b="b" t="t" l="l"/>
            <a:pathLst>
              <a:path h="3844623" w="8115300">
                <a:moveTo>
                  <a:pt x="0" y="0"/>
                </a:moveTo>
                <a:lnTo>
                  <a:pt x="8115300" y="0"/>
                </a:lnTo>
                <a:lnTo>
                  <a:pt x="8115300" y="3844623"/>
                </a:lnTo>
                <a:lnTo>
                  <a:pt x="0" y="3844623"/>
                </a:lnTo>
                <a:lnTo>
                  <a:pt x="0" y="0"/>
                </a:lnTo>
                <a:close/>
              </a:path>
            </a:pathLst>
          </a:custGeom>
          <a:blipFill>
            <a:blip r:embed="rId3"/>
            <a:stretch>
              <a:fillRect l="0" t="0" r="0" b="0"/>
            </a:stretch>
          </a:blipFill>
        </p:spPr>
      </p:sp>
      <p:sp>
        <p:nvSpPr>
          <p:cNvPr name="TextBox 8" id="8"/>
          <p:cNvSpPr txBox="true"/>
          <p:nvPr/>
        </p:nvSpPr>
        <p:spPr>
          <a:xfrm rot="0">
            <a:off x="9577121" y="3918472"/>
            <a:ext cx="8259192" cy="4957632"/>
          </a:xfrm>
          <a:prstGeom prst="rect">
            <a:avLst/>
          </a:prstGeom>
        </p:spPr>
        <p:txBody>
          <a:bodyPr anchor="t" rtlCol="false" tIns="0" lIns="0" bIns="0" rIns="0">
            <a:spAutoFit/>
          </a:bodyPr>
          <a:lstStyle/>
          <a:p>
            <a:pPr algn="just">
              <a:lnSpc>
                <a:spcPts val="6044"/>
              </a:lnSpc>
            </a:pPr>
            <a:r>
              <a:rPr lang="en-US" sz="4317">
                <a:solidFill>
                  <a:srgbClr val="FFFFFF"/>
                </a:solidFill>
                <a:latin typeface="Poppins"/>
                <a:ea typeface="Poppins"/>
                <a:cs typeface="Poppins"/>
                <a:sym typeface="Poppins"/>
              </a:rPr>
              <a:t>¿Q</a:t>
            </a:r>
            <a:r>
              <a:rPr lang="en-US" sz="4317">
                <a:solidFill>
                  <a:srgbClr val="FFFFFF"/>
                </a:solidFill>
                <a:latin typeface="Poppins"/>
                <a:ea typeface="Poppins"/>
                <a:cs typeface="Poppins"/>
                <a:sym typeface="Poppins"/>
              </a:rPr>
              <a:t>ué es DevOps?</a:t>
            </a:r>
          </a:p>
          <a:p>
            <a:pPr algn="just">
              <a:lnSpc>
                <a:spcPts val="6044"/>
              </a:lnSpc>
            </a:pPr>
          </a:p>
          <a:p>
            <a:pPr algn="l" marL="651512" indent="-325756" lvl="1">
              <a:lnSpc>
                <a:spcPts val="4224"/>
              </a:lnSpc>
              <a:buFont typeface="Arial"/>
              <a:buChar char="•"/>
            </a:pPr>
            <a:r>
              <a:rPr lang="en-US" sz="3017">
                <a:solidFill>
                  <a:srgbClr val="FFFFFF"/>
                </a:solidFill>
                <a:latin typeface="Poppins"/>
                <a:ea typeface="Poppins"/>
                <a:cs typeface="Poppins"/>
                <a:sym typeface="Poppins"/>
              </a:rPr>
              <a:t>Una cultura</a:t>
            </a:r>
          </a:p>
          <a:p>
            <a:pPr algn="l" marL="651512" indent="-325756" lvl="1">
              <a:lnSpc>
                <a:spcPts val="4224"/>
              </a:lnSpc>
              <a:buFont typeface="Arial"/>
              <a:buChar char="•"/>
            </a:pPr>
            <a:r>
              <a:rPr lang="en-US" sz="3017">
                <a:solidFill>
                  <a:srgbClr val="FFFFFF"/>
                </a:solidFill>
                <a:latin typeface="Poppins"/>
                <a:ea typeface="Poppins"/>
                <a:cs typeface="Poppins"/>
                <a:sym typeface="Poppins"/>
              </a:rPr>
              <a:t>Un camino para administrar el desarrollo de aplicaciones que generen valor.</a:t>
            </a:r>
          </a:p>
          <a:p>
            <a:pPr algn="l" marL="651512" indent="-325756" lvl="1">
              <a:lnSpc>
                <a:spcPts val="4224"/>
              </a:lnSpc>
              <a:buFont typeface="Arial"/>
              <a:buChar char="•"/>
            </a:pPr>
            <a:r>
              <a:rPr lang="en-US" sz="3017">
                <a:solidFill>
                  <a:srgbClr val="FFFFFF"/>
                </a:solidFill>
                <a:latin typeface="Poppins"/>
                <a:ea typeface="Poppins"/>
                <a:cs typeface="Poppins"/>
                <a:sym typeface="Poppins"/>
              </a:rPr>
              <a:t>Un esquema organizacional.</a:t>
            </a:r>
          </a:p>
          <a:p>
            <a:pPr algn="just">
              <a:lnSpc>
                <a:spcPts val="6044"/>
              </a:lnSpc>
              <a:spcBef>
                <a:spcPct val="0"/>
              </a:spcBef>
            </a:pPr>
          </a:p>
        </p:txBody>
      </p:sp>
      <p:sp>
        <p:nvSpPr>
          <p:cNvPr name="Freeform 9" id="9"/>
          <p:cNvSpPr/>
          <p:nvPr/>
        </p:nvSpPr>
        <p:spPr>
          <a:xfrm flipH="false" flipV="false" rot="0">
            <a:off x="7830057" y="-232718"/>
            <a:ext cx="2424514" cy="2424514"/>
          </a:xfrm>
          <a:custGeom>
            <a:avLst/>
            <a:gdLst/>
            <a:ahLst/>
            <a:cxnLst/>
            <a:rect r="r" b="b" t="t" l="l"/>
            <a:pathLst>
              <a:path h="2424514" w="2424514">
                <a:moveTo>
                  <a:pt x="0" y="0"/>
                </a:moveTo>
                <a:lnTo>
                  <a:pt x="2424514" y="0"/>
                </a:lnTo>
                <a:lnTo>
                  <a:pt x="2424514" y="2424514"/>
                </a:lnTo>
                <a:lnTo>
                  <a:pt x="0" y="2424514"/>
                </a:lnTo>
                <a:lnTo>
                  <a:pt x="0" y="0"/>
                </a:lnTo>
                <a:close/>
              </a:path>
            </a:pathLst>
          </a:custGeom>
          <a:blipFill>
            <a:blip r:embed="rId4"/>
            <a:stretch>
              <a:fillRect l="0" t="0" r="0" b="0"/>
            </a:stretch>
          </a:blipFill>
        </p:spPr>
      </p:sp>
    </p:spTree>
  </p:cSld>
  <p:clrMapOvr>
    <a:masterClrMapping/>
  </p:clrMapOvr>
</p:sld>
</file>

<file path=ppt/slides/slide4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286269" y="1886975"/>
            <a:ext cx="15715462" cy="1159969"/>
          </a:xfrm>
          <a:prstGeom prst="rect">
            <a:avLst/>
          </a:prstGeom>
        </p:spPr>
        <p:txBody>
          <a:bodyPr anchor="t" rtlCol="false" tIns="0" lIns="0" bIns="0" rIns="0">
            <a:spAutoFit/>
          </a:bodyPr>
          <a:lstStyle/>
          <a:p>
            <a:pPr algn="ctr">
              <a:lnSpc>
                <a:spcPts val="9478"/>
              </a:lnSpc>
              <a:spcBef>
                <a:spcPct val="0"/>
              </a:spcBef>
            </a:pPr>
            <a:r>
              <a:rPr lang="en-US" sz="6770">
                <a:solidFill>
                  <a:srgbClr val="FF5757"/>
                </a:solidFill>
                <a:latin typeface="HK Modular"/>
                <a:ea typeface="HK Modular"/>
                <a:cs typeface="HK Modular"/>
                <a:sym typeface="HK Modular"/>
              </a:rPr>
              <a:t>DEVOPS</a:t>
            </a:r>
          </a:p>
        </p:txBody>
      </p:sp>
      <p:sp>
        <p:nvSpPr>
          <p:cNvPr name="TextBox 7" id="7"/>
          <p:cNvSpPr txBox="true"/>
          <p:nvPr/>
        </p:nvSpPr>
        <p:spPr>
          <a:xfrm rot="0">
            <a:off x="9883099" y="4112568"/>
            <a:ext cx="7687233" cy="4957632"/>
          </a:xfrm>
          <a:prstGeom prst="rect">
            <a:avLst/>
          </a:prstGeom>
        </p:spPr>
        <p:txBody>
          <a:bodyPr anchor="t" rtlCol="false" tIns="0" lIns="0" bIns="0" rIns="0">
            <a:spAutoFit/>
          </a:bodyPr>
          <a:lstStyle/>
          <a:p>
            <a:pPr algn="just">
              <a:lnSpc>
                <a:spcPts val="6044"/>
              </a:lnSpc>
            </a:pPr>
            <a:r>
              <a:rPr lang="en-US" sz="4317">
                <a:solidFill>
                  <a:srgbClr val="FFFFFF"/>
                </a:solidFill>
                <a:latin typeface="Poppins"/>
                <a:ea typeface="Poppins"/>
                <a:cs typeface="Poppins"/>
                <a:sym typeface="Poppins"/>
              </a:rPr>
              <a:t>¿Q</a:t>
            </a:r>
            <a:r>
              <a:rPr lang="en-US" sz="4317">
                <a:solidFill>
                  <a:srgbClr val="FFFFFF"/>
                </a:solidFill>
                <a:latin typeface="Poppins"/>
                <a:ea typeface="Poppins"/>
                <a:cs typeface="Poppins"/>
                <a:sym typeface="Poppins"/>
              </a:rPr>
              <a:t>ué no es DevOps?</a:t>
            </a:r>
          </a:p>
          <a:p>
            <a:pPr algn="just">
              <a:lnSpc>
                <a:spcPts val="6044"/>
              </a:lnSpc>
            </a:pPr>
          </a:p>
          <a:p>
            <a:pPr algn="l" marL="651512" indent="-325756" lvl="1">
              <a:lnSpc>
                <a:spcPts val="4224"/>
              </a:lnSpc>
              <a:buFont typeface="Arial"/>
              <a:buChar char="•"/>
            </a:pPr>
            <a:r>
              <a:rPr lang="en-US" sz="3017">
                <a:solidFill>
                  <a:srgbClr val="FFFFFF"/>
                </a:solidFill>
                <a:latin typeface="Poppins"/>
                <a:ea typeface="Poppins"/>
                <a:cs typeface="Poppins"/>
                <a:sym typeface="Poppins"/>
              </a:rPr>
              <a:t>Un producto que se pueda instalar</a:t>
            </a:r>
          </a:p>
          <a:p>
            <a:pPr algn="l" marL="651512" indent="-325756" lvl="1">
              <a:lnSpc>
                <a:spcPts val="4224"/>
              </a:lnSpc>
              <a:buFont typeface="Arial"/>
              <a:buChar char="•"/>
            </a:pPr>
            <a:r>
              <a:rPr lang="en-US" sz="3017">
                <a:solidFill>
                  <a:srgbClr val="FFFFFF"/>
                </a:solidFill>
                <a:latin typeface="Poppins"/>
                <a:ea typeface="Poppins"/>
                <a:cs typeface="Poppins"/>
                <a:sym typeface="Poppins"/>
              </a:rPr>
              <a:t>Un servicio que se pueda comprar</a:t>
            </a:r>
          </a:p>
          <a:p>
            <a:pPr algn="l" marL="651512" indent="-325756" lvl="1">
              <a:lnSpc>
                <a:spcPts val="4224"/>
              </a:lnSpc>
              <a:buFont typeface="Arial"/>
              <a:buChar char="•"/>
            </a:pPr>
            <a:r>
              <a:rPr lang="en-US" sz="3017">
                <a:solidFill>
                  <a:srgbClr val="FFFFFF"/>
                </a:solidFill>
                <a:latin typeface="Poppins"/>
                <a:ea typeface="Poppins"/>
                <a:cs typeface="Poppins"/>
                <a:sym typeface="Poppins"/>
              </a:rPr>
              <a:t>Un departamento que se pueda crear</a:t>
            </a:r>
          </a:p>
          <a:p>
            <a:pPr algn="l">
              <a:lnSpc>
                <a:spcPts val="4224"/>
              </a:lnSpc>
            </a:pPr>
          </a:p>
          <a:p>
            <a:pPr algn="just">
              <a:lnSpc>
                <a:spcPts val="6044"/>
              </a:lnSpc>
              <a:spcBef>
                <a:spcPct val="0"/>
              </a:spcBef>
            </a:pPr>
          </a:p>
        </p:txBody>
      </p:sp>
      <p:sp>
        <p:nvSpPr>
          <p:cNvPr name="Freeform 8" id="8"/>
          <p:cNvSpPr/>
          <p:nvPr/>
        </p:nvSpPr>
        <p:spPr>
          <a:xfrm flipH="false" flipV="false" rot="0">
            <a:off x="1286269" y="3755044"/>
            <a:ext cx="7416915" cy="4944610"/>
          </a:xfrm>
          <a:custGeom>
            <a:avLst/>
            <a:gdLst/>
            <a:ahLst/>
            <a:cxnLst/>
            <a:rect r="r" b="b" t="t" l="l"/>
            <a:pathLst>
              <a:path h="4944610" w="7416915">
                <a:moveTo>
                  <a:pt x="0" y="0"/>
                </a:moveTo>
                <a:lnTo>
                  <a:pt x="7416915" y="0"/>
                </a:lnTo>
                <a:lnTo>
                  <a:pt x="7416915" y="4944610"/>
                </a:lnTo>
                <a:lnTo>
                  <a:pt x="0" y="4944610"/>
                </a:lnTo>
                <a:lnTo>
                  <a:pt x="0" y="0"/>
                </a:lnTo>
                <a:close/>
              </a:path>
            </a:pathLst>
          </a:custGeom>
          <a:blipFill>
            <a:blip r:embed="rId3"/>
            <a:stretch>
              <a:fillRect l="0" t="0" r="0" b="0"/>
            </a:stretch>
          </a:blipFill>
        </p:spPr>
      </p:sp>
      <p:sp>
        <p:nvSpPr>
          <p:cNvPr name="Freeform 9" id="9"/>
          <p:cNvSpPr/>
          <p:nvPr/>
        </p:nvSpPr>
        <p:spPr>
          <a:xfrm flipH="false" flipV="false" rot="0">
            <a:off x="7830057" y="-232718"/>
            <a:ext cx="2424514" cy="2424514"/>
          </a:xfrm>
          <a:custGeom>
            <a:avLst/>
            <a:gdLst/>
            <a:ahLst/>
            <a:cxnLst/>
            <a:rect r="r" b="b" t="t" l="l"/>
            <a:pathLst>
              <a:path h="2424514" w="2424514">
                <a:moveTo>
                  <a:pt x="0" y="0"/>
                </a:moveTo>
                <a:lnTo>
                  <a:pt x="2424514" y="0"/>
                </a:lnTo>
                <a:lnTo>
                  <a:pt x="2424514" y="2424514"/>
                </a:lnTo>
                <a:lnTo>
                  <a:pt x="0" y="2424514"/>
                </a:lnTo>
                <a:lnTo>
                  <a:pt x="0" y="0"/>
                </a:lnTo>
                <a:close/>
              </a:path>
            </a:pathLst>
          </a:custGeom>
          <a:blipFill>
            <a:blip r:embed="rId4"/>
            <a:stretch>
              <a:fillRect l="0" t="0" r="0" b="0"/>
            </a:stretch>
          </a:blipFill>
        </p:spPr>
      </p:sp>
    </p:spTree>
  </p:cSld>
  <p:clrMapOvr>
    <a:masterClrMapping/>
  </p:clrMapOvr>
</p:sld>
</file>

<file path=ppt/slides/slide4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286269" y="1886975"/>
            <a:ext cx="15715462" cy="1159969"/>
          </a:xfrm>
          <a:prstGeom prst="rect">
            <a:avLst/>
          </a:prstGeom>
        </p:spPr>
        <p:txBody>
          <a:bodyPr anchor="t" rtlCol="false" tIns="0" lIns="0" bIns="0" rIns="0">
            <a:spAutoFit/>
          </a:bodyPr>
          <a:lstStyle/>
          <a:p>
            <a:pPr algn="ctr">
              <a:lnSpc>
                <a:spcPts val="9478"/>
              </a:lnSpc>
              <a:spcBef>
                <a:spcPct val="0"/>
              </a:spcBef>
            </a:pPr>
            <a:r>
              <a:rPr lang="en-US" sz="6770">
                <a:solidFill>
                  <a:srgbClr val="FF5757"/>
                </a:solidFill>
                <a:latin typeface="HK Modular"/>
                <a:ea typeface="HK Modular"/>
                <a:cs typeface="HK Modular"/>
                <a:sym typeface="HK Modular"/>
              </a:rPr>
              <a:t>DEVOPS</a:t>
            </a:r>
          </a:p>
        </p:txBody>
      </p:sp>
      <p:sp>
        <p:nvSpPr>
          <p:cNvPr name="TextBox 7" id="7"/>
          <p:cNvSpPr txBox="true"/>
          <p:nvPr/>
        </p:nvSpPr>
        <p:spPr>
          <a:xfrm rot="0">
            <a:off x="5214995" y="3231720"/>
            <a:ext cx="7805399" cy="1551479"/>
          </a:xfrm>
          <a:prstGeom prst="rect">
            <a:avLst/>
          </a:prstGeom>
        </p:spPr>
        <p:txBody>
          <a:bodyPr anchor="t" rtlCol="false" tIns="0" lIns="0" bIns="0" rIns="0">
            <a:spAutoFit/>
          </a:bodyPr>
          <a:lstStyle/>
          <a:p>
            <a:pPr algn="just">
              <a:lnSpc>
                <a:spcPts val="4519"/>
              </a:lnSpc>
            </a:pPr>
            <a:r>
              <a:rPr lang="en-US" sz="3228">
                <a:solidFill>
                  <a:srgbClr val="FFFFFF"/>
                </a:solidFill>
                <a:latin typeface="Poppins"/>
                <a:ea typeface="Poppins"/>
                <a:cs typeface="Poppins"/>
                <a:sym typeface="Poppins"/>
              </a:rPr>
              <a:t>Las tres vias de adopcion de DEVOPS</a:t>
            </a:r>
          </a:p>
          <a:p>
            <a:pPr algn="l">
              <a:lnSpc>
                <a:spcPts val="3158"/>
              </a:lnSpc>
            </a:pPr>
          </a:p>
          <a:p>
            <a:pPr algn="just">
              <a:lnSpc>
                <a:spcPts val="4519"/>
              </a:lnSpc>
              <a:spcBef>
                <a:spcPct val="0"/>
              </a:spcBef>
            </a:pPr>
          </a:p>
        </p:txBody>
      </p:sp>
      <p:sp>
        <p:nvSpPr>
          <p:cNvPr name="Freeform 8" id="8"/>
          <p:cNvSpPr/>
          <p:nvPr/>
        </p:nvSpPr>
        <p:spPr>
          <a:xfrm flipH="false" flipV="false" rot="0">
            <a:off x="2396072" y="3159033"/>
            <a:ext cx="13443246" cy="7561826"/>
          </a:xfrm>
          <a:custGeom>
            <a:avLst/>
            <a:gdLst/>
            <a:ahLst/>
            <a:cxnLst/>
            <a:rect r="r" b="b" t="t" l="l"/>
            <a:pathLst>
              <a:path h="7561826" w="13443246">
                <a:moveTo>
                  <a:pt x="0" y="0"/>
                </a:moveTo>
                <a:lnTo>
                  <a:pt x="13443246" y="0"/>
                </a:lnTo>
                <a:lnTo>
                  <a:pt x="13443246" y="7561826"/>
                </a:lnTo>
                <a:lnTo>
                  <a:pt x="0" y="7561826"/>
                </a:lnTo>
                <a:lnTo>
                  <a:pt x="0" y="0"/>
                </a:lnTo>
                <a:close/>
              </a:path>
            </a:pathLst>
          </a:custGeom>
          <a:blipFill>
            <a:blip r:embed="rId3"/>
            <a:stretch>
              <a:fillRect l="0" t="0" r="0" b="0"/>
            </a:stretch>
          </a:blipFill>
        </p:spPr>
      </p:sp>
      <p:sp>
        <p:nvSpPr>
          <p:cNvPr name="Freeform 9" id="9"/>
          <p:cNvSpPr/>
          <p:nvPr/>
        </p:nvSpPr>
        <p:spPr>
          <a:xfrm flipH="false" flipV="false" rot="0">
            <a:off x="7830057" y="-232718"/>
            <a:ext cx="2424514" cy="2424514"/>
          </a:xfrm>
          <a:custGeom>
            <a:avLst/>
            <a:gdLst/>
            <a:ahLst/>
            <a:cxnLst/>
            <a:rect r="r" b="b" t="t" l="l"/>
            <a:pathLst>
              <a:path h="2424514" w="2424514">
                <a:moveTo>
                  <a:pt x="0" y="0"/>
                </a:moveTo>
                <a:lnTo>
                  <a:pt x="2424514" y="0"/>
                </a:lnTo>
                <a:lnTo>
                  <a:pt x="2424514" y="2424514"/>
                </a:lnTo>
                <a:lnTo>
                  <a:pt x="0" y="2424514"/>
                </a:lnTo>
                <a:lnTo>
                  <a:pt x="0" y="0"/>
                </a:lnTo>
                <a:close/>
              </a:path>
            </a:pathLst>
          </a:custGeom>
          <a:blipFill>
            <a:blip r:embed="rId4"/>
            <a:stretch>
              <a:fillRect l="0" t="0" r="0" b="0"/>
            </a:stretch>
          </a:blipFill>
        </p:spPr>
      </p:sp>
    </p:spTree>
  </p:cSld>
  <p:clrMapOvr>
    <a:masterClrMapping/>
  </p:clrMapOvr>
</p:sld>
</file>

<file path=ppt/slides/slide4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286269" y="1886975"/>
            <a:ext cx="15715462" cy="1159969"/>
          </a:xfrm>
          <a:prstGeom prst="rect">
            <a:avLst/>
          </a:prstGeom>
        </p:spPr>
        <p:txBody>
          <a:bodyPr anchor="t" rtlCol="false" tIns="0" lIns="0" bIns="0" rIns="0">
            <a:spAutoFit/>
          </a:bodyPr>
          <a:lstStyle/>
          <a:p>
            <a:pPr algn="ctr">
              <a:lnSpc>
                <a:spcPts val="9478"/>
              </a:lnSpc>
              <a:spcBef>
                <a:spcPct val="0"/>
              </a:spcBef>
            </a:pPr>
            <a:r>
              <a:rPr lang="en-US" sz="6770">
                <a:solidFill>
                  <a:srgbClr val="FF5757"/>
                </a:solidFill>
                <a:latin typeface="HK Modular"/>
                <a:ea typeface="HK Modular"/>
                <a:cs typeface="HK Modular"/>
                <a:sym typeface="HK Modular"/>
              </a:rPr>
              <a:t>CALMS</a:t>
            </a:r>
          </a:p>
        </p:txBody>
      </p:sp>
      <p:sp>
        <p:nvSpPr>
          <p:cNvPr name="Freeform 7" id="7"/>
          <p:cNvSpPr/>
          <p:nvPr/>
        </p:nvSpPr>
        <p:spPr>
          <a:xfrm flipH="false" flipV="false" rot="0">
            <a:off x="3761543" y="4970429"/>
            <a:ext cx="11301259" cy="3616403"/>
          </a:xfrm>
          <a:custGeom>
            <a:avLst/>
            <a:gdLst/>
            <a:ahLst/>
            <a:cxnLst/>
            <a:rect r="r" b="b" t="t" l="l"/>
            <a:pathLst>
              <a:path h="3616403" w="11301259">
                <a:moveTo>
                  <a:pt x="0" y="0"/>
                </a:moveTo>
                <a:lnTo>
                  <a:pt x="11301259" y="0"/>
                </a:lnTo>
                <a:lnTo>
                  <a:pt x="11301259" y="3616403"/>
                </a:lnTo>
                <a:lnTo>
                  <a:pt x="0" y="3616403"/>
                </a:lnTo>
                <a:lnTo>
                  <a:pt x="0" y="0"/>
                </a:lnTo>
                <a:close/>
              </a:path>
            </a:pathLst>
          </a:custGeom>
          <a:blipFill>
            <a:blip r:embed="rId3"/>
            <a:stretch>
              <a:fillRect l="0" t="0" r="0" b="0"/>
            </a:stretch>
          </a:blipFill>
        </p:spPr>
      </p:sp>
      <p:sp>
        <p:nvSpPr>
          <p:cNvPr name="TextBox 8" id="8"/>
          <p:cNvSpPr txBox="true"/>
          <p:nvPr/>
        </p:nvSpPr>
        <p:spPr>
          <a:xfrm rot="0">
            <a:off x="1459443" y="3188332"/>
            <a:ext cx="15369114" cy="1303122"/>
          </a:xfrm>
          <a:prstGeom prst="rect">
            <a:avLst/>
          </a:prstGeom>
        </p:spPr>
        <p:txBody>
          <a:bodyPr anchor="t" rtlCol="false" tIns="0" lIns="0" bIns="0" rIns="0">
            <a:spAutoFit/>
          </a:bodyPr>
          <a:lstStyle/>
          <a:p>
            <a:pPr algn="just">
              <a:lnSpc>
                <a:spcPts val="3419"/>
              </a:lnSpc>
              <a:spcBef>
                <a:spcPct val="0"/>
              </a:spcBef>
            </a:pPr>
            <a:r>
              <a:rPr lang="en-US" sz="2442">
                <a:solidFill>
                  <a:srgbClr val="FFFFFF"/>
                </a:solidFill>
                <a:latin typeface="Poppins"/>
                <a:ea typeface="Poppins"/>
                <a:cs typeface="Poppins"/>
                <a:sym typeface="Poppins"/>
              </a:rPr>
              <a:t>CALMS es un marco para evaluar/adoptar DevOps que integra Cultura, Automatización, enfoque Lean, Medición y Sharing (compartir): personas primero, flujos automatizados y ligeros, decisiones basadas en métricas y aprendizaje abierto.</a:t>
            </a:r>
          </a:p>
        </p:txBody>
      </p:sp>
      <p:sp>
        <p:nvSpPr>
          <p:cNvPr name="TextBox 9" id="9"/>
          <p:cNvSpPr txBox="true"/>
          <p:nvPr/>
        </p:nvSpPr>
        <p:spPr>
          <a:xfrm rot="0">
            <a:off x="3493371" y="9201150"/>
            <a:ext cx="11301259" cy="34226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Poppins"/>
                <a:ea typeface="Poppins"/>
                <a:cs typeface="Poppins"/>
                <a:sym typeface="Poppins"/>
              </a:rPr>
              <a:t>Lean busca maximizar el valor entregado al cliente y minimizar los desperdicios.</a:t>
            </a:r>
          </a:p>
        </p:txBody>
      </p:sp>
      <p:sp>
        <p:nvSpPr>
          <p:cNvPr name="Freeform 10" id="10"/>
          <p:cNvSpPr/>
          <p:nvPr/>
        </p:nvSpPr>
        <p:spPr>
          <a:xfrm flipH="false" flipV="false" rot="0">
            <a:off x="7830057" y="-232718"/>
            <a:ext cx="2424514" cy="2424514"/>
          </a:xfrm>
          <a:custGeom>
            <a:avLst/>
            <a:gdLst/>
            <a:ahLst/>
            <a:cxnLst/>
            <a:rect r="r" b="b" t="t" l="l"/>
            <a:pathLst>
              <a:path h="2424514" w="2424514">
                <a:moveTo>
                  <a:pt x="0" y="0"/>
                </a:moveTo>
                <a:lnTo>
                  <a:pt x="2424514" y="0"/>
                </a:lnTo>
                <a:lnTo>
                  <a:pt x="2424514" y="2424514"/>
                </a:lnTo>
                <a:lnTo>
                  <a:pt x="0" y="2424514"/>
                </a:lnTo>
                <a:lnTo>
                  <a:pt x="0" y="0"/>
                </a:lnTo>
                <a:close/>
              </a:path>
            </a:pathLst>
          </a:custGeom>
          <a:blipFill>
            <a:blip r:embed="rId4"/>
            <a:stretch>
              <a:fillRect l="0" t="0" r="0" b="0"/>
            </a:stretch>
          </a:blipFill>
        </p:spPr>
      </p:sp>
    </p:spTree>
  </p:cSld>
  <p:clrMapOvr>
    <a:masterClrMapping/>
  </p:clrMapOvr>
</p:sld>
</file>

<file path=ppt/slides/slide4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ED">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ED">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395636" y="5010150"/>
            <a:ext cx="15715462" cy="1159969"/>
          </a:xfrm>
          <a:prstGeom prst="rect">
            <a:avLst/>
          </a:prstGeom>
        </p:spPr>
        <p:txBody>
          <a:bodyPr anchor="t" rtlCol="false" tIns="0" lIns="0" bIns="0" rIns="0">
            <a:spAutoFit/>
          </a:bodyPr>
          <a:lstStyle/>
          <a:p>
            <a:pPr algn="ctr">
              <a:lnSpc>
                <a:spcPts val="9478"/>
              </a:lnSpc>
              <a:spcBef>
                <a:spcPct val="0"/>
              </a:spcBef>
            </a:pPr>
            <a:r>
              <a:rPr lang="en-US" sz="6770">
                <a:solidFill>
                  <a:srgbClr val="FF5757"/>
                </a:solidFill>
                <a:latin typeface="HK Modular"/>
                <a:ea typeface="HK Modular"/>
                <a:cs typeface="HK Modular"/>
                <a:sym typeface="HK Modular"/>
              </a:rPr>
              <a:t>IT AS A SERVICE</a:t>
            </a:r>
          </a:p>
        </p:txBody>
      </p:sp>
      <p:sp>
        <p:nvSpPr>
          <p:cNvPr name="Freeform 13" id="13"/>
          <p:cNvSpPr/>
          <p:nvPr/>
        </p:nvSpPr>
        <p:spPr>
          <a:xfrm flipH="false" flipV="false" rot="0">
            <a:off x="7830057" y="-232718"/>
            <a:ext cx="2424514" cy="2424514"/>
          </a:xfrm>
          <a:custGeom>
            <a:avLst/>
            <a:gdLst/>
            <a:ahLst/>
            <a:cxnLst/>
            <a:rect r="r" b="b" t="t" l="l"/>
            <a:pathLst>
              <a:path h="2424514" w="2424514">
                <a:moveTo>
                  <a:pt x="0" y="0"/>
                </a:moveTo>
                <a:lnTo>
                  <a:pt x="2424514" y="0"/>
                </a:lnTo>
                <a:lnTo>
                  <a:pt x="2424514" y="2424514"/>
                </a:lnTo>
                <a:lnTo>
                  <a:pt x="0" y="2424514"/>
                </a:lnTo>
                <a:lnTo>
                  <a:pt x="0" y="0"/>
                </a:lnTo>
                <a:close/>
              </a:path>
            </a:pathLst>
          </a:custGeom>
          <a:blipFill>
            <a:blip r:embed="rId3"/>
            <a:stretch>
              <a:fillRect l="0" t="0" r="0" b="0"/>
            </a:stretch>
          </a:blipFill>
        </p:spPr>
      </p:sp>
    </p:spTree>
  </p:cSld>
  <p:clrMapOvr>
    <a:masterClrMapping/>
  </p:clrMapOvr>
</p:sld>
</file>

<file path=ppt/slides/slide5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1352611" y="3512741"/>
            <a:ext cx="5906689" cy="5906689"/>
          </a:xfrm>
          <a:custGeom>
            <a:avLst/>
            <a:gdLst/>
            <a:ahLst/>
            <a:cxnLst/>
            <a:rect r="r" b="b" t="t" l="l"/>
            <a:pathLst>
              <a:path h="5906689" w="5906689">
                <a:moveTo>
                  <a:pt x="0" y="0"/>
                </a:moveTo>
                <a:lnTo>
                  <a:pt x="5906689" y="0"/>
                </a:lnTo>
                <a:lnTo>
                  <a:pt x="5906689" y="5906689"/>
                </a:lnTo>
                <a:lnTo>
                  <a:pt x="0" y="5906689"/>
                </a:lnTo>
                <a:lnTo>
                  <a:pt x="0" y="0"/>
                </a:lnTo>
                <a:close/>
              </a:path>
            </a:pathLst>
          </a:custGeom>
          <a:blipFill>
            <a:blip r:embed="rId3"/>
            <a:stretch>
              <a:fillRect l="0" t="0" r="0" b="0"/>
            </a:stretch>
          </a:blipFill>
        </p:spPr>
      </p:sp>
      <p:sp>
        <p:nvSpPr>
          <p:cNvPr name="TextBox 7" id="7"/>
          <p:cNvSpPr txBox="true"/>
          <p:nvPr/>
        </p:nvSpPr>
        <p:spPr>
          <a:xfrm rot="0">
            <a:off x="1543838" y="2058446"/>
            <a:ext cx="15715462" cy="1159969"/>
          </a:xfrm>
          <a:prstGeom prst="rect">
            <a:avLst/>
          </a:prstGeom>
        </p:spPr>
        <p:txBody>
          <a:bodyPr anchor="t" rtlCol="false" tIns="0" lIns="0" bIns="0" rIns="0">
            <a:spAutoFit/>
          </a:bodyPr>
          <a:lstStyle/>
          <a:p>
            <a:pPr algn="ctr">
              <a:lnSpc>
                <a:spcPts val="9478"/>
              </a:lnSpc>
              <a:spcBef>
                <a:spcPct val="0"/>
              </a:spcBef>
            </a:pPr>
            <a:r>
              <a:rPr lang="en-US" sz="6770">
                <a:solidFill>
                  <a:srgbClr val="FF5757"/>
                </a:solidFill>
                <a:latin typeface="HK Modular"/>
                <a:ea typeface="HK Modular"/>
                <a:cs typeface="HK Modular"/>
                <a:sym typeface="HK Modular"/>
              </a:rPr>
              <a:t>IT AS A SERVICE</a:t>
            </a:r>
          </a:p>
        </p:txBody>
      </p:sp>
      <p:sp>
        <p:nvSpPr>
          <p:cNvPr name="TextBox 8" id="8"/>
          <p:cNvSpPr txBox="true"/>
          <p:nvPr/>
        </p:nvSpPr>
        <p:spPr>
          <a:xfrm rot="0">
            <a:off x="761450" y="3917768"/>
            <a:ext cx="9538527" cy="5029960"/>
          </a:xfrm>
          <a:prstGeom prst="rect">
            <a:avLst/>
          </a:prstGeom>
        </p:spPr>
        <p:txBody>
          <a:bodyPr anchor="t" rtlCol="false" tIns="0" lIns="0" bIns="0" rIns="0">
            <a:spAutoFit/>
          </a:bodyPr>
          <a:lstStyle/>
          <a:p>
            <a:pPr algn="just">
              <a:lnSpc>
                <a:spcPts val="3633"/>
              </a:lnSpc>
            </a:pPr>
            <a:r>
              <a:rPr lang="en-US" sz="2595">
                <a:solidFill>
                  <a:srgbClr val="FFFFFF"/>
                </a:solidFill>
                <a:latin typeface="Poppins"/>
                <a:ea typeface="Poppins"/>
                <a:cs typeface="Poppins"/>
                <a:sym typeface="Poppins"/>
              </a:rPr>
              <a:t>Convierte a TI</a:t>
            </a:r>
            <a:r>
              <a:rPr lang="en-US" sz="2595">
                <a:solidFill>
                  <a:srgbClr val="FFFFFF"/>
                </a:solidFill>
                <a:latin typeface="Poppins"/>
                <a:ea typeface="Poppins"/>
                <a:cs typeface="Poppins"/>
                <a:sym typeface="Poppins"/>
              </a:rPr>
              <a:t> en un proveedor interno de servicios con un catálogo claro, acuerdos de servicio y costos visibles. En lugar de tickets ambiguos, </a:t>
            </a:r>
          </a:p>
          <a:p>
            <a:pPr algn="just">
              <a:lnSpc>
                <a:spcPts val="3633"/>
              </a:lnSpc>
            </a:pPr>
          </a:p>
          <a:p>
            <a:pPr algn="just">
              <a:lnSpc>
                <a:spcPts val="3633"/>
              </a:lnSpc>
              <a:spcBef>
                <a:spcPct val="0"/>
              </a:spcBef>
            </a:pPr>
            <a:r>
              <a:rPr lang="en-US" sz="2595">
                <a:solidFill>
                  <a:srgbClr val="FFFFFF"/>
                </a:solidFill>
                <a:latin typeface="Poppins"/>
                <a:ea typeface="Poppins"/>
                <a:cs typeface="Poppins"/>
                <a:sym typeface="Poppins"/>
              </a:rPr>
              <a:t>los equipos consumen productos de plataforma: crear un entorno de aplicación, solicitar una base de datos administrada, registrar un dominio, activar observabilidad, gestionar identidades. Cada ítem del catálogo define qué entrega, cómo se solicita, cuánto tarda, cuánto cuesta y qué responsabilidades mantienen cliente y proveedor (modelo RACI).</a:t>
            </a:r>
          </a:p>
        </p:txBody>
      </p:sp>
      <p:sp>
        <p:nvSpPr>
          <p:cNvPr name="Freeform 9" id="9"/>
          <p:cNvSpPr/>
          <p:nvPr/>
        </p:nvSpPr>
        <p:spPr>
          <a:xfrm flipH="false" flipV="false" rot="0">
            <a:off x="7830057" y="-232718"/>
            <a:ext cx="2424514" cy="2424514"/>
          </a:xfrm>
          <a:custGeom>
            <a:avLst/>
            <a:gdLst/>
            <a:ahLst/>
            <a:cxnLst/>
            <a:rect r="r" b="b" t="t" l="l"/>
            <a:pathLst>
              <a:path h="2424514" w="2424514">
                <a:moveTo>
                  <a:pt x="0" y="0"/>
                </a:moveTo>
                <a:lnTo>
                  <a:pt x="2424514" y="0"/>
                </a:lnTo>
                <a:lnTo>
                  <a:pt x="2424514" y="2424514"/>
                </a:lnTo>
                <a:lnTo>
                  <a:pt x="0" y="2424514"/>
                </a:lnTo>
                <a:lnTo>
                  <a:pt x="0" y="0"/>
                </a:lnTo>
                <a:close/>
              </a:path>
            </a:pathLst>
          </a:custGeom>
          <a:blipFill>
            <a:blip r:embed="rId4"/>
            <a:stretch>
              <a:fillRect l="0" t="0" r="0" b="0"/>
            </a:stretch>
          </a:blipFill>
        </p:spPr>
      </p:sp>
    </p:spTree>
  </p:cSld>
  <p:clrMapOvr>
    <a:masterClrMapping/>
  </p:clrMapOvr>
</p:sld>
</file>

<file path=ppt/slides/slide5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888833" y="4099513"/>
            <a:ext cx="7769742" cy="4739543"/>
          </a:xfrm>
          <a:custGeom>
            <a:avLst/>
            <a:gdLst/>
            <a:ahLst/>
            <a:cxnLst/>
            <a:rect r="r" b="b" t="t" l="l"/>
            <a:pathLst>
              <a:path h="4739543" w="7769742">
                <a:moveTo>
                  <a:pt x="0" y="0"/>
                </a:moveTo>
                <a:lnTo>
                  <a:pt x="7769743" y="0"/>
                </a:lnTo>
                <a:lnTo>
                  <a:pt x="7769743" y="4739543"/>
                </a:lnTo>
                <a:lnTo>
                  <a:pt x="0" y="4739543"/>
                </a:lnTo>
                <a:lnTo>
                  <a:pt x="0" y="0"/>
                </a:lnTo>
                <a:close/>
              </a:path>
            </a:pathLst>
          </a:custGeom>
          <a:blipFill>
            <a:blip r:embed="rId3"/>
            <a:stretch>
              <a:fillRect l="0" t="0" r="0" b="0"/>
            </a:stretch>
          </a:blipFill>
        </p:spPr>
      </p:sp>
      <p:sp>
        <p:nvSpPr>
          <p:cNvPr name="Freeform 7" id="7"/>
          <p:cNvSpPr/>
          <p:nvPr/>
        </p:nvSpPr>
        <p:spPr>
          <a:xfrm flipH="false" flipV="false" rot="0">
            <a:off x="9144000" y="4099513"/>
            <a:ext cx="8425854" cy="4739543"/>
          </a:xfrm>
          <a:custGeom>
            <a:avLst/>
            <a:gdLst/>
            <a:ahLst/>
            <a:cxnLst/>
            <a:rect r="r" b="b" t="t" l="l"/>
            <a:pathLst>
              <a:path h="4739543" w="8425854">
                <a:moveTo>
                  <a:pt x="0" y="0"/>
                </a:moveTo>
                <a:lnTo>
                  <a:pt x="8425854" y="0"/>
                </a:lnTo>
                <a:lnTo>
                  <a:pt x="8425854" y="4739543"/>
                </a:lnTo>
                <a:lnTo>
                  <a:pt x="0" y="4739543"/>
                </a:lnTo>
                <a:lnTo>
                  <a:pt x="0" y="0"/>
                </a:lnTo>
                <a:close/>
              </a:path>
            </a:pathLst>
          </a:custGeom>
          <a:blipFill>
            <a:blip r:embed="rId4"/>
            <a:stretch>
              <a:fillRect l="0" t="0" r="0" b="0"/>
            </a:stretch>
          </a:blipFill>
        </p:spPr>
      </p:sp>
      <p:sp>
        <p:nvSpPr>
          <p:cNvPr name="TextBox 8" id="8"/>
          <p:cNvSpPr txBox="true"/>
          <p:nvPr/>
        </p:nvSpPr>
        <p:spPr>
          <a:xfrm rot="0">
            <a:off x="1543838" y="2058446"/>
            <a:ext cx="15715462" cy="1159969"/>
          </a:xfrm>
          <a:prstGeom prst="rect">
            <a:avLst/>
          </a:prstGeom>
        </p:spPr>
        <p:txBody>
          <a:bodyPr anchor="t" rtlCol="false" tIns="0" lIns="0" bIns="0" rIns="0">
            <a:spAutoFit/>
          </a:bodyPr>
          <a:lstStyle/>
          <a:p>
            <a:pPr algn="ctr">
              <a:lnSpc>
                <a:spcPts val="9478"/>
              </a:lnSpc>
              <a:spcBef>
                <a:spcPct val="0"/>
              </a:spcBef>
            </a:pPr>
            <a:r>
              <a:rPr lang="en-US" sz="6770">
                <a:solidFill>
                  <a:srgbClr val="FF5757"/>
                </a:solidFill>
                <a:latin typeface="HK Modular"/>
                <a:ea typeface="HK Modular"/>
                <a:cs typeface="HK Modular"/>
                <a:sym typeface="HK Modular"/>
              </a:rPr>
              <a:t>IT AS A SERVICE</a:t>
            </a:r>
          </a:p>
        </p:txBody>
      </p:sp>
      <p:sp>
        <p:nvSpPr>
          <p:cNvPr name="Freeform 9" id="9"/>
          <p:cNvSpPr/>
          <p:nvPr/>
        </p:nvSpPr>
        <p:spPr>
          <a:xfrm flipH="false" flipV="false" rot="0">
            <a:off x="7830057" y="-232718"/>
            <a:ext cx="2424514" cy="2424514"/>
          </a:xfrm>
          <a:custGeom>
            <a:avLst/>
            <a:gdLst/>
            <a:ahLst/>
            <a:cxnLst/>
            <a:rect r="r" b="b" t="t" l="l"/>
            <a:pathLst>
              <a:path h="2424514" w="2424514">
                <a:moveTo>
                  <a:pt x="0" y="0"/>
                </a:moveTo>
                <a:lnTo>
                  <a:pt x="2424514" y="0"/>
                </a:lnTo>
                <a:lnTo>
                  <a:pt x="2424514" y="2424514"/>
                </a:lnTo>
                <a:lnTo>
                  <a:pt x="0" y="2424514"/>
                </a:lnTo>
                <a:lnTo>
                  <a:pt x="0" y="0"/>
                </a:lnTo>
                <a:close/>
              </a:path>
            </a:pathLst>
          </a:custGeom>
          <a:blipFill>
            <a:blip r:embed="rId5"/>
            <a:stretch>
              <a:fillRect l="0" t="0" r="0" b="0"/>
            </a:stretch>
          </a:blipFill>
        </p:spPr>
      </p:sp>
    </p:spTree>
  </p:cSld>
  <p:clrMapOvr>
    <a:masterClrMapping/>
  </p:clrMapOvr>
</p:sld>
</file>

<file path=ppt/slides/slide5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ED">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ED">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395636" y="4507864"/>
            <a:ext cx="15715462" cy="1159969"/>
          </a:xfrm>
          <a:prstGeom prst="rect">
            <a:avLst/>
          </a:prstGeom>
        </p:spPr>
        <p:txBody>
          <a:bodyPr anchor="t" rtlCol="false" tIns="0" lIns="0" bIns="0" rIns="0">
            <a:spAutoFit/>
          </a:bodyPr>
          <a:lstStyle/>
          <a:p>
            <a:pPr algn="ctr">
              <a:lnSpc>
                <a:spcPts val="9478"/>
              </a:lnSpc>
              <a:spcBef>
                <a:spcPct val="0"/>
              </a:spcBef>
            </a:pPr>
            <a:r>
              <a:rPr lang="en-US" sz="6770">
                <a:solidFill>
                  <a:srgbClr val="FF5757"/>
                </a:solidFill>
                <a:latin typeface="HK Modular"/>
                <a:ea typeface="HK Modular"/>
                <a:cs typeface="HK Modular"/>
                <a:sym typeface="HK Modular"/>
              </a:rPr>
              <a:t>MICROCONTENEDORES</a:t>
            </a:r>
          </a:p>
        </p:txBody>
      </p:sp>
      <p:sp>
        <p:nvSpPr>
          <p:cNvPr name="Freeform 13" id="13"/>
          <p:cNvSpPr/>
          <p:nvPr/>
        </p:nvSpPr>
        <p:spPr>
          <a:xfrm flipH="false" flipV="false" rot="0">
            <a:off x="7830057" y="-232718"/>
            <a:ext cx="2424514" cy="2424514"/>
          </a:xfrm>
          <a:custGeom>
            <a:avLst/>
            <a:gdLst/>
            <a:ahLst/>
            <a:cxnLst/>
            <a:rect r="r" b="b" t="t" l="l"/>
            <a:pathLst>
              <a:path h="2424514" w="2424514">
                <a:moveTo>
                  <a:pt x="0" y="0"/>
                </a:moveTo>
                <a:lnTo>
                  <a:pt x="2424514" y="0"/>
                </a:lnTo>
                <a:lnTo>
                  <a:pt x="2424514" y="2424514"/>
                </a:lnTo>
                <a:lnTo>
                  <a:pt x="0" y="2424514"/>
                </a:lnTo>
                <a:lnTo>
                  <a:pt x="0" y="0"/>
                </a:lnTo>
                <a:close/>
              </a:path>
            </a:pathLst>
          </a:custGeom>
          <a:blipFill>
            <a:blip r:embed="rId3"/>
            <a:stretch>
              <a:fillRect l="0" t="0" r="0" b="0"/>
            </a:stretch>
          </a:blipFill>
        </p:spPr>
      </p:sp>
    </p:spTree>
  </p:cSld>
  <p:clrMapOvr>
    <a:masterClrMapping/>
  </p:clrMapOvr>
</p:sld>
</file>

<file path=ppt/slides/slide5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3792521" y="2106071"/>
            <a:ext cx="10702957" cy="784900"/>
          </a:xfrm>
          <a:prstGeom prst="rect">
            <a:avLst/>
          </a:prstGeom>
        </p:spPr>
        <p:txBody>
          <a:bodyPr anchor="t" rtlCol="false" tIns="0" lIns="0" bIns="0" rIns="0">
            <a:spAutoFit/>
          </a:bodyPr>
          <a:lstStyle/>
          <a:p>
            <a:pPr algn="ctr">
              <a:lnSpc>
                <a:spcPts val="6455"/>
              </a:lnSpc>
              <a:spcBef>
                <a:spcPct val="0"/>
              </a:spcBef>
            </a:pPr>
            <a:r>
              <a:rPr lang="en-US" sz="4610">
                <a:solidFill>
                  <a:srgbClr val="FF007A"/>
                </a:solidFill>
                <a:latin typeface="HK Modular"/>
                <a:ea typeface="HK Modular"/>
                <a:cs typeface="HK Modular"/>
                <a:sym typeface="HK Modular"/>
              </a:rPr>
              <a:t>MICROCONTENEDORES</a:t>
            </a:r>
          </a:p>
        </p:txBody>
      </p:sp>
      <p:sp>
        <p:nvSpPr>
          <p:cNvPr name="TextBox 7" id="7"/>
          <p:cNvSpPr txBox="true"/>
          <p:nvPr/>
        </p:nvSpPr>
        <p:spPr>
          <a:xfrm rot="0">
            <a:off x="1169860" y="3993079"/>
            <a:ext cx="6361340" cy="4647334"/>
          </a:xfrm>
          <a:prstGeom prst="rect">
            <a:avLst/>
          </a:prstGeom>
        </p:spPr>
        <p:txBody>
          <a:bodyPr anchor="t" rtlCol="false" tIns="0" lIns="0" bIns="0" rIns="0">
            <a:spAutoFit/>
          </a:bodyPr>
          <a:lstStyle/>
          <a:p>
            <a:pPr algn="l" marL="515382" indent="-257691" lvl="1">
              <a:lnSpc>
                <a:spcPts val="3341"/>
              </a:lnSpc>
              <a:buFont typeface="Arial"/>
              <a:buChar char="•"/>
            </a:pPr>
            <a:r>
              <a:rPr lang="en-US" sz="2387">
                <a:solidFill>
                  <a:srgbClr val="FFFFFF"/>
                </a:solidFill>
                <a:latin typeface="Poppins"/>
                <a:ea typeface="Poppins"/>
                <a:cs typeface="Poppins"/>
                <a:sym typeface="Poppins"/>
              </a:rPr>
              <a:t>Un microcontenedor es un tipo de contenedor muy ligero diseñado para ejecutar una aplicación con la mínima cantidad de dependencias y librerías posibles.</a:t>
            </a:r>
          </a:p>
          <a:p>
            <a:pPr algn="l">
              <a:lnSpc>
                <a:spcPts val="3341"/>
              </a:lnSpc>
            </a:pPr>
          </a:p>
          <a:p>
            <a:pPr algn="l" marL="515382" indent="-257691" lvl="1">
              <a:lnSpc>
                <a:spcPts val="3341"/>
              </a:lnSpc>
              <a:buFont typeface="Arial"/>
              <a:buChar char="•"/>
            </a:pPr>
            <a:r>
              <a:rPr lang="en-US" sz="2387">
                <a:solidFill>
                  <a:srgbClr val="FFFFFF"/>
                </a:solidFill>
                <a:latin typeface="Poppins"/>
                <a:ea typeface="Poppins"/>
                <a:cs typeface="Poppins"/>
                <a:sym typeface="Poppins"/>
              </a:rPr>
              <a:t>Son imágenes de contenedor reducidas al mínimo necesario para funcionar, eliminando todo lo que no aporta valor (documentación, librerías extra, utilidades del sistema).</a:t>
            </a:r>
          </a:p>
        </p:txBody>
      </p:sp>
      <p:sp>
        <p:nvSpPr>
          <p:cNvPr name="Freeform 8" id="8"/>
          <p:cNvSpPr/>
          <p:nvPr/>
        </p:nvSpPr>
        <p:spPr>
          <a:xfrm flipH="false" flipV="false" rot="0">
            <a:off x="8636641" y="4059754"/>
            <a:ext cx="8812399" cy="4728634"/>
          </a:xfrm>
          <a:custGeom>
            <a:avLst/>
            <a:gdLst/>
            <a:ahLst/>
            <a:cxnLst/>
            <a:rect r="r" b="b" t="t" l="l"/>
            <a:pathLst>
              <a:path h="4728634" w="8812399">
                <a:moveTo>
                  <a:pt x="0" y="0"/>
                </a:moveTo>
                <a:lnTo>
                  <a:pt x="8812399" y="0"/>
                </a:lnTo>
                <a:lnTo>
                  <a:pt x="8812399" y="4728633"/>
                </a:lnTo>
                <a:lnTo>
                  <a:pt x="0" y="4728633"/>
                </a:lnTo>
                <a:lnTo>
                  <a:pt x="0" y="0"/>
                </a:lnTo>
                <a:close/>
              </a:path>
            </a:pathLst>
          </a:custGeom>
          <a:blipFill>
            <a:blip r:embed="rId3"/>
            <a:stretch>
              <a:fillRect l="0" t="0" r="0" b="-2965"/>
            </a:stretch>
          </a:blipFill>
        </p:spPr>
      </p:sp>
      <p:sp>
        <p:nvSpPr>
          <p:cNvPr name="Freeform 9" id="9"/>
          <p:cNvSpPr/>
          <p:nvPr/>
        </p:nvSpPr>
        <p:spPr>
          <a:xfrm flipH="false" flipV="false" rot="0">
            <a:off x="7830057" y="-232718"/>
            <a:ext cx="2424514" cy="2424514"/>
          </a:xfrm>
          <a:custGeom>
            <a:avLst/>
            <a:gdLst/>
            <a:ahLst/>
            <a:cxnLst/>
            <a:rect r="r" b="b" t="t" l="l"/>
            <a:pathLst>
              <a:path h="2424514" w="2424514">
                <a:moveTo>
                  <a:pt x="0" y="0"/>
                </a:moveTo>
                <a:lnTo>
                  <a:pt x="2424514" y="0"/>
                </a:lnTo>
                <a:lnTo>
                  <a:pt x="2424514" y="2424514"/>
                </a:lnTo>
                <a:lnTo>
                  <a:pt x="0" y="2424514"/>
                </a:lnTo>
                <a:lnTo>
                  <a:pt x="0" y="0"/>
                </a:lnTo>
                <a:close/>
              </a:path>
            </a:pathLst>
          </a:custGeom>
          <a:blipFill>
            <a:blip r:embed="rId4"/>
            <a:stretch>
              <a:fillRect l="0" t="0" r="0" b="0"/>
            </a:stretch>
          </a:blipFill>
        </p:spPr>
      </p:sp>
    </p:spTree>
  </p:cSld>
  <p:clrMapOvr>
    <a:masterClrMapping/>
  </p:clrMapOvr>
</p:sld>
</file>

<file path=ppt/slides/slide5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830834"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028700" y="2106071"/>
            <a:ext cx="16466439" cy="784900"/>
          </a:xfrm>
          <a:prstGeom prst="rect">
            <a:avLst/>
          </a:prstGeom>
        </p:spPr>
        <p:txBody>
          <a:bodyPr anchor="t" rtlCol="false" tIns="0" lIns="0" bIns="0" rIns="0">
            <a:spAutoFit/>
          </a:bodyPr>
          <a:lstStyle/>
          <a:p>
            <a:pPr algn="ctr">
              <a:lnSpc>
                <a:spcPts val="6455"/>
              </a:lnSpc>
              <a:spcBef>
                <a:spcPct val="0"/>
              </a:spcBef>
            </a:pPr>
            <a:r>
              <a:rPr lang="en-US" sz="4610">
                <a:solidFill>
                  <a:srgbClr val="FF007A"/>
                </a:solidFill>
                <a:latin typeface="HK Modular"/>
                <a:ea typeface="HK Modular"/>
                <a:cs typeface="HK Modular"/>
                <a:sym typeface="HK Modular"/>
              </a:rPr>
              <a:t>MICROCONTENEDORES - VENTAJAS</a:t>
            </a:r>
          </a:p>
        </p:txBody>
      </p:sp>
      <p:sp>
        <p:nvSpPr>
          <p:cNvPr name="TextBox 7" id="7"/>
          <p:cNvSpPr txBox="true"/>
          <p:nvPr/>
        </p:nvSpPr>
        <p:spPr>
          <a:xfrm rot="0">
            <a:off x="1859983" y="3556029"/>
            <a:ext cx="14568034" cy="5988599"/>
          </a:xfrm>
          <a:prstGeom prst="rect">
            <a:avLst/>
          </a:prstGeom>
        </p:spPr>
        <p:txBody>
          <a:bodyPr anchor="t" rtlCol="false" tIns="0" lIns="0" bIns="0" rIns="0">
            <a:spAutoFit/>
          </a:bodyPr>
          <a:lstStyle/>
          <a:p>
            <a:pPr algn="just">
              <a:lnSpc>
                <a:spcPts val="3705"/>
              </a:lnSpc>
            </a:pPr>
            <a:r>
              <a:rPr lang="en-US" sz="2647">
                <a:solidFill>
                  <a:srgbClr val="FFFFFF"/>
                </a:solidFill>
                <a:latin typeface="Poppins"/>
                <a:ea typeface="Poppins"/>
                <a:cs typeface="Poppins"/>
                <a:sym typeface="Poppins"/>
              </a:rPr>
              <a:t>Tamaño muy reducido</a:t>
            </a:r>
          </a:p>
          <a:p>
            <a:pPr algn="just" marL="571515" indent="-285758" lvl="1">
              <a:lnSpc>
                <a:spcPts val="3705"/>
              </a:lnSpc>
              <a:buFont typeface="Arial"/>
              <a:buChar char="•"/>
            </a:pPr>
            <a:r>
              <a:rPr lang="en-US" sz="2647">
                <a:solidFill>
                  <a:srgbClr val="FFFFFF"/>
                </a:solidFill>
                <a:latin typeface="Poppins"/>
                <a:ea typeface="Poppins"/>
                <a:cs typeface="Poppins"/>
                <a:sym typeface="Poppins"/>
              </a:rPr>
              <a:t>Ejemplo: una imagen base de Ubuntu puede pesar &gt;70 MB, mientras que un microcontenedor como Alpine Linux pesa ~5 MB.</a:t>
            </a:r>
          </a:p>
          <a:p>
            <a:pPr algn="just">
              <a:lnSpc>
                <a:spcPts val="3705"/>
              </a:lnSpc>
            </a:pPr>
            <a:r>
              <a:rPr lang="en-US" sz="2647">
                <a:solidFill>
                  <a:srgbClr val="FFFFFF"/>
                </a:solidFill>
                <a:latin typeface="Poppins"/>
                <a:ea typeface="Poppins"/>
                <a:cs typeface="Poppins"/>
                <a:sym typeface="Poppins"/>
              </a:rPr>
              <a:t>Seguridad mejorada</a:t>
            </a:r>
          </a:p>
          <a:p>
            <a:pPr algn="just" marL="571515" indent="-285758" lvl="1">
              <a:lnSpc>
                <a:spcPts val="3705"/>
              </a:lnSpc>
              <a:buFont typeface="Arial"/>
              <a:buChar char="•"/>
            </a:pPr>
            <a:r>
              <a:rPr lang="en-US" sz="2647">
                <a:solidFill>
                  <a:srgbClr val="FFFFFF"/>
                </a:solidFill>
                <a:latin typeface="Poppins"/>
                <a:ea typeface="Poppins"/>
                <a:cs typeface="Poppins"/>
                <a:sym typeface="Poppins"/>
              </a:rPr>
              <a:t>Menos paquetes = menor superficie de ataque.</a:t>
            </a:r>
          </a:p>
          <a:p>
            <a:pPr algn="just" marL="571515" indent="-285758" lvl="1">
              <a:lnSpc>
                <a:spcPts val="3705"/>
              </a:lnSpc>
              <a:buFont typeface="Arial"/>
              <a:buChar char="•"/>
            </a:pPr>
            <a:r>
              <a:rPr lang="en-US" sz="2647">
                <a:solidFill>
                  <a:srgbClr val="FFFFFF"/>
                </a:solidFill>
                <a:latin typeface="Poppins"/>
                <a:ea typeface="Poppins"/>
                <a:cs typeface="Poppins"/>
                <a:sym typeface="Poppins"/>
              </a:rPr>
              <a:t>Menos vulnerabilidades potenciales.</a:t>
            </a:r>
          </a:p>
          <a:p>
            <a:pPr algn="just">
              <a:lnSpc>
                <a:spcPts val="3705"/>
              </a:lnSpc>
            </a:pPr>
            <a:r>
              <a:rPr lang="en-US" sz="2647">
                <a:solidFill>
                  <a:srgbClr val="FFFFFF"/>
                </a:solidFill>
                <a:latin typeface="Poppins"/>
                <a:ea typeface="Poppins"/>
                <a:cs typeface="Poppins"/>
                <a:sym typeface="Poppins"/>
              </a:rPr>
              <a:t>Arranque rápido</a:t>
            </a:r>
          </a:p>
          <a:p>
            <a:pPr algn="just" marL="571515" indent="-285758" lvl="1">
              <a:lnSpc>
                <a:spcPts val="3705"/>
              </a:lnSpc>
              <a:buFont typeface="Arial"/>
              <a:buChar char="•"/>
            </a:pPr>
            <a:r>
              <a:rPr lang="en-US" sz="2647">
                <a:solidFill>
                  <a:srgbClr val="FFFFFF"/>
                </a:solidFill>
                <a:latin typeface="Poppins"/>
                <a:ea typeface="Poppins"/>
                <a:cs typeface="Poppins"/>
                <a:sym typeface="Poppins"/>
              </a:rPr>
              <a:t>Al tener menos componentes, los contenedores se levantan en segundos.</a:t>
            </a:r>
          </a:p>
          <a:p>
            <a:pPr algn="just">
              <a:lnSpc>
                <a:spcPts val="3705"/>
              </a:lnSpc>
            </a:pPr>
            <a:r>
              <a:rPr lang="en-US" sz="2647">
                <a:solidFill>
                  <a:srgbClr val="FFFFFF"/>
                </a:solidFill>
                <a:latin typeface="Poppins"/>
                <a:ea typeface="Poppins"/>
                <a:cs typeface="Poppins"/>
                <a:sym typeface="Poppins"/>
              </a:rPr>
              <a:t>Eficiencia en despliegue</a:t>
            </a:r>
          </a:p>
          <a:p>
            <a:pPr algn="just" marL="571515" indent="-285758" lvl="1">
              <a:lnSpc>
                <a:spcPts val="3705"/>
              </a:lnSpc>
              <a:buFont typeface="Arial"/>
              <a:buChar char="•"/>
            </a:pPr>
            <a:r>
              <a:rPr lang="en-US" sz="2647">
                <a:solidFill>
                  <a:srgbClr val="FFFFFF"/>
                </a:solidFill>
                <a:latin typeface="Poppins"/>
                <a:ea typeface="Poppins"/>
                <a:cs typeface="Poppins"/>
                <a:sym typeface="Poppins"/>
              </a:rPr>
              <a:t>Ideal para microservicios, donde necesitas cientos o miles de contenedores corriendo en paralelo.</a:t>
            </a:r>
          </a:p>
          <a:p>
            <a:pPr algn="just">
              <a:lnSpc>
                <a:spcPts val="3705"/>
              </a:lnSpc>
              <a:spcBef>
                <a:spcPct val="0"/>
              </a:spcBef>
            </a:pPr>
          </a:p>
          <a:p>
            <a:pPr algn="just">
              <a:lnSpc>
                <a:spcPts val="2604"/>
              </a:lnSpc>
              <a:spcBef>
                <a:spcPct val="0"/>
              </a:spcBef>
            </a:pPr>
          </a:p>
        </p:txBody>
      </p:sp>
      <p:sp>
        <p:nvSpPr>
          <p:cNvPr name="Freeform 8" id="8"/>
          <p:cNvSpPr/>
          <p:nvPr/>
        </p:nvSpPr>
        <p:spPr>
          <a:xfrm flipH="false" flipV="false" rot="0">
            <a:off x="7830057" y="-232718"/>
            <a:ext cx="2424514" cy="2424514"/>
          </a:xfrm>
          <a:custGeom>
            <a:avLst/>
            <a:gdLst/>
            <a:ahLst/>
            <a:cxnLst/>
            <a:rect r="r" b="b" t="t" l="l"/>
            <a:pathLst>
              <a:path h="2424514" w="2424514">
                <a:moveTo>
                  <a:pt x="0" y="0"/>
                </a:moveTo>
                <a:lnTo>
                  <a:pt x="2424514" y="0"/>
                </a:lnTo>
                <a:lnTo>
                  <a:pt x="2424514" y="2424514"/>
                </a:lnTo>
                <a:lnTo>
                  <a:pt x="0" y="2424514"/>
                </a:lnTo>
                <a:lnTo>
                  <a:pt x="0" y="0"/>
                </a:lnTo>
                <a:close/>
              </a:path>
            </a:pathLst>
          </a:custGeom>
          <a:blipFill>
            <a:blip r:embed="rId3"/>
            <a:stretch>
              <a:fillRect l="0" t="0" r="0" b="0"/>
            </a:stretch>
          </a:blipFill>
        </p:spPr>
      </p:sp>
    </p:spTree>
  </p:cSld>
  <p:clrMapOvr>
    <a:masterClrMapping/>
  </p:clrMapOvr>
</p:sld>
</file>

<file path=ppt/slides/slide5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3792521" y="2106071"/>
            <a:ext cx="10702957" cy="1601191"/>
          </a:xfrm>
          <a:prstGeom prst="rect">
            <a:avLst/>
          </a:prstGeom>
        </p:spPr>
        <p:txBody>
          <a:bodyPr anchor="t" rtlCol="false" tIns="0" lIns="0" bIns="0" rIns="0">
            <a:spAutoFit/>
          </a:bodyPr>
          <a:lstStyle/>
          <a:p>
            <a:pPr algn="ctr">
              <a:lnSpc>
                <a:spcPts val="6455"/>
              </a:lnSpc>
              <a:spcBef>
                <a:spcPct val="0"/>
              </a:spcBef>
            </a:pPr>
            <a:r>
              <a:rPr lang="en-US" sz="4610">
                <a:solidFill>
                  <a:srgbClr val="FF007A"/>
                </a:solidFill>
                <a:latin typeface="HK Modular"/>
                <a:ea typeface="HK Modular"/>
                <a:cs typeface="HK Modular"/>
                <a:sym typeface="HK Modular"/>
              </a:rPr>
              <a:t>MICROCONTENEDORES - DESVENTAJAS</a:t>
            </a:r>
          </a:p>
        </p:txBody>
      </p:sp>
      <p:sp>
        <p:nvSpPr>
          <p:cNvPr name="TextBox 7" id="7"/>
          <p:cNvSpPr txBox="true"/>
          <p:nvPr/>
        </p:nvSpPr>
        <p:spPr>
          <a:xfrm rot="0">
            <a:off x="898944" y="4149645"/>
            <a:ext cx="17022663" cy="5108655"/>
          </a:xfrm>
          <a:prstGeom prst="rect">
            <a:avLst/>
          </a:prstGeom>
        </p:spPr>
        <p:txBody>
          <a:bodyPr anchor="t" rtlCol="false" tIns="0" lIns="0" bIns="0" rIns="0">
            <a:spAutoFit/>
          </a:bodyPr>
          <a:lstStyle/>
          <a:p>
            <a:pPr algn="l" marL="523315" indent="-261658" lvl="1">
              <a:lnSpc>
                <a:spcPts val="3393"/>
              </a:lnSpc>
              <a:buFont typeface="Arial"/>
              <a:buChar char="•"/>
            </a:pPr>
            <a:r>
              <a:rPr lang="en-US" sz="2423">
                <a:solidFill>
                  <a:srgbClr val="FFFFFF"/>
                </a:solidFill>
                <a:latin typeface="Poppins"/>
                <a:ea typeface="Poppins"/>
                <a:cs typeface="Poppins"/>
                <a:sym typeface="Poppins"/>
              </a:rPr>
              <a:t>Menos herramientas disponibles</a:t>
            </a:r>
          </a:p>
          <a:p>
            <a:pPr algn="l" marL="1046631" indent="-348877" lvl="2">
              <a:lnSpc>
                <a:spcPts val="3393"/>
              </a:lnSpc>
              <a:buFont typeface="Arial"/>
              <a:buChar char="⚬"/>
            </a:pPr>
            <a:r>
              <a:rPr lang="en-US" sz="2423">
                <a:solidFill>
                  <a:srgbClr val="FFFFFF"/>
                </a:solidFill>
                <a:latin typeface="Poppins"/>
                <a:ea typeface="Poppins"/>
                <a:cs typeface="Poppins"/>
                <a:sym typeface="Poppins"/>
              </a:rPr>
              <a:t>Al ser tan minimalistas, no tienen utilidades como bash, curl, apt-get, etc.</a:t>
            </a:r>
          </a:p>
          <a:p>
            <a:pPr algn="l" marL="1046631" indent="-348877" lvl="2">
              <a:lnSpc>
                <a:spcPts val="3393"/>
              </a:lnSpc>
              <a:buFont typeface="Arial"/>
              <a:buChar char="⚬"/>
            </a:pPr>
            <a:r>
              <a:rPr lang="en-US" sz="2423">
                <a:solidFill>
                  <a:srgbClr val="FFFFFF"/>
                </a:solidFill>
                <a:latin typeface="Poppins"/>
                <a:ea typeface="Poppins"/>
                <a:cs typeface="Poppins"/>
                <a:sym typeface="Poppins"/>
              </a:rPr>
              <a:t>Puede complicar depurar errores dentro del contenedor.</a:t>
            </a:r>
          </a:p>
          <a:p>
            <a:pPr algn="l" marL="523315" indent="-261658" lvl="1">
              <a:lnSpc>
                <a:spcPts val="3393"/>
              </a:lnSpc>
              <a:buFont typeface="Arial"/>
              <a:buChar char="•"/>
            </a:pPr>
            <a:r>
              <a:rPr lang="en-US" sz="2423">
                <a:solidFill>
                  <a:srgbClr val="FFFFFF"/>
                </a:solidFill>
                <a:latin typeface="Poppins"/>
                <a:ea typeface="Poppins"/>
                <a:cs typeface="Poppins"/>
                <a:sym typeface="Poppins"/>
              </a:rPr>
              <a:t>Curva de aprendizaje</a:t>
            </a:r>
          </a:p>
          <a:p>
            <a:pPr algn="l" marL="1046631" indent="-348877" lvl="2">
              <a:lnSpc>
                <a:spcPts val="3393"/>
              </a:lnSpc>
              <a:buFont typeface="Arial"/>
              <a:buChar char="⚬"/>
            </a:pPr>
            <a:r>
              <a:rPr lang="en-US" sz="2423">
                <a:solidFill>
                  <a:srgbClr val="FFFFFF"/>
                </a:solidFill>
                <a:latin typeface="Poppins"/>
                <a:ea typeface="Poppins"/>
                <a:cs typeface="Poppins"/>
                <a:sym typeface="Poppins"/>
              </a:rPr>
              <a:t>Requiere más experiencia para construir imágenes bien optimizadas.</a:t>
            </a:r>
          </a:p>
          <a:p>
            <a:pPr algn="l" marL="1046631" indent="-348877" lvl="2">
              <a:lnSpc>
                <a:spcPts val="3393"/>
              </a:lnSpc>
              <a:buFont typeface="Arial"/>
              <a:buChar char="⚬"/>
            </a:pPr>
            <a:r>
              <a:rPr lang="en-US" sz="2423">
                <a:solidFill>
                  <a:srgbClr val="FFFFFF"/>
                </a:solidFill>
                <a:latin typeface="Poppins"/>
                <a:ea typeface="Poppins"/>
                <a:cs typeface="Poppins"/>
                <a:sym typeface="Poppins"/>
              </a:rPr>
              <a:t>No es tan directo como usar imágenes grandes con todo incluido.</a:t>
            </a:r>
          </a:p>
          <a:p>
            <a:pPr algn="l" marL="523315" indent="-261658" lvl="1">
              <a:lnSpc>
                <a:spcPts val="3393"/>
              </a:lnSpc>
              <a:buFont typeface="Arial"/>
              <a:buChar char="•"/>
            </a:pPr>
            <a:r>
              <a:rPr lang="en-US" sz="2423">
                <a:solidFill>
                  <a:srgbClr val="FFFFFF"/>
                </a:solidFill>
                <a:latin typeface="Poppins"/>
                <a:ea typeface="Poppins"/>
                <a:cs typeface="Poppins"/>
                <a:sym typeface="Poppins"/>
              </a:rPr>
              <a:t>Compatibilidad limitada</a:t>
            </a:r>
          </a:p>
          <a:p>
            <a:pPr algn="l" marL="1046631" indent="-348877" lvl="2">
              <a:lnSpc>
                <a:spcPts val="3393"/>
              </a:lnSpc>
              <a:buFont typeface="Arial"/>
              <a:buChar char="⚬"/>
            </a:pPr>
            <a:r>
              <a:rPr lang="en-US" sz="2423">
                <a:solidFill>
                  <a:srgbClr val="FFFFFF"/>
                </a:solidFill>
                <a:latin typeface="Poppins"/>
                <a:ea typeface="Poppins"/>
                <a:cs typeface="Poppins"/>
                <a:sym typeface="Poppins"/>
              </a:rPr>
              <a:t>Algunas librerías o binarios esperan un sistema base más completo (ej. glibc vs musl en Alpine).</a:t>
            </a:r>
          </a:p>
          <a:p>
            <a:pPr algn="l" marL="1046631" indent="-348877" lvl="2">
              <a:lnSpc>
                <a:spcPts val="3393"/>
              </a:lnSpc>
              <a:buFont typeface="Arial"/>
              <a:buChar char="⚬"/>
            </a:pPr>
            <a:r>
              <a:rPr lang="en-US" sz="2423">
                <a:solidFill>
                  <a:srgbClr val="FFFFFF"/>
                </a:solidFill>
                <a:latin typeface="Poppins"/>
                <a:ea typeface="Poppins"/>
                <a:cs typeface="Poppins"/>
                <a:sym typeface="Poppins"/>
              </a:rPr>
              <a:t>Puede haber problemas de compatibilidad en runtime.</a:t>
            </a:r>
          </a:p>
          <a:p>
            <a:pPr algn="l" marL="523315" indent="-261658" lvl="1">
              <a:lnSpc>
                <a:spcPts val="3393"/>
              </a:lnSpc>
              <a:buFont typeface="Arial"/>
              <a:buChar char="•"/>
            </a:pPr>
            <a:r>
              <a:rPr lang="en-US" sz="2423">
                <a:solidFill>
                  <a:srgbClr val="FFFFFF"/>
                </a:solidFill>
                <a:latin typeface="Poppins"/>
                <a:ea typeface="Poppins"/>
                <a:cs typeface="Poppins"/>
                <a:sym typeface="Poppins"/>
              </a:rPr>
              <a:t>Depuración más compleja</a:t>
            </a:r>
          </a:p>
          <a:p>
            <a:pPr algn="l" marL="1046631" indent="-348877" lvl="2">
              <a:lnSpc>
                <a:spcPts val="3393"/>
              </a:lnSpc>
              <a:buFont typeface="Arial"/>
              <a:buChar char="⚬"/>
            </a:pPr>
            <a:r>
              <a:rPr lang="en-US" sz="2423">
                <a:solidFill>
                  <a:srgbClr val="FFFFFF"/>
                </a:solidFill>
                <a:latin typeface="Poppins"/>
                <a:ea typeface="Poppins"/>
                <a:cs typeface="Poppins"/>
                <a:sym typeface="Poppins"/>
              </a:rPr>
              <a:t>Como no hay shell ni herramientas de diagnóstico, a veces hay que reconstruir la imagen con utilidades extras para investigar un fallo.</a:t>
            </a:r>
          </a:p>
        </p:txBody>
      </p:sp>
      <p:sp>
        <p:nvSpPr>
          <p:cNvPr name="Freeform 8" id="8"/>
          <p:cNvSpPr/>
          <p:nvPr/>
        </p:nvSpPr>
        <p:spPr>
          <a:xfrm flipH="false" flipV="false" rot="0">
            <a:off x="7830057" y="-232718"/>
            <a:ext cx="2424514" cy="2424514"/>
          </a:xfrm>
          <a:custGeom>
            <a:avLst/>
            <a:gdLst/>
            <a:ahLst/>
            <a:cxnLst/>
            <a:rect r="r" b="b" t="t" l="l"/>
            <a:pathLst>
              <a:path h="2424514" w="2424514">
                <a:moveTo>
                  <a:pt x="0" y="0"/>
                </a:moveTo>
                <a:lnTo>
                  <a:pt x="2424514" y="0"/>
                </a:lnTo>
                <a:lnTo>
                  <a:pt x="2424514" y="2424514"/>
                </a:lnTo>
                <a:lnTo>
                  <a:pt x="0" y="2424514"/>
                </a:lnTo>
                <a:lnTo>
                  <a:pt x="0" y="0"/>
                </a:lnTo>
                <a:close/>
              </a:path>
            </a:pathLst>
          </a:custGeom>
          <a:blipFill>
            <a:blip r:embed="rId3"/>
            <a:stretch>
              <a:fillRect l="0" t="0" r="0" b="0"/>
            </a:stretch>
          </a:blipFill>
        </p:spPr>
      </p:sp>
    </p:spTree>
  </p:cSld>
  <p:clrMapOvr>
    <a:masterClrMapping/>
  </p:clrMapOvr>
</p:sld>
</file>

<file path=ppt/slides/slide5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3792521" y="2106071"/>
            <a:ext cx="10702957" cy="784900"/>
          </a:xfrm>
          <a:prstGeom prst="rect">
            <a:avLst/>
          </a:prstGeom>
        </p:spPr>
        <p:txBody>
          <a:bodyPr anchor="t" rtlCol="false" tIns="0" lIns="0" bIns="0" rIns="0">
            <a:spAutoFit/>
          </a:bodyPr>
          <a:lstStyle/>
          <a:p>
            <a:pPr algn="ctr">
              <a:lnSpc>
                <a:spcPts val="6455"/>
              </a:lnSpc>
              <a:spcBef>
                <a:spcPct val="0"/>
              </a:spcBef>
            </a:pPr>
            <a:r>
              <a:rPr lang="en-US" sz="4610">
                <a:solidFill>
                  <a:srgbClr val="FF007A"/>
                </a:solidFill>
                <a:latin typeface="HK Modular"/>
                <a:ea typeface="HK Modular"/>
                <a:cs typeface="HK Modular"/>
                <a:sym typeface="HK Modular"/>
              </a:rPr>
              <a:t>MICROCONTENEDORES </a:t>
            </a:r>
          </a:p>
        </p:txBody>
      </p:sp>
      <p:sp>
        <p:nvSpPr>
          <p:cNvPr name="TextBox 7" id="7"/>
          <p:cNvSpPr txBox="true"/>
          <p:nvPr/>
        </p:nvSpPr>
        <p:spPr>
          <a:xfrm rot="0">
            <a:off x="1028700" y="3724299"/>
            <a:ext cx="7110186" cy="5298669"/>
          </a:xfrm>
          <a:prstGeom prst="rect">
            <a:avLst/>
          </a:prstGeom>
        </p:spPr>
        <p:txBody>
          <a:bodyPr anchor="t" rtlCol="false" tIns="0" lIns="0" bIns="0" rIns="0">
            <a:spAutoFit/>
          </a:bodyPr>
          <a:lstStyle/>
          <a:p>
            <a:pPr algn="just">
              <a:lnSpc>
                <a:spcPts val="4074"/>
              </a:lnSpc>
            </a:pPr>
            <a:r>
              <a:rPr lang="en-US" sz="2910">
                <a:solidFill>
                  <a:srgbClr val="FFFFFF"/>
                </a:solidFill>
                <a:latin typeface="Poppins"/>
                <a:ea typeface="Poppins"/>
                <a:cs typeface="Poppins"/>
                <a:sym typeface="Poppins"/>
              </a:rPr>
              <a:t>Úsalos cuando…</a:t>
            </a:r>
          </a:p>
          <a:p>
            <a:pPr algn="just">
              <a:lnSpc>
                <a:spcPts val="3621"/>
              </a:lnSpc>
            </a:pPr>
          </a:p>
          <a:p>
            <a:pPr algn="just" marL="558520" indent="-279260" lvl="1">
              <a:lnSpc>
                <a:spcPts val="3621"/>
              </a:lnSpc>
              <a:buFont typeface="Arial"/>
              <a:buChar char="•"/>
            </a:pPr>
            <a:r>
              <a:rPr lang="en-US" sz="2586">
                <a:solidFill>
                  <a:srgbClr val="FFFFFF"/>
                </a:solidFill>
                <a:latin typeface="Poppins"/>
                <a:ea typeface="Poppins"/>
                <a:cs typeface="Poppins"/>
                <a:sym typeface="Poppins"/>
              </a:rPr>
              <a:t>La</a:t>
            </a:r>
            <a:r>
              <a:rPr lang="en-US" sz="2586">
                <a:solidFill>
                  <a:srgbClr val="FFFFFF"/>
                </a:solidFill>
                <a:latin typeface="Poppins"/>
                <a:ea typeface="Poppins"/>
                <a:cs typeface="Poppins"/>
                <a:sym typeface="Poppins"/>
              </a:rPr>
              <a:t> app tiene runtime bien d</a:t>
            </a:r>
            <a:r>
              <a:rPr lang="en-US" sz="2586">
                <a:solidFill>
                  <a:srgbClr val="FFFFFF"/>
                </a:solidFill>
                <a:latin typeface="Poppins"/>
                <a:ea typeface="Poppins"/>
                <a:cs typeface="Poppins"/>
                <a:sym typeface="Poppins"/>
              </a:rPr>
              <a:t>efinido (APIs, jobs,</a:t>
            </a:r>
            <a:r>
              <a:rPr lang="en-US" sz="2586">
                <a:solidFill>
                  <a:srgbClr val="FFFFFF"/>
                </a:solidFill>
                <a:latin typeface="Poppins"/>
                <a:ea typeface="Poppins"/>
                <a:cs typeface="Poppins"/>
                <a:sym typeface="Poppins"/>
              </a:rPr>
              <a:t> funciones serverless) y ya expone telemetría útil.</a:t>
            </a:r>
          </a:p>
          <a:p>
            <a:pPr algn="just" marL="558520" indent="-279260" lvl="1">
              <a:lnSpc>
                <a:spcPts val="3621"/>
              </a:lnSpc>
              <a:buFont typeface="Arial"/>
              <a:buChar char="•"/>
            </a:pPr>
            <a:r>
              <a:rPr lang="en-US" sz="2586">
                <a:solidFill>
                  <a:srgbClr val="FFFFFF"/>
                </a:solidFill>
                <a:latin typeface="Poppins"/>
                <a:ea typeface="Poppins"/>
                <a:cs typeface="Poppins"/>
                <a:sym typeface="Poppins"/>
              </a:rPr>
              <a:t>Op</a:t>
            </a:r>
            <a:r>
              <a:rPr lang="en-US" sz="2586">
                <a:solidFill>
                  <a:srgbClr val="FFFFFF"/>
                </a:solidFill>
                <a:latin typeface="Poppins"/>
                <a:ea typeface="Poppins"/>
                <a:cs typeface="Poppins"/>
                <a:sym typeface="Poppins"/>
              </a:rPr>
              <a:t>eras en Kubernetes u orquestadores donde cada MB y segundo de arranque cuenta.</a:t>
            </a:r>
          </a:p>
          <a:p>
            <a:pPr algn="just" marL="558520" indent="-279260" lvl="1">
              <a:lnSpc>
                <a:spcPts val="3621"/>
              </a:lnSpc>
              <a:spcBef>
                <a:spcPct val="0"/>
              </a:spcBef>
              <a:buFont typeface="Arial"/>
              <a:buChar char="•"/>
            </a:pPr>
            <a:r>
              <a:rPr lang="en-US" sz="2586">
                <a:solidFill>
                  <a:srgbClr val="FFFFFF"/>
                </a:solidFill>
                <a:latin typeface="Poppins"/>
                <a:ea typeface="Poppins"/>
                <a:cs typeface="Poppins"/>
                <a:sym typeface="Poppins"/>
              </a:rPr>
              <a:t>D</a:t>
            </a:r>
            <a:r>
              <a:rPr lang="en-US" sz="2586">
                <a:solidFill>
                  <a:srgbClr val="FFFFFF"/>
                </a:solidFill>
                <a:latin typeface="Poppins"/>
                <a:ea typeface="Poppins"/>
                <a:cs typeface="Poppins"/>
                <a:sym typeface="Poppins"/>
              </a:rPr>
              <a:t>ebes reducir superficie de ataque y demostrar procedencia (SBOM+firma) por cumplimiento.</a:t>
            </a:r>
          </a:p>
          <a:p>
            <a:pPr algn="just">
              <a:lnSpc>
                <a:spcPts val="1961"/>
              </a:lnSpc>
              <a:spcBef>
                <a:spcPct val="0"/>
              </a:spcBef>
            </a:pPr>
          </a:p>
        </p:txBody>
      </p:sp>
      <p:sp>
        <p:nvSpPr>
          <p:cNvPr name="TextBox 8" id="8"/>
          <p:cNvSpPr txBox="true"/>
          <p:nvPr/>
        </p:nvSpPr>
        <p:spPr>
          <a:xfrm rot="0">
            <a:off x="10662955" y="3724299"/>
            <a:ext cx="6596345" cy="5340350"/>
          </a:xfrm>
          <a:prstGeom prst="rect">
            <a:avLst/>
          </a:prstGeom>
        </p:spPr>
        <p:txBody>
          <a:bodyPr anchor="t" rtlCol="false" tIns="0" lIns="0" bIns="0" rIns="0">
            <a:spAutoFit/>
          </a:bodyPr>
          <a:lstStyle/>
          <a:p>
            <a:pPr algn="just">
              <a:lnSpc>
                <a:spcPts val="3779"/>
              </a:lnSpc>
            </a:pPr>
            <a:r>
              <a:rPr lang="en-US" sz="2699">
                <a:solidFill>
                  <a:srgbClr val="FFFFFF"/>
                </a:solidFill>
                <a:latin typeface="Poppins"/>
                <a:ea typeface="Poppins"/>
                <a:cs typeface="Poppins"/>
                <a:sym typeface="Poppins"/>
              </a:rPr>
              <a:t>Eví</a:t>
            </a:r>
            <a:r>
              <a:rPr lang="en-US" sz="2699">
                <a:solidFill>
                  <a:srgbClr val="FFFFFF"/>
                </a:solidFill>
                <a:latin typeface="Poppins"/>
                <a:ea typeface="Poppins"/>
                <a:cs typeface="Poppins"/>
                <a:sym typeface="Poppins"/>
              </a:rPr>
              <a:t>talos o pospón cuando…</a:t>
            </a:r>
          </a:p>
          <a:p>
            <a:pPr algn="just">
              <a:lnSpc>
                <a:spcPts val="3359"/>
              </a:lnSpc>
            </a:pPr>
          </a:p>
          <a:p>
            <a:pPr algn="just" marL="518157" indent="-259078" lvl="1">
              <a:lnSpc>
                <a:spcPts val="3359"/>
              </a:lnSpc>
              <a:buFont typeface="Arial"/>
              <a:buChar char="•"/>
            </a:pPr>
            <a:r>
              <a:rPr lang="en-US" sz="2399">
                <a:solidFill>
                  <a:srgbClr val="FFFFFF"/>
                </a:solidFill>
                <a:latin typeface="Poppins"/>
                <a:ea typeface="Poppins"/>
                <a:cs typeface="Poppins"/>
                <a:sym typeface="Poppins"/>
              </a:rPr>
              <a:t>Dependes de diagnóstico interactivo permanente dentro del contenedor.</a:t>
            </a:r>
          </a:p>
          <a:p>
            <a:pPr algn="just" marL="518157" indent="-259078" lvl="1">
              <a:lnSpc>
                <a:spcPts val="3359"/>
              </a:lnSpc>
              <a:buFont typeface="Arial"/>
              <a:buChar char="•"/>
            </a:pPr>
            <a:r>
              <a:rPr lang="en-US" sz="2399">
                <a:solidFill>
                  <a:srgbClr val="FFFFFF"/>
                </a:solidFill>
                <a:latin typeface="Poppins"/>
                <a:ea typeface="Poppins"/>
                <a:cs typeface="Poppins"/>
                <a:sym typeface="Poppins"/>
              </a:rPr>
              <a:t>Tu app requiere utilidades de sistema en runtime (p. ej., conversores, shells) y no puedes empaquetarlas de forma segura.</a:t>
            </a:r>
          </a:p>
          <a:p>
            <a:pPr algn="just" marL="518157" indent="-259078" lvl="1">
              <a:lnSpc>
                <a:spcPts val="3359"/>
              </a:lnSpc>
              <a:spcBef>
                <a:spcPct val="0"/>
              </a:spcBef>
              <a:buFont typeface="Arial"/>
              <a:buChar char="•"/>
            </a:pPr>
            <a:r>
              <a:rPr lang="en-US" sz="2399">
                <a:solidFill>
                  <a:srgbClr val="FFFFFF"/>
                </a:solidFill>
                <a:latin typeface="Poppins"/>
                <a:ea typeface="Poppins"/>
                <a:cs typeface="Poppins"/>
                <a:sym typeface="Poppins"/>
              </a:rPr>
              <a:t>No tienes listo el pipeline para SBOM/firma ni políticas de admisión: estandariza primero la cadena de suministro.</a:t>
            </a:r>
          </a:p>
          <a:p>
            <a:pPr algn="just">
              <a:lnSpc>
                <a:spcPts val="1820"/>
              </a:lnSpc>
              <a:spcBef>
                <a:spcPct val="0"/>
              </a:spcBef>
            </a:pPr>
          </a:p>
        </p:txBody>
      </p:sp>
      <p:sp>
        <p:nvSpPr>
          <p:cNvPr name="Freeform 9" id="9"/>
          <p:cNvSpPr/>
          <p:nvPr/>
        </p:nvSpPr>
        <p:spPr>
          <a:xfrm flipH="false" flipV="false" rot="0">
            <a:off x="1028700" y="642034"/>
            <a:ext cx="2779772" cy="2736402"/>
          </a:xfrm>
          <a:custGeom>
            <a:avLst/>
            <a:gdLst/>
            <a:ahLst/>
            <a:cxnLst/>
            <a:rect r="r" b="b" t="t" l="l"/>
            <a:pathLst>
              <a:path h="2736402" w="2779772">
                <a:moveTo>
                  <a:pt x="0" y="0"/>
                </a:moveTo>
                <a:lnTo>
                  <a:pt x="2779772" y="0"/>
                </a:lnTo>
                <a:lnTo>
                  <a:pt x="2779772" y="2736402"/>
                </a:lnTo>
                <a:lnTo>
                  <a:pt x="0" y="2736402"/>
                </a:lnTo>
                <a:lnTo>
                  <a:pt x="0" y="0"/>
                </a:lnTo>
                <a:close/>
              </a:path>
            </a:pathLst>
          </a:custGeom>
          <a:blipFill>
            <a:blip r:embed="rId3"/>
            <a:stretch>
              <a:fillRect l="-5657" t="0" r="-140441" b="0"/>
            </a:stretch>
          </a:blipFill>
        </p:spPr>
      </p:sp>
      <p:sp>
        <p:nvSpPr>
          <p:cNvPr name="Freeform 10" id="10"/>
          <p:cNvSpPr/>
          <p:nvPr/>
        </p:nvSpPr>
        <p:spPr>
          <a:xfrm flipH="false" flipV="false" rot="0">
            <a:off x="14753968" y="532931"/>
            <a:ext cx="2756128" cy="2704127"/>
          </a:xfrm>
          <a:custGeom>
            <a:avLst/>
            <a:gdLst/>
            <a:ahLst/>
            <a:cxnLst/>
            <a:rect r="r" b="b" t="t" l="l"/>
            <a:pathLst>
              <a:path h="2704127" w="2756128">
                <a:moveTo>
                  <a:pt x="0" y="0"/>
                </a:moveTo>
                <a:lnTo>
                  <a:pt x="2756129" y="0"/>
                </a:lnTo>
                <a:lnTo>
                  <a:pt x="2756129" y="2704127"/>
                </a:lnTo>
                <a:lnTo>
                  <a:pt x="0" y="2704127"/>
                </a:lnTo>
                <a:lnTo>
                  <a:pt x="0" y="0"/>
                </a:lnTo>
                <a:close/>
              </a:path>
            </a:pathLst>
          </a:custGeom>
          <a:blipFill>
            <a:blip r:embed="rId3"/>
            <a:stretch>
              <a:fillRect l="-139312" t="0" r="-5970" b="0"/>
            </a:stretch>
          </a:blipFill>
        </p:spPr>
      </p:sp>
      <p:sp>
        <p:nvSpPr>
          <p:cNvPr name="Freeform 11" id="11"/>
          <p:cNvSpPr/>
          <p:nvPr/>
        </p:nvSpPr>
        <p:spPr>
          <a:xfrm flipH="false" flipV="false" rot="0">
            <a:off x="7830057" y="-232718"/>
            <a:ext cx="2424514" cy="2424514"/>
          </a:xfrm>
          <a:custGeom>
            <a:avLst/>
            <a:gdLst/>
            <a:ahLst/>
            <a:cxnLst/>
            <a:rect r="r" b="b" t="t" l="l"/>
            <a:pathLst>
              <a:path h="2424514" w="2424514">
                <a:moveTo>
                  <a:pt x="0" y="0"/>
                </a:moveTo>
                <a:lnTo>
                  <a:pt x="2424514" y="0"/>
                </a:lnTo>
                <a:lnTo>
                  <a:pt x="2424514" y="2424514"/>
                </a:lnTo>
                <a:lnTo>
                  <a:pt x="0" y="2424514"/>
                </a:lnTo>
                <a:lnTo>
                  <a:pt x="0" y="0"/>
                </a:lnTo>
                <a:close/>
              </a:path>
            </a:pathLst>
          </a:custGeom>
          <a:blipFill>
            <a:blip r:embed="rId4"/>
            <a:stretch>
              <a:fillRect l="0" t="0" r="0" b="0"/>
            </a:stretch>
          </a:blipFill>
        </p:spPr>
      </p:sp>
    </p:spTree>
  </p:cSld>
  <p:clrMapOvr>
    <a:masterClrMapping/>
  </p:clrMapOvr>
</p:sld>
</file>

<file path=ppt/slides/slide5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ED">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ED">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395636" y="4507864"/>
            <a:ext cx="15715462" cy="1159969"/>
          </a:xfrm>
          <a:prstGeom prst="rect">
            <a:avLst/>
          </a:prstGeom>
        </p:spPr>
        <p:txBody>
          <a:bodyPr anchor="t" rtlCol="false" tIns="0" lIns="0" bIns="0" rIns="0">
            <a:spAutoFit/>
          </a:bodyPr>
          <a:lstStyle/>
          <a:p>
            <a:pPr algn="ctr">
              <a:lnSpc>
                <a:spcPts val="9478"/>
              </a:lnSpc>
              <a:spcBef>
                <a:spcPct val="0"/>
              </a:spcBef>
            </a:pPr>
            <a:r>
              <a:rPr lang="en-US" sz="6770">
                <a:solidFill>
                  <a:srgbClr val="FF5757"/>
                </a:solidFill>
                <a:latin typeface="HK Modular"/>
                <a:ea typeface="HK Modular"/>
                <a:cs typeface="HK Modular"/>
                <a:sym typeface="HK Modular"/>
              </a:rPr>
              <a:t>DOCKER VS KUBERNETES</a:t>
            </a:r>
          </a:p>
        </p:txBody>
      </p:sp>
      <p:sp>
        <p:nvSpPr>
          <p:cNvPr name="Freeform 13" id="13"/>
          <p:cNvSpPr/>
          <p:nvPr/>
        </p:nvSpPr>
        <p:spPr>
          <a:xfrm flipH="false" flipV="false" rot="0">
            <a:off x="7830057" y="-232718"/>
            <a:ext cx="2424514" cy="2424514"/>
          </a:xfrm>
          <a:custGeom>
            <a:avLst/>
            <a:gdLst/>
            <a:ahLst/>
            <a:cxnLst/>
            <a:rect r="r" b="b" t="t" l="l"/>
            <a:pathLst>
              <a:path h="2424514" w="2424514">
                <a:moveTo>
                  <a:pt x="0" y="0"/>
                </a:moveTo>
                <a:lnTo>
                  <a:pt x="2424514" y="0"/>
                </a:lnTo>
                <a:lnTo>
                  <a:pt x="2424514" y="2424514"/>
                </a:lnTo>
                <a:lnTo>
                  <a:pt x="0" y="2424514"/>
                </a:lnTo>
                <a:lnTo>
                  <a:pt x="0" y="0"/>
                </a:lnTo>
                <a:close/>
              </a:path>
            </a:pathLst>
          </a:custGeom>
          <a:blipFill>
            <a:blip r:embed="rId3"/>
            <a:stretch>
              <a:fillRect l="0" t="0" r="0" b="0"/>
            </a:stretch>
          </a:blipFill>
        </p:spPr>
      </p:sp>
    </p:spTree>
  </p:cSld>
  <p:clrMapOvr>
    <a:masterClrMapping/>
  </p:clrMapOvr>
</p:sld>
</file>

<file path=ppt/slides/slide5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553197" y="2631827"/>
            <a:ext cx="5777029" cy="5873313"/>
          </a:xfrm>
          <a:custGeom>
            <a:avLst/>
            <a:gdLst/>
            <a:ahLst/>
            <a:cxnLst/>
            <a:rect r="r" b="b" t="t" l="l"/>
            <a:pathLst>
              <a:path h="5873313" w="5777029">
                <a:moveTo>
                  <a:pt x="0" y="0"/>
                </a:moveTo>
                <a:lnTo>
                  <a:pt x="5777030" y="0"/>
                </a:lnTo>
                <a:lnTo>
                  <a:pt x="5777030" y="5873313"/>
                </a:lnTo>
                <a:lnTo>
                  <a:pt x="0" y="5873313"/>
                </a:lnTo>
                <a:lnTo>
                  <a:pt x="0" y="0"/>
                </a:lnTo>
                <a:close/>
              </a:path>
            </a:pathLst>
          </a:custGeom>
          <a:blipFill>
            <a:blip r:embed="rId3"/>
            <a:stretch>
              <a:fillRect l="0" t="0" r="0" b="0"/>
            </a:stretch>
          </a:blipFill>
        </p:spPr>
      </p:sp>
      <p:sp>
        <p:nvSpPr>
          <p:cNvPr name="TextBox 7" id="7"/>
          <p:cNvSpPr txBox="true"/>
          <p:nvPr/>
        </p:nvSpPr>
        <p:spPr>
          <a:xfrm rot="0">
            <a:off x="7071740" y="2077496"/>
            <a:ext cx="10681622" cy="6867675"/>
          </a:xfrm>
          <a:prstGeom prst="rect">
            <a:avLst/>
          </a:prstGeom>
        </p:spPr>
        <p:txBody>
          <a:bodyPr anchor="t" rtlCol="false" tIns="0" lIns="0" bIns="0" rIns="0">
            <a:spAutoFit/>
          </a:bodyPr>
          <a:lstStyle/>
          <a:p>
            <a:pPr algn="just">
              <a:lnSpc>
                <a:spcPts val="5328"/>
              </a:lnSpc>
            </a:pPr>
          </a:p>
          <a:p>
            <a:pPr algn="just">
              <a:lnSpc>
                <a:spcPts val="2886"/>
              </a:lnSpc>
            </a:pPr>
            <a:r>
              <a:rPr lang="en-US" sz="2061">
                <a:solidFill>
                  <a:srgbClr val="FFFFFF"/>
                </a:solidFill>
                <a:latin typeface="Poppins"/>
                <a:ea typeface="Poppins"/>
                <a:cs typeface="Poppins"/>
                <a:sym typeface="Poppins"/>
              </a:rPr>
              <a:t>Docker es una plataforma para crear, empaquetar y ejecutar aplicaciones dentro de contenedores.</a:t>
            </a:r>
          </a:p>
          <a:p>
            <a:pPr algn="just" marL="445127" indent="-222563" lvl="1">
              <a:lnSpc>
                <a:spcPts val="2886"/>
              </a:lnSpc>
              <a:buFont typeface="Arial"/>
              <a:buChar char="•"/>
            </a:pPr>
            <a:r>
              <a:rPr lang="en-US" sz="2061">
                <a:solidFill>
                  <a:srgbClr val="FFFFFF"/>
                </a:solidFill>
                <a:latin typeface="Poppins"/>
                <a:ea typeface="Poppins"/>
                <a:cs typeface="Poppins"/>
                <a:sym typeface="Poppins"/>
              </a:rPr>
              <a:t>Un contenedor es como una “caja ligera” que incluye:</a:t>
            </a:r>
          </a:p>
          <a:p>
            <a:pPr algn="just" marL="890254" indent="-296751" lvl="2">
              <a:lnSpc>
                <a:spcPts val="2886"/>
              </a:lnSpc>
              <a:buFont typeface="Arial"/>
              <a:buChar char="⚬"/>
            </a:pPr>
            <a:r>
              <a:rPr lang="en-US" sz="2061">
                <a:solidFill>
                  <a:srgbClr val="FFFFFF"/>
                </a:solidFill>
                <a:latin typeface="Poppins"/>
                <a:ea typeface="Poppins"/>
                <a:cs typeface="Poppins"/>
                <a:sym typeface="Poppins"/>
              </a:rPr>
              <a:t>La aplicación.</a:t>
            </a:r>
          </a:p>
          <a:p>
            <a:pPr algn="just" marL="890254" indent="-296751" lvl="2">
              <a:lnSpc>
                <a:spcPts val="2886"/>
              </a:lnSpc>
              <a:buFont typeface="Arial"/>
              <a:buChar char="⚬"/>
            </a:pPr>
            <a:r>
              <a:rPr lang="en-US" sz="2061">
                <a:solidFill>
                  <a:srgbClr val="FFFFFF"/>
                </a:solidFill>
                <a:latin typeface="Poppins"/>
                <a:ea typeface="Poppins"/>
                <a:cs typeface="Poppins"/>
                <a:sym typeface="Poppins"/>
              </a:rPr>
              <a:t>Sus dependencias.</a:t>
            </a:r>
          </a:p>
          <a:p>
            <a:pPr algn="just" marL="890254" indent="-296751" lvl="2">
              <a:lnSpc>
                <a:spcPts val="2886"/>
              </a:lnSpc>
              <a:buFont typeface="Arial"/>
              <a:buChar char="⚬"/>
            </a:pPr>
            <a:r>
              <a:rPr lang="en-US" sz="2061">
                <a:solidFill>
                  <a:srgbClr val="FFFFFF"/>
                </a:solidFill>
                <a:latin typeface="Poppins"/>
                <a:ea typeface="Poppins"/>
                <a:cs typeface="Poppins"/>
                <a:sym typeface="Poppins"/>
              </a:rPr>
              <a:t>Librerías y configuración necesarias.</a:t>
            </a:r>
          </a:p>
          <a:p>
            <a:pPr algn="just" marL="445127" indent="-222563" lvl="1">
              <a:lnSpc>
                <a:spcPts val="2886"/>
              </a:lnSpc>
              <a:buFont typeface="Arial"/>
              <a:buChar char="•"/>
            </a:pPr>
            <a:r>
              <a:rPr lang="en-US" sz="2061">
                <a:solidFill>
                  <a:srgbClr val="FFFFFF"/>
                </a:solidFill>
                <a:latin typeface="Poppins"/>
                <a:ea typeface="Poppins"/>
                <a:cs typeface="Poppins"/>
                <a:sym typeface="Poppins"/>
              </a:rPr>
              <a:t>Se diferencia de una máquina virtual porque no trae un sistema operativo completo, sino que comparte el kernel del host. Esto hace que sea más ligero, rápido y portable.</a:t>
            </a:r>
          </a:p>
          <a:p>
            <a:pPr algn="just">
              <a:lnSpc>
                <a:spcPts val="2886"/>
              </a:lnSpc>
            </a:pPr>
          </a:p>
          <a:p>
            <a:pPr algn="just">
              <a:lnSpc>
                <a:spcPts val="2886"/>
              </a:lnSpc>
            </a:pPr>
            <a:r>
              <a:rPr lang="en-US" sz="2061">
                <a:solidFill>
                  <a:srgbClr val="FFFFFF"/>
                </a:solidFill>
                <a:latin typeface="Poppins"/>
                <a:ea typeface="Poppins"/>
                <a:cs typeface="Poppins"/>
                <a:sym typeface="Poppins"/>
              </a:rPr>
              <a:t>Ejemplo de uso</a:t>
            </a:r>
          </a:p>
          <a:p>
            <a:pPr algn="just" marL="445127" indent="-222563" lvl="1">
              <a:lnSpc>
                <a:spcPts val="2886"/>
              </a:lnSpc>
              <a:buFont typeface="Arial"/>
              <a:buChar char="•"/>
            </a:pPr>
            <a:r>
              <a:rPr lang="en-US" sz="2061">
                <a:solidFill>
                  <a:srgbClr val="FFFFFF"/>
                </a:solidFill>
                <a:latin typeface="Poppins"/>
                <a:ea typeface="Poppins"/>
                <a:cs typeface="Poppins"/>
                <a:sym typeface="Poppins"/>
              </a:rPr>
              <a:t>Tienes una app en Java + MySQL → en lugar de instalar todo en tu máquina, lo empaquetas en contenedores:</a:t>
            </a:r>
          </a:p>
          <a:p>
            <a:pPr algn="just" marL="890254" indent="-296751" lvl="2">
              <a:lnSpc>
                <a:spcPts val="2886"/>
              </a:lnSpc>
              <a:buFont typeface="Arial"/>
              <a:buChar char="⚬"/>
            </a:pPr>
            <a:r>
              <a:rPr lang="en-US" sz="2061">
                <a:solidFill>
                  <a:srgbClr val="FFFFFF"/>
                </a:solidFill>
                <a:latin typeface="Poppins"/>
                <a:ea typeface="Poppins"/>
                <a:cs typeface="Poppins"/>
                <a:sym typeface="Poppins"/>
              </a:rPr>
              <a:t>docker run mysql:latest</a:t>
            </a:r>
          </a:p>
          <a:p>
            <a:pPr algn="just" marL="890254" indent="-296751" lvl="2">
              <a:lnSpc>
                <a:spcPts val="2886"/>
              </a:lnSpc>
              <a:buFont typeface="Arial"/>
              <a:buChar char="⚬"/>
            </a:pPr>
            <a:r>
              <a:rPr lang="en-US" sz="2061">
                <a:solidFill>
                  <a:srgbClr val="FFFFFF"/>
                </a:solidFill>
                <a:latin typeface="Poppins"/>
                <a:ea typeface="Poppins"/>
                <a:cs typeface="Poppins"/>
                <a:sym typeface="Poppins"/>
              </a:rPr>
              <a:t>docker run miapp:1.0</a:t>
            </a:r>
          </a:p>
          <a:p>
            <a:pPr algn="just">
              <a:lnSpc>
                <a:spcPts val="2886"/>
              </a:lnSpc>
            </a:pPr>
            <a:r>
              <a:rPr lang="en-US" sz="2061">
                <a:solidFill>
                  <a:srgbClr val="FFFFFF"/>
                </a:solidFill>
                <a:latin typeface="Poppins"/>
                <a:ea typeface="Poppins"/>
                <a:cs typeface="Poppins"/>
                <a:sym typeface="Poppins"/>
              </a:rPr>
              <a:t>Así, la app siempre funciona igual en cualquier entorno (dev, test, producción).</a:t>
            </a:r>
          </a:p>
          <a:p>
            <a:pPr algn="just">
              <a:lnSpc>
                <a:spcPts val="2886"/>
              </a:lnSpc>
              <a:spcBef>
                <a:spcPct val="0"/>
              </a:spcBef>
            </a:pPr>
          </a:p>
        </p:txBody>
      </p:sp>
      <p:sp>
        <p:nvSpPr>
          <p:cNvPr name="Freeform 8" id="8"/>
          <p:cNvSpPr/>
          <p:nvPr/>
        </p:nvSpPr>
        <p:spPr>
          <a:xfrm flipH="false" flipV="false" rot="0">
            <a:off x="7830057" y="-232718"/>
            <a:ext cx="2424514" cy="2424514"/>
          </a:xfrm>
          <a:custGeom>
            <a:avLst/>
            <a:gdLst/>
            <a:ahLst/>
            <a:cxnLst/>
            <a:rect r="r" b="b" t="t" l="l"/>
            <a:pathLst>
              <a:path h="2424514" w="2424514">
                <a:moveTo>
                  <a:pt x="0" y="0"/>
                </a:moveTo>
                <a:lnTo>
                  <a:pt x="2424514" y="0"/>
                </a:lnTo>
                <a:lnTo>
                  <a:pt x="2424514" y="2424514"/>
                </a:lnTo>
                <a:lnTo>
                  <a:pt x="0" y="2424514"/>
                </a:lnTo>
                <a:lnTo>
                  <a:pt x="0" y="0"/>
                </a:lnTo>
                <a:close/>
              </a:path>
            </a:pathLst>
          </a:custGeom>
          <a:blipFill>
            <a:blip r:embed="rId4"/>
            <a:stretch>
              <a:fillRect l="0" t="0" r="0" b="0"/>
            </a:stretch>
          </a:blipFill>
        </p:spPr>
      </p:sp>
    </p:spTree>
  </p:cSld>
  <p:clrMapOvr>
    <a:masterClrMapping/>
  </p:clrMapOvr>
</p:sld>
</file>

<file path=ppt/slides/slide5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6894571" y="2840654"/>
            <a:ext cx="10681622" cy="6096729"/>
          </a:xfrm>
          <a:prstGeom prst="rect">
            <a:avLst/>
          </a:prstGeom>
        </p:spPr>
        <p:txBody>
          <a:bodyPr anchor="t" rtlCol="false" tIns="0" lIns="0" bIns="0" rIns="0">
            <a:spAutoFit/>
          </a:bodyPr>
          <a:lstStyle/>
          <a:p>
            <a:pPr algn="just">
              <a:lnSpc>
                <a:spcPts val="3648"/>
              </a:lnSpc>
            </a:pPr>
            <a:r>
              <a:rPr lang="en-US" sz="2606">
                <a:solidFill>
                  <a:srgbClr val="FFFFFF"/>
                </a:solidFill>
                <a:latin typeface="Poppins"/>
                <a:ea typeface="Poppins"/>
                <a:cs typeface="Poppins"/>
                <a:sym typeface="Poppins"/>
              </a:rPr>
              <a:t>Kubernetes (K8s) es un orquestador de contenedores.</a:t>
            </a:r>
          </a:p>
          <a:p>
            <a:pPr algn="just" marL="562686" indent="-281343" lvl="1">
              <a:lnSpc>
                <a:spcPts val="3648"/>
              </a:lnSpc>
              <a:buFont typeface="Arial"/>
              <a:buChar char="•"/>
            </a:pPr>
            <a:r>
              <a:rPr lang="en-US" sz="2606">
                <a:solidFill>
                  <a:srgbClr val="FFFFFF"/>
                </a:solidFill>
                <a:latin typeface="Poppins"/>
                <a:ea typeface="Poppins"/>
                <a:cs typeface="Poppins"/>
                <a:sym typeface="Poppins"/>
              </a:rPr>
              <a:t>Imagina que tienes decenas o cientos de contenedores Docker. Administrarlos uno por uno sería un caos.</a:t>
            </a:r>
          </a:p>
          <a:p>
            <a:pPr algn="just" marL="562686" indent="-281343" lvl="1">
              <a:lnSpc>
                <a:spcPts val="3648"/>
              </a:lnSpc>
              <a:buFont typeface="Arial"/>
              <a:buChar char="•"/>
            </a:pPr>
            <a:r>
              <a:rPr lang="en-US" sz="2606">
                <a:solidFill>
                  <a:srgbClr val="FFFFFF"/>
                </a:solidFill>
                <a:latin typeface="Poppins"/>
                <a:ea typeface="Poppins"/>
                <a:cs typeface="Poppins"/>
                <a:sym typeface="Poppins"/>
              </a:rPr>
              <a:t>Kubernetes se encarga de:</a:t>
            </a:r>
          </a:p>
          <a:p>
            <a:pPr algn="just" marL="1125372" indent="-375124" lvl="2">
              <a:lnSpc>
                <a:spcPts val="3648"/>
              </a:lnSpc>
              <a:buFont typeface="Arial"/>
              <a:buChar char="⚬"/>
            </a:pPr>
            <a:r>
              <a:rPr lang="en-US" sz="2606">
                <a:solidFill>
                  <a:srgbClr val="FFFFFF"/>
                </a:solidFill>
                <a:latin typeface="Poppins"/>
                <a:ea typeface="Poppins"/>
                <a:cs typeface="Poppins"/>
                <a:sym typeface="Poppins"/>
              </a:rPr>
              <a:t>Programar y desplegar contenedores en clústeres de máquinas.</a:t>
            </a:r>
          </a:p>
          <a:p>
            <a:pPr algn="just" marL="1125372" indent="-375124" lvl="2">
              <a:lnSpc>
                <a:spcPts val="3648"/>
              </a:lnSpc>
              <a:buFont typeface="Arial"/>
              <a:buChar char="⚬"/>
            </a:pPr>
            <a:r>
              <a:rPr lang="en-US" sz="2606">
                <a:solidFill>
                  <a:srgbClr val="FFFFFF"/>
                </a:solidFill>
                <a:latin typeface="Poppins"/>
                <a:ea typeface="Poppins"/>
                <a:cs typeface="Poppins"/>
                <a:sym typeface="Poppins"/>
              </a:rPr>
              <a:t>Escalar automáticamente (más o menos contenedores según la carga).</a:t>
            </a:r>
          </a:p>
          <a:p>
            <a:pPr algn="just" marL="1125372" indent="-375124" lvl="2">
              <a:lnSpc>
                <a:spcPts val="3648"/>
              </a:lnSpc>
              <a:buFont typeface="Arial"/>
              <a:buChar char="⚬"/>
            </a:pPr>
            <a:r>
              <a:rPr lang="en-US" sz="2606">
                <a:solidFill>
                  <a:srgbClr val="FFFFFF"/>
                </a:solidFill>
                <a:latin typeface="Poppins"/>
                <a:ea typeface="Poppins"/>
                <a:cs typeface="Poppins"/>
                <a:sym typeface="Poppins"/>
              </a:rPr>
              <a:t>Balancear carga entre contenedores.</a:t>
            </a:r>
          </a:p>
          <a:p>
            <a:pPr algn="just" marL="1125372" indent="-375124" lvl="2">
              <a:lnSpc>
                <a:spcPts val="3648"/>
              </a:lnSpc>
              <a:buFont typeface="Arial"/>
              <a:buChar char="⚬"/>
            </a:pPr>
            <a:r>
              <a:rPr lang="en-US" sz="2606">
                <a:solidFill>
                  <a:srgbClr val="FFFFFF"/>
                </a:solidFill>
                <a:latin typeface="Poppins"/>
                <a:ea typeface="Poppins"/>
                <a:cs typeface="Poppins"/>
                <a:sym typeface="Poppins"/>
              </a:rPr>
              <a:t>Recuperar fallos (si un contenedor muere, lo reinicia).</a:t>
            </a:r>
          </a:p>
          <a:p>
            <a:pPr algn="just" marL="1125372" indent="-375124" lvl="2">
              <a:lnSpc>
                <a:spcPts val="3648"/>
              </a:lnSpc>
              <a:buFont typeface="Arial"/>
              <a:buChar char="⚬"/>
            </a:pPr>
            <a:r>
              <a:rPr lang="en-US" sz="2606">
                <a:solidFill>
                  <a:srgbClr val="FFFFFF"/>
                </a:solidFill>
                <a:latin typeface="Poppins"/>
                <a:ea typeface="Poppins"/>
                <a:cs typeface="Poppins"/>
                <a:sym typeface="Poppins"/>
              </a:rPr>
              <a:t>Actualizar sin downtime (rolling updates, blue/green deployments).</a:t>
            </a:r>
          </a:p>
          <a:p>
            <a:pPr algn="just">
              <a:lnSpc>
                <a:spcPts val="3648"/>
              </a:lnSpc>
            </a:pPr>
          </a:p>
          <a:p>
            <a:pPr algn="just">
              <a:lnSpc>
                <a:spcPts val="1206"/>
              </a:lnSpc>
              <a:spcBef>
                <a:spcPct val="0"/>
              </a:spcBef>
            </a:pPr>
          </a:p>
        </p:txBody>
      </p:sp>
      <p:sp>
        <p:nvSpPr>
          <p:cNvPr name="Freeform 7" id="7"/>
          <p:cNvSpPr/>
          <p:nvPr/>
        </p:nvSpPr>
        <p:spPr>
          <a:xfrm flipH="false" flipV="false" rot="0">
            <a:off x="615315" y="2907329"/>
            <a:ext cx="5891375" cy="5626263"/>
          </a:xfrm>
          <a:custGeom>
            <a:avLst/>
            <a:gdLst/>
            <a:ahLst/>
            <a:cxnLst/>
            <a:rect r="r" b="b" t="t" l="l"/>
            <a:pathLst>
              <a:path h="5626263" w="5891375">
                <a:moveTo>
                  <a:pt x="0" y="0"/>
                </a:moveTo>
                <a:lnTo>
                  <a:pt x="5891375" y="0"/>
                </a:lnTo>
                <a:lnTo>
                  <a:pt x="5891375" y="5626263"/>
                </a:lnTo>
                <a:lnTo>
                  <a:pt x="0" y="5626263"/>
                </a:lnTo>
                <a:lnTo>
                  <a:pt x="0" y="0"/>
                </a:lnTo>
                <a:close/>
              </a:path>
            </a:pathLst>
          </a:custGeom>
          <a:blipFill>
            <a:blip r:embed="rId3"/>
            <a:stretch>
              <a:fillRect l="0" t="0" r="0" b="0"/>
            </a:stretch>
          </a:blipFill>
        </p:spPr>
      </p:sp>
      <p:sp>
        <p:nvSpPr>
          <p:cNvPr name="Freeform 8" id="8"/>
          <p:cNvSpPr/>
          <p:nvPr/>
        </p:nvSpPr>
        <p:spPr>
          <a:xfrm flipH="false" flipV="false" rot="0">
            <a:off x="7830057" y="-232718"/>
            <a:ext cx="2424514" cy="2424514"/>
          </a:xfrm>
          <a:custGeom>
            <a:avLst/>
            <a:gdLst/>
            <a:ahLst/>
            <a:cxnLst/>
            <a:rect r="r" b="b" t="t" l="l"/>
            <a:pathLst>
              <a:path h="2424514" w="2424514">
                <a:moveTo>
                  <a:pt x="0" y="0"/>
                </a:moveTo>
                <a:lnTo>
                  <a:pt x="2424514" y="0"/>
                </a:lnTo>
                <a:lnTo>
                  <a:pt x="2424514" y="2424514"/>
                </a:lnTo>
                <a:lnTo>
                  <a:pt x="0" y="2424514"/>
                </a:lnTo>
                <a:lnTo>
                  <a:pt x="0" y="0"/>
                </a:lnTo>
                <a:close/>
              </a:path>
            </a:pathLst>
          </a:custGeom>
          <a:blipFill>
            <a:blip r:embed="rId4"/>
            <a:stretch>
              <a:fillRect l="0" t="0" r="0" b="0"/>
            </a:stretch>
          </a:blipFill>
        </p:spPr>
      </p:sp>
    </p:spTree>
  </p:cSld>
  <p:clrMapOvr>
    <a:masterClrMapping/>
  </p:clrMapOvr>
</p:sld>
</file>

<file path=ppt/slides/slide6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4226892" y="1995382"/>
            <a:ext cx="9834216" cy="7445395"/>
          </a:xfrm>
          <a:custGeom>
            <a:avLst/>
            <a:gdLst/>
            <a:ahLst/>
            <a:cxnLst/>
            <a:rect r="r" b="b" t="t" l="l"/>
            <a:pathLst>
              <a:path h="7445395" w="9834216">
                <a:moveTo>
                  <a:pt x="0" y="0"/>
                </a:moveTo>
                <a:lnTo>
                  <a:pt x="9834216" y="0"/>
                </a:lnTo>
                <a:lnTo>
                  <a:pt x="9834216" y="7445395"/>
                </a:lnTo>
                <a:lnTo>
                  <a:pt x="0" y="7445395"/>
                </a:lnTo>
                <a:lnTo>
                  <a:pt x="0" y="0"/>
                </a:lnTo>
                <a:close/>
              </a:path>
            </a:pathLst>
          </a:custGeom>
          <a:blipFill>
            <a:blip r:embed="rId3"/>
            <a:stretch>
              <a:fillRect l="0" t="0" r="-945" b="0"/>
            </a:stretch>
          </a:blipFill>
        </p:spPr>
      </p:sp>
      <p:sp>
        <p:nvSpPr>
          <p:cNvPr name="Freeform 7" id="7"/>
          <p:cNvSpPr/>
          <p:nvPr/>
        </p:nvSpPr>
        <p:spPr>
          <a:xfrm flipH="false" flipV="false" rot="0">
            <a:off x="7830057" y="-232718"/>
            <a:ext cx="2424514" cy="2424514"/>
          </a:xfrm>
          <a:custGeom>
            <a:avLst/>
            <a:gdLst/>
            <a:ahLst/>
            <a:cxnLst/>
            <a:rect r="r" b="b" t="t" l="l"/>
            <a:pathLst>
              <a:path h="2424514" w="2424514">
                <a:moveTo>
                  <a:pt x="0" y="0"/>
                </a:moveTo>
                <a:lnTo>
                  <a:pt x="2424514" y="0"/>
                </a:lnTo>
                <a:lnTo>
                  <a:pt x="2424514" y="2424514"/>
                </a:lnTo>
                <a:lnTo>
                  <a:pt x="0" y="2424514"/>
                </a:lnTo>
                <a:lnTo>
                  <a:pt x="0" y="0"/>
                </a:lnTo>
                <a:close/>
              </a:path>
            </a:pathLst>
          </a:custGeom>
          <a:blipFill>
            <a:blip r:embed="rId4"/>
            <a:stretch>
              <a:fillRect l="0" t="0" r="0" b="0"/>
            </a:stretch>
          </a:blipFill>
        </p:spPr>
      </p:sp>
    </p:spTree>
  </p:cSld>
  <p:clrMapOvr>
    <a:masterClrMapping/>
  </p:clrMapOvr>
</p:sld>
</file>

<file path=ppt/slides/slide6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4047020" y="1962869"/>
            <a:ext cx="10412694" cy="7809521"/>
          </a:xfrm>
          <a:custGeom>
            <a:avLst/>
            <a:gdLst/>
            <a:ahLst/>
            <a:cxnLst/>
            <a:rect r="r" b="b" t="t" l="l"/>
            <a:pathLst>
              <a:path h="7809521" w="10412694">
                <a:moveTo>
                  <a:pt x="0" y="0"/>
                </a:moveTo>
                <a:lnTo>
                  <a:pt x="10412694" y="0"/>
                </a:lnTo>
                <a:lnTo>
                  <a:pt x="10412694" y="7809521"/>
                </a:lnTo>
                <a:lnTo>
                  <a:pt x="0" y="7809521"/>
                </a:lnTo>
                <a:lnTo>
                  <a:pt x="0" y="0"/>
                </a:lnTo>
                <a:close/>
              </a:path>
            </a:pathLst>
          </a:custGeom>
          <a:blipFill>
            <a:blip r:embed="rId3"/>
            <a:stretch>
              <a:fillRect l="0" t="0" r="0" b="0"/>
            </a:stretch>
          </a:blipFill>
        </p:spPr>
      </p:sp>
      <p:sp>
        <p:nvSpPr>
          <p:cNvPr name="Freeform 7" id="7"/>
          <p:cNvSpPr/>
          <p:nvPr/>
        </p:nvSpPr>
        <p:spPr>
          <a:xfrm flipH="false" flipV="false" rot="0">
            <a:off x="7830057" y="-232718"/>
            <a:ext cx="2424514" cy="2424514"/>
          </a:xfrm>
          <a:custGeom>
            <a:avLst/>
            <a:gdLst/>
            <a:ahLst/>
            <a:cxnLst/>
            <a:rect r="r" b="b" t="t" l="l"/>
            <a:pathLst>
              <a:path h="2424514" w="2424514">
                <a:moveTo>
                  <a:pt x="0" y="0"/>
                </a:moveTo>
                <a:lnTo>
                  <a:pt x="2424514" y="0"/>
                </a:lnTo>
                <a:lnTo>
                  <a:pt x="2424514" y="2424514"/>
                </a:lnTo>
                <a:lnTo>
                  <a:pt x="0" y="2424514"/>
                </a:lnTo>
                <a:lnTo>
                  <a:pt x="0" y="0"/>
                </a:lnTo>
                <a:close/>
              </a:path>
            </a:pathLst>
          </a:custGeom>
          <a:blipFill>
            <a:blip r:embed="rId4"/>
            <a:stretch>
              <a:fillRect l="0" t="0" r="0" b="0"/>
            </a:stretch>
          </a:blipFill>
        </p:spPr>
      </p:sp>
    </p:spTree>
  </p:cSld>
  <p:clrMapOvr>
    <a:masterClrMapping/>
  </p:clrMapOvr>
</p:sld>
</file>

<file path=ppt/slides/slide6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9352354" y="6039392"/>
            <a:ext cx="2409841" cy="2349595"/>
          </a:xfrm>
          <a:custGeom>
            <a:avLst/>
            <a:gdLst/>
            <a:ahLst/>
            <a:cxnLst/>
            <a:rect r="r" b="b" t="t" l="l"/>
            <a:pathLst>
              <a:path h="2349595" w="2409841">
                <a:moveTo>
                  <a:pt x="0" y="0"/>
                </a:moveTo>
                <a:lnTo>
                  <a:pt x="2409842" y="0"/>
                </a:lnTo>
                <a:lnTo>
                  <a:pt x="2409842" y="2349595"/>
                </a:lnTo>
                <a:lnTo>
                  <a:pt x="0" y="2349595"/>
                </a:lnTo>
                <a:lnTo>
                  <a:pt x="0" y="0"/>
                </a:lnTo>
                <a:close/>
              </a:path>
            </a:pathLst>
          </a:custGeom>
          <a:blipFill>
            <a:blip r:embed="rId3"/>
            <a:stretch>
              <a:fillRect l="0" t="0" r="0" b="0"/>
            </a:stretch>
          </a:blipFill>
        </p:spPr>
      </p:sp>
      <p:sp>
        <p:nvSpPr>
          <p:cNvPr name="Freeform 7" id="7"/>
          <p:cNvSpPr/>
          <p:nvPr/>
        </p:nvSpPr>
        <p:spPr>
          <a:xfrm flipH="false" flipV="false" rot="0">
            <a:off x="12826892" y="4274187"/>
            <a:ext cx="5002796" cy="4114800"/>
          </a:xfrm>
          <a:custGeom>
            <a:avLst/>
            <a:gdLst/>
            <a:ahLst/>
            <a:cxnLst/>
            <a:rect r="r" b="b" t="t" l="l"/>
            <a:pathLst>
              <a:path h="4114800" w="5002796">
                <a:moveTo>
                  <a:pt x="0" y="0"/>
                </a:moveTo>
                <a:lnTo>
                  <a:pt x="5002796" y="0"/>
                </a:lnTo>
                <a:lnTo>
                  <a:pt x="5002796"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2624208" y="2710990"/>
            <a:ext cx="13039583" cy="1128518"/>
          </a:xfrm>
          <a:prstGeom prst="rect">
            <a:avLst/>
          </a:prstGeom>
        </p:spPr>
        <p:txBody>
          <a:bodyPr anchor="t" rtlCol="false" tIns="0" lIns="0" bIns="0" rIns="0">
            <a:spAutoFit/>
          </a:bodyPr>
          <a:lstStyle/>
          <a:p>
            <a:pPr algn="ctr">
              <a:lnSpc>
                <a:spcPts val="4566"/>
              </a:lnSpc>
              <a:spcBef>
                <a:spcPct val="0"/>
              </a:spcBef>
            </a:pPr>
            <a:r>
              <a:rPr lang="en-US" sz="3261">
                <a:solidFill>
                  <a:srgbClr val="FFFFFF"/>
                </a:solidFill>
                <a:latin typeface="HK Modular"/>
                <a:ea typeface="HK Modular"/>
                <a:cs typeface="HK Modular"/>
                <a:sym typeface="HK Modular"/>
              </a:rPr>
              <a:t> Docker crea y ejecuta contenedores</a:t>
            </a:r>
          </a:p>
          <a:p>
            <a:pPr algn="ctr">
              <a:lnSpc>
                <a:spcPts val="4566"/>
              </a:lnSpc>
              <a:spcBef>
                <a:spcPct val="0"/>
              </a:spcBef>
            </a:pPr>
            <a:r>
              <a:rPr lang="en-US" sz="3261">
                <a:solidFill>
                  <a:srgbClr val="FFFFFF"/>
                </a:solidFill>
                <a:latin typeface="HK Modular"/>
                <a:ea typeface="HK Modular"/>
                <a:cs typeface="HK Modular"/>
                <a:sym typeface="HK Modular"/>
              </a:rPr>
              <a:t>Kubernetes los coordina en gran escala.</a:t>
            </a:r>
          </a:p>
        </p:txBody>
      </p:sp>
      <p:sp>
        <p:nvSpPr>
          <p:cNvPr name="TextBox 9" id="9"/>
          <p:cNvSpPr txBox="true"/>
          <p:nvPr/>
        </p:nvSpPr>
        <p:spPr>
          <a:xfrm rot="0">
            <a:off x="887540" y="4770969"/>
            <a:ext cx="7400119" cy="3045036"/>
          </a:xfrm>
          <a:prstGeom prst="rect">
            <a:avLst/>
          </a:prstGeom>
        </p:spPr>
        <p:txBody>
          <a:bodyPr anchor="t" rtlCol="false" tIns="0" lIns="0" bIns="0" rIns="0">
            <a:spAutoFit/>
          </a:bodyPr>
          <a:lstStyle/>
          <a:p>
            <a:pPr algn="ctr">
              <a:lnSpc>
                <a:spcPts val="3455"/>
              </a:lnSpc>
              <a:spcBef>
                <a:spcPct val="0"/>
              </a:spcBef>
            </a:pPr>
            <a:r>
              <a:rPr lang="en-US" sz="2468">
                <a:solidFill>
                  <a:srgbClr val="FFFFFF"/>
                </a:solidFill>
                <a:latin typeface="Poppins"/>
                <a:ea typeface="Poppins"/>
                <a:cs typeface="Poppins"/>
                <a:sym typeface="Poppins"/>
              </a:rPr>
              <a:t>Docker = Contenedor individual → como una “caja” que guarda una aplicación lista para usar.</a:t>
            </a:r>
          </a:p>
          <a:p>
            <a:pPr algn="ctr">
              <a:lnSpc>
                <a:spcPts val="3455"/>
              </a:lnSpc>
              <a:spcBef>
                <a:spcPct val="0"/>
              </a:spcBef>
            </a:pPr>
            <a:r>
              <a:rPr lang="en-US" sz="2468">
                <a:solidFill>
                  <a:srgbClr val="FFFFFF"/>
                </a:solidFill>
                <a:latin typeface="Poppins"/>
                <a:ea typeface="Poppins"/>
                <a:cs typeface="Poppins"/>
                <a:sym typeface="Poppins"/>
              </a:rPr>
              <a:t>Kubernetes = Puerto marítimo → organiza, coordina y distribuye miles de contenedores en barcos, asegurándose de que todo funcione sin problemas.</a:t>
            </a:r>
          </a:p>
        </p:txBody>
      </p:sp>
      <p:sp>
        <p:nvSpPr>
          <p:cNvPr name="Freeform 10" id="10"/>
          <p:cNvSpPr/>
          <p:nvPr/>
        </p:nvSpPr>
        <p:spPr>
          <a:xfrm flipH="false" flipV="false" rot="0">
            <a:off x="7830057" y="-232718"/>
            <a:ext cx="2424514" cy="2424514"/>
          </a:xfrm>
          <a:custGeom>
            <a:avLst/>
            <a:gdLst/>
            <a:ahLst/>
            <a:cxnLst/>
            <a:rect r="r" b="b" t="t" l="l"/>
            <a:pathLst>
              <a:path h="2424514" w="2424514">
                <a:moveTo>
                  <a:pt x="0" y="0"/>
                </a:moveTo>
                <a:lnTo>
                  <a:pt x="2424514" y="0"/>
                </a:lnTo>
                <a:lnTo>
                  <a:pt x="2424514" y="2424514"/>
                </a:lnTo>
                <a:lnTo>
                  <a:pt x="0" y="2424514"/>
                </a:lnTo>
                <a:lnTo>
                  <a:pt x="0" y="0"/>
                </a:lnTo>
                <a:close/>
              </a:path>
            </a:pathLst>
          </a:custGeom>
          <a:blipFill>
            <a:blip r:embed="rId6"/>
            <a:stretch>
              <a:fillRect l="0" t="0" r="0" b="0"/>
            </a:stretch>
          </a:blipFill>
        </p:spPr>
      </p:sp>
    </p:spTree>
  </p:cSld>
  <p:clrMapOvr>
    <a:masterClrMapping/>
  </p:clrMapOvr>
</p:sld>
</file>

<file path=ppt/slides/slide6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ED">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ED">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395636" y="3309281"/>
            <a:ext cx="15715462" cy="4755718"/>
          </a:xfrm>
          <a:prstGeom prst="rect">
            <a:avLst/>
          </a:prstGeom>
        </p:spPr>
        <p:txBody>
          <a:bodyPr anchor="t" rtlCol="false" tIns="0" lIns="0" bIns="0" rIns="0">
            <a:spAutoFit/>
          </a:bodyPr>
          <a:lstStyle/>
          <a:p>
            <a:pPr algn="ctr">
              <a:lnSpc>
                <a:spcPts val="9478"/>
              </a:lnSpc>
              <a:spcBef>
                <a:spcPct val="0"/>
              </a:spcBef>
            </a:pPr>
            <a:r>
              <a:rPr lang="en-US" sz="6770">
                <a:solidFill>
                  <a:srgbClr val="FF5757"/>
                </a:solidFill>
                <a:latin typeface="HK Modular"/>
                <a:ea typeface="HK Modular"/>
                <a:cs typeface="HK Modular"/>
                <a:sym typeface="HK Modular"/>
              </a:rPr>
              <a:t>MODULO DE DIAGRAMACION #6: DIAGRAMA DE DESPLIEGUE</a:t>
            </a:r>
          </a:p>
        </p:txBody>
      </p:sp>
      <p:sp>
        <p:nvSpPr>
          <p:cNvPr name="Freeform 13" id="13"/>
          <p:cNvSpPr/>
          <p:nvPr/>
        </p:nvSpPr>
        <p:spPr>
          <a:xfrm flipH="false" flipV="false" rot="0">
            <a:off x="7830057" y="-232718"/>
            <a:ext cx="2424514" cy="2424514"/>
          </a:xfrm>
          <a:custGeom>
            <a:avLst/>
            <a:gdLst/>
            <a:ahLst/>
            <a:cxnLst/>
            <a:rect r="r" b="b" t="t" l="l"/>
            <a:pathLst>
              <a:path h="2424514" w="2424514">
                <a:moveTo>
                  <a:pt x="0" y="0"/>
                </a:moveTo>
                <a:lnTo>
                  <a:pt x="2424514" y="0"/>
                </a:lnTo>
                <a:lnTo>
                  <a:pt x="2424514" y="2424514"/>
                </a:lnTo>
                <a:lnTo>
                  <a:pt x="0" y="2424514"/>
                </a:lnTo>
                <a:lnTo>
                  <a:pt x="0" y="0"/>
                </a:lnTo>
                <a:close/>
              </a:path>
            </a:pathLst>
          </a:custGeom>
          <a:blipFill>
            <a:blip r:embed="rId3"/>
            <a:stretch>
              <a:fillRect l="0" t="0" r="0" b="0"/>
            </a:stretch>
          </a:blipFill>
        </p:spPr>
      </p:sp>
    </p:spTree>
  </p:cSld>
  <p:clrMapOvr>
    <a:masterClrMapping/>
  </p:clrMapOvr>
</p:sld>
</file>

<file path=ppt/slides/slide6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656478" y="2375813"/>
            <a:ext cx="6507136" cy="6120095"/>
          </a:xfrm>
          <a:custGeom>
            <a:avLst/>
            <a:gdLst/>
            <a:ahLst/>
            <a:cxnLst/>
            <a:rect r="r" b="b" t="t" l="l"/>
            <a:pathLst>
              <a:path h="6120095" w="6507136">
                <a:moveTo>
                  <a:pt x="0" y="0"/>
                </a:moveTo>
                <a:lnTo>
                  <a:pt x="6507137" y="0"/>
                </a:lnTo>
                <a:lnTo>
                  <a:pt x="6507137" y="6120094"/>
                </a:lnTo>
                <a:lnTo>
                  <a:pt x="0" y="6120094"/>
                </a:lnTo>
                <a:lnTo>
                  <a:pt x="0" y="0"/>
                </a:lnTo>
                <a:close/>
              </a:path>
            </a:pathLst>
          </a:custGeom>
          <a:blipFill>
            <a:blip r:embed="rId3"/>
            <a:stretch>
              <a:fillRect l="0" t="0" r="0" b="0"/>
            </a:stretch>
          </a:blipFill>
        </p:spPr>
      </p:sp>
      <p:sp>
        <p:nvSpPr>
          <p:cNvPr name="TextBox 7" id="7"/>
          <p:cNvSpPr txBox="true"/>
          <p:nvPr/>
        </p:nvSpPr>
        <p:spPr>
          <a:xfrm rot="0">
            <a:off x="7343956" y="3282483"/>
            <a:ext cx="10365718" cy="1709423"/>
          </a:xfrm>
          <a:prstGeom prst="rect">
            <a:avLst/>
          </a:prstGeom>
        </p:spPr>
        <p:txBody>
          <a:bodyPr anchor="t" rtlCol="false" tIns="0" lIns="0" bIns="0" rIns="0">
            <a:spAutoFit/>
          </a:bodyPr>
          <a:lstStyle/>
          <a:p>
            <a:pPr algn="ctr">
              <a:lnSpc>
                <a:spcPts val="3399"/>
              </a:lnSpc>
              <a:spcBef>
                <a:spcPct val="0"/>
              </a:spcBef>
            </a:pPr>
            <a:r>
              <a:rPr lang="en-US" sz="2428">
                <a:solidFill>
                  <a:srgbClr val="FFFFFF"/>
                </a:solidFill>
                <a:latin typeface="Poppins"/>
                <a:ea typeface="Poppins"/>
                <a:cs typeface="Poppins"/>
                <a:sym typeface="Poppins"/>
              </a:rPr>
              <a:t>Los diagramas de despliegue se utilizan para visualizar los procesadores/ nodos/dispositivos de hardware de un sistema, los enlaces de comunicación entre ellos y la colocación de los archivos de software en ese hardware.</a:t>
            </a:r>
          </a:p>
        </p:txBody>
      </p:sp>
      <p:sp>
        <p:nvSpPr>
          <p:cNvPr name="TextBox 8" id="8"/>
          <p:cNvSpPr txBox="true"/>
          <p:nvPr/>
        </p:nvSpPr>
        <p:spPr>
          <a:xfrm rot="0">
            <a:off x="8115278" y="6092118"/>
            <a:ext cx="8823073" cy="1610075"/>
          </a:xfrm>
          <a:prstGeom prst="rect">
            <a:avLst/>
          </a:prstGeom>
        </p:spPr>
        <p:txBody>
          <a:bodyPr anchor="t" rtlCol="false" tIns="0" lIns="0" bIns="0" rIns="0">
            <a:spAutoFit/>
          </a:bodyPr>
          <a:lstStyle/>
          <a:p>
            <a:pPr algn="ctr">
              <a:lnSpc>
                <a:spcPts val="3214"/>
              </a:lnSpc>
              <a:spcBef>
                <a:spcPct val="0"/>
              </a:spcBef>
            </a:pPr>
            <a:r>
              <a:rPr lang="en-US" sz="2295">
                <a:solidFill>
                  <a:srgbClr val="FFFFFF"/>
                </a:solidFill>
                <a:latin typeface="Poppins"/>
                <a:ea typeface="Poppins"/>
                <a:cs typeface="Poppins"/>
                <a:sym typeface="Poppins"/>
              </a:rPr>
              <a:t>Un diagrama de despliegue es un tipo de diagrama UML que muestra la arquitectura de ejecución de un sistema, incluyendo nodos como entornos de ejecución de hardware o software, y el middleware que los conecta.</a:t>
            </a:r>
          </a:p>
        </p:txBody>
      </p:sp>
      <p:sp>
        <p:nvSpPr>
          <p:cNvPr name="Freeform 9" id="9"/>
          <p:cNvSpPr/>
          <p:nvPr/>
        </p:nvSpPr>
        <p:spPr>
          <a:xfrm flipH="false" flipV="false" rot="0">
            <a:off x="7830057" y="-232718"/>
            <a:ext cx="2424514" cy="2424514"/>
          </a:xfrm>
          <a:custGeom>
            <a:avLst/>
            <a:gdLst/>
            <a:ahLst/>
            <a:cxnLst/>
            <a:rect r="r" b="b" t="t" l="l"/>
            <a:pathLst>
              <a:path h="2424514" w="2424514">
                <a:moveTo>
                  <a:pt x="0" y="0"/>
                </a:moveTo>
                <a:lnTo>
                  <a:pt x="2424514" y="0"/>
                </a:lnTo>
                <a:lnTo>
                  <a:pt x="2424514" y="2424514"/>
                </a:lnTo>
                <a:lnTo>
                  <a:pt x="0" y="2424514"/>
                </a:lnTo>
                <a:lnTo>
                  <a:pt x="0" y="0"/>
                </a:lnTo>
                <a:close/>
              </a:path>
            </a:pathLst>
          </a:custGeom>
          <a:blipFill>
            <a:blip r:embed="rId4"/>
            <a:stretch>
              <a:fillRect l="0" t="0" r="0" b="0"/>
            </a:stretch>
          </a:blipFill>
        </p:spPr>
      </p:sp>
    </p:spTree>
  </p:cSld>
  <p:clrMapOvr>
    <a:masterClrMapping/>
  </p:clrMapOvr>
</p:sld>
</file>

<file path=ppt/slides/slide6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2582226" y="4525487"/>
            <a:ext cx="5053735" cy="2820669"/>
          </a:xfrm>
          <a:custGeom>
            <a:avLst/>
            <a:gdLst/>
            <a:ahLst/>
            <a:cxnLst/>
            <a:rect r="r" b="b" t="t" l="l"/>
            <a:pathLst>
              <a:path h="2820669" w="5053735">
                <a:moveTo>
                  <a:pt x="0" y="0"/>
                </a:moveTo>
                <a:lnTo>
                  <a:pt x="5053735" y="0"/>
                </a:lnTo>
                <a:lnTo>
                  <a:pt x="5053735" y="2820669"/>
                </a:lnTo>
                <a:lnTo>
                  <a:pt x="0" y="2820669"/>
                </a:lnTo>
                <a:lnTo>
                  <a:pt x="0" y="0"/>
                </a:lnTo>
                <a:close/>
              </a:path>
            </a:pathLst>
          </a:custGeom>
          <a:blipFill>
            <a:blip r:embed="rId3"/>
            <a:stretch>
              <a:fillRect l="-15362" t="-19392" r="-11521" b="0"/>
            </a:stretch>
          </a:blipFill>
        </p:spPr>
      </p:sp>
      <p:sp>
        <p:nvSpPr>
          <p:cNvPr name="Freeform 7" id="7"/>
          <p:cNvSpPr/>
          <p:nvPr/>
        </p:nvSpPr>
        <p:spPr>
          <a:xfrm flipH="false" flipV="false" rot="0">
            <a:off x="11173961" y="4875553"/>
            <a:ext cx="5548770" cy="1864040"/>
          </a:xfrm>
          <a:custGeom>
            <a:avLst/>
            <a:gdLst/>
            <a:ahLst/>
            <a:cxnLst/>
            <a:rect r="r" b="b" t="t" l="l"/>
            <a:pathLst>
              <a:path h="1864040" w="5548770">
                <a:moveTo>
                  <a:pt x="0" y="0"/>
                </a:moveTo>
                <a:lnTo>
                  <a:pt x="5548770" y="0"/>
                </a:lnTo>
                <a:lnTo>
                  <a:pt x="5548770" y="1864040"/>
                </a:lnTo>
                <a:lnTo>
                  <a:pt x="0" y="1864040"/>
                </a:lnTo>
                <a:lnTo>
                  <a:pt x="0" y="0"/>
                </a:lnTo>
                <a:close/>
              </a:path>
            </a:pathLst>
          </a:custGeom>
          <a:blipFill>
            <a:blip r:embed="rId4"/>
            <a:stretch>
              <a:fillRect l="0" t="0" r="0" b="0"/>
            </a:stretch>
          </a:blipFill>
        </p:spPr>
      </p:sp>
      <p:sp>
        <p:nvSpPr>
          <p:cNvPr name="TextBox 8" id="8"/>
          <p:cNvSpPr txBox="true"/>
          <p:nvPr/>
        </p:nvSpPr>
        <p:spPr>
          <a:xfrm rot="0">
            <a:off x="1395636" y="2058446"/>
            <a:ext cx="15715462" cy="1159969"/>
          </a:xfrm>
          <a:prstGeom prst="rect">
            <a:avLst/>
          </a:prstGeom>
        </p:spPr>
        <p:txBody>
          <a:bodyPr anchor="t" rtlCol="false" tIns="0" lIns="0" bIns="0" rIns="0">
            <a:spAutoFit/>
          </a:bodyPr>
          <a:lstStyle/>
          <a:p>
            <a:pPr algn="ctr">
              <a:lnSpc>
                <a:spcPts val="9478"/>
              </a:lnSpc>
              <a:spcBef>
                <a:spcPct val="0"/>
              </a:spcBef>
            </a:pPr>
            <a:r>
              <a:rPr lang="en-US" sz="6770">
                <a:solidFill>
                  <a:srgbClr val="FF007A"/>
                </a:solidFill>
                <a:latin typeface="HK Modular"/>
                <a:ea typeface="HK Modular"/>
                <a:cs typeface="HK Modular"/>
                <a:sym typeface="HK Modular"/>
              </a:rPr>
              <a:t>NOTACIONES</a:t>
            </a:r>
          </a:p>
        </p:txBody>
      </p:sp>
      <p:sp>
        <p:nvSpPr>
          <p:cNvPr name="TextBox 9" id="9"/>
          <p:cNvSpPr txBox="true"/>
          <p:nvPr/>
        </p:nvSpPr>
        <p:spPr>
          <a:xfrm rot="0">
            <a:off x="2994093" y="7794410"/>
            <a:ext cx="4230000" cy="2009140"/>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Poppins"/>
                <a:ea typeface="Poppins"/>
                <a:cs typeface="Poppins"/>
                <a:sym typeface="Poppins"/>
              </a:rPr>
              <a:t>Un nodo, representado como un cubo, es una entidad física que ejecuta uno o más componentes, subsistemas o ejecutables. Un nodo podría ser un elemento de hardware o software.</a:t>
            </a:r>
          </a:p>
        </p:txBody>
      </p:sp>
      <p:sp>
        <p:nvSpPr>
          <p:cNvPr name="TextBox 10" id="10"/>
          <p:cNvSpPr txBox="true"/>
          <p:nvPr/>
        </p:nvSpPr>
        <p:spPr>
          <a:xfrm rot="0">
            <a:off x="11173961" y="7447812"/>
            <a:ext cx="5325954" cy="2009140"/>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Poppins"/>
                <a:ea typeface="Poppins"/>
                <a:cs typeface="Poppins"/>
                <a:sym typeface="Poppins"/>
              </a:rPr>
              <a:t>Artefactos del diagrama de despliegue Los artefactos son elementos concretos que son causados por un proceso de desarrollo. Ejemplos de artefactos son las bibliotecas, archivos, archivos de configuración, archivos ejecutables, etc.</a:t>
            </a:r>
          </a:p>
        </p:txBody>
      </p:sp>
      <p:sp>
        <p:nvSpPr>
          <p:cNvPr name="Freeform 11" id="11"/>
          <p:cNvSpPr/>
          <p:nvPr/>
        </p:nvSpPr>
        <p:spPr>
          <a:xfrm flipH="false" flipV="false" rot="0">
            <a:off x="7830057" y="-232718"/>
            <a:ext cx="2424514" cy="2424514"/>
          </a:xfrm>
          <a:custGeom>
            <a:avLst/>
            <a:gdLst/>
            <a:ahLst/>
            <a:cxnLst/>
            <a:rect r="r" b="b" t="t" l="l"/>
            <a:pathLst>
              <a:path h="2424514" w="2424514">
                <a:moveTo>
                  <a:pt x="0" y="0"/>
                </a:moveTo>
                <a:lnTo>
                  <a:pt x="2424514" y="0"/>
                </a:lnTo>
                <a:lnTo>
                  <a:pt x="2424514" y="2424514"/>
                </a:lnTo>
                <a:lnTo>
                  <a:pt x="0" y="2424514"/>
                </a:lnTo>
                <a:lnTo>
                  <a:pt x="0" y="0"/>
                </a:lnTo>
                <a:close/>
              </a:path>
            </a:pathLst>
          </a:custGeom>
          <a:blipFill>
            <a:blip r:embed="rId5"/>
            <a:stretch>
              <a:fillRect l="0" t="0" r="0" b="0"/>
            </a:stretch>
          </a:blipFill>
        </p:spPr>
      </p:sp>
    </p:spTree>
  </p:cSld>
  <p:clrMapOvr>
    <a:masterClrMapping/>
  </p:clrMapOvr>
</p:sld>
</file>

<file path=ppt/slides/slide6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028700" y="5143500"/>
            <a:ext cx="4709885" cy="1163170"/>
          </a:xfrm>
          <a:custGeom>
            <a:avLst/>
            <a:gdLst/>
            <a:ahLst/>
            <a:cxnLst/>
            <a:rect r="r" b="b" t="t" l="l"/>
            <a:pathLst>
              <a:path h="1163170" w="4709885">
                <a:moveTo>
                  <a:pt x="0" y="0"/>
                </a:moveTo>
                <a:lnTo>
                  <a:pt x="4709885" y="0"/>
                </a:lnTo>
                <a:lnTo>
                  <a:pt x="4709885" y="1163170"/>
                </a:lnTo>
                <a:lnTo>
                  <a:pt x="0" y="1163170"/>
                </a:lnTo>
                <a:lnTo>
                  <a:pt x="0" y="0"/>
                </a:lnTo>
                <a:close/>
              </a:path>
            </a:pathLst>
          </a:custGeom>
          <a:blipFill>
            <a:blip r:embed="rId3"/>
            <a:stretch>
              <a:fillRect l="0" t="0" r="0" b="0"/>
            </a:stretch>
          </a:blipFill>
        </p:spPr>
      </p:sp>
      <p:sp>
        <p:nvSpPr>
          <p:cNvPr name="Freeform 7" id="7"/>
          <p:cNvSpPr/>
          <p:nvPr/>
        </p:nvSpPr>
        <p:spPr>
          <a:xfrm flipH="false" flipV="false" rot="0">
            <a:off x="7104581" y="4009943"/>
            <a:ext cx="4579893" cy="3430284"/>
          </a:xfrm>
          <a:custGeom>
            <a:avLst/>
            <a:gdLst/>
            <a:ahLst/>
            <a:cxnLst/>
            <a:rect r="r" b="b" t="t" l="l"/>
            <a:pathLst>
              <a:path h="3430284" w="4579893">
                <a:moveTo>
                  <a:pt x="0" y="0"/>
                </a:moveTo>
                <a:lnTo>
                  <a:pt x="4579893" y="0"/>
                </a:lnTo>
                <a:lnTo>
                  <a:pt x="4579893" y="3430284"/>
                </a:lnTo>
                <a:lnTo>
                  <a:pt x="0" y="3430284"/>
                </a:lnTo>
                <a:lnTo>
                  <a:pt x="0" y="0"/>
                </a:lnTo>
                <a:close/>
              </a:path>
            </a:pathLst>
          </a:custGeom>
          <a:blipFill>
            <a:blip r:embed="rId4"/>
            <a:stretch>
              <a:fillRect l="0" t="0" r="0" b="0"/>
            </a:stretch>
          </a:blipFill>
        </p:spPr>
      </p:sp>
      <p:sp>
        <p:nvSpPr>
          <p:cNvPr name="Freeform 8" id="8"/>
          <p:cNvSpPr/>
          <p:nvPr/>
        </p:nvSpPr>
        <p:spPr>
          <a:xfrm flipH="false" flipV="false" rot="0">
            <a:off x="13573983" y="4946993"/>
            <a:ext cx="3213740" cy="1834326"/>
          </a:xfrm>
          <a:custGeom>
            <a:avLst/>
            <a:gdLst/>
            <a:ahLst/>
            <a:cxnLst/>
            <a:rect r="r" b="b" t="t" l="l"/>
            <a:pathLst>
              <a:path h="1834326" w="3213740">
                <a:moveTo>
                  <a:pt x="0" y="0"/>
                </a:moveTo>
                <a:lnTo>
                  <a:pt x="3213740" y="0"/>
                </a:lnTo>
                <a:lnTo>
                  <a:pt x="3213740" y="1834326"/>
                </a:lnTo>
                <a:lnTo>
                  <a:pt x="0" y="1834326"/>
                </a:lnTo>
                <a:lnTo>
                  <a:pt x="0" y="0"/>
                </a:lnTo>
                <a:close/>
              </a:path>
            </a:pathLst>
          </a:custGeom>
          <a:blipFill>
            <a:blip r:embed="rId5"/>
            <a:stretch>
              <a:fillRect l="0" t="0" r="0" b="0"/>
            </a:stretch>
          </a:blipFill>
        </p:spPr>
      </p:sp>
      <p:sp>
        <p:nvSpPr>
          <p:cNvPr name="TextBox 9" id="9"/>
          <p:cNvSpPr txBox="true"/>
          <p:nvPr/>
        </p:nvSpPr>
        <p:spPr>
          <a:xfrm rot="0">
            <a:off x="1395636" y="2058446"/>
            <a:ext cx="15715462" cy="1159969"/>
          </a:xfrm>
          <a:prstGeom prst="rect">
            <a:avLst/>
          </a:prstGeom>
        </p:spPr>
        <p:txBody>
          <a:bodyPr anchor="t" rtlCol="false" tIns="0" lIns="0" bIns="0" rIns="0">
            <a:spAutoFit/>
          </a:bodyPr>
          <a:lstStyle/>
          <a:p>
            <a:pPr algn="ctr">
              <a:lnSpc>
                <a:spcPts val="9478"/>
              </a:lnSpc>
              <a:spcBef>
                <a:spcPct val="0"/>
              </a:spcBef>
            </a:pPr>
            <a:r>
              <a:rPr lang="en-US" sz="6770">
                <a:solidFill>
                  <a:srgbClr val="FF007A"/>
                </a:solidFill>
                <a:latin typeface="HK Modular"/>
                <a:ea typeface="HK Modular"/>
                <a:cs typeface="HK Modular"/>
                <a:sym typeface="HK Modular"/>
              </a:rPr>
              <a:t>NOTACIONES</a:t>
            </a:r>
          </a:p>
        </p:txBody>
      </p:sp>
      <p:sp>
        <p:nvSpPr>
          <p:cNvPr name="TextBox 10" id="10"/>
          <p:cNvSpPr txBox="true"/>
          <p:nvPr/>
        </p:nvSpPr>
        <p:spPr>
          <a:xfrm rot="0">
            <a:off x="1478876" y="7043554"/>
            <a:ext cx="3809533" cy="1342390"/>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Poppins"/>
                <a:ea typeface="Poppins"/>
                <a:cs typeface="Poppins"/>
                <a:sym typeface="Poppins"/>
              </a:rPr>
              <a:t>Esto está representado por una línea sólida entre dos nodos. Muestra el camino de la comunicación entre los nodos.</a:t>
            </a:r>
          </a:p>
        </p:txBody>
      </p:sp>
      <p:sp>
        <p:nvSpPr>
          <p:cNvPr name="TextBox 11" id="11"/>
          <p:cNvSpPr txBox="true"/>
          <p:nvPr/>
        </p:nvSpPr>
        <p:spPr>
          <a:xfrm rot="0">
            <a:off x="7264673" y="7686174"/>
            <a:ext cx="4259709" cy="2009140"/>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Poppins"/>
                <a:ea typeface="Poppins"/>
                <a:cs typeface="Poppins"/>
                <a:sym typeface="Poppins"/>
              </a:rPr>
              <a:t>Un dispositivo es un nodo que se utiliza para representar un recurso físico computacional en un sistema. Un ejemplo de un dispositivo es un servidor de aplicaciones.</a:t>
            </a:r>
          </a:p>
        </p:txBody>
      </p:sp>
      <p:sp>
        <p:nvSpPr>
          <p:cNvPr name="TextBox 12" id="12"/>
          <p:cNvSpPr txBox="true"/>
          <p:nvPr/>
        </p:nvSpPr>
        <p:spPr>
          <a:xfrm rot="0">
            <a:off x="13496715" y="7019424"/>
            <a:ext cx="3614383" cy="2675890"/>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Poppins"/>
                <a:ea typeface="Poppins"/>
                <a:cs typeface="Poppins"/>
                <a:sym typeface="Poppins"/>
              </a:rPr>
              <a:t>Especificación despliegue Las especificaciones de despliegue son un archivo de configuración, como un archivo de texto o un documento XML. Describe cómo se despliega un artefacto en un nodo.</a:t>
            </a:r>
          </a:p>
        </p:txBody>
      </p:sp>
      <p:sp>
        <p:nvSpPr>
          <p:cNvPr name="Freeform 13" id="13"/>
          <p:cNvSpPr/>
          <p:nvPr/>
        </p:nvSpPr>
        <p:spPr>
          <a:xfrm flipH="false" flipV="false" rot="0">
            <a:off x="7830057" y="-232718"/>
            <a:ext cx="2424514" cy="2424514"/>
          </a:xfrm>
          <a:custGeom>
            <a:avLst/>
            <a:gdLst/>
            <a:ahLst/>
            <a:cxnLst/>
            <a:rect r="r" b="b" t="t" l="l"/>
            <a:pathLst>
              <a:path h="2424514" w="2424514">
                <a:moveTo>
                  <a:pt x="0" y="0"/>
                </a:moveTo>
                <a:lnTo>
                  <a:pt x="2424514" y="0"/>
                </a:lnTo>
                <a:lnTo>
                  <a:pt x="2424514" y="2424514"/>
                </a:lnTo>
                <a:lnTo>
                  <a:pt x="0" y="2424514"/>
                </a:lnTo>
                <a:lnTo>
                  <a:pt x="0" y="0"/>
                </a:lnTo>
                <a:close/>
              </a:path>
            </a:pathLst>
          </a:custGeom>
          <a:blipFill>
            <a:blip r:embed="rId6"/>
            <a:stretch>
              <a:fillRect l="0" t="0" r="0" b="0"/>
            </a:stretch>
          </a:blipFill>
        </p:spPr>
      </p:sp>
    </p:spTree>
  </p:cSld>
  <p:clrMapOvr>
    <a:masterClrMapping/>
  </p:clrMapOvr>
</p:sld>
</file>

<file path=ppt/slides/slide6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395636" y="2058446"/>
            <a:ext cx="15715462" cy="1159969"/>
          </a:xfrm>
          <a:prstGeom prst="rect">
            <a:avLst/>
          </a:prstGeom>
        </p:spPr>
        <p:txBody>
          <a:bodyPr anchor="t" rtlCol="false" tIns="0" lIns="0" bIns="0" rIns="0">
            <a:spAutoFit/>
          </a:bodyPr>
          <a:lstStyle/>
          <a:p>
            <a:pPr algn="ctr">
              <a:lnSpc>
                <a:spcPts val="9478"/>
              </a:lnSpc>
              <a:spcBef>
                <a:spcPct val="0"/>
              </a:spcBef>
            </a:pPr>
            <a:r>
              <a:rPr lang="en-US" sz="6770">
                <a:solidFill>
                  <a:srgbClr val="FF007A"/>
                </a:solidFill>
                <a:latin typeface="HK Modular"/>
                <a:ea typeface="HK Modular"/>
                <a:cs typeface="HK Modular"/>
                <a:sym typeface="HK Modular"/>
              </a:rPr>
              <a:t>COMO DIBUJARLO?</a:t>
            </a:r>
          </a:p>
        </p:txBody>
      </p:sp>
      <p:sp>
        <p:nvSpPr>
          <p:cNvPr name="TextBox 7" id="7"/>
          <p:cNvSpPr txBox="true"/>
          <p:nvPr/>
        </p:nvSpPr>
        <p:spPr>
          <a:xfrm rot="0">
            <a:off x="3740752" y="3521101"/>
            <a:ext cx="10540808" cy="6199187"/>
          </a:xfrm>
          <a:prstGeom prst="rect">
            <a:avLst/>
          </a:prstGeom>
        </p:spPr>
        <p:txBody>
          <a:bodyPr anchor="t" rtlCol="false" tIns="0" lIns="0" bIns="0" rIns="0">
            <a:spAutoFit/>
          </a:bodyPr>
          <a:lstStyle/>
          <a:p>
            <a:pPr algn="l" marL="580239" indent="-290119" lvl="1">
              <a:lnSpc>
                <a:spcPts val="3762"/>
              </a:lnSpc>
              <a:buFont typeface="Arial"/>
              <a:buChar char="•"/>
            </a:pPr>
            <a:r>
              <a:rPr lang="en-US" sz="2687">
                <a:solidFill>
                  <a:srgbClr val="FFFFFF"/>
                </a:solidFill>
                <a:latin typeface="Poppins"/>
                <a:ea typeface="Poppins"/>
                <a:cs typeface="Poppins"/>
                <a:sym typeface="Poppins"/>
              </a:rPr>
              <a:t>Paso 1: Identifique el propósito de su diagrama de despliegue. Y para hacerlo, necesitas identificar los nodos y dispositivos dentro del sistema que visualizarás con el diagrama.</a:t>
            </a:r>
          </a:p>
          <a:p>
            <a:pPr algn="l" marL="580239" indent="-290119" lvl="1">
              <a:lnSpc>
                <a:spcPts val="3762"/>
              </a:lnSpc>
              <a:buFont typeface="Arial"/>
              <a:buChar char="•"/>
            </a:pPr>
            <a:r>
              <a:rPr lang="en-US" sz="2687">
                <a:solidFill>
                  <a:srgbClr val="FFFFFF"/>
                </a:solidFill>
                <a:latin typeface="Poppins"/>
                <a:ea typeface="Poppins"/>
                <a:cs typeface="Poppins"/>
                <a:sym typeface="Poppins"/>
              </a:rPr>
              <a:t>Paso 2: Averiguar las relaciones entre los nodos y los dispositivos. Una vez que sepas cómo están conectados, procede a añadir las asociaciones de comunicación al diagrama.</a:t>
            </a:r>
          </a:p>
          <a:p>
            <a:pPr algn="l" marL="580239" indent="-290119" lvl="1">
              <a:lnSpc>
                <a:spcPts val="3762"/>
              </a:lnSpc>
              <a:buFont typeface="Arial"/>
              <a:buChar char="•"/>
            </a:pPr>
            <a:r>
              <a:rPr lang="en-US" sz="2687">
                <a:solidFill>
                  <a:srgbClr val="FFFFFF"/>
                </a:solidFill>
                <a:latin typeface="Poppins"/>
                <a:ea typeface="Poppins"/>
                <a:cs typeface="Poppins"/>
                <a:sym typeface="Poppins"/>
              </a:rPr>
              <a:t>Paso 3: Identificar qué otros elementos, como los componentes, objetos activos, necesitan ser añadidos para completar el diagrama.</a:t>
            </a:r>
          </a:p>
          <a:p>
            <a:pPr algn="l" marL="580239" indent="-290119" lvl="1">
              <a:lnSpc>
                <a:spcPts val="3762"/>
              </a:lnSpc>
              <a:buFont typeface="Arial"/>
              <a:buChar char="•"/>
            </a:pPr>
            <a:r>
              <a:rPr lang="en-US" sz="2687">
                <a:solidFill>
                  <a:srgbClr val="FFFFFF"/>
                </a:solidFill>
                <a:latin typeface="Poppins"/>
                <a:ea typeface="Poppins"/>
                <a:cs typeface="Poppins"/>
                <a:sym typeface="Poppins"/>
              </a:rPr>
              <a:t>Paso 4: Añada las dependencias entre los componentes y los objetos según sea necesario.</a:t>
            </a:r>
          </a:p>
        </p:txBody>
      </p:sp>
      <p:sp>
        <p:nvSpPr>
          <p:cNvPr name="Freeform 8" id="8"/>
          <p:cNvSpPr/>
          <p:nvPr/>
        </p:nvSpPr>
        <p:spPr>
          <a:xfrm flipH="false" flipV="false" rot="0">
            <a:off x="7830057" y="-232718"/>
            <a:ext cx="2424514" cy="2424514"/>
          </a:xfrm>
          <a:custGeom>
            <a:avLst/>
            <a:gdLst/>
            <a:ahLst/>
            <a:cxnLst/>
            <a:rect r="r" b="b" t="t" l="l"/>
            <a:pathLst>
              <a:path h="2424514" w="2424514">
                <a:moveTo>
                  <a:pt x="0" y="0"/>
                </a:moveTo>
                <a:lnTo>
                  <a:pt x="2424514" y="0"/>
                </a:lnTo>
                <a:lnTo>
                  <a:pt x="2424514" y="2424514"/>
                </a:lnTo>
                <a:lnTo>
                  <a:pt x="0" y="2424514"/>
                </a:lnTo>
                <a:lnTo>
                  <a:pt x="0" y="0"/>
                </a:lnTo>
                <a:close/>
              </a:path>
            </a:pathLst>
          </a:custGeom>
          <a:blipFill>
            <a:blip r:embed="rId3"/>
            <a:stretch>
              <a:fillRect l="0" t="0" r="0" b="0"/>
            </a:stretch>
          </a:blipFill>
        </p:spPr>
      </p:sp>
    </p:spTree>
  </p:cSld>
  <p:clrMapOvr>
    <a:masterClrMapping/>
  </p:clrMapOvr>
</p:sld>
</file>

<file path=ppt/slides/slide6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ED">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ED">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395636" y="4826756"/>
            <a:ext cx="15715462" cy="2358552"/>
          </a:xfrm>
          <a:prstGeom prst="rect">
            <a:avLst/>
          </a:prstGeom>
        </p:spPr>
        <p:txBody>
          <a:bodyPr anchor="t" rtlCol="false" tIns="0" lIns="0" bIns="0" rIns="0">
            <a:spAutoFit/>
          </a:bodyPr>
          <a:lstStyle/>
          <a:p>
            <a:pPr algn="ctr">
              <a:lnSpc>
                <a:spcPts val="9478"/>
              </a:lnSpc>
            </a:pPr>
            <a:r>
              <a:rPr lang="en-US" sz="6770">
                <a:solidFill>
                  <a:srgbClr val="FF5757"/>
                </a:solidFill>
                <a:latin typeface="HK Modular"/>
                <a:ea typeface="HK Modular"/>
                <a:cs typeface="HK Modular"/>
                <a:sym typeface="HK Modular"/>
              </a:rPr>
              <a:t>EJEMPLOS</a:t>
            </a:r>
          </a:p>
          <a:p>
            <a:pPr algn="ctr">
              <a:lnSpc>
                <a:spcPts val="9478"/>
              </a:lnSpc>
              <a:spcBef>
                <a:spcPct val="0"/>
              </a:spcBef>
            </a:pPr>
          </a:p>
        </p:txBody>
      </p:sp>
      <p:sp>
        <p:nvSpPr>
          <p:cNvPr name="Freeform 13" id="13"/>
          <p:cNvSpPr/>
          <p:nvPr/>
        </p:nvSpPr>
        <p:spPr>
          <a:xfrm flipH="false" flipV="false" rot="0">
            <a:off x="7830057" y="-232718"/>
            <a:ext cx="2424514" cy="2424514"/>
          </a:xfrm>
          <a:custGeom>
            <a:avLst/>
            <a:gdLst/>
            <a:ahLst/>
            <a:cxnLst/>
            <a:rect r="r" b="b" t="t" l="l"/>
            <a:pathLst>
              <a:path h="2424514" w="2424514">
                <a:moveTo>
                  <a:pt x="0" y="0"/>
                </a:moveTo>
                <a:lnTo>
                  <a:pt x="2424514" y="0"/>
                </a:lnTo>
                <a:lnTo>
                  <a:pt x="2424514" y="2424514"/>
                </a:lnTo>
                <a:lnTo>
                  <a:pt x="0" y="2424514"/>
                </a:lnTo>
                <a:lnTo>
                  <a:pt x="0" y="0"/>
                </a:lnTo>
                <a:close/>
              </a:path>
            </a:pathLst>
          </a:custGeom>
          <a:blipFill>
            <a:blip r:embed="rId3"/>
            <a:stretch>
              <a:fillRect l="0" t="0" r="0" b="0"/>
            </a:stretch>
          </a:blipFill>
        </p:spPr>
      </p:sp>
    </p:spTree>
  </p:cSld>
  <p:clrMapOvr>
    <a:masterClrMapping/>
  </p:clrMapOvr>
</p:sld>
</file>

<file path=ppt/slides/slide6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966011" y="3719473"/>
            <a:ext cx="9293289" cy="5009859"/>
          </a:xfrm>
          <a:custGeom>
            <a:avLst/>
            <a:gdLst/>
            <a:ahLst/>
            <a:cxnLst/>
            <a:rect r="r" b="b" t="t" l="l"/>
            <a:pathLst>
              <a:path h="5009859" w="9293289">
                <a:moveTo>
                  <a:pt x="0" y="0"/>
                </a:moveTo>
                <a:lnTo>
                  <a:pt x="9293289" y="0"/>
                </a:lnTo>
                <a:lnTo>
                  <a:pt x="9293289" y="5009859"/>
                </a:lnTo>
                <a:lnTo>
                  <a:pt x="0" y="5009859"/>
                </a:lnTo>
                <a:lnTo>
                  <a:pt x="0" y="0"/>
                </a:lnTo>
                <a:close/>
              </a:path>
            </a:pathLst>
          </a:custGeom>
          <a:blipFill>
            <a:blip r:embed="rId3"/>
            <a:stretch>
              <a:fillRect l="0" t="0" r="0" b="0"/>
            </a:stretch>
          </a:blipFill>
        </p:spPr>
      </p:sp>
      <p:sp>
        <p:nvSpPr>
          <p:cNvPr name="TextBox 7" id="7"/>
          <p:cNvSpPr txBox="true"/>
          <p:nvPr/>
        </p:nvSpPr>
        <p:spPr>
          <a:xfrm rot="0">
            <a:off x="393478" y="4770268"/>
            <a:ext cx="7193367" cy="1633829"/>
          </a:xfrm>
          <a:prstGeom prst="rect">
            <a:avLst/>
          </a:prstGeom>
        </p:spPr>
        <p:txBody>
          <a:bodyPr anchor="t" rtlCol="false" tIns="0" lIns="0" bIns="0" rIns="0">
            <a:spAutoFit/>
          </a:bodyPr>
          <a:lstStyle/>
          <a:p>
            <a:pPr algn="ctr">
              <a:lnSpc>
                <a:spcPts val="4338"/>
              </a:lnSpc>
              <a:spcBef>
                <a:spcPct val="0"/>
              </a:spcBef>
            </a:pPr>
            <a:r>
              <a:rPr lang="en-US" sz="3098">
                <a:solidFill>
                  <a:srgbClr val="FF007A"/>
                </a:solidFill>
                <a:latin typeface="HK Modular"/>
                <a:ea typeface="HK Modular"/>
                <a:cs typeface="HK Modular"/>
                <a:sym typeface="HK Modular"/>
              </a:rPr>
              <a:t>EJEMPLOS - SISTEMA DE GESTION DE COMPRAS EN LINEA</a:t>
            </a:r>
          </a:p>
        </p:txBody>
      </p:sp>
      <p:sp>
        <p:nvSpPr>
          <p:cNvPr name="Freeform 8" id="8"/>
          <p:cNvSpPr/>
          <p:nvPr/>
        </p:nvSpPr>
        <p:spPr>
          <a:xfrm flipH="false" flipV="false" rot="0">
            <a:off x="7830057" y="-232718"/>
            <a:ext cx="2424514" cy="2424514"/>
          </a:xfrm>
          <a:custGeom>
            <a:avLst/>
            <a:gdLst/>
            <a:ahLst/>
            <a:cxnLst/>
            <a:rect r="r" b="b" t="t" l="l"/>
            <a:pathLst>
              <a:path h="2424514" w="2424514">
                <a:moveTo>
                  <a:pt x="0" y="0"/>
                </a:moveTo>
                <a:lnTo>
                  <a:pt x="2424514" y="0"/>
                </a:lnTo>
                <a:lnTo>
                  <a:pt x="2424514" y="2424514"/>
                </a:lnTo>
                <a:lnTo>
                  <a:pt x="0" y="2424514"/>
                </a:lnTo>
                <a:lnTo>
                  <a:pt x="0" y="0"/>
                </a:lnTo>
                <a:close/>
              </a:path>
            </a:pathLst>
          </a:custGeom>
          <a:blipFill>
            <a:blip r:embed="rId4"/>
            <a:stretch>
              <a:fillRect l="0" t="0" r="0" b="0"/>
            </a:stretch>
          </a:blipFill>
        </p:spPr>
      </p:sp>
    </p:spTree>
  </p:cSld>
  <p:clrMapOvr>
    <a:masterClrMapping/>
  </p:clrMapOvr>
</p:sld>
</file>

<file path=ppt/slides/slide7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9144000" y="3514602"/>
            <a:ext cx="8020375" cy="5743698"/>
          </a:xfrm>
          <a:custGeom>
            <a:avLst/>
            <a:gdLst/>
            <a:ahLst/>
            <a:cxnLst/>
            <a:rect r="r" b="b" t="t" l="l"/>
            <a:pathLst>
              <a:path h="5743698" w="8020375">
                <a:moveTo>
                  <a:pt x="0" y="0"/>
                </a:moveTo>
                <a:lnTo>
                  <a:pt x="8020375" y="0"/>
                </a:lnTo>
                <a:lnTo>
                  <a:pt x="8020375" y="5743698"/>
                </a:lnTo>
                <a:lnTo>
                  <a:pt x="0" y="5743698"/>
                </a:lnTo>
                <a:lnTo>
                  <a:pt x="0" y="0"/>
                </a:lnTo>
                <a:close/>
              </a:path>
            </a:pathLst>
          </a:custGeom>
          <a:blipFill>
            <a:blip r:embed="rId3"/>
            <a:stretch>
              <a:fillRect l="0" t="0" r="0" b="0"/>
            </a:stretch>
          </a:blipFill>
        </p:spPr>
      </p:sp>
      <p:sp>
        <p:nvSpPr>
          <p:cNvPr name="TextBox 7" id="7"/>
          <p:cNvSpPr txBox="true"/>
          <p:nvPr/>
        </p:nvSpPr>
        <p:spPr>
          <a:xfrm rot="0">
            <a:off x="1028700" y="4752622"/>
            <a:ext cx="7193367" cy="1633829"/>
          </a:xfrm>
          <a:prstGeom prst="rect">
            <a:avLst/>
          </a:prstGeom>
        </p:spPr>
        <p:txBody>
          <a:bodyPr anchor="t" rtlCol="false" tIns="0" lIns="0" bIns="0" rIns="0">
            <a:spAutoFit/>
          </a:bodyPr>
          <a:lstStyle/>
          <a:p>
            <a:pPr algn="ctr">
              <a:lnSpc>
                <a:spcPts val="4338"/>
              </a:lnSpc>
              <a:spcBef>
                <a:spcPct val="0"/>
              </a:spcBef>
            </a:pPr>
            <a:r>
              <a:rPr lang="en-US" sz="3098">
                <a:solidFill>
                  <a:srgbClr val="FF007A"/>
                </a:solidFill>
                <a:latin typeface="HK Modular"/>
                <a:ea typeface="HK Modular"/>
                <a:cs typeface="HK Modular"/>
                <a:sym typeface="HK Modular"/>
              </a:rPr>
              <a:t>EJEMPLOS - SISTEMA DE GESTION DE UNA BIBLIOTECA</a:t>
            </a:r>
          </a:p>
        </p:txBody>
      </p:sp>
      <p:sp>
        <p:nvSpPr>
          <p:cNvPr name="Freeform 8" id="8"/>
          <p:cNvSpPr/>
          <p:nvPr/>
        </p:nvSpPr>
        <p:spPr>
          <a:xfrm flipH="false" flipV="false" rot="0">
            <a:off x="7830057" y="-232718"/>
            <a:ext cx="2424514" cy="2424514"/>
          </a:xfrm>
          <a:custGeom>
            <a:avLst/>
            <a:gdLst/>
            <a:ahLst/>
            <a:cxnLst/>
            <a:rect r="r" b="b" t="t" l="l"/>
            <a:pathLst>
              <a:path h="2424514" w="2424514">
                <a:moveTo>
                  <a:pt x="0" y="0"/>
                </a:moveTo>
                <a:lnTo>
                  <a:pt x="2424514" y="0"/>
                </a:lnTo>
                <a:lnTo>
                  <a:pt x="2424514" y="2424514"/>
                </a:lnTo>
                <a:lnTo>
                  <a:pt x="0" y="2424514"/>
                </a:lnTo>
                <a:lnTo>
                  <a:pt x="0" y="0"/>
                </a:lnTo>
                <a:close/>
              </a:path>
            </a:pathLst>
          </a:custGeom>
          <a:blipFill>
            <a:blip r:embed="rId4"/>
            <a:stretch>
              <a:fillRect l="0" t="0" r="0" b="0"/>
            </a:stretch>
          </a:blipFill>
        </p:spPr>
      </p:sp>
    </p:spTree>
  </p:cSld>
  <p:clrMapOvr>
    <a:masterClrMapping/>
  </p:clrMapOvr>
</p:sld>
</file>

<file path=ppt/slides/slide7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8835333" y="3297465"/>
            <a:ext cx="8788236" cy="4525108"/>
          </a:xfrm>
          <a:custGeom>
            <a:avLst/>
            <a:gdLst/>
            <a:ahLst/>
            <a:cxnLst/>
            <a:rect r="r" b="b" t="t" l="l"/>
            <a:pathLst>
              <a:path h="4525108" w="8788236">
                <a:moveTo>
                  <a:pt x="0" y="0"/>
                </a:moveTo>
                <a:lnTo>
                  <a:pt x="8788236" y="0"/>
                </a:lnTo>
                <a:lnTo>
                  <a:pt x="8788236" y="4525108"/>
                </a:lnTo>
                <a:lnTo>
                  <a:pt x="0" y="4525108"/>
                </a:lnTo>
                <a:lnTo>
                  <a:pt x="0" y="0"/>
                </a:lnTo>
                <a:close/>
              </a:path>
            </a:pathLst>
          </a:custGeom>
          <a:blipFill>
            <a:blip r:embed="rId3"/>
            <a:stretch>
              <a:fillRect l="0" t="0" r="0" b="0"/>
            </a:stretch>
          </a:blipFill>
        </p:spPr>
      </p:sp>
      <p:sp>
        <p:nvSpPr>
          <p:cNvPr name="TextBox 7" id="7"/>
          <p:cNvSpPr txBox="true"/>
          <p:nvPr/>
        </p:nvSpPr>
        <p:spPr>
          <a:xfrm rot="0">
            <a:off x="1028700" y="4752622"/>
            <a:ext cx="7193367" cy="1085207"/>
          </a:xfrm>
          <a:prstGeom prst="rect">
            <a:avLst/>
          </a:prstGeom>
        </p:spPr>
        <p:txBody>
          <a:bodyPr anchor="t" rtlCol="false" tIns="0" lIns="0" bIns="0" rIns="0">
            <a:spAutoFit/>
          </a:bodyPr>
          <a:lstStyle/>
          <a:p>
            <a:pPr algn="ctr">
              <a:lnSpc>
                <a:spcPts val="4338"/>
              </a:lnSpc>
              <a:spcBef>
                <a:spcPct val="0"/>
              </a:spcBef>
            </a:pPr>
            <a:r>
              <a:rPr lang="en-US" sz="3098">
                <a:solidFill>
                  <a:srgbClr val="FF007A"/>
                </a:solidFill>
                <a:latin typeface="HK Modular"/>
                <a:ea typeface="HK Modular"/>
                <a:cs typeface="HK Modular"/>
                <a:sym typeface="HK Modular"/>
              </a:rPr>
              <a:t>EJEMPLOS - SISTEMA DE GESTION DE UN HOSPITAL</a:t>
            </a:r>
          </a:p>
        </p:txBody>
      </p:sp>
      <p:sp>
        <p:nvSpPr>
          <p:cNvPr name="Freeform 8" id="8"/>
          <p:cNvSpPr/>
          <p:nvPr/>
        </p:nvSpPr>
        <p:spPr>
          <a:xfrm flipH="false" flipV="false" rot="0">
            <a:off x="7830057" y="-232718"/>
            <a:ext cx="2424514" cy="2424514"/>
          </a:xfrm>
          <a:custGeom>
            <a:avLst/>
            <a:gdLst/>
            <a:ahLst/>
            <a:cxnLst/>
            <a:rect r="r" b="b" t="t" l="l"/>
            <a:pathLst>
              <a:path h="2424514" w="2424514">
                <a:moveTo>
                  <a:pt x="0" y="0"/>
                </a:moveTo>
                <a:lnTo>
                  <a:pt x="2424514" y="0"/>
                </a:lnTo>
                <a:lnTo>
                  <a:pt x="2424514" y="2424514"/>
                </a:lnTo>
                <a:lnTo>
                  <a:pt x="0" y="2424514"/>
                </a:lnTo>
                <a:lnTo>
                  <a:pt x="0" y="0"/>
                </a:lnTo>
                <a:close/>
              </a:path>
            </a:pathLst>
          </a:custGeom>
          <a:blipFill>
            <a:blip r:embed="rId4"/>
            <a:stretch>
              <a:fillRect l="0" t="0" r="0" b="0"/>
            </a:stretch>
          </a:blipFill>
        </p:spPr>
      </p:sp>
    </p:spTree>
  </p:cSld>
  <p:clrMapOvr>
    <a:masterClrMapping/>
  </p:clrMapOvr>
</p:sld>
</file>

<file path=ppt/slides/slide7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ED">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ED">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395636" y="3309281"/>
            <a:ext cx="15715462" cy="4755718"/>
          </a:xfrm>
          <a:prstGeom prst="rect">
            <a:avLst/>
          </a:prstGeom>
        </p:spPr>
        <p:txBody>
          <a:bodyPr anchor="t" rtlCol="false" tIns="0" lIns="0" bIns="0" rIns="0">
            <a:spAutoFit/>
          </a:bodyPr>
          <a:lstStyle/>
          <a:p>
            <a:pPr algn="ctr">
              <a:lnSpc>
                <a:spcPts val="9478"/>
              </a:lnSpc>
              <a:spcBef>
                <a:spcPct val="0"/>
              </a:spcBef>
            </a:pPr>
            <a:r>
              <a:rPr lang="en-US" sz="6770">
                <a:solidFill>
                  <a:srgbClr val="FF5757"/>
                </a:solidFill>
                <a:latin typeface="HK Modular"/>
                <a:ea typeface="HK Modular"/>
                <a:cs typeface="HK Modular"/>
                <a:sym typeface="HK Modular"/>
              </a:rPr>
              <a:t>HIGH LEVEL DESIGN: DOCUMENTO DE ARQUITECTURA DE UN SISTEMA</a:t>
            </a:r>
          </a:p>
        </p:txBody>
      </p:sp>
      <p:sp>
        <p:nvSpPr>
          <p:cNvPr name="Freeform 13" id="13"/>
          <p:cNvSpPr/>
          <p:nvPr/>
        </p:nvSpPr>
        <p:spPr>
          <a:xfrm flipH="false" flipV="false" rot="0">
            <a:off x="7830057" y="-232718"/>
            <a:ext cx="2424514" cy="2424514"/>
          </a:xfrm>
          <a:custGeom>
            <a:avLst/>
            <a:gdLst/>
            <a:ahLst/>
            <a:cxnLst/>
            <a:rect r="r" b="b" t="t" l="l"/>
            <a:pathLst>
              <a:path h="2424514" w="2424514">
                <a:moveTo>
                  <a:pt x="0" y="0"/>
                </a:moveTo>
                <a:lnTo>
                  <a:pt x="2424514" y="0"/>
                </a:lnTo>
                <a:lnTo>
                  <a:pt x="2424514" y="2424514"/>
                </a:lnTo>
                <a:lnTo>
                  <a:pt x="0" y="2424514"/>
                </a:lnTo>
                <a:lnTo>
                  <a:pt x="0" y="0"/>
                </a:lnTo>
                <a:close/>
              </a:path>
            </a:pathLst>
          </a:custGeom>
          <a:blipFill>
            <a:blip r:embed="rId3"/>
            <a:stretch>
              <a:fillRect l="0" t="0" r="0" b="0"/>
            </a:stretch>
          </a:blipFill>
        </p:spPr>
      </p:sp>
    </p:spTree>
  </p:cSld>
  <p:clrMapOvr>
    <a:masterClrMapping/>
  </p:clrMapOvr>
</p:sld>
</file>

<file path=ppt/slides/slide7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8613276" y="3516086"/>
            <a:ext cx="8646024" cy="3988876"/>
          </a:xfrm>
          <a:prstGeom prst="rect">
            <a:avLst/>
          </a:prstGeom>
        </p:spPr>
        <p:txBody>
          <a:bodyPr anchor="t" rtlCol="false" tIns="0" lIns="0" bIns="0" rIns="0">
            <a:spAutoFit/>
          </a:bodyPr>
          <a:lstStyle/>
          <a:p>
            <a:pPr algn="ctr">
              <a:lnSpc>
                <a:spcPts val="3964"/>
              </a:lnSpc>
              <a:spcBef>
                <a:spcPct val="0"/>
              </a:spcBef>
            </a:pPr>
            <a:r>
              <a:rPr lang="en-US" sz="2831">
                <a:solidFill>
                  <a:srgbClr val="F0F7FE"/>
                </a:solidFill>
                <a:latin typeface="Poppins"/>
                <a:ea typeface="Poppins"/>
                <a:cs typeface="Poppins"/>
                <a:sym typeface="Poppins"/>
              </a:rPr>
              <a:t>Un documento de arquitectura de un sistema es un artefacto que describe, de manera estructurada, cómo está diseñado un sistema de software a nivel técnico y organizativo.</a:t>
            </a:r>
          </a:p>
          <a:p>
            <a:pPr algn="ctr">
              <a:lnSpc>
                <a:spcPts val="3964"/>
              </a:lnSpc>
              <a:spcBef>
                <a:spcPct val="0"/>
              </a:spcBef>
            </a:pPr>
            <a:r>
              <a:rPr lang="en-US" sz="2831">
                <a:solidFill>
                  <a:srgbClr val="F0F7FE"/>
                </a:solidFill>
                <a:latin typeface="Poppins"/>
                <a:ea typeface="Poppins"/>
                <a:cs typeface="Poppins"/>
                <a:sym typeface="Poppins"/>
              </a:rPr>
              <a:t>Es como el “mapa” que guía a desarrolladores, arquitectos, testers y stakeholders para entender cómo funciona, cómo se construye y cómo se mantiene el sistema.</a:t>
            </a:r>
          </a:p>
        </p:txBody>
      </p:sp>
      <p:sp>
        <p:nvSpPr>
          <p:cNvPr name="TextBox 7" id="7"/>
          <p:cNvSpPr txBox="true"/>
          <p:nvPr/>
        </p:nvSpPr>
        <p:spPr>
          <a:xfrm rot="0">
            <a:off x="940097" y="4266329"/>
            <a:ext cx="6889960" cy="2023822"/>
          </a:xfrm>
          <a:prstGeom prst="rect">
            <a:avLst/>
          </a:prstGeom>
        </p:spPr>
        <p:txBody>
          <a:bodyPr anchor="t" rtlCol="false" tIns="0" lIns="0" bIns="0" rIns="0">
            <a:spAutoFit/>
          </a:bodyPr>
          <a:lstStyle/>
          <a:p>
            <a:pPr algn="ctr">
              <a:lnSpc>
                <a:spcPts val="5391"/>
              </a:lnSpc>
              <a:spcBef>
                <a:spcPct val="0"/>
              </a:spcBef>
            </a:pPr>
            <a:r>
              <a:rPr lang="en-US" sz="3851">
                <a:solidFill>
                  <a:srgbClr val="FF007A"/>
                </a:solidFill>
                <a:latin typeface="HK Modular"/>
                <a:ea typeface="HK Modular"/>
                <a:cs typeface="HK Modular"/>
                <a:sym typeface="HK Modular"/>
              </a:rPr>
              <a:t>DOCUMENTO DE ARQUITECTURA DE UN SISTEMA</a:t>
            </a:r>
          </a:p>
        </p:txBody>
      </p:sp>
      <p:sp>
        <p:nvSpPr>
          <p:cNvPr name="Freeform 8" id="8"/>
          <p:cNvSpPr/>
          <p:nvPr/>
        </p:nvSpPr>
        <p:spPr>
          <a:xfrm flipH="false" flipV="false" rot="0">
            <a:off x="7830057" y="-232718"/>
            <a:ext cx="2424514" cy="2424514"/>
          </a:xfrm>
          <a:custGeom>
            <a:avLst/>
            <a:gdLst/>
            <a:ahLst/>
            <a:cxnLst/>
            <a:rect r="r" b="b" t="t" l="l"/>
            <a:pathLst>
              <a:path h="2424514" w="2424514">
                <a:moveTo>
                  <a:pt x="0" y="0"/>
                </a:moveTo>
                <a:lnTo>
                  <a:pt x="2424514" y="0"/>
                </a:lnTo>
                <a:lnTo>
                  <a:pt x="2424514" y="2424514"/>
                </a:lnTo>
                <a:lnTo>
                  <a:pt x="0" y="2424514"/>
                </a:lnTo>
                <a:lnTo>
                  <a:pt x="0" y="0"/>
                </a:lnTo>
                <a:close/>
              </a:path>
            </a:pathLst>
          </a:custGeom>
          <a:blipFill>
            <a:blip r:embed="rId3"/>
            <a:stretch>
              <a:fillRect l="0" t="0" r="0" b="0"/>
            </a:stretch>
          </a:blipFill>
        </p:spPr>
      </p:sp>
    </p:spTree>
  </p:cSld>
  <p:clrMapOvr>
    <a:masterClrMapping/>
  </p:clrMapOvr>
</p:sld>
</file>

<file path=ppt/slides/slide7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940097" y="4266329"/>
            <a:ext cx="6889960" cy="2023822"/>
          </a:xfrm>
          <a:prstGeom prst="rect">
            <a:avLst/>
          </a:prstGeom>
        </p:spPr>
        <p:txBody>
          <a:bodyPr anchor="t" rtlCol="false" tIns="0" lIns="0" bIns="0" rIns="0">
            <a:spAutoFit/>
          </a:bodyPr>
          <a:lstStyle/>
          <a:p>
            <a:pPr algn="ctr">
              <a:lnSpc>
                <a:spcPts val="5391"/>
              </a:lnSpc>
              <a:spcBef>
                <a:spcPct val="0"/>
              </a:spcBef>
            </a:pPr>
            <a:r>
              <a:rPr lang="en-US" sz="3851">
                <a:solidFill>
                  <a:srgbClr val="FF007A"/>
                </a:solidFill>
                <a:latin typeface="HK Modular"/>
                <a:ea typeface="HK Modular"/>
                <a:cs typeface="HK Modular"/>
                <a:sym typeface="HK Modular"/>
              </a:rPr>
              <a:t>DOCUMENTO DE ARQUITECTURA DE UN SISTEMA</a:t>
            </a:r>
          </a:p>
        </p:txBody>
      </p:sp>
      <p:sp>
        <p:nvSpPr>
          <p:cNvPr name="Freeform 7" id="7"/>
          <p:cNvSpPr/>
          <p:nvPr/>
        </p:nvSpPr>
        <p:spPr>
          <a:xfrm flipH="false" flipV="false" rot="0">
            <a:off x="7711425" y="-496558"/>
            <a:ext cx="2424514" cy="2424514"/>
          </a:xfrm>
          <a:custGeom>
            <a:avLst/>
            <a:gdLst/>
            <a:ahLst/>
            <a:cxnLst/>
            <a:rect r="r" b="b" t="t" l="l"/>
            <a:pathLst>
              <a:path h="2424514" w="2424514">
                <a:moveTo>
                  <a:pt x="0" y="0"/>
                </a:moveTo>
                <a:lnTo>
                  <a:pt x="2424515" y="0"/>
                </a:lnTo>
                <a:lnTo>
                  <a:pt x="2424515" y="2424515"/>
                </a:lnTo>
                <a:lnTo>
                  <a:pt x="0" y="2424515"/>
                </a:lnTo>
                <a:lnTo>
                  <a:pt x="0" y="0"/>
                </a:lnTo>
                <a:close/>
              </a:path>
            </a:pathLst>
          </a:custGeom>
          <a:blipFill>
            <a:blip r:embed="rId3"/>
            <a:stretch>
              <a:fillRect l="0" t="0" r="0" b="0"/>
            </a:stretch>
          </a:blipFill>
        </p:spPr>
      </p:sp>
      <p:sp>
        <p:nvSpPr>
          <p:cNvPr name="TextBox 8" id="8"/>
          <p:cNvSpPr txBox="true"/>
          <p:nvPr/>
        </p:nvSpPr>
        <p:spPr>
          <a:xfrm rot="0">
            <a:off x="8451638" y="1661070"/>
            <a:ext cx="8960187" cy="8329329"/>
          </a:xfrm>
          <a:prstGeom prst="rect">
            <a:avLst/>
          </a:prstGeom>
        </p:spPr>
        <p:txBody>
          <a:bodyPr anchor="t" rtlCol="false" tIns="0" lIns="0" bIns="0" rIns="0">
            <a:spAutoFit/>
          </a:bodyPr>
          <a:lstStyle/>
          <a:p>
            <a:pPr algn="l" marL="446894" indent="-223447" lvl="1">
              <a:lnSpc>
                <a:spcPts val="2897"/>
              </a:lnSpc>
              <a:buFont typeface="Arial"/>
              <a:buChar char="•"/>
            </a:pPr>
            <a:r>
              <a:rPr lang="en-US" sz="2069">
                <a:solidFill>
                  <a:srgbClr val="FFFFFF"/>
                </a:solidFill>
                <a:latin typeface="Canva Sans"/>
                <a:ea typeface="Canva Sans"/>
                <a:cs typeface="Canva Sans"/>
                <a:sym typeface="Canva Sans"/>
              </a:rPr>
              <a:t>Descripción del Servicio</a:t>
            </a:r>
          </a:p>
          <a:p>
            <a:pPr algn="l" marL="893788" indent="-297929" lvl="2">
              <a:lnSpc>
                <a:spcPts val="2897"/>
              </a:lnSpc>
              <a:buFont typeface="Arial"/>
              <a:buChar char="⚬"/>
            </a:pPr>
            <a:r>
              <a:rPr lang="en-US" sz="2069">
                <a:solidFill>
                  <a:srgbClr val="FFFFFF"/>
                </a:solidFill>
                <a:latin typeface="Canva Sans"/>
                <a:ea typeface="Canva Sans"/>
                <a:cs typeface="Canva Sans"/>
                <a:sym typeface="Canva Sans"/>
              </a:rPr>
              <a:t>Descripcion del Servicio</a:t>
            </a:r>
          </a:p>
          <a:p>
            <a:pPr algn="l" marL="893788" indent="-297929" lvl="2">
              <a:lnSpc>
                <a:spcPts val="2897"/>
              </a:lnSpc>
              <a:buFont typeface="Arial"/>
              <a:buChar char="⚬"/>
            </a:pPr>
            <a:r>
              <a:rPr lang="en-US" sz="2069">
                <a:solidFill>
                  <a:srgbClr val="FFFFFF"/>
                </a:solidFill>
                <a:latin typeface="Canva Sans"/>
                <a:ea typeface="Canva Sans"/>
                <a:cs typeface="Canva Sans"/>
                <a:sym typeface="Canva Sans"/>
              </a:rPr>
              <a:t>Diagrama de contexto</a:t>
            </a:r>
          </a:p>
          <a:p>
            <a:pPr algn="l" marL="446894" indent="-223447" lvl="1">
              <a:lnSpc>
                <a:spcPts val="2897"/>
              </a:lnSpc>
              <a:buFont typeface="Arial"/>
              <a:buChar char="•"/>
            </a:pPr>
            <a:r>
              <a:rPr lang="en-US" sz="2069">
                <a:solidFill>
                  <a:srgbClr val="FFFFFF"/>
                </a:solidFill>
                <a:latin typeface="Canva Sans"/>
                <a:ea typeface="Canva Sans"/>
                <a:cs typeface="Canva Sans"/>
                <a:sym typeface="Canva Sans"/>
              </a:rPr>
              <a:t>Tecnologías a Usar </a:t>
            </a:r>
          </a:p>
          <a:p>
            <a:pPr algn="l" marL="893788" indent="-297929" lvl="2">
              <a:lnSpc>
                <a:spcPts val="2897"/>
              </a:lnSpc>
              <a:buFont typeface="Arial"/>
              <a:buChar char="⚬"/>
            </a:pPr>
            <a:r>
              <a:rPr lang="en-US" sz="2069">
                <a:solidFill>
                  <a:srgbClr val="FFFFFF"/>
                </a:solidFill>
                <a:latin typeface="Canva Sans"/>
                <a:ea typeface="Canva Sans"/>
                <a:cs typeface="Canva Sans"/>
                <a:sym typeface="Canva Sans"/>
              </a:rPr>
              <a:t>Que tecnologías tiene (Lenguaje, Frameworks, Base de datos etc.)</a:t>
            </a:r>
          </a:p>
          <a:p>
            <a:pPr algn="l" marL="446894" indent="-223447" lvl="1">
              <a:lnSpc>
                <a:spcPts val="2897"/>
              </a:lnSpc>
              <a:buFont typeface="Arial"/>
              <a:buChar char="•"/>
            </a:pPr>
            <a:r>
              <a:rPr lang="en-US" sz="2069">
                <a:solidFill>
                  <a:srgbClr val="FFFFFF"/>
                </a:solidFill>
                <a:latin typeface="Canva Sans"/>
                <a:ea typeface="Canva Sans"/>
                <a:cs typeface="Canva Sans"/>
                <a:sym typeface="Canva Sans"/>
              </a:rPr>
              <a:t>Funcionalidades:</a:t>
            </a:r>
          </a:p>
          <a:p>
            <a:pPr algn="l" marL="893788" indent="-297929" lvl="2">
              <a:lnSpc>
                <a:spcPts val="2897"/>
              </a:lnSpc>
              <a:buFont typeface="Arial"/>
              <a:buChar char="⚬"/>
            </a:pPr>
            <a:r>
              <a:rPr lang="en-US" sz="2069">
                <a:solidFill>
                  <a:srgbClr val="FFFFFF"/>
                </a:solidFill>
                <a:latin typeface="Canva Sans"/>
                <a:ea typeface="Canva Sans"/>
                <a:cs typeface="Canva Sans"/>
                <a:sym typeface="Canva Sans"/>
              </a:rPr>
              <a:t>Funcionalidades identificadas y Casos de Uso</a:t>
            </a:r>
          </a:p>
          <a:p>
            <a:pPr algn="l" marL="446894" indent="-223447" lvl="1">
              <a:lnSpc>
                <a:spcPts val="2897"/>
              </a:lnSpc>
              <a:buFont typeface="Arial"/>
              <a:buChar char="•"/>
            </a:pPr>
            <a:r>
              <a:rPr lang="en-US" sz="2069">
                <a:solidFill>
                  <a:srgbClr val="FFFFFF"/>
                </a:solidFill>
                <a:latin typeface="Canva Sans"/>
                <a:ea typeface="Canva Sans"/>
                <a:cs typeface="Canva Sans"/>
                <a:sym typeface="Canva Sans"/>
              </a:rPr>
              <a:t>Diagramas:</a:t>
            </a:r>
          </a:p>
          <a:p>
            <a:pPr algn="l" marL="893788" indent="-297929" lvl="2">
              <a:lnSpc>
                <a:spcPts val="2897"/>
              </a:lnSpc>
              <a:buFont typeface="Arial"/>
              <a:buChar char="⚬"/>
            </a:pPr>
            <a:r>
              <a:rPr lang="en-US" sz="2069">
                <a:solidFill>
                  <a:srgbClr val="FFFFFF"/>
                </a:solidFill>
                <a:latin typeface="Canva Sans"/>
                <a:ea typeface="Canva Sans"/>
                <a:cs typeface="Canva Sans"/>
                <a:sym typeface="Canva Sans"/>
              </a:rPr>
              <a:t>Diagrama de Base de de Datos y su explicación -&gt; Tablas/Documentos utilizados</a:t>
            </a:r>
          </a:p>
          <a:p>
            <a:pPr algn="l" marL="893788" indent="-297929" lvl="2">
              <a:lnSpc>
                <a:spcPts val="2897"/>
              </a:lnSpc>
              <a:buFont typeface="Arial"/>
              <a:buChar char="⚬"/>
            </a:pPr>
            <a:r>
              <a:rPr lang="en-US" sz="2069">
                <a:solidFill>
                  <a:srgbClr val="FFFFFF"/>
                </a:solidFill>
                <a:latin typeface="Canva Sans"/>
                <a:ea typeface="Canva Sans"/>
                <a:cs typeface="Canva Sans"/>
                <a:sym typeface="Canva Sans"/>
              </a:rPr>
              <a:t>Diagrama de Clases y su explicación</a:t>
            </a:r>
          </a:p>
          <a:p>
            <a:pPr algn="l" marL="893788" indent="-297929" lvl="2">
              <a:lnSpc>
                <a:spcPts val="2897"/>
              </a:lnSpc>
              <a:buFont typeface="Arial"/>
              <a:buChar char="⚬"/>
            </a:pPr>
            <a:r>
              <a:rPr lang="en-US" sz="2069">
                <a:solidFill>
                  <a:srgbClr val="FFFFFF"/>
                </a:solidFill>
                <a:latin typeface="Canva Sans"/>
                <a:ea typeface="Canva Sans"/>
                <a:cs typeface="Canva Sans"/>
                <a:sym typeface="Canva Sans"/>
              </a:rPr>
              <a:t>Diagrama de componentes del Servicio (general y especifico) - visualizando el uso de los otros módulos y su explicación</a:t>
            </a:r>
          </a:p>
          <a:p>
            <a:pPr algn="l" marL="893788" indent="-297929" lvl="2">
              <a:lnSpc>
                <a:spcPts val="2897"/>
              </a:lnSpc>
              <a:buFont typeface="Arial"/>
              <a:buChar char="⚬"/>
            </a:pPr>
            <a:r>
              <a:rPr lang="en-US" sz="2069">
                <a:solidFill>
                  <a:srgbClr val="FFFFFF"/>
                </a:solidFill>
                <a:latin typeface="Canva Sans"/>
                <a:ea typeface="Canva Sans"/>
                <a:cs typeface="Canva Sans"/>
                <a:sym typeface="Canva Sans"/>
              </a:rPr>
              <a:t>Diagrama de Base de datos</a:t>
            </a:r>
          </a:p>
          <a:p>
            <a:pPr algn="l" marL="446894" indent="-223447" lvl="1">
              <a:lnSpc>
                <a:spcPts val="2897"/>
              </a:lnSpc>
              <a:buFont typeface="Arial"/>
              <a:buChar char="•"/>
            </a:pPr>
            <a:r>
              <a:rPr lang="en-US" sz="2069">
                <a:solidFill>
                  <a:srgbClr val="FFFFFF"/>
                </a:solidFill>
                <a:latin typeface="Canva Sans"/>
                <a:ea typeface="Canva Sans"/>
                <a:cs typeface="Canva Sans"/>
                <a:sym typeface="Canva Sans"/>
              </a:rPr>
              <a:t>Funcionalidades Expuestas:</a:t>
            </a:r>
          </a:p>
          <a:p>
            <a:pPr algn="l" marL="893788" indent="-297929" lvl="2">
              <a:lnSpc>
                <a:spcPts val="2897"/>
              </a:lnSpc>
              <a:buFont typeface="Arial"/>
              <a:buChar char="⚬"/>
            </a:pPr>
            <a:r>
              <a:rPr lang="en-US" sz="2069">
                <a:solidFill>
                  <a:srgbClr val="FFFFFF"/>
                </a:solidFill>
                <a:latin typeface="Canva Sans"/>
                <a:ea typeface="Canva Sans"/>
                <a:cs typeface="Canva Sans"/>
                <a:sym typeface="Canva Sans"/>
              </a:rPr>
              <a:t>Información de Request y de Response especificando el tipo, como se constituye si son objetos, si son enumeraciones, restricciones del campo como longitud.</a:t>
            </a:r>
          </a:p>
          <a:p>
            <a:pPr algn="l" marL="893788" indent="-297929" lvl="2">
              <a:lnSpc>
                <a:spcPts val="2897"/>
              </a:lnSpc>
              <a:buFont typeface="Arial"/>
              <a:buChar char="⚬"/>
            </a:pPr>
            <a:r>
              <a:rPr lang="en-US" sz="2069">
                <a:solidFill>
                  <a:srgbClr val="FFFFFF"/>
                </a:solidFill>
                <a:latin typeface="Canva Sans"/>
                <a:ea typeface="Canva Sans"/>
                <a:cs typeface="Canva Sans"/>
                <a:sym typeface="Canva Sans"/>
              </a:rPr>
              <a:t>Manejo de Errores: Códigos utilizados, mensajes por escenario</a:t>
            </a:r>
          </a:p>
          <a:p>
            <a:pPr algn="l" marL="893788" indent="-297929" lvl="2">
              <a:lnSpc>
                <a:spcPts val="2897"/>
              </a:lnSpc>
              <a:buFont typeface="Arial"/>
              <a:buChar char="⚬"/>
            </a:pPr>
            <a:r>
              <a:rPr lang="en-US" sz="2069">
                <a:solidFill>
                  <a:srgbClr val="FFFFFF"/>
                </a:solidFill>
                <a:latin typeface="Canva Sans"/>
                <a:ea typeface="Canva Sans"/>
                <a:cs typeface="Canva Sans"/>
                <a:sym typeface="Canva Sans"/>
              </a:rPr>
              <a:t>Diagramas de Secuencia de las funcionalidades y su explicación.</a:t>
            </a:r>
          </a:p>
          <a:p>
            <a:pPr algn="l" marL="446894" indent="-223447" lvl="1">
              <a:lnSpc>
                <a:spcPts val="2897"/>
              </a:lnSpc>
              <a:buFont typeface="Arial"/>
              <a:buChar char="•"/>
            </a:pPr>
            <a:r>
              <a:rPr lang="en-US" sz="2069">
                <a:solidFill>
                  <a:srgbClr val="FFFFFF"/>
                </a:solidFill>
                <a:latin typeface="Canva Sans"/>
                <a:ea typeface="Canva Sans"/>
                <a:cs typeface="Canva Sans"/>
                <a:sym typeface="Canva Sans"/>
              </a:rPr>
              <a:t>Bibliografia</a:t>
            </a:r>
          </a:p>
        </p:txBody>
      </p:sp>
    </p:spTree>
  </p:cSld>
  <p:clrMapOvr>
    <a:masterClrMapping/>
  </p:clrMapOvr>
</p:sld>
</file>

<file path=ppt/slides/slide7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ED">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ED">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2365746" y="2211950"/>
            <a:ext cx="13556508" cy="1217902"/>
          </a:xfrm>
          <a:prstGeom prst="rect">
            <a:avLst/>
          </a:prstGeom>
        </p:spPr>
        <p:txBody>
          <a:bodyPr anchor="t" rtlCol="false" tIns="0" lIns="0" bIns="0" rIns="0">
            <a:spAutoFit/>
          </a:bodyPr>
          <a:lstStyle/>
          <a:p>
            <a:pPr algn="ctr">
              <a:lnSpc>
                <a:spcPts val="9973"/>
              </a:lnSpc>
              <a:spcBef>
                <a:spcPct val="0"/>
              </a:spcBef>
            </a:pPr>
            <a:r>
              <a:rPr lang="en-US" sz="7123">
                <a:solidFill>
                  <a:srgbClr val="FF5757"/>
                </a:solidFill>
                <a:latin typeface="HK Modular"/>
                <a:ea typeface="HK Modular"/>
                <a:cs typeface="HK Modular"/>
                <a:sym typeface="HK Modular"/>
              </a:rPr>
              <a:t>TAREA</a:t>
            </a:r>
          </a:p>
        </p:txBody>
      </p:sp>
      <p:sp>
        <p:nvSpPr>
          <p:cNvPr name="TextBox 13" id="13"/>
          <p:cNvSpPr txBox="true"/>
          <p:nvPr/>
        </p:nvSpPr>
        <p:spPr>
          <a:xfrm rot="0">
            <a:off x="2723125" y="4125177"/>
            <a:ext cx="12841750" cy="4659938"/>
          </a:xfrm>
          <a:prstGeom prst="rect">
            <a:avLst/>
          </a:prstGeom>
        </p:spPr>
        <p:txBody>
          <a:bodyPr anchor="t" rtlCol="false" tIns="0" lIns="0" bIns="0" rIns="0">
            <a:spAutoFit/>
          </a:bodyPr>
          <a:lstStyle/>
          <a:p>
            <a:pPr algn="l">
              <a:lnSpc>
                <a:spcPts val="4603"/>
              </a:lnSpc>
            </a:pPr>
            <a:r>
              <a:rPr lang="en-US" sz="3287">
                <a:solidFill>
                  <a:srgbClr val="FFFFFF"/>
                </a:solidFill>
                <a:latin typeface="Poppins"/>
                <a:ea typeface="Poppins"/>
                <a:cs typeface="Poppins"/>
                <a:sym typeface="Poppins"/>
              </a:rPr>
              <a:t>Leer Informacion sobre:</a:t>
            </a:r>
          </a:p>
          <a:p>
            <a:pPr algn="l">
              <a:lnSpc>
                <a:spcPts val="4603"/>
              </a:lnSpc>
            </a:pPr>
          </a:p>
          <a:p>
            <a:pPr algn="l" marL="709848" indent="-354924" lvl="1">
              <a:lnSpc>
                <a:spcPts val="4603"/>
              </a:lnSpc>
              <a:buFont typeface="Arial"/>
              <a:buChar char="•"/>
            </a:pPr>
            <a:r>
              <a:rPr lang="en-US" sz="3287">
                <a:solidFill>
                  <a:srgbClr val="FFFFFF"/>
                </a:solidFill>
                <a:latin typeface="Poppins"/>
                <a:ea typeface="Poppins"/>
                <a:cs typeface="Poppins"/>
                <a:sym typeface="Poppins"/>
              </a:rPr>
              <a:t>Terminar el Ejercicio de la biblioteca Parte 2</a:t>
            </a:r>
          </a:p>
          <a:p>
            <a:pPr algn="l" marL="709848" indent="-354924" lvl="1">
              <a:lnSpc>
                <a:spcPts val="4603"/>
              </a:lnSpc>
              <a:buFont typeface="Arial"/>
              <a:buChar char="•"/>
            </a:pPr>
            <a:r>
              <a:rPr lang="en-US" sz="3287">
                <a:solidFill>
                  <a:srgbClr val="FFFFFF"/>
                </a:solidFill>
                <a:latin typeface="Poppins"/>
                <a:ea typeface="Poppins"/>
                <a:cs typeface="Poppins"/>
                <a:sym typeface="Poppins"/>
              </a:rPr>
              <a:t>Despliegue en </a:t>
            </a:r>
            <a:r>
              <a:rPr lang="en-US" sz="3287">
                <a:solidFill>
                  <a:srgbClr val="FFFFFF"/>
                </a:solidFill>
                <a:latin typeface="Poppins"/>
                <a:ea typeface="Poppins"/>
                <a:cs typeface="Poppins"/>
                <a:sym typeface="Poppins"/>
              </a:rPr>
              <a:t>AZU</a:t>
            </a:r>
            <a:r>
              <a:rPr lang="en-US" sz="3287">
                <a:solidFill>
                  <a:srgbClr val="FFFFFF"/>
                </a:solidFill>
                <a:latin typeface="Poppins"/>
                <a:ea typeface="Poppins"/>
                <a:cs typeface="Poppins"/>
                <a:sym typeface="Poppins"/>
              </a:rPr>
              <a:t>RE Y uso de GIT ACTIONS</a:t>
            </a:r>
          </a:p>
          <a:p>
            <a:pPr algn="l" marL="709848" indent="-354924" lvl="1">
              <a:lnSpc>
                <a:spcPts val="4603"/>
              </a:lnSpc>
              <a:buFont typeface="Arial"/>
              <a:buChar char="•"/>
            </a:pPr>
            <a:r>
              <a:rPr lang="en-US" sz="3287">
                <a:solidFill>
                  <a:srgbClr val="FFFFFF"/>
                </a:solidFill>
                <a:latin typeface="Poppins"/>
                <a:ea typeface="Poppins"/>
                <a:cs typeface="Poppins"/>
                <a:sym typeface="Poppins"/>
              </a:rPr>
              <a:t>Estrategias de despliegue</a:t>
            </a:r>
          </a:p>
          <a:p>
            <a:pPr algn="l" marL="709848" indent="-354924" lvl="1">
              <a:lnSpc>
                <a:spcPts val="4603"/>
              </a:lnSpc>
              <a:buFont typeface="Arial"/>
              <a:buChar char="•"/>
            </a:pPr>
            <a:r>
              <a:rPr lang="en-US" sz="3287">
                <a:solidFill>
                  <a:srgbClr val="FFFFFF"/>
                </a:solidFill>
                <a:latin typeface="Poppins"/>
                <a:ea typeface="Poppins"/>
                <a:cs typeface="Poppins"/>
                <a:sym typeface="Poppins"/>
              </a:rPr>
              <a:t>Ambientes efímeros - Tenants</a:t>
            </a:r>
          </a:p>
          <a:p>
            <a:pPr algn="l">
              <a:lnSpc>
                <a:spcPts val="4603"/>
              </a:lnSpc>
            </a:pPr>
          </a:p>
          <a:p>
            <a:pPr algn="l">
              <a:lnSpc>
                <a:spcPts val="4603"/>
              </a:lnSpc>
            </a:pPr>
          </a:p>
        </p:txBody>
      </p:sp>
      <p:sp>
        <p:nvSpPr>
          <p:cNvPr name="Freeform 14" id="14"/>
          <p:cNvSpPr/>
          <p:nvPr/>
        </p:nvSpPr>
        <p:spPr>
          <a:xfrm flipH="false" flipV="false" rot="0">
            <a:off x="7830057" y="-232718"/>
            <a:ext cx="2424514" cy="2424514"/>
          </a:xfrm>
          <a:custGeom>
            <a:avLst/>
            <a:gdLst/>
            <a:ahLst/>
            <a:cxnLst/>
            <a:rect r="r" b="b" t="t" l="l"/>
            <a:pathLst>
              <a:path h="2424514" w="2424514">
                <a:moveTo>
                  <a:pt x="0" y="0"/>
                </a:moveTo>
                <a:lnTo>
                  <a:pt x="2424514" y="0"/>
                </a:lnTo>
                <a:lnTo>
                  <a:pt x="2424514" y="2424514"/>
                </a:lnTo>
                <a:lnTo>
                  <a:pt x="0" y="2424514"/>
                </a:lnTo>
                <a:lnTo>
                  <a:pt x="0" y="0"/>
                </a:lnTo>
                <a:close/>
              </a:path>
            </a:pathLst>
          </a:custGeom>
          <a:blipFill>
            <a:blip r:embed="rId3"/>
            <a:stretch>
              <a:fillRect l="0" t="0" r="0" b="0"/>
            </a:stretch>
          </a:blipFill>
        </p:spPr>
      </p:sp>
    </p:spTree>
  </p:cSld>
  <p:clrMapOvr>
    <a:masterClrMapping/>
  </p:clrMapOvr>
</p:sld>
</file>

<file path=ppt/slides/slide7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ED">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ED">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7342682" y="3171258"/>
            <a:ext cx="3821369" cy="4623857"/>
          </a:xfrm>
          <a:custGeom>
            <a:avLst/>
            <a:gdLst/>
            <a:ahLst/>
            <a:cxnLst/>
            <a:rect r="r" b="b" t="t" l="l"/>
            <a:pathLst>
              <a:path h="4623857" w="3821369">
                <a:moveTo>
                  <a:pt x="0" y="0"/>
                </a:moveTo>
                <a:lnTo>
                  <a:pt x="3821369" y="0"/>
                </a:lnTo>
                <a:lnTo>
                  <a:pt x="3821369" y="4623857"/>
                </a:lnTo>
                <a:lnTo>
                  <a:pt x="0" y="4623857"/>
                </a:lnTo>
                <a:lnTo>
                  <a:pt x="0" y="0"/>
                </a:lnTo>
                <a:close/>
              </a:path>
            </a:pathLst>
          </a:custGeom>
          <a:blipFill>
            <a:blip r:embed="rId3"/>
            <a:stretch>
              <a:fillRect l="0" t="0" r="0" b="0"/>
            </a:stretch>
          </a:blipFill>
        </p:spPr>
      </p:sp>
      <p:sp>
        <p:nvSpPr>
          <p:cNvPr name="Freeform 13" id="13"/>
          <p:cNvSpPr/>
          <p:nvPr/>
        </p:nvSpPr>
        <p:spPr>
          <a:xfrm flipH="false" flipV="false" rot="0">
            <a:off x="8032287" y="-192380"/>
            <a:ext cx="2442159" cy="2442159"/>
          </a:xfrm>
          <a:custGeom>
            <a:avLst/>
            <a:gdLst/>
            <a:ahLst/>
            <a:cxnLst/>
            <a:rect r="r" b="b" t="t" l="l"/>
            <a:pathLst>
              <a:path h="2442159" w="2442159">
                <a:moveTo>
                  <a:pt x="0" y="0"/>
                </a:moveTo>
                <a:lnTo>
                  <a:pt x="2442160" y="0"/>
                </a:lnTo>
                <a:lnTo>
                  <a:pt x="2442160" y="2442160"/>
                </a:lnTo>
                <a:lnTo>
                  <a:pt x="0" y="2442160"/>
                </a:lnTo>
                <a:lnTo>
                  <a:pt x="0" y="0"/>
                </a:lnTo>
                <a:close/>
              </a:path>
            </a:pathLst>
          </a:custGeom>
          <a:blipFill>
            <a:blip r:embed="rId4"/>
            <a:stretch>
              <a:fillRect l="0" t="0" r="0" b="0"/>
            </a:stretch>
          </a:blipFill>
        </p:spPr>
      </p:sp>
      <p:sp>
        <p:nvSpPr>
          <p:cNvPr name="TextBox 14" id="14"/>
          <p:cNvSpPr txBox="true"/>
          <p:nvPr/>
        </p:nvSpPr>
        <p:spPr>
          <a:xfrm rot="0">
            <a:off x="3666280" y="8150637"/>
            <a:ext cx="10955440" cy="1611888"/>
          </a:xfrm>
          <a:prstGeom prst="rect">
            <a:avLst/>
          </a:prstGeom>
        </p:spPr>
        <p:txBody>
          <a:bodyPr anchor="t" rtlCol="false" tIns="0" lIns="0" bIns="0" rIns="0">
            <a:spAutoFit/>
          </a:bodyPr>
          <a:lstStyle/>
          <a:p>
            <a:pPr algn="ctr">
              <a:lnSpc>
                <a:spcPts val="6476"/>
              </a:lnSpc>
              <a:spcBef>
                <a:spcPct val="0"/>
              </a:spcBef>
            </a:pPr>
            <a:r>
              <a:rPr lang="en-US" sz="4626">
                <a:solidFill>
                  <a:srgbClr val="FF66C4"/>
                </a:solidFill>
                <a:latin typeface="HK Modular"/>
                <a:ea typeface="HK Modular"/>
                <a:cs typeface="HK Modular"/>
                <a:sym typeface="HK Modular"/>
              </a:rPr>
              <a:t>LA SESION DE PROYECTO DEL VIERNES</a:t>
            </a:r>
          </a:p>
        </p:txBody>
      </p:sp>
      <p:sp>
        <p:nvSpPr>
          <p:cNvPr name="TextBox 15" id="15"/>
          <p:cNvSpPr txBox="true"/>
          <p:nvPr/>
        </p:nvSpPr>
        <p:spPr>
          <a:xfrm rot="0">
            <a:off x="2561247" y="1827378"/>
            <a:ext cx="13556508" cy="1217902"/>
          </a:xfrm>
          <a:prstGeom prst="rect">
            <a:avLst/>
          </a:prstGeom>
        </p:spPr>
        <p:txBody>
          <a:bodyPr anchor="t" rtlCol="false" tIns="0" lIns="0" bIns="0" rIns="0">
            <a:spAutoFit/>
          </a:bodyPr>
          <a:lstStyle/>
          <a:p>
            <a:pPr algn="ctr">
              <a:lnSpc>
                <a:spcPts val="9973"/>
              </a:lnSpc>
              <a:spcBef>
                <a:spcPct val="0"/>
              </a:spcBef>
            </a:pPr>
            <a:r>
              <a:rPr lang="en-US" sz="7123">
                <a:solidFill>
                  <a:srgbClr val="FF5757"/>
                </a:solidFill>
                <a:latin typeface="HK Modular"/>
                <a:ea typeface="HK Modular"/>
                <a:cs typeface="HK Modular"/>
                <a:sym typeface="HK Modular"/>
              </a:rPr>
              <a:t>NOS VEMOS EN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DAG0fL6F-zI</dc:identifier>
  <dcterms:modified xsi:type="dcterms:W3CDTF">2011-08-01T06:04:30Z</dcterms:modified>
  <cp:revision>1</cp:revision>
  <dc:title>DOSW 1 - S010</dc:title>
</cp:coreProperties>
</file>