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Lst>
  <p:sldSz cx="18288000" cy="10287000"/>
  <p:notesSz cx="6858000" cy="9144000"/>
  <p:embeddedFontLst>
    <p:embeddedFont>
      <p:font typeface="HK Modular" charset="1" panose="00000800000000000000"/>
      <p:regular r:id="rId55"/>
    </p:embeddedFont>
    <p:embeddedFont>
      <p:font typeface="RQND Pro" charset="1" panose="00000500000000000000"/>
      <p:regular r:id="rId56"/>
    </p:embeddedFont>
    <p:embeddedFont>
      <p:font typeface="Poppins" charset="1" panose="00000500000000000000"/>
      <p:regular r:id="rId57"/>
    </p:embeddedFont>
    <p:embeddedFont>
      <p:font typeface="Canva Sans" charset="1" panose="020B0503030501040103"/>
      <p:regular r:id="rId5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fonts/font55.fntdata" Type="http://schemas.openxmlformats.org/officeDocument/2006/relationships/font"/><Relationship Id="rId56" Target="fonts/font56.fntdata" Type="http://schemas.openxmlformats.org/officeDocument/2006/relationships/font"/><Relationship Id="rId57" Target="fonts/font57.fntdata" Type="http://schemas.openxmlformats.org/officeDocument/2006/relationships/font"/><Relationship Id="rId58" Target="fonts/font58.fntdata" Type="http://schemas.openxmlformats.org/officeDocument/2006/relationships/font"/><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2.png" Type="http://schemas.openxmlformats.org/officeDocument/2006/relationships/image"/><Relationship Id="rId6" Target="../media/image6.png" Type="http://schemas.openxmlformats.org/officeDocument/2006/relationships/image"/><Relationship Id="rId7" Target="../media/image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 Id="rId5"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11.png" Type="http://schemas.openxmlformats.org/officeDocument/2006/relationships/image"/><Relationship Id="rId4"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12.png" Type="http://schemas.openxmlformats.org/officeDocument/2006/relationships/image"/><Relationship Id="rId4" Target="../media/image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13.png" Type="http://schemas.openxmlformats.org/officeDocument/2006/relationships/image"/><Relationship Id="rId4" Target="../media/image14.png" Type="http://schemas.openxmlformats.org/officeDocument/2006/relationships/image"/><Relationship Id="rId5" Target="../media/image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15.png" Type="http://schemas.openxmlformats.org/officeDocument/2006/relationships/image"/><Relationship Id="rId4" Target="../media/image16.png" Type="http://schemas.openxmlformats.org/officeDocument/2006/relationships/image"/><Relationship Id="rId5" Target="../media/image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17.pn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20.png" Type="http://schemas.openxmlformats.org/officeDocument/2006/relationships/image"/><Relationship Id="rId7" Target="../media/image21.png" Type="http://schemas.openxmlformats.org/officeDocument/2006/relationships/image"/><Relationship Id="rId8" Target="../media/image22.svg" Type="http://schemas.openxmlformats.org/officeDocument/2006/relationships/image"/><Relationship Id="rId9" Target="../media/image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23.png" Type="http://schemas.openxmlformats.org/officeDocument/2006/relationships/image"/><Relationship Id="rId4" Target="../media/image20.pn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 Id="rId7" Target="../media/image24.png" Type="http://schemas.openxmlformats.org/officeDocument/2006/relationships/image"/><Relationship Id="rId8" Target="../media/image25.svg" Type="http://schemas.openxmlformats.org/officeDocument/2006/relationships/image"/><Relationship Id="rId9" Target="../media/image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24.png" Type="http://schemas.openxmlformats.org/officeDocument/2006/relationships/image"/><Relationship Id="rId4" Target="../media/image25.svg" Type="http://schemas.openxmlformats.org/officeDocument/2006/relationships/image"/><Relationship Id="rId5" Target="../media/image26.png" Type="http://schemas.openxmlformats.org/officeDocument/2006/relationships/image"/><Relationship Id="rId6" Target="../media/image6.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6.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27.png" Type="http://schemas.openxmlformats.org/officeDocument/2006/relationships/image"/><Relationship Id="rId4" Target="../media/image28.svg" Type="http://schemas.openxmlformats.org/officeDocument/2006/relationships/image"/><Relationship Id="rId5" Target="../media/image6.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29.png" Type="http://schemas.openxmlformats.org/officeDocument/2006/relationships/image"/><Relationship Id="rId4" Target="../media/image6.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30.png" Type="http://schemas.openxmlformats.org/officeDocument/2006/relationships/image"/><Relationship Id="rId4" Target="../media/image6.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31.png" Type="http://schemas.openxmlformats.org/officeDocument/2006/relationships/image"/><Relationship Id="rId4" Target="../media/image6.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32.png" Type="http://schemas.openxmlformats.org/officeDocument/2006/relationships/image"/><Relationship Id="rId4" Target="../media/image33.png" Type="http://schemas.openxmlformats.org/officeDocument/2006/relationships/image"/><Relationship Id="rId5" Target="../media/image6.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34.png" Type="http://schemas.openxmlformats.org/officeDocument/2006/relationships/image"/><Relationship Id="rId4" Target="../media/image35.png" Type="http://schemas.openxmlformats.org/officeDocument/2006/relationships/image"/><Relationship Id="rId5" Target="../media/image36.png" Type="http://schemas.openxmlformats.org/officeDocument/2006/relationships/image"/><Relationship Id="rId6" Target="../media/image37.png" Type="http://schemas.openxmlformats.org/officeDocument/2006/relationships/image"/><Relationship Id="rId7" Target="../media/image6.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38.png" Type="http://schemas.openxmlformats.org/officeDocument/2006/relationships/image"/><Relationship Id="rId4" Target="../media/image39.png" Type="http://schemas.openxmlformats.org/officeDocument/2006/relationships/image"/><Relationship Id="rId5" Target="../media/image6.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6.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40.png" Type="http://schemas.openxmlformats.org/officeDocument/2006/relationships/image"/><Relationship Id="rId4" Target="../media/image6.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41.png" Type="http://schemas.openxmlformats.org/officeDocument/2006/relationships/image"/><Relationship Id="rId4" Target="../media/image6.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42.png" Type="http://schemas.openxmlformats.org/officeDocument/2006/relationships/image"/><Relationship Id="rId4" Target="../media/image43.svg" Type="http://schemas.openxmlformats.org/officeDocument/2006/relationships/image"/><Relationship Id="rId5" Target="../media/image44.png" Type="http://schemas.openxmlformats.org/officeDocument/2006/relationships/image"/><Relationship Id="rId6" Target="../media/image45.png" Type="http://schemas.openxmlformats.org/officeDocument/2006/relationships/image"/><Relationship Id="rId7" Target="../media/image46.png" Type="http://schemas.openxmlformats.org/officeDocument/2006/relationships/image"/><Relationship Id="rId8" Target="../media/image47.png" Type="http://schemas.openxmlformats.org/officeDocument/2006/relationships/image"/><Relationship Id="rId9" Target="../media/image6.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48.png" Type="http://schemas.openxmlformats.org/officeDocument/2006/relationships/image"/><Relationship Id="rId4" Target="../media/image49.svg" Type="http://schemas.openxmlformats.org/officeDocument/2006/relationships/image"/><Relationship Id="rId5" Target="../media/image50.png" Type="http://schemas.openxmlformats.org/officeDocument/2006/relationships/image"/><Relationship Id="rId6" Target="../media/image51.png" Type="http://schemas.openxmlformats.org/officeDocument/2006/relationships/image"/><Relationship Id="rId7" Target="../media/image6.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52.png" Type="http://schemas.openxmlformats.org/officeDocument/2006/relationships/image"/><Relationship Id="rId4" Target="../media/image53.svg" Type="http://schemas.openxmlformats.org/officeDocument/2006/relationships/image"/><Relationship Id="rId5" Target="../media/image54.png" Type="http://schemas.openxmlformats.org/officeDocument/2006/relationships/image"/><Relationship Id="rId6" Target="../media/image55.png" Type="http://schemas.openxmlformats.org/officeDocument/2006/relationships/image"/><Relationship Id="rId7" Target="../media/image56.png" Type="http://schemas.openxmlformats.org/officeDocument/2006/relationships/image"/><Relationship Id="rId8" Target="../media/image6.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57.png" Type="http://schemas.openxmlformats.org/officeDocument/2006/relationships/image"/><Relationship Id="rId4" Target="../media/image58.png" Type="http://schemas.openxmlformats.org/officeDocument/2006/relationships/image"/><Relationship Id="rId5" Target="../media/image59.svg" Type="http://schemas.openxmlformats.org/officeDocument/2006/relationships/image"/><Relationship Id="rId6" Target="../media/image60.png" Type="http://schemas.openxmlformats.org/officeDocument/2006/relationships/image"/><Relationship Id="rId7" Target="../media/image61.png" Type="http://schemas.openxmlformats.org/officeDocument/2006/relationships/image"/><Relationship Id="rId8" Target="../media/image62.png" Type="http://schemas.openxmlformats.org/officeDocument/2006/relationships/image"/><Relationship Id="rId9" Target="../media/image6.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63.png" Type="http://schemas.openxmlformats.org/officeDocument/2006/relationships/image"/><Relationship Id="rId4" Target="../media/image64.png" Type="http://schemas.openxmlformats.org/officeDocument/2006/relationships/image"/><Relationship Id="rId5" Target="../media/image65.png" Type="http://schemas.openxmlformats.org/officeDocument/2006/relationships/image"/><Relationship Id="rId6" Target="../media/image66.svg" Type="http://schemas.openxmlformats.org/officeDocument/2006/relationships/image"/><Relationship Id="rId7" Target="../media/image6.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67.png" Type="http://schemas.openxmlformats.org/officeDocument/2006/relationships/image"/><Relationship Id="rId4" Target="../media/image6.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68.png" Type="http://schemas.openxmlformats.org/officeDocument/2006/relationships/image"/><Relationship Id="rId4" Target="../media/image69.svg" Type="http://schemas.openxmlformats.org/officeDocument/2006/relationships/image"/><Relationship Id="rId5" Target="../media/image70.png" Type="http://schemas.openxmlformats.org/officeDocument/2006/relationships/image"/><Relationship Id="rId6" Target="../media/image71.png" Type="http://schemas.openxmlformats.org/officeDocument/2006/relationships/image"/><Relationship Id="rId7" Target="../media/image72.png" Type="http://schemas.openxmlformats.org/officeDocument/2006/relationships/image"/><Relationship Id="rId8" Target="../media/image6.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6.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6.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6.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73.png" Type="http://schemas.openxmlformats.org/officeDocument/2006/relationships/image"/><Relationship Id="rId4" Target="../media/image6.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74.png" Type="http://schemas.openxmlformats.org/officeDocument/2006/relationships/image"/><Relationship Id="rId4" Target="../media/image6.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75.png" Type="http://schemas.openxmlformats.org/officeDocument/2006/relationships/image"/><Relationship Id="rId4" Target="../media/image76.png" Type="http://schemas.openxmlformats.org/officeDocument/2006/relationships/image"/><Relationship Id="rId5" Target="../media/image6.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6.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77.png" Type="http://schemas.openxmlformats.org/officeDocument/2006/relationships/image"/><Relationship Id="rId4" Target="../media/image78.png" Type="http://schemas.openxmlformats.org/officeDocument/2006/relationships/image"/><Relationship Id="rId5" Target="../media/image79.png" Type="http://schemas.openxmlformats.org/officeDocument/2006/relationships/image"/><Relationship Id="rId6" Target="../media/image80.png" Type="http://schemas.openxmlformats.org/officeDocument/2006/relationships/image"/><Relationship Id="rId7" Target="../media/image81.png" Type="http://schemas.openxmlformats.org/officeDocument/2006/relationships/image"/><Relationship Id="rId8" Target="../media/image82.svg" Type="http://schemas.openxmlformats.org/officeDocument/2006/relationships/image"/><Relationship Id="rId9" Target="../media/image6.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83.png" Type="http://schemas.openxmlformats.org/officeDocument/2006/relationships/image"/><Relationship Id="rId4" Target="../media/image84.png" Type="http://schemas.openxmlformats.org/officeDocument/2006/relationships/image"/><Relationship Id="rId5" Target="../media/image6.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85.png" Type="http://schemas.openxmlformats.org/officeDocument/2006/relationships/image"/><Relationship Id="rId4" Target="../media/image86.png" Type="http://schemas.openxmlformats.org/officeDocument/2006/relationships/image"/><Relationship Id="rId5" Target="../media/image87.png" Type="http://schemas.openxmlformats.org/officeDocument/2006/relationships/image"/><Relationship Id="rId6" Target="../media/image88.png" Type="http://schemas.openxmlformats.org/officeDocument/2006/relationships/image"/><Relationship Id="rId7" Target="../media/image6.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89.png" Type="http://schemas.openxmlformats.org/officeDocument/2006/relationships/image"/><Relationship Id="rId4" Target="../media/image90.png" Type="http://schemas.openxmlformats.org/officeDocument/2006/relationships/image"/><Relationship Id="rId5" Target="../media/image6.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6.pn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91.png" Type="http://schemas.openxmlformats.org/officeDocument/2006/relationships/image"/><Relationship Id="rId4" Target="../media/image92.png" Type="http://schemas.openxmlformats.org/officeDocument/2006/relationships/image"/><Relationship Id="rId5" Target="../media/image93.png" Type="http://schemas.openxmlformats.org/officeDocument/2006/relationships/image"/><Relationship Id="rId6" Target="../media/image6.pn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94.png" Type="http://schemas.openxmlformats.org/officeDocument/2006/relationships/image"/><Relationship Id="rId4" Target="../media/image95.png" Type="http://schemas.openxmlformats.org/officeDocument/2006/relationships/image"/><Relationship Id="rId5" Target="../media/image96.png" Type="http://schemas.openxmlformats.org/officeDocument/2006/relationships/image"/><Relationship Id="rId6" Target="../media/image6.pn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6.pn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97.png" Type="http://schemas.openxmlformats.org/officeDocument/2006/relationships/image"/><Relationship Id="rId4" Target="../media/image6.pn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98.png" Type="http://schemas.openxmlformats.org/officeDocument/2006/relationships/image"/><Relationship Id="rId4" Target="../media/image99.png" Type="http://schemas.openxmlformats.org/officeDocument/2006/relationships/image"/><Relationship Id="rId5" Target="../media/image100.png" Type="http://schemas.openxmlformats.org/officeDocument/2006/relationships/image"/><Relationship Id="rId6" Target="../media/image101.svg" Type="http://schemas.openxmlformats.org/officeDocument/2006/relationships/image"/><Relationship Id="rId7" Target="../media/image102.png" Type="http://schemas.openxmlformats.org/officeDocument/2006/relationships/image"/><Relationship Id="rId8" Target="../media/image6.pn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103.png" Type="http://schemas.openxmlformats.org/officeDocument/2006/relationships/image"/><Relationship Id="rId4" Target="../media/image104.png" Type="http://schemas.openxmlformats.org/officeDocument/2006/relationships/image"/><Relationship Id="rId5" Target="../media/image105.png" Type="http://schemas.openxmlformats.org/officeDocument/2006/relationships/image"/><Relationship Id="rId6" Target="../media/image6.png" Type="http://schemas.openxmlformats.org/officeDocument/2006/relationships/image"/></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106.png" Type="http://schemas.openxmlformats.org/officeDocument/2006/relationships/image"/><Relationship Id="rId4" Target="../media/image6.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894353" y="6745775"/>
            <a:ext cx="20076706" cy="4517259"/>
          </a:xfrm>
          <a:custGeom>
            <a:avLst/>
            <a:gdLst/>
            <a:ahLst/>
            <a:cxnLst/>
            <a:rect r="r" b="b" t="t" l="l"/>
            <a:pathLst>
              <a:path h="4517259" w="20076706">
                <a:moveTo>
                  <a:pt x="0" y="0"/>
                </a:moveTo>
                <a:lnTo>
                  <a:pt x="20076706" y="0"/>
                </a:lnTo>
                <a:lnTo>
                  <a:pt x="20076706" y="4517259"/>
                </a:lnTo>
                <a:lnTo>
                  <a:pt x="0" y="4517259"/>
                </a:lnTo>
                <a:lnTo>
                  <a:pt x="0" y="0"/>
                </a:lnTo>
                <a:close/>
              </a:path>
            </a:pathLst>
          </a:custGeom>
          <a:blipFill>
            <a:blip r:embed="rId2">
              <a:alphaModFix amt="31999"/>
            </a:blip>
            <a:stretch>
              <a:fillRect l="0" t="0" r="0" b="0"/>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C800AE">
                    <a:alpha val="100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163911" y="163050"/>
            <a:ext cx="6623053" cy="9668691"/>
          </a:xfrm>
          <a:custGeom>
            <a:avLst/>
            <a:gdLst/>
            <a:ahLst/>
            <a:cxnLst/>
            <a:rect r="r" b="b" t="t" l="l"/>
            <a:pathLst>
              <a:path h="9668691" w="6623053">
                <a:moveTo>
                  <a:pt x="0" y="0"/>
                </a:moveTo>
                <a:lnTo>
                  <a:pt x="6623054" y="0"/>
                </a:lnTo>
                <a:lnTo>
                  <a:pt x="6623054" y="9668691"/>
                </a:lnTo>
                <a:lnTo>
                  <a:pt x="0" y="9668691"/>
                </a:lnTo>
                <a:lnTo>
                  <a:pt x="0" y="0"/>
                </a:lnTo>
                <a:close/>
              </a:path>
            </a:pathLst>
          </a:custGeom>
          <a:blipFill>
            <a:blip r:embed="rId3"/>
            <a:stretch>
              <a:fillRect l="0" t="0" r="0" b="0"/>
            </a:stretch>
          </a:blipFill>
        </p:spPr>
      </p:sp>
      <p:sp>
        <p:nvSpPr>
          <p:cNvPr name="Freeform 7" id="7"/>
          <p:cNvSpPr/>
          <p:nvPr/>
        </p:nvSpPr>
        <p:spPr>
          <a:xfrm flipH="false" flipV="false" rot="0">
            <a:off x="15669932" y="-1017864"/>
            <a:ext cx="4077393" cy="4114800"/>
          </a:xfrm>
          <a:custGeom>
            <a:avLst/>
            <a:gdLst/>
            <a:ahLst/>
            <a:cxnLst/>
            <a:rect r="r" b="b" t="t" l="l"/>
            <a:pathLst>
              <a:path h="4114800" w="4077393">
                <a:moveTo>
                  <a:pt x="0" y="0"/>
                </a:moveTo>
                <a:lnTo>
                  <a:pt x="4077392" y="0"/>
                </a:lnTo>
                <a:lnTo>
                  <a:pt x="4077392" y="4114800"/>
                </a:lnTo>
                <a:lnTo>
                  <a:pt x="0" y="4114800"/>
                </a:lnTo>
                <a:lnTo>
                  <a:pt x="0" y="0"/>
                </a:lnTo>
                <a:close/>
              </a:path>
            </a:pathLst>
          </a:custGeom>
          <a:blipFill>
            <a:blip r:embed="rId4">
              <a:alphaModFix amt="14000"/>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8304904" y="2295809"/>
            <a:ext cx="601820" cy="601820"/>
          </a:xfrm>
          <a:custGeom>
            <a:avLst/>
            <a:gdLst/>
            <a:ahLst/>
            <a:cxnLst/>
            <a:rect r="r" b="b" t="t" l="l"/>
            <a:pathLst>
              <a:path h="601820" w="601820">
                <a:moveTo>
                  <a:pt x="0" y="0"/>
                </a:moveTo>
                <a:lnTo>
                  <a:pt x="601819" y="0"/>
                </a:lnTo>
                <a:lnTo>
                  <a:pt x="601819" y="601820"/>
                </a:lnTo>
                <a:lnTo>
                  <a:pt x="0" y="601820"/>
                </a:lnTo>
                <a:lnTo>
                  <a:pt x="0" y="0"/>
                </a:lnTo>
                <a:close/>
              </a:path>
            </a:pathLst>
          </a:custGeom>
          <a:blipFill>
            <a:blip r:embed="rId6"/>
            <a:stretch>
              <a:fillRect l="0" t="0" r="0" b="0"/>
            </a:stretch>
          </a:blipFill>
        </p:spPr>
      </p:sp>
      <p:sp>
        <p:nvSpPr>
          <p:cNvPr name="TextBox 9" id="9"/>
          <p:cNvSpPr txBox="true"/>
          <p:nvPr/>
        </p:nvSpPr>
        <p:spPr>
          <a:xfrm rot="0">
            <a:off x="8304904" y="4377652"/>
            <a:ext cx="8271372" cy="1115662"/>
          </a:xfrm>
          <a:prstGeom prst="rect">
            <a:avLst/>
          </a:prstGeom>
        </p:spPr>
        <p:txBody>
          <a:bodyPr anchor="t" rtlCol="false" tIns="0" lIns="0" bIns="0" rIns="0">
            <a:spAutoFit/>
          </a:bodyPr>
          <a:lstStyle/>
          <a:p>
            <a:pPr algn="l">
              <a:lnSpc>
                <a:spcPts val="9165"/>
              </a:lnSpc>
              <a:spcBef>
                <a:spcPct val="0"/>
              </a:spcBef>
            </a:pPr>
            <a:r>
              <a:rPr lang="en-US" sz="6546">
                <a:solidFill>
                  <a:srgbClr val="FF009D"/>
                </a:solidFill>
                <a:latin typeface="HK Modular"/>
                <a:ea typeface="HK Modular"/>
                <a:cs typeface="HK Modular"/>
                <a:sym typeface="HK Modular"/>
              </a:rPr>
              <a:t>SEMANA 9</a:t>
            </a:r>
          </a:p>
        </p:txBody>
      </p:sp>
      <p:sp>
        <p:nvSpPr>
          <p:cNvPr name="TextBox 10" id="10"/>
          <p:cNvSpPr txBox="true"/>
          <p:nvPr/>
        </p:nvSpPr>
        <p:spPr>
          <a:xfrm rot="0">
            <a:off x="8304904" y="5916767"/>
            <a:ext cx="6621756" cy="892949"/>
          </a:xfrm>
          <a:prstGeom prst="rect">
            <a:avLst/>
          </a:prstGeom>
        </p:spPr>
        <p:txBody>
          <a:bodyPr anchor="t" rtlCol="false" tIns="0" lIns="0" bIns="0" rIns="0">
            <a:spAutoFit/>
          </a:bodyPr>
          <a:lstStyle/>
          <a:p>
            <a:pPr algn="l">
              <a:lnSpc>
                <a:spcPts val="7267"/>
              </a:lnSpc>
              <a:spcBef>
                <a:spcPct val="0"/>
              </a:spcBef>
            </a:pPr>
            <a:r>
              <a:rPr lang="en-US" sz="5191">
                <a:solidFill>
                  <a:srgbClr val="FF914D"/>
                </a:solidFill>
                <a:latin typeface="HK Modular"/>
                <a:ea typeface="HK Modular"/>
                <a:cs typeface="HK Modular"/>
                <a:sym typeface="HK Modular"/>
              </a:rPr>
              <a:t>DOSW 1</a:t>
            </a:r>
          </a:p>
        </p:txBody>
      </p:sp>
      <p:sp>
        <p:nvSpPr>
          <p:cNvPr name="TextBox 11" id="11"/>
          <p:cNvSpPr txBox="true"/>
          <p:nvPr/>
        </p:nvSpPr>
        <p:spPr>
          <a:xfrm rot="0">
            <a:off x="8906723" y="2356120"/>
            <a:ext cx="4748826" cy="424049"/>
          </a:xfrm>
          <a:prstGeom prst="rect">
            <a:avLst/>
          </a:prstGeom>
        </p:spPr>
        <p:txBody>
          <a:bodyPr anchor="t" rtlCol="false" tIns="0" lIns="0" bIns="0" rIns="0">
            <a:spAutoFit/>
          </a:bodyPr>
          <a:lstStyle/>
          <a:p>
            <a:pPr algn="ctr">
              <a:lnSpc>
                <a:spcPts val="3402"/>
              </a:lnSpc>
              <a:spcBef>
                <a:spcPct val="0"/>
              </a:spcBef>
            </a:pPr>
            <a:r>
              <a:rPr lang="en-US" sz="2430">
                <a:solidFill>
                  <a:srgbClr val="FFFFFF"/>
                </a:solidFill>
                <a:latin typeface="RQND Pro"/>
                <a:ea typeface="RQND Pro"/>
                <a:cs typeface="RQND Pro"/>
                <a:sym typeface="RQND Pro"/>
              </a:rPr>
              <a:t>ESCUELA COLOMBIANA DE INGENIERIA</a:t>
            </a:r>
          </a:p>
        </p:txBody>
      </p:sp>
      <p:sp>
        <p:nvSpPr>
          <p:cNvPr name="Freeform 12" id="12"/>
          <p:cNvSpPr/>
          <p:nvPr/>
        </p:nvSpPr>
        <p:spPr>
          <a:xfrm flipH="false" flipV="false" rot="0">
            <a:off x="1302528" y="2191796"/>
            <a:ext cx="6345820" cy="6345820"/>
          </a:xfrm>
          <a:custGeom>
            <a:avLst/>
            <a:gdLst/>
            <a:ahLst/>
            <a:cxnLst/>
            <a:rect r="r" b="b" t="t" l="l"/>
            <a:pathLst>
              <a:path h="6345820" w="6345820">
                <a:moveTo>
                  <a:pt x="0" y="0"/>
                </a:moveTo>
                <a:lnTo>
                  <a:pt x="6345820" y="0"/>
                </a:lnTo>
                <a:lnTo>
                  <a:pt x="6345820" y="6345820"/>
                </a:lnTo>
                <a:lnTo>
                  <a:pt x="0" y="6345820"/>
                </a:lnTo>
                <a:lnTo>
                  <a:pt x="0" y="0"/>
                </a:lnTo>
                <a:close/>
              </a:path>
            </a:pathLst>
          </a:custGeom>
          <a:blipFill>
            <a:blip r:embed="rId7"/>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894353" y="6745775"/>
            <a:ext cx="20076706" cy="4517259"/>
          </a:xfrm>
          <a:custGeom>
            <a:avLst/>
            <a:gdLst/>
            <a:ahLst/>
            <a:cxnLst/>
            <a:rect r="r" b="b" t="t" l="l"/>
            <a:pathLst>
              <a:path h="4517259" w="20076706">
                <a:moveTo>
                  <a:pt x="0" y="0"/>
                </a:moveTo>
                <a:lnTo>
                  <a:pt x="20076706" y="0"/>
                </a:lnTo>
                <a:lnTo>
                  <a:pt x="20076706" y="4517259"/>
                </a:lnTo>
                <a:lnTo>
                  <a:pt x="0" y="4517259"/>
                </a:lnTo>
                <a:lnTo>
                  <a:pt x="0" y="0"/>
                </a:lnTo>
                <a:close/>
              </a:path>
            </a:pathLst>
          </a:custGeom>
          <a:blipFill>
            <a:blip r:embed="rId2">
              <a:alphaModFix amt="31999"/>
            </a:blip>
            <a:stretch>
              <a:fillRect l="0" t="0" r="0" b="0"/>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C800AE">
                    <a:alpha val="100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5669932" y="-1017864"/>
            <a:ext cx="4077393" cy="4114800"/>
          </a:xfrm>
          <a:custGeom>
            <a:avLst/>
            <a:gdLst/>
            <a:ahLst/>
            <a:cxnLst/>
            <a:rect r="r" b="b" t="t" l="l"/>
            <a:pathLst>
              <a:path h="4114800" w="4077393">
                <a:moveTo>
                  <a:pt x="0" y="0"/>
                </a:moveTo>
                <a:lnTo>
                  <a:pt x="4077392" y="0"/>
                </a:lnTo>
                <a:lnTo>
                  <a:pt x="4077392" y="4114800"/>
                </a:lnTo>
                <a:lnTo>
                  <a:pt x="0" y="4114800"/>
                </a:lnTo>
                <a:lnTo>
                  <a:pt x="0" y="0"/>
                </a:lnTo>
                <a:close/>
              </a:path>
            </a:pathLst>
          </a:custGeom>
          <a:blipFill>
            <a:blip r:embed="rId3">
              <a:alphaModFix amt="14000"/>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8085699" y="1809394"/>
            <a:ext cx="9389196" cy="1115662"/>
          </a:xfrm>
          <a:prstGeom prst="rect">
            <a:avLst/>
          </a:prstGeom>
        </p:spPr>
        <p:txBody>
          <a:bodyPr anchor="t" rtlCol="false" tIns="0" lIns="0" bIns="0" rIns="0">
            <a:spAutoFit/>
          </a:bodyPr>
          <a:lstStyle/>
          <a:p>
            <a:pPr algn="l">
              <a:lnSpc>
                <a:spcPts val="9165"/>
              </a:lnSpc>
              <a:spcBef>
                <a:spcPct val="0"/>
              </a:spcBef>
            </a:pPr>
            <a:r>
              <a:rPr lang="en-US" sz="6546">
                <a:solidFill>
                  <a:srgbClr val="FF009D"/>
                </a:solidFill>
                <a:latin typeface="HK Modular"/>
                <a:ea typeface="HK Modular"/>
                <a:cs typeface="HK Modular"/>
                <a:sym typeface="HK Modular"/>
              </a:rPr>
              <a:t>ORDEN DEL DIA </a:t>
            </a:r>
          </a:p>
        </p:txBody>
      </p:sp>
      <p:sp>
        <p:nvSpPr>
          <p:cNvPr name="TextBox 8" id="8"/>
          <p:cNvSpPr txBox="true"/>
          <p:nvPr/>
        </p:nvSpPr>
        <p:spPr>
          <a:xfrm rot="0">
            <a:off x="8906723" y="498026"/>
            <a:ext cx="4748826" cy="424049"/>
          </a:xfrm>
          <a:prstGeom prst="rect">
            <a:avLst/>
          </a:prstGeom>
        </p:spPr>
        <p:txBody>
          <a:bodyPr anchor="t" rtlCol="false" tIns="0" lIns="0" bIns="0" rIns="0">
            <a:spAutoFit/>
          </a:bodyPr>
          <a:lstStyle/>
          <a:p>
            <a:pPr algn="ctr">
              <a:lnSpc>
                <a:spcPts val="3402"/>
              </a:lnSpc>
              <a:spcBef>
                <a:spcPct val="0"/>
              </a:spcBef>
            </a:pPr>
            <a:r>
              <a:rPr lang="en-US" sz="2430">
                <a:solidFill>
                  <a:srgbClr val="FFFFFF"/>
                </a:solidFill>
                <a:latin typeface="RQND Pro"/>
                <a:ea typeface="RQND Pro"/>
                <a:cs typeface="RQND Pro"/>
                <a:sym typeface="RQND Pro"/>
              </a:rPr>
              <a:t>ESCUELA COLOMBIANA DE INGENIERIA</a:t>
            </a:r>
          </a:p>
        </p:txBody>
      </p:sp>
      <p:sp>
        <p:nvSpPr>
          <p:cNvPr name="TextBox 9" id="9"/>
          <p:cNvSpPr txBox="true"/>
          <p:nvPr/>
        </p:nvSpPr>
        <p:spPr>
          <a:xfrm rot="0">
            <a:off x="8085699" y="3650157"/>
            <a:ext cx="8923034" cy="427847"/>
          </a:xfrm>
          <a:prstGeom prst="rect">
            <a:avLst/>
          </a:prstGeom>
        </p:spPr>
        <p:txBody>
          <a:bodyPr anchor="t" rtlCol="false" tIns="0" lIns="0" bIns="0" rIns="0">
            <a:spAutoFit/>
          </a:bodyPr>
          <a:lstStyle/>
          <a:p>
            <a:pPr algn="l">
              <a:lnSpc>
                <a:spcPts val="3418"/>
              </a:lnSpc>
              <a:spcBef>
                <a:spcPct val="0"/>
              </a:spcBef>
            </a:pPr>
            <a:r>
              <a:rPr lang="en-US" sz="2441">
                <a:solidFill>
                  <a:srgbClr val="FFFFFF"/>
                </a:solidFill>
                <a:latin typeface="HK Modular"/>
                <a:ea typeface="HK Modular"/>
                <a:cs typeface="HK Modular"/>
                <a:sym typeface="HK Modular"/>
              </a:rPr>
              <a:t>DISEÑO DE APIS - MANEJO DE DATA</a:t>
            </a:r>
          </a:p>
        </p:txBody>
      </p:sp>
      <p:sp>
        <p:nvSpPr>
          <p:cNvPr name="TextBox 10" id="10"/>
          <p:cNvSpPr txBox="true"/>
          <p:nvPr/>
        </p:nvSpPr>
        <p:spPr>
          <a:xfrm rot="0">
            <a:off x="8605813" y="4279300"/>
            <a:ext cx="8923034" cy="423761"/>
          </a:xfrm>
          <a:prstGeom prst="rect">
            <a:avLst/>
          </a:prstGeom>
        </p:spPr>
        <p:txBody>
          <a:bodyPr anchor="t" rtlCol="false" tIns="0" lIns="0" bIns="0" rIns="0">
            <a:spAutoFit/>
          </a:bodyPr>
          <a:lstStyle/>
          <a:p>
            <a:pPr algn="l" marL="527118" indent="-263559" lvl="1">
              <a:lnSpc>
                <a:spcPts val="3418"/>
              </a:lnSpc>
              <a:buFont typeface="Arial"/>
              <a:buChar char="•"/>
            </a:pPr>
            <a:r>
              <a:rPr lang="en-US" sz="2441">
                <a:solidFill>
                  <a:srgbClr val="FFFFFF"/>
                </a:solidFill>
                <a:latin typeface="HK Modular"/>
                <a:ea typeface="HK Modular"/>
                <a:cs typeface="HK Modular"/>
                <a:sym typeface="HK Modular"/>
              </a:rPr>
              <a:t>BASE DE DATOS RELACIONAL - SQL</a:t>
            </a:r>
          </a:p>
        </p:txBody>
      </p:sp>
      <p:sp>
        <p:nvSpPr>
          <p:cNvPr name="TextBox 11" id="11"/>
          <p:cNvSpPr txBox="true"/>
          <p:nvPr/>
        </p:nvSpPr>
        <p:spPr>
          <a:xfrm rot="0">
            <a:off x="8085699" y="4940245"/>
            <a:ext cx="8923034" cy="423761"/>
          </a:xfrm>
          <a:prstGeom prst="rect">
            <a:avLst/>
          </a:prstGeom>
        </p:spPr>
        <p:txBody>
          <a:bodyPr anchor="t" rtlCol="false" tIns="0" lIns="0" bIns="0" rIns="0">
            <a:spAutoFit/>
          </a:bodyPr>
          <a:lstStyle/>
          <a:p>
            <a:pPr algn="l">
              <a:lnSpc>
                <a:spcPts val="3418"/>
              </a:lnSpc>
            </a:pPr>
            <a:r>
              <a:rPr lang="en-US" sz="2441">
                <a:solidFill>
                  <a:srgbClr val="FFFFFF"/>
                </a:solidFill>
                <a:latin typeface="HK Modular"/>
                <a:ea typeface="HK Modular"/>
                <a:cs typeface="HK Modular"/>
                <a:sym typeface="HK Modular"/>
              </a:rPr>
              <a:t>SEGURIDAD EN SERVICIOS API</a:t>
            </a:r>
          </a:p>
        </p:txBody>
      </p:sp>
      <p:sp>
        <p:nvSpPr>
          <p:cNvPr name="TextBox 12" id="12"/>
          <p:cNvSpPr txBox="true"/>
          <p:nvPr/>
        </p:nvSpPr>
        <p:spPr>
          <a:xfrm rot="0">
            <a:off x="8906723" y="5564031"/>
            <a:ext cx="6501952" cy="423761"/>
          </a:xfrm>
          <a:prstGeom prst="rect">
            <a:avLst/>
          </a:prstGeom>
        </p:spPr>
        <p:txBody>
          <a:bodyPr anchor="t" rtlCol="false" tIns="0" lIns="0" bIns="0" rIns="0">
            <a:spAutoFit/>
          </a:bodyPr>
          <a:lstStyle/>
          <a:p>
            <a:pPr algn="l" marL="527118" indent="-263559" lvl="1">
              <a:lnSpc>
                <a:spcPts val="3418"/>
              </a:lnSpc>
              <a:buFont typeface="Arial"/>
              <a:buChar char="•"/>
            </a:pPr>
            <a:r>
              <a:rPr lang="en-US" sz="2441">
                <a:solidFill>
                  <a:srgbClr val="FFFFFF"/>
                </a:solidFill>
                <a:latin typeface="HK Modular"/>
                <a:ea typeface="HK Modular"/>
                <a:cs typeface="HK Modular"/>
                <a:sym typeface="HK Modular"/>
              </a:rPr>
              <a:t>RIESGOS DE SEGURIDAD</a:t>
            </a:r>
          </a:p>
        </p:txBody>
      </p:sp>
      <p:sp>
        <p:nvSpPr>
          <p:cNvPr name="TextBox 13" id="13"/>
          <p:cNvSpPr txBox="true"/>
          <p:nvPr/>
        </p:nvSpPr>
        <p:spPr>
          <a:xfrm rot="0">
            <a:off x="8906723" y="6126328"/>
            <a:ext cx="6501952" cy="423761"/>
          </a:xfrm>
          <a:prstGeom prst="rect">
            <a:avLst/>
          </a:prstGeom>
        </p:spPr>
        <p:txBody>
          <a:bodyPr anchor="t" rtlCol="false" tIns="0" lIns="0" bIns="0" rIns="0">
            <a:spAutoFit/>
          </a:bodyPr>
          <a:lstStyle/>
          <a:p>
            <a:pPr algn="l" marL="527118" indent="-263559" lvl="1">
              <a:lnSpc>
                <a:spcPts val="3418"/>
              </a:lnSpc>
              <a:buFont typeface="Arial"/>
              <a:buChar char="•"/>
            </a:pPr>
            <a:r>
              <a:rPr lang="en-US" sz="2441">
                <a:solidFill>
                  <a:srgbClr val="FFFFFF"/>
                </a:solidFill>
                <a:latin typeface="HK Modular"/>
                <a:ea typeface="HK Modular"/>
                <a:cs typeface="HK Modular"/>
                <a:sym typeface="HK Modular"/>
              </a:rPr>
              <a:t>AUTHENTICATION</a:t>
            </a:r>
          </a:p>
        </p:txBody>
      </p:sp>
      <p:sp>
        <p:nvSpPr>
          <p:cNvPr name="TextBox 14" id="14"/>
          <p:cNvSpPr txBox="true"/>
          <p:nvPr/>
        </p:nvSpPr>
        <p:spPr>
          <a:xfrm rot="0">
            <a:off x="8906723" y="6750114"/>
            <a:ext cx="6501952" cy="423761"/>
          </a:xfrm>
          <a:prstGeom prst="rect">
            <a:avLst/>
          </a:prstGeom>
        </p:spPr>
        <p:txBody>
          <a:bodyPr anchor="t" rtlCol="false" tIns="0" lIns="0" bIns="0" rIns="0">
            <a:spAutoFit/>
          </a:bodyPr>
          <a:lstStyle/>
          <a:p>
            <a:pPr algn="l" marL="527118" indent="-263559" lvl="1">
              <a:lnSpc>
                <a:spcPts val="3418"/>
              </a:lnSpc>
              <a:buFont typeface="Arial"/>
              <a:buChar char="•"/>
            </a:pPr>
            <a:r>
              <a:rPr lang="en-US" sz="2441">
                <a:solidFill>
                  <a:srgbClr val="FFFFFF"/>
                </a:solidFill>
                <a:latin typeface="HK Modular"/>
                <a:ea typeface="HK Modular"/>
                <a:cs typeface="HK Modular"/>
                <a:sym typeface="HK Modular"/>
              </a:rPr>
              <a:t>AUTHORIZATION</a:t>
            </a:r>
          </a:p>
        </p:txBody>
      </p:sp>
      <p:sp>
        <p:nvSpPr>
          <p:cNvPr name="TextBox 15" id="15"/>
          <p:cNvSpPr txBox="true"/>
          <p:nvPr/>
        </p:nvSpPr>
        <p:spPr>
          <a:xfrm rot="0">
            <a:off x="8906723" y="7412001"/>
            <a:ext cx="6501952" cy="423761"/>
          </a:xfrm>
          <a:prstGeom prst="rect">
            <a:avLst/>
          </a:prstGeom>
        </p:spPr>
        <p:txBody>
          <a:bodyPr anchor="t" rtlCol="false" tIns="0" lIns="0" bIns="0" rIns="0">
            <a:spAutoFit/>
          </a:bodyPr>
          <a:lstStyle/>
          <a:p>
            <a:pPr algn="l" marL="527118" indent="-263559" lvl="1">
              <a:lnSpc>
                <a:spcPts val="3418"/>
              </a:lnSpc>
              <a:buFont typeface="Arial"/>
              <a:buChar char="•"/>
            </a:pPr>
            <a:r>
              <a:rPr lang="en-US" sz="2441">
                <a:solidFill>
                  <a:srgbClr val="FFFFFF"/>
                </a:solidFill>
                <a:latin typeface="HK Modular"/>
                <a:ea typeface="HK Modular"/>
                <a:cs typeface="HK Modular"/>
                <a:sym typeface="HK Modular"/>
              </a:rPr>
              <a:t>INTEGRITY</a:t>
            </a:r>
          </a:p>
        </p:txBody>
      </p:sp>
      <p:sp>
        <p:nvSpPr>
          <p:cNvPr name="TextBox 16" id="16"/>
          <p:cNvSpPr txBox="true"/>
          <p:nvPr/>
        </p:nvSpPr>
        <p:spPr>
          <a:xfrm rot="0">
            <a:off x="8906723" y="8073887"/>
            <a:ext cx="6501952" cy="423761"/>
          </a:xfrm>
          <a:prstGeom prst="rect">
            <a:avLst/>
          </a:prstGeom>
        </p:spPr>
        <p:txBody>
          <a:bodyPr anchor="t" rtlCol="false" tIns="0" lIns="0" bIns="0" rIns="0">
            <a:spAutoFit/>
          </a:bodyPr>
          <a:lstStyle/>
          <a:p>
            <a:pPr algn="l" marL="527118" indent="-263559" lvl="1">
              <a:lnSpc>
                <a:spcPts val="3418"/>
              </a:lnSpc>
              <a:buFont typeface="Arial"/>
              <a:buChar char="•"/>
            </a:pPr>
            <a:r>
              <a:rPr lang="en-US" sz="2441">
                <a:solidFill>
                  <a:srgbClr val="FFFFFF"/>
                </a:solidFill>
                <a:latin typeface="HK Modular"/>
                <a:ea typeface="HK Modular"/>
                <a:cs typeface="HK Modular"/>
                <a:sym typeface="HK Modular"/>
              </a:rPr>
              <a:t>CORS</a:t>
            </a:r>
          </a:p>
        </p:txBody>
      </p:sp>
      <p:sp>
        <p:nvSpPr>
          <p:cNvPr name="Freeform 17" id="17"/>
          <p:cNvSpPr/>
          <p:nvPr/>
        </p:nvSpPr>
        <p:spPr>
          <a:xfrm flipH="false" flipV="false" rot="0">
            <a:off x="1163911" y="163050"/>
            <a:ext cx="6623053" cy="9668691"/>
          </a:xfrm>
          <a:custGeom>
            <a:avLst/>
            <a:gdLst/>
            <a:ahLst/>
            <a:cxnLst/>
            <a:rect r="r" b="b" t="t" l="l"/>
            <a:pathLst>
              <a:path h="9668691" w="6623053">
                <a:moveTo>
                  <a:pt x="0" y="0"/>
                </a:moveTo>
                <a:lnTo>
                  <a:pt x="6623054" y="0"/>
                </a:lnTo>
                <a:lnTo>
                  <a:pt x="6623054" y="9668691"/>
                </a:lnTo>
                <a:lnTo>
                  <a:pt x="0" y="9668691"/>
                </a:lnTo>
                <a:lnTo>
                  <a:pt x="0" y="0"/>
                </a:lnTo>
                <a:close/>
              </a:path>
            </a:pathLst>
          </a:custGeom>
          <a:blipFill>
            <a:blip r:embed="rId5"/>
            <a:stretch>
              <a:fillRect l="0" t="0" r="0" b="0"/>
            </a:stretch>
          </a:blipFill>
        </p:spPr>
      </p:sp>
      <p:sp>
        <p:nvSpPr>
          <p:cNvPr name="Freeform 18" id="18"/>
          <p:cNvSpPr/>
          <p:nvPr/>
        </p:nvSpPr>
        <p:spPr>
          <a:xfrm flipH="false" flipV="false" rot="0">
            <a:off x="1302528" y="2191796"/>
            <a:ext cx="6345820" cy="6345820"/>
          </a:xfrm>
          <a:custGeom>
            <a:avLst/>
            <a:gdLst/>
            <a:ahLst/>
            <a:cxnLst/>
            <a:rect r="r" b="b" t="t" l="l"/>
            <a:pathLst>
              <a:path h="6345820" w="6345820">
                <a:moveTo>
                  <a:pt x="0" y="0"/>
                </a:moveTo>
                <a:lnTo>
                  <a:pt x="6345820" y="0"/>
                </a:lnTo>
                <a:lnTo>
                  <a:pt x="6345820" y="6345820"/>
                </a:lnTo>
                <a:lnTo>
                  <a:pt x="0" y="6345820"/>
                </a:lnTo>
                <a:lnTo>
                  <a:pt x="0" y="0"/>
                </a:lnTo>
                <a:close/>
              </a:path>
            </a:pathLst>
          </a:custGeom>
          <a:blipFill>
            <a:blip r:embed="rId6"/>
            <a:stretch>
              <a:fillRect l="0" t="0" r="0" b="0"/>
            </a:stretch>
          </a:blipFill>
        </p:spPr>
      </p:sp>
      <p:sp>
        <p:nvSpPr>
          <p:cNvPr name="Freeform 19" id="19"/>
          <p:cNvSpPr/>
          <p:nvPr/>
        </p:nvSpPr>
        <p:spPr>
          <a:xfrm flipH="false" flipV="false" rot="0">
            <a:off x="8203220" y="437716"/>
            <a:ext cx="601820" cy="601820"/>
          </a:xfrm>
          <a:custGeom>
            <a:avLst/>
            <a:gdLst/>
            <a:ahLst/>
            <a:cxnLst/>
            <a:rect r="r" b="b" t="t" l="l"/>
            <a:pathLst>
              <a:path h="601820" w="601820">
                <a:moveTo>
                  <a:pt x="0" y="0"/>
                </a:moveTo>
                <a:lnTo>
                  <a:pt x="601820" y="0"/>
                </a:lnTo>
                <a:lnTo>
                  <a:pt x="601820" y="601820"/>
                </a:lnTo>
                <a:lnTo>
                  <a:pt x="0" y="601820"/>
                </a:lnTo>
                <a:lnTo>
                  <a:pt x="0" y="0"/>
                </a:lnTo>
                <a:close/>
              </a:path>
            </a:pathLst>
          </a:custGeom>
          <a:blipFill>
            <a:blip r:embed="rId7"/>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C800AE">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C800AE">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C800AE">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2365746" y="2211950"/>
            <a:ext cx="13556508" cy="1217902"/>
          </a:xfrm>
          <a:prstGeom prst="rect">
            <a:avLst/>
          </a:prstGeom>
        </p:spPr>
        <p:txBody>
          <a:bodyPr anchor="t" rtlCol="false" tIns="0" lIns="0" bIns="0" rIns="0">
            <a:spAutoFit/>
          </a:bodyPr>
          <a:lstStyle/>
          <a:p>
            <a:pPr algn="ctr">
              <a:lnSpc>
                <a:spcPts val="9973"/>
              </a:lnSpc>
              <a:spcBef>
                <a:spcPct val="0"/>
              </a:spcBef>
            </a:pPr>
            <a:r>
              <a:rPr lang="en-US" sz="7123">
                <a:solidFill>
                  <a:srgbClr val="FF009D"/>
                </a:solidFill>
                <a:latin typeface="HK Modular"/>
                <a:ea typeface="HK Modular"/>
                <a:cs typeface="HK Modular"/>
                <a:sym typeface="HK Modular"/>
              </a:rPr>
              <a:t>EJERCICIO EN CLASE</a:t>
            </a:r>
          </a:p>
        </p:txBody>
      </p:sp>
      <p:sp>
        <p:nvSpPr>
          <p:cNvPr name="Freeform 13" id="13"/>
          <p:cNvSpPr/>
          <p:nvPr/>
        </p:nvSpPr>
        <p:spPr>
          <a:xfrm flipH="false" flipV="false" rot="0">
            <a:off x="5115865" y="3698922"/>
            <a:ext cx="8056269" cy="5528615"/>
          </a:xfrm>
          <a:custGeom>
            <a:avLst/>
            <a:gdLst/>
            <a:ahLst/>
            <a:cxnLst/>
            <a:rect r="r" b="b" t="t" l="l"/>
            <a:pathLst>
              <a:path h="5528615" w="8056269">
                <a:moveTo>
                  <a:pt x="0" y="0"/>
                </a:moveTo>
                <a:lnTo>
                  <a:pt x="8056270" y="0"/>
                </a:lnTo>
                <a:lnTo>
                  <a:pt x="8056270" y="5528615"/>
                </a:lnTo>
                <a:lnTo>
                  <a:pt x="0" y="552861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0">
            <a:off x="7745162" y="-548656"/>
            <a:ext cx="3188678" cy="3188678"/>
          </a:xfrm>
          <a:custGeom>
            <a:avLst/>
            <a:gdLst/>
            <a:ahLst/>
            <a:cxnLst/>
            <a:rect r="r" b="b" t="t" l="l"/>
            <a:pathLst>
              <a:path h="3188678" w="3188678">
                <a:moveTo>
                  <a:pt x="0" y="0"/>
                </a:moveTo>
                <a:lnTo>
                  <a:pt x="3188678" y="0"/>
                </a:lnTo>
                <a:lnTo>
                  <a:pt x="3188678" y="3188678"/>
                </a:lnTo>
                <a:lnTo>
                  <a:pt x="0" y="3188678"/>
                </a:lnTo>
                <a:lnTo>
                  <a:pt x="0" y="0"/>
                </a:lnTo>
                <a:close/>
              </a:path>
            </a:pathLst>
          </a:custGeom>
          <a:blipFill>
            <a:blip r:embed="rId5"/>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C800AE">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C800AE">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C800AE">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392623" y="3522010"/>
            <a:ext cx="15721487" cy="3071531"/>
          </a:xfrm>
          <a:prstGeom prst="rect">
            <a:avLst/>
          </a:prstGeom>
        </p:spPr>
        <p:txBody>
          <a:bodyPr anchor="t" rtlCol="false" tIns="0" lIns="0" bIns="0" rIns="0">
            <a:spAutoFit/>
          </a:bodyPr>
          <a:lstStyle/>
          <a:p>
            <a:pPr algn="ctr">
              <a:lnSpc>
                <a:spcPts val="12353"/>
              </a:lnSpc>
              <a:spcBef>
                <a:spcPct val="0"/>
              </a:spcBef>
            </a:pPr>
            <a:r>
              <a:rPr lang="en-US" sz="8823">
                <a:solidFill>
                  <a:srgbClr val="FF009D"/>
                </a:solidFill>
                <a:latin typeface="HK Modular"/>
                <a:ea typeface="HK Modular"/>
                <a:cs typeface="HK Modular"/>
                <a:sym typeface="HK Modular"/>
              </a:rPr>
              <a:t>BASES DE DATOS RELACIONALES</a:t>
            </a:r>
          </a:p>
        </p:txBody>
      </p:sp>
      <p:sp>
        <p:nvSpPr>
          <p:cNvPr name="Freeform 13" id="13"/>
          <p:cNvSpPr/>
          <p:nvPr/>
        </p:nvSpPr>
        <p:spPr>
          <a:xfrm flipH="false" flipV="false" rot="0">
            <a:off x="6747036" y="-757036"/>
            <a:ext cx="5184929" cy="5184929"/>
          </a:xfrm>
          <a:custGeom>
            <a:avLst/>
            <a:gdLst/>
            <a:ahLst/>
            <a:cxnLst/>
            <a:rect r="r" b="b" t="t" l="l"/>
            <a:pathLst>
              <a:path h="5184929" w="5184929">
                <a:moveTo>
                  <a:pt x="0" y="0"/>
                </a:moveTo>
                <a:lnTo>
                  <a:pt x="5184929" y="0"/>
                </a:lnTo>
                <a:lnTo>
                  <a:pt x="5184929" y="5184929"/>
                </a:lnTo>
                <a:lnTo>
                  <a:pt x="0" y="5184929"/>
                </a:lnTo>
                <a:lnTo>
                  <a:pt x="0" y="0"/>
                </a:lnTo>
                <a:close/>
              </a:path>
            </a:pathLst>
          </a:custGeom>
          <a:blipFill>
            <a:blip r:embed="rId3"/>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C800AE">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9836698" y="4336525"/>
            <a:ext cx="7924611" cy="3939468"/>
          </a:xfrm>
          <a:custGeom>
            <a:avLst/>
            <a:gdLst/>
            <a:ahLst/>
            <a:cxnLst/>
            <a:rect r="r" b="b" t="t" l="l"/>
            <a:pathLst>
              <a:path h="3939468" w="7924611">
                <a:moveTo>
                  <a:pt x="0" y="0"/>
                </a:moveTo>
                <a:lnTo>
                  <a:pt x="7924611" y="0"/>
                </a:lnTo>
                <a:lnTo>
                  <a:pt x="7924611" y="3939468"/>
                </a:lnTo>
                <a:lnTo>
                  <a:pt x="0" y="3939468"/>
                </a:lnTo>
                <a:lnTo>
                  <a:pt x="0" y="0"/>
                </a:lnTo>
                <a:close/>
              </a:path>
            </a:pathLst>
          </a:custGeom>
          <a:blipFill>
            <a:blip r:embed="rId3"/>
            <a:stretch>
              <a:fillRect l="0" t="0" r="0" b="0"/>
            </a:stretch>
          </a:blipFill>
        </p:spPr>
      </p:sp>
      <p:sp>
        <p:nvSpPr>
          <p:cNvPr name="TextBox 7" id="7"/>
          <p:cNvSpPr txBox="true"/>
          <p:nvPr/>
        </p:nvSpPr>
        <p:spPr>
          <a:xfrm rot="0">
            <a:off x="2964154" y="1961246"/>
            <a:ext cx="12584532" cy="1739679"/>
          </a:xfrm>
          <a:prstGeom prst="rect">
            <a:avLst/>
          </a:prstGeom>
        </p:spPr>
        <p:txBody>
          <a:bodyPr anchor="t" rtlCol="false" tIns="0" lIns="0" bIns="0" rIns="0">
            <a:spAutoFit/>
          </a:bodyPr>
          <a:lstStyle/>
          <a:p>
            <a:pPr algn="ctr">
              <a:lnSpc>
                <a:spcPts val="7012"/>
              </a:lnSpc>
              <a:spcBef>
                <a:spcPct val="0"/>
              </a:spcBef>
            </a:pPr>
            <a:r>
              <a:rPr lang="en-US" sz="5008">
                <a:solidFill>
                  <a:srgbClr val="FF914D"/>
                </a:solidFill>
                <a:latin typeface="HK Modular"/>
                <a:ea typeface="HK Modular"/>
                <a:cs typeface="HK Modular"/>
                <a:sym typeface="HK Modular"/>
              </a:rPr>
              <a:t>BASE DE DATOS RELACIONAL - SQL</a:t>
            </a:r>
          </a:p>
        </p:txBody>
      </p:sp>
      <p:sp>
        <p:nvSpPr>
          <p:cNvPr name="TextBox 8" id="8"/>
          <p:cNvSpPr txBox="true"/>
          <p:nvPr/>
        </p:nvSpPr>
        <p:spPr>
          <a:xfrm rot="0">
            <a:off x="467907" y="4387174"/>
            <a:ext cx="8676093" cy="13722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Es un tipo de base de datos que utiliza la logica de predicados y la teoria de conjuntos para organizar, relacionar y manipular la informacion</a:t>
            </a:r>
          </a:p>
        </p:txBody>
      </p:sp>
      <p:sp>
        <p:nvSpPr>
          <p:cNvPr name="TextBox 9" id="9"/>
          <p:cNvSpPr txBox="true"/>
          <p:nvPr/>
        </p:nvSpPr>
        <p:spPr>
          <a:xfrm rot="0">
            <a:off x="580327" y="6445209"/>
            <a:ext cx="8676093" cy="18294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La idea es el uso de relaciones para el manejo y la organizacion de los datos, estableciendo relaciones logicas entre entidades permitiendo la consistencia y la integridad de la informacion</a:t>
            </a:r>
          </a:p>
        </p:txBody>
      </p:sp>
      <p:sp>
        <p:nvSpPr>
          <p:cNvPr name="Freeform 10" id="10"/>
          <p:cNvSpPr/>
          <p:nvPr/>
        </p:nvSpPr>
        <p:spPr>
          <a:xfrm flipH="false" flipV="false" rot="0">
            <a:off x="8047557" y="-527300"/>
            <a:ext cx="2719096" cy="2719096"/>
          </a:xfrm>
          <a:custGeom>
            <a:avLst/>
            <a:gdLst/>
            <a:ahLst/>
            <a:cxnLst/>
            <a:rect r="r" b="b" t="t" l="l"/>
            <a:pathLst>
              <a:path h="2719096" w="2719096">
                <a:moveTo>
                  <a:pt x="0" y="0"/>
                </a:moveTo>
                <a:lnTo>
                  <a:pt x="2719096" y="0"/>
                </a:lnTo>
                <a:lnTo>
                  <a:pt x="2719096" y="2719096"/>
                </a:lnTo>
                <a:lnTo>
                  <a:pt x="0" y="2719096"/>
                </a:lnTo>
                <a:lnTo>
                  <a:pt x="0" y="0"/>
                </a:lnTo>
                <a:close/>
              </a:path>
            </a:pathLst>
          </a:custGeom>
          <a:blipFill>
            <a:blip r:embed="rId4"/>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C800AE">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0139134" y="2435798"/>
            <a:ext cx="6521964" cy="6047294"/>
          </a:xfrm>
          <a:custGeom>
            <a:avLst/>
            <a:gdLst/>
            <a:ahLst/>
            <a:cxnLst/>
            <a:rect r="r" b="b" t="t" l="l"/>
            <a:pathLst>
              <a:path h="6047294" w="6521964">
                <a:moveTo>
                  <a:pt x="0" y="0"/>
                </a:moveTo>
                <a:lnTo>
                  <a:pt x="6521965" y="0"/>
                </a:lnTo>
                <a:lnTo>
                  <a:pt x="6521965" y="6047294"/>
                </a:lnTo>
                <a:lnTo>
                  <a:pt x="0" y="6047294"/>
                </a:lnTo>
                <a:lnTo>
                  <a:pt x="0" y="0"/>
                </a:lnTo>
                <a:close/>
              </a:path>
            </a:pathLst>
          </a:custGeom>
          <a:blipFill>
            <a:blip r:embed="rId3"/>
            <a:stretch>
              <a:fillRect l="0" t="0" r="0" b="0"/>
            </a:stretch>
          </a:blipFill>
        </p:spPr>
      </p:sp>
      <p:sp>
        <p:nvSpPr>
          <p:cNvPr name="TextBox 7" id="7"/>
          <p:cNvSpPr txBox="true"/>
          <p:nvPr/>
        </p:nvSpPr>
        <p:spPr>
          <a:xfrm rot="0">
            <a:off x="3167876" y="6651108"/>
            <a:ext cx="3658749" cy="853854"/>
          </a:xfrm>
          <a:prstGeom prst="rect">
            <a:avLst/>
          </a:prstGeom>
        </p:spPr>
        <p:txBody>
          <a:bodyPr anchor="t" rtlCol="false" tIns="0" lIns="0" bIns="0" rIns="0">
            <a:spAutoFit/>
          </a:bodyPr>
          <a:lstStyle/>
          <a:p>
            <a:pPr algn="ctr">
              <a:lnSpc>
                <a:spcPts val="7012"/>
              </a:lnSpc>
              <a:spcBef>
                <a:spcPct val="0"/>
              </a:spcBef>
            </a:pPr>
            <a:r>
              <a:rPr lang="en-US" sz="5008">
                <a:solidFill>
                  <a:srgbClr val="FF914D"/>
                </a:solidFill>
                <a:latin typeface="HK Modular"/>
                <a:ea typeface="HK Modular"/>
                <a:cs typeface="HK Modular"/>
                <a:sym typeface="HK Modular"/>
              </a:rPr>
              <a:t>A.C.I.D</a:t>
            </a:r>
          </a:p>
        </p:txBody>
      </p:sp>
      <p:sp>
        <p:nvSpPr>
          <p:cNvPr name="TextBox 8" id="8"/>
          <p:cNvSpPr txBox="true"/>
          <p:nvPr/>
        </p:nvSpPr>
        <p:spPr>
          <a:xfrm rot="0">
            <a:off x="1133063" y="2369123"/>
            <a:ext cx="7728375" cy="13722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Imaginen un cliente confundido porque le descontaron dinero de su cuenta pero no se ve el abono al destinatario, porque podria ser?</a:t>
            </a:r>
          </a:p>
        </p:txBody>
      </p:sp>
      <p:sp>
        <p:nvSpPr>
          <p:cNvPr name="TextBox 9" id="9"/>
          <p:cNvSpPr txBox="true"/>
          <p:nvPr/>
        </p:nvSpPr>
        <p:spPr>
          <a:xfrm rot="0">
            <a:off x="1133063" y="4311785"/>
            <a:ext cx="7728375" cy="13722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Una tienda que mando un producto de su tienda pero no se realizo la actualizacion de su inventario, porque podria ser?</a:t>
            </a:r>
          </a:p>
        </p:txBody>
      </p:sp>
      <p:sp>
        <p:nvSpPr>
          <p:cNvPr name="TextBox 10" id="10"/>
          <p:cNvSpPr txBox="true"/>
          <p:nvPr/>
        </p:nvSpPr>
        <p:spPr>
          <a:xfrm rot="0">
            <a:off x="1313943" y="7886064"/>
            <a:ext cx="7728375" cy="13722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Se aplican para garantizar que cada transaccion se procese de forma fiable manteniendo la seguridad de los datos</a:t>
            </a:r>
          </a:p>
        </p:txBody>
      </p:sp>
      <p:sp>
        <p:nvSpPr>
          <p:cNvPr name="Freeform 11" id="11"/>
          <p:cNvSpPr/>
          <p:nvPr/>
        </p:nvSpPr>
        <p:spPr>
          <a:xfrm flipH="false" flipV="false" rot="0">
            <a:off x="8047557" y="-527300"/>
            <a:ext cx="2719096" cy="2719096"/>
          </a:xfrm>
          <a:custGeom>
            <a:avLst/>
            <a:gdLst/>
            <a:ahLst/>
            <a:cxnLst/>
            <a:rect r="r" b="b" t="t" l="l"/>
            <a:pathLst>
              <a:path h="2719096" w="2719096">
                <a:moveTo>
                  <a:pt x="0" y="0"/>
                </a:moveTo>
                <a:lnTo>
                  <a:pt x="2719096" y="0"/>
                </a:lnTo>
                <a:lnTo>
                  <a:pt x="2719096" y="2719096"/>
                </a:lnTo>
                <a:lnTo>
                  <a:pt x="0" y="2719096"/>
                </a:lnTo>
                <a:lnTo>
                  <a:pt x="0" y="0"/>
                </a:lnTo>
                <a:close/>
              </a:path>
            </a:pathLst>
          </a:custGeom>
          <a:blipFill>
            <a:blip r:embed="rId4"/>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C800AE">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3527017" y="3033974"/>
            <a:ext cx="4043336" cy="3219507"/>
          </a:xfrm>
          <a:custGeom>
            <a:avLst/>
            <a:gdLst/>
            <a:ahLst/>
            <a:cxnLst/>
            <a:rect r="r" b="b" t="t" l="l"/>
            <a:pathLst>
              <a:path h="3219507" w="4043336">
                <a:moveTo>
                  <a:pt x="0" y="0"/>
                </a:moveTo>
                <a:lnTo>
                  <a:pt x="4043337" y="0"/>
                </a:lnTo>
                <a:lnTo>
                  <a:pt x="4043337" y="3219506"/>
                </a:lnTo>
                <a:lnTo>
                  <a:pt x="0" y="3219506"/>
                </a:lnTo>
                <a:lnTo>
                  <a:pt x="0" y="0"/>
                </a:lnTo>
                <a:close/>
              </a:path>
            </a:pathLst>
          </a:custGeom>
          <a:blipFill>
            <a:blip r:embed="rId3"/>
            <a:stretch>
              <a:fillRect l="0" t="0" r="0" b="0"/>
            </a:stretch>
          </a:blipFill>
        </p:spPr>
      </p:sp>
      <p:sp>
        <p:nvSpPr>
          <p:cNvPr name="Freeform 7" id="7"/>
          <p:cNvSpPr/>
          <p:nvPr/>
        </p:nvSpPr>
        <p:spPr>
          <a:xfrm flipH="false" flipV="false" rot="0">
            <a:off x="14140561" y="6653530"/>
            <a:ext cx="2956956" cy="2028721"/>
          </a:xfrm>
          <a:custGeom>
            <a:avLst/>
            <a:gdLst/>
            <a:ahLst/>
            <a:cxnLst/>
            <a:rect r="r" b="b" t="t" l="l"/>
            <a:pathLst>
              <a:path h="2028721" w="2956956">
                <a:moveTo>
                  <a:pt x="0" y="0"/>
                </a:moveTo>
                <a:lnTo>
                  <a:pt x="2956956" y="0"/>
                </a:lnTo>
                <a:lnTo>
                  <a:pt x="2956956" y="2028721"/>
                </a:lnTo>
                <a:lnTo>
                  <a:pt x="0" y="2028721"/>
                </a:lnTo>
                <a:lnTo>
                  <a:pt x="0" y="0"/>
                </a:lnTo>
                <a:close/>
              </a:path>
            </a:pathLst>
          </a:custGeom>
          <a:blipFill>
            <a:blip r:embed="rId4"/>
            <a:stretch>
              <a:fillRect l="0" t="0" r="0" b="0"/>
            </a:stretch>
          </a:blipFill>
        </p:spPr>
      </p:sp>
      <p:sp>
        <p:nvSpPr>
          <p:cNvPr name="TextBox 8" id="8"/>
          <p:cNvSpPr txBox="true"/>
          <p:nvPr/>
        </p:nvSpPr>
        <p:spPr>
          <a:xfrm rot="0">
            <a:off x="2964154" y="933450"/>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FF914D"/>
                </a:solidFill>
                <a:latin typeface="HK Modular"/>
                <a:ea typeface="HK Modular"/>
                <a:cs typeface="HK Modular"/>
                <a:sym typeface="HK Modular"/>
              </a:rPr>
              <a:t>A.C.I.D</a:t>
            </a:r>
          </a:p>
        </p:txBody>
      </p:sp>
      <p:sp>
        <p:nvSpPr>
          <p:cNvPr name="TextBox 9" id="9"/>
          <p:cNvSpPr txBox="true"/>
          <p:nvPr/>
        </p:nvSpPr>
        <p:spPr>
          <a:xfrm rot="0">
            <a:off x="1184689" y="4281640"/>
            <a:ext cx="3196559" cy="448311"/>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HK Modular"/>
                <a:ea typeface="HK Modular"/>
                <a:cs typeface="HK Modular"/>
                <a:sym typeface="HK Modular"/>
              </a:rPr>
              <a:t>ATOMICIdad</a:t>
            </a:r>
          </a:p>
        </p:txBody>
      </p:sp>
      <p:sp>
        <p:nvSpPr>
          <p:cNvPr name="TextBox 10" id="10"/>
          <p:cNvSpPr txBox="true"/>
          <p:nvPr/>
        </p:nvSpPr>
        <p:spPr>
          <a:xfrm rot="0">
            <a:off x="1313943" y="2125121"/>
            <a:ext cx="16326764" cy="915036"/>
          </a:xfrm>
          <a:prstGeom prst="rect">
            <a:avLst/>
          </a:prstGeom>
        </p:spPr>
        <p:txBody>
          <a:bodyPr anchor="t" rtlCol="false" tIns="0" lIns="0" bIns="0" rIns="0">
            <a:spAutoFit/>
          </a:bodyPr>
          <a:lstStyle/>
          <a:p>
            <a:pPr algn="l">
              <a:lnSpc>
                <a:spcPts val="3639"/>
              </a:lnSpc>
              <a:spcBef>
                <a:spcPct val="0"/>
              </a:spcBef>
            </a:pPr>
            <a:r>
              <a:rPr lang="en-US" sz="2599">
                <a:solidFill>
                  <a:srgbClr val="FFFFFF"/>
                </a:solidFill>
                <a:latin typeface="Poppins"/>
                <a:ea typeface="Poppins"/>
                <a:cs typeface="Poppins"/>
                <a:sym typeface="Poppins"/>
              </a:rPr>
              <a:t>Son cuatro propiedades que garantizan el procesamiento fiable de las transacciones de base de datos</a:t>
            </a:r>
          </a:p>
        </p:txBody>
      </p:sp>
      <p:sp>
        <p:nvSpPr>
          <p:cNvPr name="TextBox 11" id="11"/>
          <p:cNvSpPr txBox="true"/>
          <p:nvPr/>
        </p:nvSpPr>
        <p:spPr>
          <a:xfrm rot="0">
            <a:off x="1028700" y="6958800"/>
            <a:ext cx="3851346" cy="448311"/>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HK Modular"/>
                <a:ea typeface="HK Modular"/>
                <a:cs typeface="HK Modular"/>
                <a:sym typeface="HK Modular"/>
              </a:rPr>
              <a:t>consistencia</a:t>
            </a:r>
          </a:p>
        </p:txBody>
      </p:sp>
      <p:sp>
        <p:nvSpPr>
          <p:cNvPr name="TextBox 12" id="12"/>
          <p:cNvSpPr txBox="true"/>
          <p:nvPr/>
        </p:nvSpPr>
        <p:spPr>
          <a:xfrm rot="0">
            <a:off x="5202272" y="3966845"/>
            <a:ext cx="7883456" cy="2286636"/>
          </a:xfrm>
          <a:prstGeom prst="rect">
            <a:avLst/>
          </a:prstGeom>
        </p:spPr>
        <p:txBody>
          <a:bodyPr anchor="t" rtlCol="false" tIns="0" lIns="0" bIns="0" rIns="0">
            <a:spAutoFit/>
          </a:bodyPr>
          <a:lstStyle/>
          <a:p>
            <a:pPr algn="l">
              <a:lnSpc>
                <a:spcPts val="3639"/>
              </a:lnSpc>
              <a:spcBef>
                <a:spcPct val="0"/>
              </a:spcBef>
            </a:pPr>
            <a:r>
              <a:rPr lang="en-US" sz="2599">
                <a:solidFill>
                  <a:srgbClr val="FFFFFF"/>
                </a:solidFill>
                <a:latin typeface="Poppins"/>
                <a:ea typeface="Poppins"/>
                <a:cs typeface="Poppins"/>
                <a:sym typeface="Poppins"/>
              </a:rPr>
              <a:t>Una transaccion se condisera una unica unidad e indivisible - Todas las operaciones dentro de una transaccion se completan en su totalidad o no, es decir si alguna parte falla el sistema se revierte por completo</a:t>
            </a:r>
          </a:p>
        </p:txBody>
      </p:sp>
      <p:sp>
        <p:nvSpPr>
          <p:cNvPr name="TextBox 13" id="13"/>
          <p:cNvSpPr txBox="true"/>
          <p:nvPr/>
        </p:nvSpPr>
        <p:spPr>
          <a:xfrm rot="0">
            <a:off x="5202272" y="6971664"/>
            <a:ext cx="7883456" cy="1372236"/>
          </a:xfrm>
          <a:prstGeom prst="rect">
            <a:avLst/>
          </a:prstGeom>
        </p:spPr>
        <p:txBody>
          <a:bodyPr anchor="t" rtlCol="false" tIns="0" lIns="0" bIns="0" rIns="0">
            <a:spAutoFit/>
          </a:bodyPr>
          <a:lstStyle/>
          <a:p>
            <a:pPr algn="l">
              <a:lnSpc>
                <a:spcPts val="3639"/>
              </a:lnSpc>
              <a:spcBef>
                <a:spcPct val="0"/>
              </a:spcBef>
            </a:pPr>
            <a:r>
              <a:rPr lang="en-US" sz="2599">
                <a:solidFill>
                  <a:srgbClr val="FFFFFF"/>
                </a:solidFill>
                <a:latin typeface="Poppins"/>
                <a:ea typeface="Poppins"/>
                <a:cs typeface="Poppins"/>
                <a:sym typeface="Poppins"/>
              </a:rPr>
              <a:t>Garantiza que una transaccion lleve la base de datos de un estado valido a otro, cumpliendo con las reglas o restricciones</a:t>
            </a:r>
          </a:p>
        </p:txBody>
      </p:sp>
      <p:sp>
        <p:nvSpPr>
          <p:cNvPr name="Freeform 14" id="14"/>
          <p:cNvSpPr/>
          <p:nvPr/>
        </p:nvSpPr>
        <p:spPr>
          <a:xfrm flipH="false" flipV="false" rot="0">
            <a:off x="1184689" y="-222248"/>
            <a:ext cx="2719096" cy="2719096"/>
          </a:xfrm>
          <a:custGeom>
            <a:avLst/>
            <a:gdLst/>
            <a:ahLst/>
            <a:cxnLst/>
            <a:rect r="r" b="b" t="t" l="l"/>
            <a:pathLst>
              <a:path h="2719096" w="2719096">
                <a:moveTo>
                  <a:pt x="0" y="0"/>
                </a:moveTo>
                <a:lnTo>
                  <a:pt x="2719096" y="0"/>
                </a:lnTo>
                <a:lnTo>
                  <a:pt x="2719096" y="2719096"/>
                </a:lnTo>
                <a:lnTo>
                  <a:pt x="0" y="2719096"/>
                </a:lnTo>
                <a:lnTo>
                  <a:pt x="0" y="0"/>
                </a:lnTo>
                <a:close/>
              </a:path>
            </a:pathLst>
          </a:custGeom>
          <a:blipFill>
            <a:blip r:embed="rId5"/>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C800AE">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2203240" y="2191796"/>
            <a:ext cx="5056060" cy="3370706"/>
          </a:xfrm>
          <a:custGeom>
            <a:avLst/>
            <a:gdLst/>
            <a:ahLst/>
            <a:cxnLst/>
            <a:rect r="r" b="b" t="t" l="l"/>
            <a:pathLst>
              <a:path h="3370706" w="5056060">
                <a:moveTo>
                  <a:pt x="0" y="0"/>
                </a:moveTo>
                <a:lnTo>
                  <a:pt x="5056060" y="0"/>
                </a:lnTo>
                <a:lnTo>
                  <a:pt x="5056060" y="3370706"/>
                </a:lnTo>
                <a:lnTo>
                  <a:pt x="0" y="3370706"/>
                </a:lnTo>
                <a:lnTo>
                  <a:pt x="0" y="0"/>
                </a:lnTo>
                <a:close/>
              </a:path>
            </a:pathLst>
          </a:custGeom>
          <a:blipFill>
            <a:blip r:embed="rId3"/>
            <a:stretch>
              <a:fillRect l="0" t="0" r="0" b="0"/>
            </a:stretch>
          </a:blipFill>
        </p:spPr>
      </p:sp>
      <p:sp>
        <p:nvSpPr>
          <p:cNvPr name="Freeform 7" id="7"/>
          <p:cNvSpPr/>
          <p:nvPr/>
        </p:nvSpPr>
        <p:spPr>
          <a:xfrm flipH="false" flipV="false" rot="0">
            <a:off x="12394915" y="6093318"/>
            <a:ext cx="4672710" cy="2161574"/>
          </a:xfrm>
          <a:custGeom>
            <a:avLst/>
            <a:gdLst/>
            <a:ahLst/>
            <a:cxnLst/>
            <a:rect r="r" b="b" t="t" l="l"/>
            <a:pathLst>
              <a:path h="2161574" w="4672710">
                <a:moveTo>
                  <a:pt x="0" y="0"/>
                </a:moveTo>
                <a:lnTo>
                  <a:pt x="4672710" y="0"/>
                </a:lnTo>
                <a:lnTo>
                  <a:pt x="4672710" y="2161574"/>
                </a:lnTo>
                <a:lnTo>
                  <a:pt x="0" y="2161574"/>
                </a:lnTo>
                <a:lnTo>
                  <a:pt x="0" y="0"/>
                </a:lnTo>
                <a:close/>
              </a:path>
            </a:pathLst>
          </a:custGeom>
          <a:blipFill>
            <a:blip r:embed="rId4"/>
            <a:stretch>
              <a:fillRect l="0" t="0" r="0" b="0"/>
            </a:stretch>
          </a:blipFill>
        </p:spPr>
      </p:sp>
      <p:sp>
        <p:nvSpPr>
          <p:cNvPr name="TextBox 8" id="8"/>
          <p:cNvSpPr txBox="true"/>
          <p:nvPr/>
        </p:nvSpPr>
        <p:spPr>
          <a:xfrm rot="0">
            <a:off x="2964154" y="1202642"/>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FF914D"/>
                </a:solidFill>
                <a:latin typeface="HK Modular"/>
                <a:ea typeface="HK Modular"/>
                <a:cs typeface="HK Modular"/>
                <a:sym typeface="HK Modular"/>
              </a:rPr>
              <a:t>A.C.I.D</a:t>
            </a:r>
          </a:p>
        </p:txBody>
      </p:sp>
      <p:sp>
        <p:nvSpPr>
          <p:cNvPr name="TextBox 9" id="9"/>
          <p:cNvSpPr txBox="true"/>
          <p:nvPr/>
        </p:nvSpPr>
        <p:spPr>
          <a:xfrm rot="0">
            <a:off x="1512082" y="3233984"/>
            <a:ext cx="3196559" cy="448311"/>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HK Modular"/>
                <a:ea typeface="HK Modular"/>
                <a:cs typeface="HK Modular"/>
                <a:sym typeface="HK Modular"/>
              </a:rPr>
              <a:t>aislamiento</a:t>
            </a:r>
          </a:p>
        </p:txBody>
      </p:sp>
      <p:sp>
        <p:nvSpPr>
          <p:cNvPr name="TextBox 10" id="10"/>
          <p:cNvSpPr txBox="true"/>
          <p:nvPr/>
        </p:nvSpPr>
        <p:spPr>
          <a:xfrm rot="0">
            <a:off x="1184689" y="6725795"/>
            <a:ext cx="3851346" cy="448311"/>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HK Modular"/>
                <a:ea typeface="HK Modular"/>
                <a:cs typeface="HK Modular"/>
                <a:sym typeface="HK Modular"/>
              </a:rPr>
              <a:t>durabilidad</a:t>
            </a:r>
          </a:p>
        </p:txBody>
      </p:sp>
      <p:sp>
        <p:nvSpPr>
          <p:cNvPr name="TextBox 11" id="11"/>
          <p:cNvSpPr txBox="true"/>
          <p:nvPr/>
        </p:nvSpPr>
        <p:spPr>
          <a:xfrm rot="0">
            <a:off x="5460741" y="3224459"/>
            <a:ext cx="6143101" cy="2286636"/>
          </a:xfrm>
          <a:prstGeom prst="rect">
            <a:avLst/>
          </a:prstGeom>
        </p:spPr>
        <p:txBody>
          <a:bodyPr anchor="t" rtlCol="false" tIns="0" lIns="0" bIns="0" rIns="0">
            <a:spAutoFit/>
          </a:bodyPr>
          <a:lstStyle/>
          <a:p>
            <a:pPr algn="l">
              <a:lnSpc>
                <a:spcPts val="3639"/>
              </a:lnSpc>
              <a:spcBef>
                <a:spcPct val="0"/>
              </a:spcBef>
            </a:pPr>
            <a:r>
              <a:rPr lang="en-US" sz="2599">
                <a:solidFill>
                  <a:srgbClr val="FFFFFF"/>
                </a:solidFill>
                <a:latin typeface="Poppins"/>
                <a:ea typeface="Poppins"/>
                <a:cs typeface="Poppins"/>
                <a:sym typeface="Poppins"/>
              </a:rPr>
              <a:t>Evita que las transacciones interfieran entre si, cuando se ejecutan simultaneamente, el aislaiento garantiza que no afecten los resultados de las demas</a:t>
            </a:r>
          </a:p>
        </p:txBody>
      </p:sp>
      <p:sp>
        <p:nvSpPr>
          <p:cNvPr name="TextBox 12" id="12"/>
          <p:cNvSpPr txBox="true"/>
          <p:nvPr/>
        </p:nvSpPr>
        <p:spPr>
          <a:xfrm rot="0">
            <a:off x="5337441" y="6716270"/>
            <a:ext cx="6143101" cy="1829436"/>
          </a:xfrm>
          <a:prstGeom prst="rect">
            <a:avLst/>
          </a:prstGeom>
        </p:spPr>
        <p:txBody>
          <a:bodyPr anchor="t" rtlCol="false" tIns="0" lIns="0" bIns="0" rIns="0">
            <a:spAutoFit/>
          </a:bodyPr>
          <a:lstStyle/>
          <a:p>
            <a:pPr algn="l">
              <a:lnSpc>
                <a:spcPts val="3639"/>
              </a:lnSpc>
              <a:spcBef>
                <a:spcPct val="0"/>
              </a:spcBef>
            </a:pPr>
            <a:r>
              <a:rPr lang="en-US" sz="2599">
                <a:solidFill>
                  <a:srgbClr val="FFFFFF"/>
                </a:solidFill>
                <a:latin typeface="Poppins"/>
                <a:ea typeface="Poppins"/>
                <a:cs typeface="Poppins"/>
                <a:sym typeface="Poppins"/>
              </a:rPr>
              <a:t>Garantiza que una vez completada una transaccion sus cambios se almacenan permanentemente en BD, incluso si hay fallos</a:t>
            </a:r>
          </a:p>
        </p:txBody>
      </p:sp>
      <p:sp>
        <p:nvSpPr>
          <p:cNvPr name="Freeform 13" id="13"/>
          <p:cNvSpPr/>
          <p:nvPr/>
        </p:nvSpPr>
        <p:spPr>
          <a:xfrm flipH="false" flipV="false" rot="0">
            <a:off x="1604606" y="317646"/>
            <a:ext cx="2719096" cy="2719096"/>
          </a:xfrm>
          <a:custGeom>
            <a:avLst/>
            <a:gdLst/>
            <a:ahLst/>
            <a:cxnLst/>
            <a:rect r="r" b="b" t="t" l="l"/>
            <a:pathLst>
              <a:path h="2719096" w="2719096">
                <a:moveTo>
                  <a:pt x="0" y="0"/>
                </a:moveTo>
                <a:lnTo>
                  <a:pt x="2719096" y="0"/>
                </a:lnTo>
                <a:lnTo>
                  <a:pt x="2719096" y="2719096"/>
                </a:lnTo>
                <a:lnTo>
                  <a:pt x="0" y="2719096"/>
                </a:lnTo>
                <a:lnTo>
                  <a:pt x="0" y="0"/>
                </a:lnTo>
                <a:close/>
              </a:path>
            </a:pathLst>
          </a:custGeom>
          <a:blipFill>
            <a:blip r:embed="rId5"/>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C800AE">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964154" y="1961246"/>
            <a:ext cx="12584532" cy="1739679"/>
          </a:xfrm>
          <a:prstGeom prst="rect">
            <a:avLst/>
          </a:prstGeom>
        </p:spPr>
        <p:txBody>
          <a:bodyPr anchor="t" rtlCol="false" tIns="0" lIns="0" bIns="0" rIns="0">
            <a:spAutoFit/>
          </a:bodyPr>
          <a:lstStyle/>
          <a:p>
            <a:pPr algn="ctr">
              <a:lnSpc>
                <a:spcPts val="7012"/>
              </a:lnSpc>
              <a:spcBef>
                <a:spcPct val="0"/>
              </a:spcBef>
            </a:pPr>
            <a:r>
              <a:rPr lang="en-US" sz="5008">
                <a:solidFill>
                  <a:srgbClr val="FF914D"/>
                </a:solidFill>
                <a:latin typeface="HK Modular"/>
                <a:ea typeface="HK Modular"/>
                <a:cs typeface="HK Modular"/>
                <a:sym typeface="HK Modular"/>
              </a:rPr>
              <a:t>INDEXACION DE BASE DE DATOS</a:t>
            </a:r>
          </a:p>
        </p:txBody>
      </p:sp>
      <p:sp>
        <p:nvSpPr>
          <p:cNvPr name="TextBox 7" id="7"/>
          <p:cNvSpPr txBox="true"/>
          <p:nvPr/>
        </p:nvSpPr>
        <p:spPr>
          <a:xfrm rot="0">
            <a:off x="2959575" y="4490080"/>
            <a:ext cx="12587585" cy="13722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Un indice en base de datos permite que una consulta recupere datos de una base de datos de manera eficiente, es decir permite colocar un orden en una tabla para maximizar la eficiencia buscando un registro</a:t>
            </a:r>
          </a:p>
        </p:txBody>
      </p:sp>
      <p:sp>
        <p:nvSpPr>
          <p:cNvPr name="TextBox 8" id="8"/>
          <p:cNvSpPr txBox="true"/>
          <p:nvPr/>
        </p:nvSpPr>
        <p:spPr>
          <a:xfrm rot="0">
            <a:off x="3080193" y="6486422"/>
            <a:ext cx="12587585" cy="18294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Cuando una tabla de base de datos no está indexada, no habrá un orden claro de las filas, por lo tanto, para completar cualquier consulta, deberá buscar en las filas de forma lineal, es decir, la consulta deberá buscar en cada fila para encontrar las filas con la condición coincidente.</a:t>
            </a:r>
          </a:p>
        </p:txBody>
      </p:sp>
      <p:sp>
        <p:nvSpPr>
          <p:cNvPr name="Freeform 9" id="9"/>
          <p:cNvSpPr/>
          <p:nvPr/>
        </p:nvSpPr>
        <p:spPr>
          <a:xfrm flipH="false" flipV="false" rot="0">
            <a:off x="8047557" y="-527300"/>
            <a:ext cx="2719096" cy="2719096"/>
          </a:xfrm>
          <a:custGeom>
            <a:avLst/>
            <a:gdLst/>
            <a:ahLst/>
            <a:cxnLst/>
            <a:rect r="r" b="b" t="t" l="l"/>
            <a:pathLst>
              <a:path h="2719096" w="2719096">
                <a:moveTo>
                  <a:pt x="0" y="0"/>
                </a:moveTo>
                <a:lnTo>
                  <a:pt x="2719096" y="0"/>
                </a:lnTo>
                <a:lnTo>
                  <a:pt x="2719096" y="2719096"/>
                </a:lnTo>
                <a:lnTo>
                  <a:pt x="0" y="2719096"/>
                </a:lnTo>
                <a:lnTo>
                  <a:pt x="0" y="0"/>
                </a:lnTo>
                <a:close/>
              </a:path>
            </a:pathLst>
          </a:custGeom>
          <a:blipFill>
            <a:blip r:embed="rId3"/>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C800AE">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3257085" y="2821927"/>
            <a:ext cx="3332389" cy="6262882"/>
          </a:xfrm>
          <a:custGeom>
            <a:avLst/>
            <a:gdLst/>
            <a:ahLst/>
            <a:cxnLst/>
            <a:rect r="r" b="b" t="t" l="l"/>
            <a:pathLst>
              <a:path h="6262882" w="3332389">
                <a:moveTo>
                  <a:pt x="0" y="0"/>
                </a:moveTo>
                <a:lnTo>
                  <a:pt x="3332389" y="0"/>
                </a:lnTo>
                <a:lnTo>
                  <a:pt x="3332389" y="6262882"/>
                </a:lnTo>
                <a:lnTo>
                  <a:pt x="0" y="6262882"/>
                </a:lnTo>
                <a:lnTo>
                  <a:pt x="0" y="0"/>
                </a:lnTo>
                <a:close/>
              </a:path>
            </a:pathLst>
          </a:custGeom>
          <a:blipFill>
            <a:blip r:embed="rId3"/>
            <a:stretch>
              <a:fillRect l="0" t="0" r="0" b="0"/>
            </a:stretch>
          </a:blipFill>
        </p:spPr>
      </p:sp>
      <p:sp>
        <p:nvSpPr>
          <p:cNvPr name="Freeform 7" id="7"/>
          <p:cNvSpPr/>
          <p:nvPr/>
        </p:nvSpPr>
        <p:spPr>
          <a:xfrm flipH="false" flipV="false" rot="0">
            <a:off x="7386713" y="5569861"/>
            <a:ext cx="2464302" cy="767014"/>
          </a:xfrm>
          <a:custGeom>
            <a:avLst/>
            <a:gdLst/>
            <a:ahLst/>
            <a:cxnLst/>
            <a:rect r="r" b="b" t="t" l="l"/>
            <a:pathLst>
              <a:path h="767014" w="2464302">
                <a:moveTo>
                  <a:pt x="0" y="0"/>
                </a:moveTo>
                <a:lnTo>
                  <a:pt x="2464302" y="0"/>
                </a:lnTo>
                <a:lnTo>
                  <a:pt x="2464302" y="767014"/>
                </a:lnTo>
                <a:lnTo>
                  <a:pt x="0" y="76701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0399297" y="4506335"/>
            <a:ext cx="7353591" cy="522969"/>
          </a:xfrm>
          <a:custGeom>
            <a:avLst/>
            <a:gdLst/>
            <a:ahLst/>
            <a:cxnLst/>
            <a:rect r="r" b="b" t="t" l="l"/>
            <a:pathLst>
              <a:path h="522969" w="7353591">
                <a:moveTo>
                  <a:pt x="0" y="0"/>
                </a:moveTo>
                <a:lnTo>
                  <a:pt x="7353591" y="0"/>
                </a:lnTo>
                <a:lnTo>
                  <a:pt x="7353591" y="522969"/>
                </a:lnTo>
                <a:lnTo>
                  <a:pt x="0" y="522969"/>
                </a:lnTo>
                <a:lnTo>
                  <a:pt x="0" y="0"/>
                </a:lnTo>
                <a:close/>
              </a:path>
            </a:pathLst>
          </a:custGeom>
          <a:blipFill>
            <a:blip r:embed="rId6"/>
            <a:stretch>
              <a:fillRect l="0" t="0" r="0" b="0"/>
            </a:stretch>
          </a:blipFill>
        </p:spPr>
      </p:sp>
      <p:sp>
        <p:nvSpPr>
          <p:cNvPr name="Freeform 9" id="9"/>
          <p:cNvSpPr/>
          <p:nvPr/>
        </p:nvSpPr>
        <p:spPr>
          <a:xfrm flipH="false" flipV="false" rot="0">
            <a:off x="13294941" y="5554212"/>
            <a:ext cx="1950750" cy="1950750"/>
          </a:xfrm>
          <a:custGeom>
            <a:avLst/>
            <a:gdLst/>
            <a:ahLst/>
            <a:cxnLst/>
            <a:rect r="r" b="b" t="t" l="l"/>
            <a:pathLst>
              <a:path h="1950750" w="1950750">
                <a:moveTo>
                  <a:pt x="0" y="0"/>
                </a:moveTo>
                <a:lnTo>
                  <a:pt x="1950750" y="0"/>
                </a:lnTo>
                <a:lnTo>
                  <a:pt x="1950750" y="1950750"/>
                </a:lnTo>
                <a:lnTo>
                  <a:pt x="0" y="195075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0" id="10"/>
          <p:cNvSpPr txBox="true"/>
          <p:nvPr/>
        </p:nvSpPr>
        <p:spPr>
          <a:xfrm rot="0">
            <a:off x="3257085" y="452117"/>
            <a:ext cx="12584532" cy="1739679"/>
          </a:xfrm>
          <a:prstGeom prst="rect">
            <a:avLst/>
          </a:prstGeom>
        </p:spPr>
        <p:txBody>
          <a:bodyPr anchor="t" rtlCol="false" tIns="0" lIns="0" bIns="0" rIns="0">
            <a:spAutoFit/>
          </a:bodyPr>
          <a:lstStyle/>
          <a:p>
            <a:pPr algn="ctr">
              <a:lnSpc>
                <a:spcPts val="7012"/>
              </a:lnSpc>
              <a:spcBef>
                <a:spcPct val="0"/>
              </a:spcBef>
            </a:pPr>
            <a:r>
              <a:rPr lang="en-US" sz="5008">
                <a:solidFill>
                  <a:srgbClr val="FF914D"/>
                </a:solidFill>
                <a:latin typeface="HK Modular"/>
                <a:ea typeface="HK Modular"/>
                <a:cs typeface="HK Modular"/>
                <a:sym typeface="HK Modular"/>
              </a:rPr>
              <a:t>INDEXACION DE BASE DE DATOS</a:t>
            </a:r>
          </a:p>
        </p:txBody>
      </p:sp>
      <p:sp>
        <p:nvSpPr>
          <p:cNvPr name="Freeform 11" id="11"/>
          <p:cNvSpPr/>
          <p:nvPr/>
        </p:nvSpPr>
        <p:spPr>
          <a:xfrm flipH="false" flipV="false" rot="0">
            <a:off x="15568904" y="8081933"/>
            <a:ext cx="2719096" cy="2719096"/>
          </a:xfrm>
          <a:custGeom>
            <a:avLst/>
            <a:gdLst/>
            <a:ahLst/>
            <a:cxnLst/>
            <a:rect r="r" b="b" t="t" l="l"/>
            <a:pathLst>
              <a:path h="2719096" w="2719096">
                <a:moveTo>
                  <a:pt x="0" y="0"/>
                </a:moveTo>
                <a:lnTo>
                  <a:pt x="2719096" y="0"/>
                </a:lnTo>
                <a:lnTo>
                  <a:pt x="2719096" y="2719096"/>
                </a:lnTo>
                <a:lnTo>
                  <a:pt x="0" y="2719096"/>
                </a:lnTo>
                <a:lnTo>
                  <a:pt x="0" y="0"/>
                </a:lnTo>
                <a:close/>
              </a:path>
            </a:pathLst>
          </a:custGeom>
          <a:blipFill>
            <a:blip r:embed="rId9"/>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C800AE">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2858678" y="3124396"/>
            <a:ext cx="2913980" cy="5387309"/>
          </a:xfrm>
          <a:custGeom>
            <a:avLst/>
            <a:gdLst/>
            <a:ahLst/>
            <a:cxnLst/>
            <a:rect r="r" b="b" t="t" l="l"/>
            <a:pathLst>
              <a:path h="5387309" w="2913980">
                <a:moveTo>
                  <a:pt x="0" y="0"/>
                </a:moveTo>
                <a:lnTo>
                  <a:pt x="2913980" y="0"/>
                </a:lnTo>
                <a:lnTo>
                  <a:pt x="2913980" y="5387309"/>
                </a:lnTo>
                <a:lnTo>
                  <a:pt x="0" y="5387309"/>
                </a:lnTo>
                <a:lnTo>
                  <a:pt x="0" y="0"/>
                </a:lnTo>
                <a:close/>
              </a:path>
            </a:pathLst>
          </a:custGeom>
          <a:blipFill>
            <a:blip r:embed="rId3"/>
            <a:stretch>
              <a:fillRect l="0" t="0" r="0" b="0"/>
            </a:stretch>
          </a:blipFill>
        </p:spPr>
      </p:sp>
      <p:sp>
        <p:nvSpPr>
          <p:cNvPr name="Freeform 7" id="7"/>
          <p:cNvSpPr/>
          <p:nvPr/>
        </p:nvSpPr>
        <p:spPr>
          <a:xfrm flipH="false" flipV="false" rot="0">
            <a:off x="10292868" y="3690381"/>
            <a:ext cx="7353591" cy="522969"/>
          </a:xfrm>
          <a:custGeom>
            <a:avLst/>
            <a:gdLst/>
            <a:ahLst/>
            <a:cxnLst/>
            <a:rect r="r" b="b" t="t" l="l"/>
            <a:pathLst>
              <a:path h="522969" w="7353591">
                <a:moveTo>
                  <a:pt x="0" y="0"/>
                </a:moveTo>
                <a:lnTo>
                  <a:pt x="7353591" y="0"/>
                </a:lnTo>
                <a:lnTo>
                  <a:pt x="7353591" y="522970"/>
                </a:lnTo>
                <a:lnTo>
                  <a:pt x="0" y="522970"/>
                </a:lnTo>
                <a:lnTo>
                  <a:pt x="0" y="0"/>
                </a:lnTo>
                <a:close/>
              </a:path>
            </a:pathLst>
          </a:custGeom>
          <a:blipFill>
            <a:blip r:embed="rId4"/>
            <a:stretch>
              <a:fillRect l="0" t="0" r="0" b="0"/>
            </a:stretch>
          </a:blipFill>
        </p:spPr>
      </p:sp>
      <p:sp>
        <p:nvSpPr>
          <p:cNvPr name="Freeform 8" id="8"/>
          <p:cNvSpPr/>
          <p:nvPr/>
        </p:nvSpPr>
        <p:spPr>
          <a:xfrm flipH="false" flipV="false" rot="0">
            <a:off x="6957872" y="4878075"/>
            <a:ext cx="2464302" cy="767014"/>
          </a:xfrm>
          <a:custGeom>
            <a:avLst/>
            <a:gdLst/>
            <a:ahLst/>
            <a:cxnLst/>
            <a:rect r="r" b="b" t="t" l="l"/>
            <a:pathLst>
              <a:path h="767014" w="2464302">
                <a:moveTo>
                  <a:pt x="0" y="0"/>
                </a:moveTo>
                <a:lnTo>
                  <a:pt x="2464302" y="0"/>
                </a:lnTo>
                <a:lnTo>
                  <a:pt x="2464302" y="767014"/>
                </a:lnTo>
                <a:lnTo>
                  <a:pt x="0" y="76701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11877849" y="4700161"/>
            <a:ext cx="3486595" cy="2235779"/>
          </a:xfrm>
          <a:custGeom>
            <a:avLst/>
            <a:gdLst/>
            <a:ahLst/>
            <a:cxnLst/>
            <a:rect r="r" b="b" t="t" l="l"/>
            <a:pathLst>
              <a:path h="2235779" w="3486595">
                <a:moveTo>
                  <a:pt x="0" y="0"/>
                </a:moveTo>
                <a:lnTo>
                  <a:pt x="3486594" y="0"/>
                </a:lnTo>
                <a:lnTo>
                  <a:pt x="3486594" y="2235779"/>
                </a:lnTo>
                <a:lnTo>
                  <a:pt x="0" y="223577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0" id="10"/>
          <p:cNvSpPr txBox="true"/>
          <p:nvPr/>
        </p:nvSpPr>
        <p:spPr>
          <a:xfrm rot="0">
            <a:off x="3257085" y="452117"/>
            <a:ext cx="12584532" cy="1739679"/>
          </a:xfrm>
          <a:prstGeom prst="rect">
            <a:avLst/>
          </a:prstGeom>
        </p:spPr>
        <p:txBody>
          <a:bodyPr anchor="t" rtlCol="false" tIns="0" lIns="0" bIns="0" rIns="0">
            <a:spAutoFit/>
          </a:bodyPr>
          <a:lstStyle/>
          <a:p>
            <a:pPr algn="ctr">
              <a:lnSpc>
                <a:spcPts val="7012"/>
              </a:lnSpc>
              <a:spcBef>
                <a:spcPct val="0"/>
              </a:spcBef>
            </a:pPr>
            <a:r>
              <a:rPr lang="en-US" sz="5008">
                <a:solidFill>
                  <a:srgbClr val="FF914D"/>
                </a:solidFill>
                <a:latin typeface="HK Modular"/>
                <a:ea typeface="HK Modular"/>
                <a:cs typeface="HK Modular"/>
                <a:sym typeface="HK Modular"/>
              </a:rPr>
              <a:t>INDEXACION DE BASE DE DATOS</a:t>
            </a:r>
          </a:p>
        </p:txBody>
      </p:sp>
      <p:sp>
        <p:nvSpPr>
          <p:cNvPr name="TextBox 11" id="11"/>
          <p:cNvSpPr txBox="true"/>
          <p:nvPr/>
        </p:nvSpPr>
        <p:spPr>
          <a:xfrm rot="0">
            <a:off x="1926726" y="8767445"/>
            <a:ext cx="5031146"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Con un indice en la columna company_id</a:t>
            </a:r>
          </a:p>
        </p:txBody>
      </p:sp>
      <p:sp>
        <p:nvSpPr>
          <p:cNvPr name="Freeform 12" id="12"/>
          <p:cNvSpPr/>
          <p:nvPr/>
        </p:nvSpPr>
        <p:spPr>
          <a:xfrm flipH="false" flipV="false" rot="0">
            <a:off x="15364443" y="7898752"/>
            <a:ext cx="2719096" cy="2719096"/>
          </a:xfrm>
          <a:custGeom>
            <a:avLst/>
            <a:gdLst/>
            <a:ahLst/>
            <a:cxnLst/>
            <a:rect r="r" b="b" t="t" l="l"/>
            <a:pathLst>
              <a:path h="2719096" w="2719096">
                <a:moveTo>
                  <a:pt x="0" y="0"/>
                </a:moveTo>
                <a:lnTo>
                  <a:pt x="2719096" y="0"/>
                </a:lnTo>
                <a:lnTo>
                  <a:pt x="2719096" y="2719096"/>
                </a:lnTo>
                <a:lnTo>
                  <a:pt x="0" y="2719096"/>
                </a:lnTo>
                <a:lnTo>
                  <a:pt x="0" y="0"/>
                </a:lnTo>
                <a:close/>
              </a:path>
            </a:pathLst>
          </a:custGeom>
          <a:blipFill>
            <a:blip r:embed="rId9"/>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C800AE">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9891179" y="6807332"/>
            <a:ext cx="3486595" cy="2235779"/>
          </a:xfrm>
          <a:custGeom>
            <a:avLst/>
            <a:gdLst/>
            <a:ahLst/>
            <a:cxnLst/>
            <a:rect r="r" b="b" t="t" l="l"/>
            <a:pathLst>
              <a:path h="2235779" w="3486595">
                <a:moveTo>
                  <a:pt x="0" y="0"/>
                </a:moveTo>
                <a:lnTo>
                  <a:pt x="3486595" y="0"/>
                </a:lnTo>
                <a:lnTo>
                  <a:pt x="3486595" y="2235779"/>
                </a:lnTo>
                <a:lnTo>
                  <a:pt x="0" y="223577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3443840" y="2973330"/>
            <a:ext cx="2249358" cy="6284970"/>
          </a:xfrm>
          <a:custGeom>
            <a:avLst/>
            <a:gdLst/>
            <a:ahLst/>
            <a:cxnLst/>
            <a:rect r="r" b="b" t="t" l="l"/>
            <a:pathLst>
              <a:path h="6284970" w="2249358">
                <a:moveTo>
                  <a:pt x="0" y="0"/>
                </a:moveTo>
                <a:lnTo>
                  <a:pt x="2249358" y="0"/>
                </a:lnTo>
                <a:lnTo>
                  <a:pt x="2249358" y="6284970"/>
                </a:lnTo>
                <a:lnTo>
                  <a:pt x="0" y="6284970"/>
                </a:lnTo>
                <a:lnTo>
                  <a:pt x="0" y="0"/>
                </a:lnTo>
                <a:close/>
              </a:path>
            </a:pathLst>
          </a:custGeom>
          <a:blipFill>
            <a:blip r:embed="rId5"/>
            <a:stretch>
              <a:fillRect l="0" t="0" r="0" b="0"/>
            </a:stretch>
          </a:blipFill>
        </p:spPr>
      </p:sp>
      <p:sp>
        <p:nvSpPr>
          <p:cNvPr name="TextBox 8" id="8"/>
          <p:cNvSpPr txBox="true"/>
          <p:nvPr/>
        </p:nvSpPr>
        <p:spPr>
          <a:xfrm rot="0">
            <a:off x="3257085" y="452117"/>
            <a:ext cx="12584532" cy="1739679"/>
          </a:xfrm>
          <a:prstGeom prst="rect">
            <a:avLst/>
          </a:prstGeom>
        </p:spPr>
        <p:txBody>
          <a:bodyPr anchor="t" rtlCol="false" tIns="0" lIns="0" bIns="0" rIns="0">
            <a:spAutoFit/>
          </a:bodyPr>
          <a:lstStyle/>
          <a:p>
            <a:pPr algn="ctr">
              <a:lnSpc>
                <a:spcPts val="7012"/>
              </a:lnSpc>
              <a:spcBef>
                <a:spcPct val="0"/>
              </a:spcBef>
            </a:pPr>
            <a:r>
              <a:rPr lang="en-US" sz="5008">
                <a:solidFill>
                  <a:srgbClr val="FF914D"/>
                </a:solidFill>
                <a:latin typeface="HK Modular"/>
                <a:ea typeface="HK Modular"/>
                <a:cs typeface="HK Modular"/>
                <a:sym typeface="HK Modular"/>
              </a:rPr>
              <a:t>INDEXACION DE BASE DE DATOS</a:t>
            </a:r>
          </a:p>
        </p:txBody>
      </p:sp>
      <p:sp>
        <p:nvSpPr>
          <p:cNvPr name="TextBox 9" id="9"/>
          <p:cNvSpPr txBox="true"/>
          <p:nvPr/>
        </p:nvSpPr>
        <p:spPr>
          <a:xfrm rot="0">
            <a:off x="7450010" y="3072532"/>
            <a:ext cx="8709090" cy="3181591"/>
          </a:xfrm>
          <a:prstGeom prst="rect">
            <a:avLst/>
          </a:prstGeom>
        </p:spPr>
        <p:txBody>
          <a:bodyPr anchor="t" rtlCol="false" tIns="0" lIns="0" bIns="0" rIns="0">
            <a:spAutoFit/>
          </a:bodyPr>
          <a:lstStyle/>
          <a:p>
            <a:pPr algn="ctr">
              <a:lnSpc>
                <a:spcPts val="3661"/>
              </a:lnSpc>
              <a:spcBef>
                <a:spcPct val="0"/>
              </a:spcBef>
            </a:pPr>
            <a:r>
              <a:rPr lang="en-US" sz="2615">
                <a:solidFill>
                  <a:srgbClr val="F0F7FE"/>
                </a:solidFill>
                <a:latin typeface="Poppins"/>
                <a:ea typeface="Poppins"/>
                <a:cs typeface="Poppins"/>
                <a:sym typeface="Poppins"/>
              </a:rPr>
              <a:t>Los índices de la base de datos almacenan punteros para simplemente hacer referencia a la información para la ubicación de la información adicional en la memoria. En otras palabras, el índice contiene el company_id y la dirección de esa fila en particular en la memoria. En este ejemplo, el índice de la base de datos se verá así</a:t>
            </a:r>
          </a:p>
        </p:txBody>
      </p:sp>
      <p:sp>
        <p:nvSpPr>
          <p:cNvPr name="Freeform 10" id="10"/>
          <p:cNvSpPr/>
          <p:nvPr/>
        </p:nvSpPr>
        <p:spPr>
          <a:xfrm flipH="false" flipV="false" rot="0">
            <a:off x="15568904" y="8081933"/>
            <a:ext cx="2719096" cy="2719096"/>
          </a:xfrm>
          <a:custGeom>
            <a:avLst/>
            <a:gdLst/>
            <a:ahLst/>
            <a:cxnLst/>
            <a:rect r="r" b="b" t="t" l="l"/>
            <a:pathLst>
              <a:path h="2719096" w="2719096">
                <a:moveTo>
                  <a:pt x="0" y="0"/>
                </a:moveTo>
                <a:lnTo>
                  <a:pt x="2719096" y="0"/>
                </a:lnTo>
                <a:lnTo>
                  <a:pt x="2719096" y="2719096"/>
                </a:lnTo>
                <a:lnTo>
                  <a:pt x="0" y="2719096"/>
                </a:lnTo>
                <a:lnTo>
                  <a:pt x="0" y="0"/>
                </a:lnTo>
                <a:close/>
              </a:path>
            </a:pathLst>
          </a:custGeom>
          <a:blipFill>
            <a:blip r:embed="rId6"/>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C800AE">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3203871" y="1274332"/>
            <a:ext cx="12584532" cy="1739679"/>
          </a:xfrm>
          <a:prstGeom prst="rect">
            <a:avLst/>
          </a:prstGeom>
        </p:spPr>
        <p:txBody>
          <a:bodyPr anchor="t" rtlCol="false" tIns="0" lIns="0" bIns="0" rIns="0">
            <a:spAutoFit/>
          </a:bodyPr>
          <a:lstStyle/>
          <a:p>
            <a:pPr algn="ctr">
              <a:lnSpc>
                <a:spcPts val="7012"/>
              </a:lnSpc>
              <a:spcBef>
                <a:spcPct val="0"/>
              </a:spcBef>
            </a:pPr>
            <a:r>
              <a:rPr lang="en-US" sz="5008">
                <a:solidFill>
                  <a:srgbClr val="FF914D"/>
                </a:solidFill>
                <a:latin typeface="HK Modular"/>
                <a:ea typeface="HK Modular"/>
                <a:cs typeface="HK Modular"/>
                <a:sym typeface="HK Modular"/>
              </a:rPr>
              <a:t>INDEXACION DE BASE DE DATOS</a:t>
            </a:r>
          </a:p>
        </p:txBody>
      </p:sp>
      <p:sp>
        <p:nvSpPr>
          <p:cNvPr name="TextBox 7" id="7"/>
          <p:cNvSpPr txBox="true"/>
          <p:nvPr/>
        </p:nvSpPr>
        <p:spPr>
          <a:xfrm rot="0">
            <a:off x="2318709" y="4759311"/>
            <a:ext cx="14119699" cy="1363679"/>
          </a:xfrm>
          <a:prstGeom prst="rect">
            <a:avLst/>
          </a:prstGeom>
        </p:spPr>
        <p:txBody>
          <a:bodyPr anchor="t" rtlCol="false" tIns="0" lIns="0" bIns="0" rIns="0">
            <a:spAutoFit/>
          </a:bodyPr>
          <a:lstStyle/>
          <a:p>
            <a:pPr algn="ctr">
              <a:lnSpc>
                <a:spcPts val="3661"/>
              </a:lnSpc>
              <a:spcBef>
                <a:spcPct val="0"/>
              </a:spcBef>
            </a:pPr>
            <a:r>
              <a:rPr lang="en-US" sz="2615">
                <a:solidFill>
                  <a:srgbClr val="F0F7FE"/>
                </a:solidFill>
                <a:latin typeface="Poppins"/>
                <a:ea typeface="Poppins"/>
                <a:cs typeface="Poppins"/>
                <a:sym typeface="Poppins"/>
              </a:rPr>
              <a:t>Al aumentar el rendimiento de las bases de datos, se puede usar siempre que necesitemos esa mejora, entre mas grande la base de datos mas probable utilizar la indexacion</a:t>
            </a:r>
          </a:p>
        </p:txBody>
      </p:sp>
      <p:sp>
        <p:nvSpPr>
          <p:cNvPr name="TextBox 8" id="8"/>
          <p:cNvSpPr txBox="true"/>
          <p:nvPr/>
        </p:nvSpPr>
        <p:spPr>
          <a:xfrm rot="0">
            <a:off x="4102951" y="3514147"/>
            <a:ext cx="10543409" cy="721288"/>
          </a:xfrm>
          <a:prstGeom prst="rect">
            <a:avLst/>
          </a:prstGeom>
        </p:spPr>
        <p:txBody>
          <a:bodyPr anchor="t" rtlCol="false" tIns="0" lIns="0" bIns="0" rIns="0">
            <a:spAutoFit/>
          </a:bodyPr>
          <a:lstStyle/>
          <a:p>
            <a:pPr algn="ctr">
              <a:lnSpc>
                <a:spcPts val="5874"/>
              </a:lnSpc>
              <a:spcBef>
                <a:spcPct val="0"/>
              </a:spcBef>
            </a:pPr>
            <a:r>
              <a:rPr lang="en-US" sz="4196">
                <a:solidFill>
                  <a:srgbClr val="FF009D"/>
                </a:solidFill>
                <a:latin typeface="HK Modular"/>
                <a:ea typeface="HK Modular"/>
                <a:cs typeface="HK Modular"/>
                <a:sym typeface="HK Modular"/>
              </a:rPr>
              <a:t>¿CUANDO USARLO?</a:t>
            </a:r>
          </a:p>
        </p:txBody>
      </p:sp>
      <p:sp>
        <p:nvSpPr>
          <p:cNvPr name="TextBox 9" id="9"/>
          <p:cNvSpPr txBox="true"/>
          <p:nvPr/>
        </p:nvSpPr>
        <p:spPr>
          <a:xfrm rot="0">
            <a:off x="2436287" y="6455113"/>
            <a:ext cx="14119699" cy="909202"/>
          </a:xfrm>
          <a:prstGeom prst="rect">
            <a:avLst/>
          </a:prstGeom>
        </p:spPr>
        <p:txBody>
          <a:bodyPr anchor="t" rtlCol="false" tIns="0" lIns="0" bIns="0" rIns="0">
            <a:spAutoFit/>
          </a:bodyPr>
          <a:lstStyle/>
          <a:p>
            <a:pPr algn="ctr">
              <a:lnSpc>
                <a:spcPts val="3661"/>
              </a:lnSpc>
              <a:spcBef>
                <a:spcPct val="0"/>
              </a:spcBef>
            </a:pPr>
            <a:r>
              <a:rPr lang="en-US" sz="2615">
                <a:solidFill>
                  <a:srgbClr val="F0F7FE"/>
                </a:solidFill>
                <a:latin typeface="Poppins"/>
                <a:ea typeface="Poppins"/>
                <a:cs typeface="Poppins"/>
                <a:sym typeface="Poppins"/>
              </a:rPr>
              <a:t>Sin embargo el indice ocupa espacio, entre mayor sea la tabla mayor va a ser el indice</a:t>
            </a:r>
          </a:p>
        </p:txBody>
      </p:sp>
      <p:sp>
        <p:nvSpPr>
          <p:cNvPr name="TextBox 10" id="10"/>
          <p:cNvSpPr txBox="true"/>
          <p:nvPr/>
        </p:nvSpPr>
        <p:spPr>
          <a:xfrm rot="0">
            <a:off x="2436287" y="7572463"/>
            <a:ext cx="14119699" cy="909202"/>
          </a:xfrm>
          <a:prstGeom prst="rect">
            <a:avLst/>
          </a:prstGeom>
        </p:spPr>
        <p:txBody>
          <a:bodyPr anchor="t" rtlCol="false" tIns="0" lIns="0" bIns="0" rIns="0">
            <a:spAutoFit/>
          </a:bodyPr>
          <a:lstStyle/>
          <a:p>
            <a:pPr algn="ctr">
              <a:lnSpc>
                <a:spcPts val="3661"/>
              </a:lnSpc>
              <a:spcBef>
                <a:spcPct val="0"/>
              </a:spcBef>
            </a:pPr>
            <a:r>
              <a:rPr lang="en-US" sz="2615">
                <a:solidFill>
                  <a:srgbClr val="F0F7FE"/>
                </a:solidFill>
                <a:latin typeface="Poppins"/>
                <a:ea typeface="Poppins"/>
                <a:cs typeface="Poppins"/>
                <a:sym typeface="Poppins"/>
              </a:rPr>
              <a:t>Si hacemos una operacion de agregar, eliminar o actualizar, se debe hacer lo mismo en el indice</a:t>
            </a:r>
          </a:p>
        </p:txBody>
      </p:sp>
      <p:sp>
        <p:nvSpPr>
          <p:cNvPr name="Freeform 11" id="11"/>
          <p:cNvSpPr/>
          <p:nvPr/>
        </p:nvSpPr>
        <p:spPr>
          <a:xfrm flipH="false" flipV="false" rot="0">
            <a:off x="8365377" y="-464225"/>
            <a:ext cx="2261518" cy="2261518"/>
          </a:xfrm>
          <a:custGeom>
            <a:avLst/>
            <a:gdLst/>
            <a:ahLst/>
            <a:cxnLst/>
            <a:rect r="r" b="b" t="t" l="l"/>
            <a:pathLst>
              <a:path h="2261518" w="2261518">
                <a:moveTo>
                  <a:pt x="0" y="0"/>
                </a:moveTo>
                <a:lnTo>
                  <a:pt x="2261519" y="0"/>
                </a:lnTo>
                <a:lnTo>
                  <a:pt x="2261519" y="2261518"/>
                </a:lnTo>
                <a:lnTo>
                  <a:pt x="0" y="2261518"/>
                </a:lnTo>
                <a:lnTo>
                  <a:pt x="0" y="0"/>
                </a:lnTo>
                <a:close/>
              </a:path>
            </a:pathLst>
          </a:custGeom>
          <a:blipFill>
            <a:blip r:embed="rId3"/>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C800AE">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8403690" y="7660994"/>
            <a:ext cx="1941930" cy="1941930"/>
          </a:xfrm>
          <a:custGeom>
            <a:avLst/>
            <a:gdLst/>
            <a:ahLst/>
            <a:cxnLst/>
            <a:rect r="r" b="b" t="t" l="l"/>
            <a:pathLst>
              <a:path h="1941930" w="1941930">
                <a:moveTo>
                  <a:pt x="0" y="0"/>
                </a:moveTo>
                <a:lnTo>
                  <a:pt x="1941930" y="0"/>
                </a:lnTo>
                <a:lnTo>
                  <a:pt x="1941930" y="1941931"/>
                </a:lnTo>
                <a:lnTo>
                  <a:pt x="0" y="194193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3203871" y="1274332"/>
            <a:ext cx="12584532" cy="1739679"/>
          </a:xfrm>
          <a:prstGeom prst="rect">
            <a:avLst/>
          </a:prstGeom>
        </p:spPr>
        <p:txBody>
          <a:bodyPr anchor="t" rtlCol="false" tIns="0" lIns="0" bIns="0" rIns="0">
            <a:spAutoFit/>
          </a:bodyPr>
          <a:lstStyle/>
          <a:p>
            <a:pPr algn="ctr">
              <a:lnSpc>
                <a:spcPts val="7012"/>
              </a:lnSpc>
              <a:spcBef>
                <a:spcPct val="0"/>
              </a:spcBef>
            </a:pPr>
            <a:r>
              <a:rPr lang="en-US" sz="5008">
                <a:solidFill>
                  <a:srgbClr val="FF914D"/>
                </a:solidFill>
                <a:latin typeface="HK Modular"/>
                <a:ea typeface="HK Modular"/>
                <a:cs typeface="HK Modular"/>
                <a:sym typeface="HK Modular"/>
              </a:rPr>
              <a:t>INDEXACION DE BASE DE DATOS</a:t>
            </a:r>
          </a:p>
        </p:txBody>
      </p:sp>
      <p:sp>
        <p:nvSpPr>
          <p:cNvPr name="TextBox 8" id="8"/>
          <p:cNvSpPr txBox="true"/>
          <p:nvPr/>
        </p:nvSpPr>
        <p:spPr>
          <a:xfrm rot="0">
            <a:off x="2318709" y="4759311"/>
            <a:ext cx="14119699" cy="2272635"/>
          </a:xfrm>
          <a:prstGeom prst="rect">
            <a:avLst/>
          </a:prstGeom>
        </p:spPr>
        <p:txBody>
          <a:bodyPr anchor="t" rtlCol="false" tIns="0" lIns="0" bIns="0" rIns="0">
            <a:spAutoFit/>
          </a:bodyPr>
          <a:lstStyle/>
          <a:p>
            <a:pPr algn="ctr">
              <a:lnSpc>
                <a:spcPts val="3661"/>
              </a:lnSpc>
              <a:spcBef>
                <a:spcPct val="0"/>
              </a:spcBef>
            </a:pPr>
            <a:r>
              <a:rPr lang="en-US" sz="2615">
                <a:solidFill>
                  <a:srgbClr val="F0F7FE"/>
                </a:solidFill>
                <a:latin typeface="Poppins"/>
                <a:ea typeface="Poppins"/>
                <a:cs typeface="Poppins"/>
                <a:sym typeface="Poppins"/>
              </a:rPr>
              <a:t>Cuando se escriben datos en la base de datos, primero se actualiza la tabla original, seguida de otros índices basados en esa tabla. Cuando se realiza una escritura en la base de datos, los índices se vuelven inoperables hasta que se actualizan. Los índices nunca serán funcionales si la base de datos recibe escrituras continuamente.</a:t>
            </a:r>
          </a:p>
        </p:txBody>
      </p:sp>
      <p:sp>
        <p:nvSpPr>
          <p:cNvPr name="TextBox 9" id="9"/>
          <p:cNvSpPr txBox="true"/>
          <p:nvPr/>
        </p:nvSpPr>
        <p:spPr>
          <a:xfrm rot="0">
            <a:off x="4102951" y="3514147"/>
            <a:ext cx="10543409" cy="721288"/>
          </a:xfrm>
          <a:prstGeom prst="rect">
            <a:avLst/>
          </a:prstGeom>
        </p:spPr>
        <p:txBody>
          <a:bodyPr anchor="t" rtlCol="false" tIns="0" lIns="0" bIns="0" rIns="0">
            <a:spAutoFit/>
          </a:bodyPr>
          <a:lstStyle/>
          <a:p>
            <a:pPr algn="ctr">
              <a:lnSpc>
                <a:spcPts val="5874"/>
              </a:lnSpc>
              <a:spcBef>
                <a:spcPct val="0"/>
              </a:spcBef>
            </a:pPr>
            <a:r>
              <a:rPr lang="en-US" sz="4196">
                <a:solidFill>
                  <a:srgbClr val="FF009D"/>
                </a:solidFill>
                <a:latin typeface="HK Modular"/>
                <a:ea typeface="HK Modular"/>
                <a:cs typeface="HK Modular"/>
                <a:sym typeface="HK Modular"/>
              </a:rPr>
              <a:t>¿CUANDO NO USARLO?</a:t>
            </a:r>
          </a:p>
        </p:txBody>
      </p:sp>
      <p:sp>
        <p:nvSpPr>
          <p:cNvPr name="Freeform 10" id="10"/>
          <p:cNvSpPr/>
          <p:nvPr/>
        </p:nvSpPr>
        <p:spPr>
          <a:xfrm flipH="false" flipV="false" rot="0">
            <a:off x="8047557" y="-527300"/>
            <a:ext cx="2719096" cy="2719096"/>
          </a:xfrm>
          <a:custGeom>
            <a:avLst/>
            <a:gdLst/>
            <a:ahLst/>
            <a:cxnLst/>
            <a:rect r="r" b="b" t="t" l="l"/>
            <a:pathLst>
              <a:path h="2719096" w="2719096">
                <a:moveTo>
                  <a:pt x="0" y="0"/>
                </a:moveTo>
                <a:lnTo>
                  <a:pt x="2719096" y="0"/>
                </a:lnTo>
                <a:lnTo>
                  <a:pt x="2719096" y="2719096"/>
                </a:lnTo>
                <a:lnTo>
                  <a:pt x="0" y="2719096"/>
                </a:lnTo>
                <a:lnTo>
                  <a:pt x="0" y="0"/>
                </a:lnTo>
                <a:close/>
              </a:path>
            </a:pathLst>
          </a:custGeom>
          <a:blipFill>
            <a:blip r:embed="rId5"/>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C800AE">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456017" y="3052148"/>
            <a:ext cx="8797349" cy="4182705"/>
          </a:xfrm>
          <a:custGeom>
            <a:avLst/>
            <a:gdLst/>
            <a:ahLst/>
            <a:cxnLst/>
            <a:rect r="r" b="b" t="t" l="l"/>
            <a:pathLst>
              <a:path h="4182705" w="8797349">
                <a:moveTo>
                  <a:pt x="0" y="0"/>
                </a:moveTo>
                <a:lnTo>
                  <a:pt x="8797350" y="0"/>
                </a:lnTo>
                <a:lnTo>
                  <a:pt x="8797350" y="4182704"/>
                </a:lnTo>
                <a:lnTo>
                  <a:pt x="0" y="4182704"/>
                </a:lnTo>
                <a:lnTo>
                  <a:pt x="0" y="0"/>
                </a:lnTo>
                <a:close/>
              </a:path>
            </a:pathLst>
          </a:custGeom>
          <a:blipFill>
            <a:blip r:embed="rId3"/>
            <a:stretch>
              <a:fillRect l="0" t="-609" r="0" b="-609"/>
            </a:stretch>
          </a:blipFill>
        </p:spPr>
      </p:sp>
      <p:sp>
        <p:nvSpPr>
          <p:cNvPr name="TextBox 7" id="7"/>
          <p:cNvSpPr txBox="true"/>
          <p:nvPr/>
        </p:nvSpPr>
        <p:spPr>
          <a:xfrm rot="0">
            <a:off x="3084772" y="933450"/>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FF914D"/>
                </a:solidFill>
                <a:latin typeface="HK Modular"/>
                <a:ea typeface="HK Modular"/>
                <a:cs typeface="HK Modular"/>
                <a:sym typeface="HK Modular"/>
              </a:rPr>
              <a:t>NORMALIZACION</a:t>
            </a:r>
          </a:p>
        </p:txBody>
      </p:sp>
      <p:sp>
        <p:nvSpPr>
          <p:cNvPr name="TextBox 8" id="8"/>
          <p:cNvSpPr txBox="true"/>
          <p:nvPr/>
        </p:nvSpPr>
        <p:spPr>
          <a:xfrm rot="0">
            <a:off x="9783146" y="2470796"/>
            <a:ext cx="8210849" cy="13722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Es el proceso de organizar los datos en una base de datos que incluye la creacion de tablas y el establecimiento de relaciones entre ellas</a:t>
            </a:r>
          </a:p>
        </p:txBody>
      </p:sp>
      <p:sp>
        <p:nvSpPr>
          <p:cNvPr name="TextBox 9" id="9"/>
          <p:cNvSpPr txBox="true"/>
          <p:nvPr/>
        </p:nvSpPr>
        <p:spPr>
          <a:xfrm rot="0">
            <a:off x="9886533" y="4060351"/>
            <a:ext cx="8210849"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Existen 5 formas de normalizacion</a:t>
            </a:r>
          </a:p>
        </p:txBody>
      </p:sp>
      <p:sp>
        <p:nvSpPr>
          <p:cNvPr name="TextBox 10" id="10"/>
          <p:cNvSpPr txBox="true"/>
          <p:nvPr/>
        </p:nvSpPr>
        <p:spPr>
          <a:xfrm rot="0">
            <a:off x="9886533" y="4737262"/>
            <a:ext cx="8210849" cy="2743836"/>
          </a:xfrm>
          <a:prstGeom prst="rect">
            <a:avLst/>
          </a:prstGeom>
        </p:spPr>
        <p:txBody>
          <a:bodyPr anchor="t" rtlCol="false" tIns="0" lIns="0" bIns="0" rIns="0">
            <a:spAutoFit/>
          </a:bodyPr>
          <a:lstStyle/>
          <a:p>
            <a:pPr algn="ctr">
              <a:lnSpc>
                <a:spcPts val="3639"/>
              </a:lnSpc>
            </a:pPr>
            <a:r>
              <a:rPr lang="en-US" sz="2599">
                <a:solidFill>
                  <a:srgbClr val="FFFFFF"/>
                </a:solidFill>
                <a:latin typeface="Poppins"/>
                <a:ea typeface="Poppins"/>
                <a:cs typeface="Poppins"/>
                <a:sym typeface="Poppins"/>
              </a:rPr>
              <a:t>1FN: Eliminar grupos repetitivos</a:t>
            </a:r>
          </a:p>
          <a:p>
            <a:pPr algn="ctr">
              <a:lnSpc>
                <a:spcPts val="3639"/>
              </a:lnSpc>
            </a:pPr>
            <a:r>
              <a:rPr lang="en-US" sz="2599">
                <a:solidFill>
                  <a:srgbClr val="FFFFFF"/>
                </a:solidFill>
                <a:latin typeface="Poppins"/>
                <a:ea typeface="Poppins"/>
                <a:cs typeface="Poppins"/>
                <a:sym typeface="Poppins"/>
              </a:rPr>
              <a:t>2FN: Eliminar datos redundantes</a:t>
            </a:r>
          </a:p>
          <a:p>
            <a:pPr algn="ctr">
              <a:lnSpc>
                <a:spcPts val="3639"/>
              </a:lnSpc>
            </a:pPr>
            <a:r>
              <a:rPr lang="en-US" sz="2599">
                <a:solidFill>
                  <a:srgbClr val="FFFFFF"/>
                </a:solidFill>
                <a:latin typeface="Poppins"/>
                <a:ea typeface="Poppins"/>
                <a:cs typeface="Poppins"/>
                <a:sym typeface="Poppins"/>
              </a:rPr>
              <a:t>3FN: Eliminar columnas no depende de clave</a:t>
            </a:r>
          </a:p>
          <a:p>
            <a:pPr algn="ctr">
              <a:lnSpc>
                <a:spcPts val="3639"/>
              </a:lnSpc>
            </a:pPr>
            <a:r>
              <a:rPr lang="en-US" sz="2599">
                <a:solidFill>
                  <a:srgbClr val="FFFFFF"/>
                </a:solidFill>
                <a:latin typeface="Poppins"/>
                <a:ea typeface="Poppins"/>
                <a:cs typeface="Poppins"/>
                <a:sym typeface="Poppins"/>
              </a:rPr>
              <a:t>4FN: Aislar Relaciones multiples independientes</a:t>
            </a:r>
          </a:p>
          <a:p>
            <a:pPr algn="ctr">
              <a:lnSpc>
                <a:spcPts val="3639"/>
              </a:lnSpc>
            </a:pPr>
            <a:r>
              <a:rPr lang="en-US" sz="2599">
                <a:solidFill>
                  <a:srgbClr val="FFFFFF"/>
                </a:solidFill>
                <a:latin typeface="Poppins"/>
                <a:ea typeface="Poppins"/>
                <a:cs typeface="Poppins"/>
                <a:sym typeface="Poppins"/>
              </a:rPr>
              <a:t>5FN: Aislar relaciones semanticamente relacionadas multiples</a:t>
            </a:r>
          </a:p>
        </p:txBody>
      </p:sp>
      <p:sp>
        <p:nvSpPr>
          <p:cNvPr name="TextBox 11" id="11"/>
          <p:cNvSpPr txBox="true"/>
          <p:nvPr/>
        </p:nvSpPr>
        <p:spPr>
          <a:xfrm rot="0">
            <a:off x="107531" y="7957231"/>
            <a:ext cx="9494323" cy="648524"/>
          </a:xfrm>
          <a:prstGeom prst="rect">
            <a:avLst/>
          </a:prstGeom>
        </p:spPr>
        <p:txBody>
          <a:bodyPr anchor="t" rtlCol="false" tIns="0" lIns="0" bIns="0" rIns="0">
            <a:spAutoFit/>
          </a:bodyPr>
          <a:lstStyle/>
          <a:p>
            <a:pPr algn="ctr">
              <a:lnSpc>
                <a:spcPts val="5290"/>
              </a:lnSpc>
              <a:spcBef>
                <a:spcPct val="0"/>
              </a:spcBef>
            </a:pPr>
            <a:r>
              <a:rPr lang="en-US" sz="3778">
                <a:solidFill>
                  <a:srgbClr val="FF009D"/>
                </a:solidFill>
                <a:latin typeface="HK Modular"/>
                <a:ea typeface="HK Modular"/>
                <a:cs typeface="HK Modular"/>
                <a:sym typeface="HK Modular"/>
              </a:rPr>
              <a:t>SOLO VAMOS A VER 3</a:t>
            </a:r>
          </a:p>
        </p:txBody>
      </p:sp>
      <p:sp>
        <p:nvSpPr>
          <p:cNvPr name="Freeform 12" id="12"/>
          <p:cNvSpPr/>
          <p:nvPr/>
        </p:nvSpPr>
        <p:spPr>
          <a:xfrm flipH="false" flipV="false" rot="0">
            <a:off x="15378287" y="8033431"/>
            <a:ext cx="2719096" cy="2719096"/>
          </a:xfrm>
          <a:custGeom>
            <a:avLst/>
            <a:gdLst/>
            <a:ahLst/>
            <a:cxnLst/>
            <a:rect r="r" b="b" t="t" l="l"/>
            <a:pathLst>
              <a:path h="2719096" w="2719096">
                <a:moveTo>
                  <a:pt x="0" y="0"/>
                </a:moveTo>
                <a:lnTo>
                  <a:pt x="2719096" y="0"/>
                </a:lnTo>
                <a:lnTo>
                  <a:pt x="2719096" y="2719095"/>
                </a:lnTo>
                <a:lnTo>
                  <a:pt x="0" y="2719095"/>
                </a:lnTo>
                <a:lnTo>
                  <a:pt x="0" y="0"/>
                </a:lnTo>
                <a:close/>
              </a:path>
            </a:pathLst>
          </a:custGeom>
          <a:blipFill>
            <a:blip r:embed="rId4"/>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C800AE">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2544811" y="3344022"/>
            <a:ext cx="13124494" cy="5741966"/>
          </a:xfrm>
          <a:custGeom>
            <a:avLst/>
            <a:gdLst/>
            <a:ahLst/>
            <a:cxnLst/>
            <a:rect r="r" b="b" t="t" l="l"/>
            <a:pathLst>
              <a:path h="5741966" w="13124494">
                <a:moveTo>
                  <a:pt x="0" y="0"/>
                </a:moveTo>
                <a:lnTo>
                  <a:pt x="13124493" y="0"/>
                </a:lnTo>
                <a:lnTo>
                  <a:pt x="13124493" y="5741966"/>
                </a:lnTo>
                <a:lnTo>
                  <a:pt x="0" y="5741966"/>
                </a:lnTo>
                <a:lnTo>
                  <a:pt x="0" y="0"/>
                </a:lnTo>
                <a:close/>
              </a:path>
            </a:pathLst>
          </a:custGeom>
          <a:blipFill>
            <a:blip r:embed="rId3"/>
            <a:stretch>
              <a:fillRect l="0" t="0" r="0" b="0"/>
            </a:stretch>
          </a:blipFill>
        </p:spPr>
      </p:sp>
      <p:sp>
        <p:nvSpPr>
          <p:cNvPr name="TextBox 7" id="7"/>
          <p:cNvSpPr txBox="true"/>
          <p:nvPr/>
        </p:nvSpPr>
        <p:spPr>
          <a:xfrm rot="0">
            <a:off x="3084772" y="933450"/>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FF914D"/>
                </a:solidFill>
                <a:latin typeface="HK Modular"/>
                <a:ea typeface="HK Modular"/>
                <a:cs typeface="HK Modular"/>
                <a:sym typeface="HK Modular"/>
              </a:rPr>
              <a:t>NORMALIZACION</a:t>
            </a:r>
          </a:p>
        </p:txBody>
      </p:sp>
      <p:sp>
        <p:nvSpPr>
          <p:cNvPr name="TextBox 8" id="8"/>
          <p:cNvSpPr txBox="true"/>
          <p:nvPr/>
        </p:nvSpPr>
        <p:spPr>
          <a:xfrm rot="0">
            <a:off x="5147942" y="1989821"/>
            <a:ext cx="8210849" cy="915036"/>
          </a:xfrm>
          <a:prstGeom prst="rect">
            <a:avLst/>
          </a:prstGeom>
        </p:spPr>
        <p:txBody>
          <a:bodyPr anchor="t" rtlCol="false" tIns="0" lIns="0" bIns="0" rIns="0">
            <a:spAutoFit/>
          </a:bodyPr>
          <a:lstStyle/>
          <a:p>
            <a:pPr algn="ctr">
              <a:lnSpc>
                <a:spcPts val="3639"/>
              </a:lnSpc>
            </a:pPr>
            <a:r>
              <a:rPr lang="en-US" sz="2599">
                <a:solidFill>
                  <a:srgbClr val="FFFFFF"/>
                </a:solidFill>
                <a:latin typeface="Poppins"/>
                <a:ea typeface="Poppins"/>
                <a:cs typeface="Poppins"/>
                <a:sym typeface="Poppins"/>
              </a:rPr>
              <a:t>Si tenemos esta BD como podremos normalizarla?</a:t>
            </a:r>
          </a:p>
        </p:txBody>
      </p:sp>
      <p:sp>
        <p:nvSpPr>
          <p:cNvPr name="Freeform 9" id="9"/>
          <p:cNvSpPr/>
          <p:nvPr/>
        </p:nvSpPr>
        <p:spPr>
          <a:xfrm flipH="false" flipV="false" rot="0">
            <a:off x="15669304" y="7898752"/>
            <a:ext cx="2719096" cy="2719096"/>
          </a:xfrm>
          <a:custGeom>
            <a:avLst/>
            <a:gdLst/>
            <a:ahLst/>
            <a:cxnLst/>
            <a:rect r="r" b="b" t="t" l="l"/>
            <a:pathLst>
              <a:path h="2719096" w="2719096">
                <a:moveTo>
                  <a:pt x="0" y="0"/>
                </a:moveTo>
                <a:lnTo>
                  <a:pt x="2719096" y="0"/>
                </a:lnTo>
                <a:lnTo>
                  <a:pt x="2719096" y="2719096"/>
                </a:lnTo>
                <a:lnTo>
                  <a:pt x="0" y="2719096"/>
                </a:lnTo>
                <a:lnTo>
                  <a:pt x="0" y="0"/>
                </a:lnTo>
                <a:close/>
              </a:path>
            </a:pathLst>
          </a:custGeom>
          <a:blipFill>
            <a:blip r:embed="rId4"/>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C800AE">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2275203" y="5033990"/>
            <a:ext cx="13737595" cy="4224310"/>
          </a:xfrm>
          <a:custGeom>
            <a:avLst/>
            <a:gdLst/>
            <a:ahLst/>
            <a:cxnLst/>
            <a:rect r="r" b="b" t="t" l="l"/>
            <a:pathLst>
              <a:path h="4224310" w="13737595">
                <a:moveTo>
                  <a:pt x="0" y="0"/>
                </a:moveTo>
                <a:lnTo>
                  <a:pt x="13737594" y="0"/>
                </a:lnTo>
                <a:lnTo>
                  <a:pt x="13737594" y="4224310"/>
                </a:lnTo>
                <a:lnTo>
                  <a:pt x="0" y="4224310"/>
                </a:lnTo>
                <a:lnTo>
                  <a:pt x="0" y="0"/>
                </a:lnTo>
                <a:close/>
              </a:path>
            </a:pathLst>
          </a:custGeom>
          <a:blipFill>
            <a:blip r:embed="rId3"/>
            <a:stretch>
              <a:fillRect l="0" t="0" r="0" b="0"/>
            </a:stretch>
          </a:blipFill>
        </p:spPr>
      </p:sp>
      <p:sp>
        <p:nvSpPr>
          <p:cNvPr name="TextBox 7" id="7"/>
          <p:cNvSpPr txBox="true"/>
          <p:nvPr/>
        </p:nvSpPr>
        <p:spPr>
          <a:xfrm rot="0">
            <a:off x="2964154" y="1337942"/>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FF914D"/>
                </a:solidFill>
                <a:latin typeface="HK Modular"/>
                <a:ea typeface="HK Modular"/>
                <a:cs typeface="HK Modular"/>
                <a:sym typeface="HK Modular"/>
              </a:rPr>
              <a:t>NORMALIZACION 1FN</a:t>
            </a:r>
          </a:p>
        </p:txBody>
      </p:sp>
      <p:sp>
        <p:nvSpPr>
          <p:cNvPr name="TextBox 8" id="8"/>
          <p:cNvSpPr txBox="true"/>
          <p:nvPr/>
        </p:nvSpPr>
        <p:spPr>
          <a:xfrm rot="0">
            <a:off x="2381172" y="2798570"/>
            <a:ext cx="13810405" cy="1829435"/>
          </a:xfrm>
          <a:prstGeom prst="rect">
            <a:avLst/>
          </a:prstGeom>
        </p:spPr>
        <p:txBody>
          <a:bodyPr anchor="t" rtlCol="false" tIns="0" lIns="0" bIns="0" rIns="0">
            <a:spAutoFit/>
          </a:bodyPr>
          <a:lstStyle/>
          <a:p>
            <a:pPr algn="l">
              <a:lnSpc>
                <a:spcPts val="3640"/>
              </a:lnSpc>
              <a:spcBef>
                <a:spcPct val="0"/>
              </a:spcBef>
            </a:pPr>
            <a:r>
              <a:rPr lang="en-US" sz="2600">
                <a:solidFill>
                  <a:srgbClr val="FFFFFF"/>
                </a:solidFill>
                <a:latin typeface="Poppins"/>
                <a:ea typeface="Poppins"/>
                <a:cs typeface="Poppins"/>
                <a:sym typeface="Poppins"/>
              </a:rPr>
              <a:t>Para iniciar el proceso de normalización de esta tabla y lograr la primera forma normal debemos:</a:t>
            </a:r>
          </a:p>
          <a:p>
            <a:pPr algn="l" marL="561341" indent="-280670" lvl="1">
              <a:lnSpc>
                <a:spcPts val="3640"/>
              </a:lnSpc>
              <a:buFont typeface="Arial"/>
              <a:buChar char="•"/>
            </a:pPr>
            <a:r>
              <a:rPr lang="en-US" sz="2600">
                <a:solidFill>
                  <a:srgbClr val="FFFFFF"/>
                </a:solidFill>
                <a:latin typeface="Poppins"/>
                <a:ea typeface="Poppins"/>
                <a:cs typeface="Poppins"/>
                <a:sym typeface="Poppins"/>
              </a:rPr>
              <a:t>D</a:t>
            </a:r>
            <a:r>
              <a:rPr lang="en-US" sz="2600">
                <a:solidFill>
                  <a:srgbClr val="FFFFFF"/>
                </a:solidFill>
                <a:latin typeface="Poppins"/>
                <a:ea typeface="Poppins"/>
                <a:cs typeface="Poppins"/>
                <a:sym typeface="Poppins"/>
              </a:rPr>
              <a:t>ividir todos los datos multi-valor en columnas separadas (datos atómicos) </a:t>
            </a:r>
          </a:p>
          <a:p>
            <a:pPr algn="l" marL="561341" indent="-280670" lvl="1">
              <a:lnSpc>
                <a:spcPts val="3640"/>
              </a:lnSpc>
              <a:buFont typeface="Arial"/>
              <a:buChar char="•"/>
            </a:pPr>
            <a:r>
              <a:rPr lang="en-US" sz="2600">
                <a:solidFill>
                  <a:srgbClr val="FFFFFF"/>
                </a:solidFill>
                <a:latin typeface="Poppins"/>
                <a:ea typeface="Poppins"/>
                <a:cs typeface="Poppins"/>
                <a:sym typeface="Poppins"/>
              </a:rPr>
              <a:t>Comprobar que los valores en cada columna sean del mismo tipo.</a:t>
            </a:r>
          </a:p>
        </p:txBody>
      </p:sp>
      <p:sp>
        <p:nvSpPr>
          <p:cNvPr name="Freeform 9" id="9"/>
          <p:cNvSpPr/>
          <p:nvPr/>
        </p:nvSpPr>
        <p:spPr>
          <a:xfrm flipH="false" flipV="false" rot="0">
            <a:off x="8083470" y="-527300"/>
            <a:ext cx="2339794" cy="2339794"/>
          </a:xfrm>
          <a:custGeom>
            <a:avLst/>
            <a:gdLst/>
            <a:ahLst/>
            <a:cxnLst/>
            <a:rect r="r" b="b" t="t" l="l"/>
            <a:pathLst>
              <a:path h="2339794" w="2339794">
                <a:moveTo>
                  <a:pt x="0" y="0"/>
                </a:moveTo>
                <a:lnTo>
                  <a:pt x="2339794" y="0"/>
                </a:lnTo>
                <a:lnTo>
                  <a:pt x="2339794" y="2339794"/>
                </a:lnTo>
                <a:lnTo>
                  <a:pt x="0" y="2339794"/>
                </a:lnTo>
                <a:lnTo>
                  <a:pt x="0" y="0"/>
                </a:lnTo>
                <a:close/>
              </a:path>
            </a:pathLst>
          </a:custGeom>
          <a:blipFill>
            <a:blip r:embed="rId4"/>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C800AE">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8042492" y="3185517"/>
            <a:ext cx="9607169" cy="1957983"/>
          </a:xfrm>
          <a:custGeom>
            <a:avLst/>
            <a:gdLst/>
            <a:ahLst/>
            <a:cxnLst/>
            <a:rect r="r" b="b" t="t" l="l"/>
            <a:pathLst>
              <a:path h="1957983" w="9607169">
                <a:moveTo>
                  <a:pt x="0" y="0"/>
                </a:moveTo>
                <a:lnTo>
                  <a:pt x="9607169" y="0"/>
                </a:lnTo>
                <a:lnTo>
                  <a:pt x="9607169" y="1957983"/>
                </a:lnTo>
                <a:lnTo>
                  <a:pt x="0" y="1957983"/>
                </a:lnTo>
                <a:lnTo>
                  <a:pt x="0" y="0"/>
                </a:lnTo>
                <a:close/>
              </a:path>
            </a:pathLst>
          </a:custGeom>
          <a:blipFill>
            <a:blip r:embed="rId3"/>
            <a:stretch>
              <a:fillRect l="0" t="0" r="0" b="0"/>
            </a:stretch>
          </a:blipFill>
        </p:spPr>
      </p:sp>
      <p:sp>
        <p:nvSpPr>
          <p:cNvPr name="Freeform 7" id="7"/>
          <p:cNvSpPr/>
          <p:nvPr/>
        </p:nvSpPr>
        <p:spPr>
          <a:xfrm flipH="false" flipV="false" rot="0">
            <a:off x="9253367" y="5493766"/>
            <a:ext cx="7524550" cy="2816816"/>
          </a:xfrm>
          <a:custGeom>
            <a:avLst/>
            <a:gdLst/>
            <a:ahLst/>
            <a:cxnLst/>
            <a:rect r="r" b="b" t="t" l="l"/>
            <a:pathLst>
              <a:path h="2816816" w="7524550">
                <a:moveTo>
                  <a:pt x="0" y="0"/>
                </a:moveTo>
                <a:lnTo>
                  <a:pt x="7524550" y="0"/>
                </a:lnTo>
                <a:lnTo>
                  <a:pt x="7524550" y="2816816"/>
                </a:lnTo>
                <a:lnTo>
                  <a:pt x="0" y="2816816"/>
                </a:lnTo>
                <a:lnTo>
                  <a:pt x="0" y="0"/>
                </a:lnTo>
                <a:close/>
              </a:path>
            </a:pathLst>
          </a:custGeom>
          <a:blipFill>
            <a:blip r:embed="rId4"/>
            <a:stretch>
              <a:fillRect l="0" t="0" r="0" b="0"/>
            </a:stretch>
          </a:blipFill>
        </p:spPr>
      </p:sp>
      <p:sp>
        <p:nvSpPr>
          <p:cNvPr name="TextBox 8" id="8"/>
          <p:cNvSpPr txBox="true"/>
          <p:nvPr/>
        </p:nvSpPr>
        <p:spPr>
          <a:xfrm rot="0">
            <a:off x="2964154" y="1337942"/>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FF914D"/>
                </a:solidFill>
                <a:latin typeface="HK Modular"/>
                <a:ea typeface="HK Modular"/>
                <a:cs typeface="HK Modular"/>
                <a:sym typeface="HK Modular"/>
              </a:rPr>
              <a:t>NORMALIZACION 2FN</a:t>
            </a:r>
          </a:p>
        </p:txBody>
      </p:sp>
      <p:sp>
        <p:nvSpPr>
          <p:cNvPr name="TextBox 9" id="9"/>
          <p:cNvSpPr txBox="true"/>
          <p:nvPr/>
        </p:nvSpPr>
        <p:spPr>
          <a:xfrm rot="0">
            <a:off x="1313943" y="2759384"/>
            <a:ext cx="6018553" cy="6970009"/>
          </a:xfrm>
          <a:prstGeom prst="rect">
            <a:avLst/>
          </a:prstGeom>
        </p:spPr>
        <p:txBody>
          <a:bodyPr anchor="t" rtlCol="false" tIns="0" lIns="0" bIns="0" rIns="0">
            <a:spAutoFit/>
          </a:bodyPr>
          <a:lstStyle/>
          <a:p>
            <a:pPr algn="l">
              <a:lnSpc>
                <a:spcPts val="3082"/>
              </a:lnSpc>
            </a:pPr>
            <a:r>
              <a:rPr lang="en-US" sz="2201">
                <a:solidFill>
                  <a:srgbClr val="FFFFFF"/>
                </a:solidFill>
                <a:latin typeface="Poppins"/>
                <a:ea typeface="Poppins"/>
                <a:cs typeface="Poppins"/>
                <a:sym typeface="Poppins"/>
              </a:rPr>
              <a:t>Para estar en la segunda forma normal, a las condiciones de la primera se añade las siguientes:</a:t>
            </a:r>
          </a:p>
          <a:p>
            <a:pPr algn="l" marL="475340" indent="-237670" lvl="1">
              <a:lnSpc>
                <a:spcPts val="3082"/>
              </a:lnSpc>
              <a:buFont typeface="Arial"/>
              <a:buChar char="•"/>
            </a:pPr>
            <a:r>
              <a:rPr lang="en-US" sz="2201">
                <a:solidFill>
                  <a:srgbClr val="FFFFFF"/>
                </a:solidFill>
                <a:latin typeface="Poppins"/>
                <a:ea typeface="Poppins"/>
                <a:cs typeface="Poppins"/>
                <a:sym typeface="Poppins"/>
              </a:rPr>
              <a:t>Los atributos que no forman parte de ninguna clave han de depender funcionalmente de toda la clave primaria.</a:t>
            </a:r>
          </a:p>
          <a:p>
            <a:pPr algn="l" marL="475340" indent="-237670" lvl="1">
              <a:lnSpc>
                <a:spcPts val="3082"/>
              </a:lnSpc>
              <a:buFont typeface="Arial"/>
              <a:buChar char="•"/>
            </a:pPr>
            <a:r>
              <a:rPr lang="en-US" sz="2201">
                <a:solidFill>
                  <a:srgbClr val="FFFFFF"/>
                </a:solidFill>
                <a:latin typeface="Poppins"/>
                <a:ea typeface="Poppins"/>
                <a:cs typeface="Poppins"/>
                <a:sym typeface="Poppins"/>
              </a:rPr>
              <a:t>Comprobamos que todos los atributos no-clave dependen por completo de la clave primaria. Esta dependencia existe si todos los atributos de la clave primaria son necesarios para identificar a los atributos no-clave.</a:t>
            </a:r>
          </a:p>
          <a:p>
            <a:pPr algn="l" marL="475340" indent="-237670" lvl="1">
              <a:lnSpc>
                <a:spcPts val="3082"/>
              </a:lnSpc>
              <a:buFont typeface="Arial"/>
              <a:buChar char="•"/>
            </a:pPr>
            <a:r>
              <a:rPr lang="en-US" sz="2201">
                <a:solidFill>
                  <a:srgbClr val="FFFFFF"/>
                </a:solidFill>
                <a:latin typeface="Poppins"/>
                <a:ea typeface="Poppins"/>
                <a:cs typeface="Poppins"/>
                <a:sym typeface="Poppins"/>
              </a:rPr>
              <a:t>Relegamos a tablas diferentes los atributos no-clave que no dependen de la clave primaria.</a:t>
            </a:r>
          </a:p>
          <a:p>
            <a:pPr algn="l">
              <a:lnSpc>
                <a:spcPts val="3082"/>
              </a:lnSpc>
            </a:pPr>
          </a:p>
          <a:p>
            <a:pPr algn="l">
              <a:lnSpc>
                <a:spcPts val="3082"/>
              </a:lnSpc>
            </a:pPr>
          </a:p>
        </p:txBody>
      </p:sp>
      <p:sp>
        <p:nvSpPr>
          <p:cNvPr name="Freeform 10" id="10"/>
          <p:cNvSpPr/>
          <p:nvPr/>
        </p:nvSpPr>
        <p:spPr>
          <a:xfrm flipH="false" flipV="false" rot="0">
            <a:off x="8083470" y="-527300"/>
            <a:ext cx="2339794" cy="2339794"/>
          </a:xfrm>
          <a:custGeom>
            <a:avLst/>
            <a:gdLst/>
            <a:ahLst/>
            <a:cxnLst/>
            <a:rect r="r" b="b" t="t" l="l"/>
            <a:pathLst>
              <a:path h="2339794" w="2339794">
                <a:moveTo>
                  <a:pt x="0" y="0"/>
                </a:moveTo>
                <a:lnTo>
                  <a:pt x="2339794" y="0"/>
                </a:lnTo>
                <a:lnTo>
                  <a:pt x="2339794" y="2339794"/>
                </a:lnTo>
                <a:lnTo>
                  <a:pt x="0" y="2339794"/>
                </a:lnTo>
                <a:lnTo>
                  <a:pt x="0" y="0"/>
                </a:lnTo>
                <a:close/>
              </a:path>
            </a:pathLst>
          </a:custGeom>
          <a:blipFill>
            <a:blip r:embed="rId5"/>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C800AE">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8818152" y="3006078"/>
            <a:ext cx="4156816" cy="1622867"/>
          </a:xfrm>
          <a:custGeom>
            <a:avLst/>
            <a:gdLst/>
            <a:ahLst/>
            <a:cxnLst/>
            <a:rect r="r" b="b" t="t" l="l"/>
            <a:pathLst>
              <a:path h="1622867" w="4156816">
                <a:moveTo>
                  <a:pt x="0" y="0"/>
                </a:moveTo>
                <a:lnTo>
                  <a:pt x="4156816" y="0"/>
                </a:lnTo>
                <a:lnTo>
                  <a:pt x="4156816" y="1622866"/>
                </a:lnTo>
                <a:lnTo>
                  <a:pt x="0" y="1622866"/>
                </a:lnTo>
                <a:lnTo>
                  <a:pt x="0" y="0"/>
                </a:lnTo>
                <a:close/>
              </a:path>
            </a:pathLst>
          </a:custGeom>
          <a:blipFill>
            <a:blip r:embed="rId3"/>
            <a:stretch>
              <a:fillRect l="0" t="0" r="0" b="0"/>
            </a:stretch>
          </a:blipFill>
        </p:spPr>
      </p:sp>
      <p:sp>
        <p:nvSpPr>
          <p:cNvPr name="Freeform 7" id="7"/>
          <p:cNvSpPr/>
          <p:nvPr/>
        </p:nvSpPr>
        <p:spPr>
          <a:xfrm flipH="false" flipV="false" rot="0">
            <a:off x="8703518" y="5143500"/>
            <a:ext cx="6845168" cy="1359149"/>
          </a:xfrm>
          <a:custGeom>
            <a:avLst/>
            <a:gdLst/>
            <a:ahLst/>
            <a:cxnLst/>
            <a:rect r="r" b="b" t="t" l="l"/>
            <a:pathLst>
              <a:path h="1359149" w="6845168">
                <a:moveTo>
                  <a:pt x="0" y="0"/>
                </a:moveTo>
                <a:lnTo>
                  <a:pt x="6845168" y="0"/>
                </a:lnTo>
                <a:lnTo>
                  <a:pt x="6845168" y="1359149"/>
                </a:lnTo>
                <a:lnTo>
                  <a:pt x="0" y="1359149"/>
                </a:lnTo>
                <a:lnTo>
                  <a:pt x="0" y="0"/>
                </a:lnTo>
                <a:close/>
              </a:path>
            </a:pathLst>
          </a:custGeom>
          <a:blipFill>
            <a:blip r:embed="rId4"/>
            <a:stretch>
              <a:fillRect l="0" t="0" r="0" b="0"/>
            </a:stretch>
          </a:blipFill>
        </p:spPr>
      </p:sp>
      <p:sp>
        <p:nvSpPr>
          <p:cNvPr name="Freeform 8" id="8"/>
          <p:cNvSpPr/>
          <p:nvPr/>
        </p:nvSpPr>
        <p:spPr>
          <a:xfrm flipH="false" flipV="false" rot="0">
            <a:off x="8703518" y="6814553"/>
            <a:ext cx="4121449" cy="2008481"/>
          </a:xfrm>
          <a:custGeom>
            <a:avLst/>
            <a:gdLst/>
            <a:ahLst/>
            <a:cxnLst/>
            <a:rect r="r" b="b" t="t" l="l"/>
            <a:pathLst>
              <a:path h="2008481" w="4121449">
                <a:moveTo>
                  <a:pt x="0" y="0"/>
                </a:moveTo>
                <a:lnTo>
                  <a:pt x="4121449" y="0"/>
                </a:lnTo>
                <a:lnTo>
                  <a:pt x="4121449" y="2008480"/>
                </a:lnTo>
                <a:lnTo>
                  <a:pt x="0" y="2008480"/>
                </a:lnTo>
                <a:lnTo>
                  <a:pt x="0" y="0"/>
                </a:lnTo>
                <a:close/>
              </a:path>
            </a:pathLst>
          </a:custGeom>
          <a:blipFill>
            <a:blip r:embed="rId5"/>
            <a:stretch>
              <a:fillRect l="0" t="0" r="0" b="0"/>
            </a:stretch>
          </a:blipFill>
        </p:spPr>
      </p:sp>
      <p:sp>
        <p:nvSpPr>
          <p:cNvPr name="Freeform 9" id="9"/>
          <p:cNvSpPr/>
          <p:nvPr/>
        </p:nvSpPr>
        <p:spPr>
          <a:xfrm flipH="false" flipV="false" rot="0">
            <a:off x="13480406" y="6814553"/>
            <a:ext cx="4136560" cy="2019327"/>
          </a:xfrm>
          <a:custGeom>
            <a:avLst/>
            <a:gdLst/>
            <a:ahLst/>
            <a:cxnLst/>
            <a:rect r="r" b="b" t="t" l="l"/>
            <a:pathLst>
              <a:path h="2019327" w="4136560">
                <a:moveTo>
                  <a:pt x="0" y="0"/>
                </a:moveTo>
                <a:lnTo>
                  <a:pt x="4136559" y="0"/>
                </a:lnTo>
                <a:lnTo>
                  <a:pt x="4136559" y="2019326"/>
                </a:lnTo>
                <a:lnTo>
                  <a:pt x="0" y="2019326"/>
                </a:lnTo>
                <a:lnTo>
                  <a:pt x="0" y="0"/>
                </a:lnTo>
                <a:close/>
              </a:path>
            </a:pathLst>
          </a:custGeom>
          <a:blipFill>
            <a:blip r:embed="rId6"/>
            <a:stretch>
              <a:fillRect l="0" t="0" r="0" b="0"/>
            </a:stretch>
          </a:blipFill>
        </p:spPr>
      </p:sp>
      <p:sp>
        <p:nvSpPr>
          <p:cNvPr name="TextBox 10" id="10"/>
          <p:cNvSpPr txBox="true"/>
          <p:nvPr/>
        </p:nvSpPr>
        <p:spPr>
          <a:xfrm rot="0">
            <a:off x="2964154" y="1337942"/>
            <a:ext cx="12584532" cy="853854"/>
          </a:xfrm>
          <a:prstGeom prst="rect">
            <a:avLst/>
          </a:prstGeom>
        </p:spPr>
        <p:txBody>
          <a:bodyPr anchor="t" rtlCol="false" tIns="0" lIns="0" bIns="0" rIns="0">
            <a:spAutoFit/>
          </a:bodyPr>
          <a:lstStyle/>
          <a:p>
            <a:pPr algn="ctr">
              <a:lnSpc>
                <a:spcPts val="7012"/>
              </a:lnSpc>
              <a:spcBef>
                <a:spcPct val="0"/>
              </a:spcBef>
            </a:pPr>
            <a:r>
              <a:rPr lang="en-US" sz="5008">
                <a:solidFill>
                  <a:srgbClr val="FF914D"/>
                </a:solidFill>
                <a:latin typeface="HK Modular"/>
                <a:ea typeface="HK Modular"/>
                <a:cs typeface="HK Modular"/>
                <a:sym typeface="HK Modular"/>
              </a:rPr>
              <a:t>NORMALIZACION 3FN</a:t>
            </a:r>
          </a:p>
        </p:txBody>
      </p:sp>
      <p:sp>
        <p:nvSpPr>
          <p:cNvPr name="TextBox 11" id="11"/>
          <p:cNvSpPr txBox="true"/>
          <p:nvPr/>
        </p:nvSpPr>
        <p:spPr>
          <a:xfrm rot="0">
            <a:off x="1193325" y="3171711"/>
            <a:ext cx="6018553" cy="4647082"/>
          </a:xfrm>
          <a:prstGeom prst="rect">
            <a:avLst/>
          </a:prstGeom>
        </p:spPr>
        <p:txBody>
          <a:bodyPr anchor="t" rtlCol="false" tIns="0" lIns="0" bIns="0" rIns="0">
            <a:spAutoFit/>
          </a:bodyPr>
          <a:lstStyle/>
          <a:p>
            <a:pPr algn="l">
              <a:lnSpc>
                <a:spcPts val="3082"/>
              </a:lnSpc>
            </a:pPr>
            <a:r>
              <a:rPr lang="en-US" sz="2201">
                <a:solidFill>
                  <a:srgbClr val="FFFFFF"/>
                </a:solidFill>
                <a:latin typeface="Poppins"/>
                <a:ea typeface="Poppins"/>
                <a:cs typeface="Poppins"/>
                <a:sym typeface="Poppins"/>
              </a:rPr>
              <a:t>En la tercera forma normal debe cumplir las condiciones de las dos primeras y además:</a:t>
            </a:r>
          </a:p>
          <a:p>
            <a:pPr algn="l" marL="475340" indent="-237670" lvl="1">
              <a:lnSpc>
                <a:spcPts val="3082"/>
              </a:lnSpc>
              <a:buFont typeface="Arial"/>
              <a:buChar char="•"/>
            </a:pPr>
            <a:r>
              <a:rPr lang="en-US" sz="2201">
                <a:solidFill>
                  <a:srgbClr val="FFFFFF"/>
                </a:solidFill>
                <a:latin typeface="Poppins"/>
                <a:ea typeface="Poppins"/>
                <a:cs typeface="Poppins"/>
                <a:sym typeface="Poppins"/>
              </a:rPr>
              <a:t>Los atributos no-clave no pueden depender de forma transitiva de una clave candidata (cuando un atributo que no sea clave depende de una clave primaria a través de otro atributo que no sea clave).</a:t>
            </a:r>
          </a:p>
          <a:p>
            <a:pPr algn="l">
              <a:lnSpc>
                <a:spcPts val="3082"/>
              </a:lnSpc>
            </a:pPr>
          </a:p>
          <a:p>
            <a:pPr algn="l">
              <a:lnSpc>
                <a:spcPts val="3082"/>
              </a:lnSpc>
            </a:pPr>
          </a:p>
          <a:p>
            <a:pPr algn="l">
              <a:lnSpc>
                <a:spcPts val="3082"/>
              </a:lnSpc>
            </a:pPr>
          </a:p>
        </p:txBody>
      </p:sp>
      <p:sp>
        <p:nvSpPr>
          <p:cNvPr name="TextBox 12" id="12"/>
          <p:cNvSpPr txBox="true"/>
          <p:nvPr/>
        </p:nvSpPr>
        <p:spPr>
          <a:xfrm rot="0">
            <a:off x="13135129" y="3620262"/>
            <a:ext cx="2835146" cy="346872"/>
          </a:xfrm>
          <a:prstGeom prst="rect">
            <a:avLst/>
          </a:prstGeom>
        </p:spPr>
        <p:txBody>
          <a:bodyPr anchor="t" rtlCol="false" tIns="0" lIns="0" bIns="0" rIns="0">
            <a:spAutoFit/>
          </a:bodyPr>
          <a:lstStyle/>
          <a:p>
            <a:pPr algn="ctr">
              <a:lnSpc>
                <a:spcPts val="2766"/>
              </a:lnSpc>
              <a:spcBef>
                <a:spcPct val="0"/>
              </a:spcBef>
            </a:pPr>
            <a:r>
              <a:rPr lang="en-US" sz="1975">
                <a:solidFill>
                  <a:srgbClr val="FF914D"/>
                </a:solidFill>
                <a:latin typeface="HK Modular"/>
                <a:ea typeface="HK Modular"/>
                <a:cs typeface="HK Modular"/>
                <a:sym typeface="HK Modular"/>
              </a:rPr>
              <a:t>FACTURA</a:t>
            </a:r>
          </a:p>
        </p:txBody>
      </p:sp>
      <p:sp>
        <p:nvSpPr>
          <p:cNvPr name="TextBox 13" id="13"/>
          <p:cNvSpPr txBox="true"/>
          <p:nvPr/>
        </p:nvSpPr>
        <p:spPr>
          <a:xfrm rot="0">
            <a:off x="15269122" y="5567335"/>
            <a:ext cx="2835146" cy="346872"/>
          </a:xfrm>
          <a:prstGeom prst="rect">
            <a:avLst/>
          </a:prstGeom>
        </p:spPr>
        <p:txBody>
          <a:bodyPr anchor="t" rtlCol="false" tIns="0" lIns="0" bIns="0" rIns="0">
            <a:spAutoFit/>
          </a:bodyPr>
          <a:lstStyle/>
          <a:p>
            <a:pPr algn="ctr">
              <a:lnSpc>
                <a:spcPts val="2766"/>
              </a:lnSpc>
              <a:spcBef>
                <a:spcPct val="0"/>
              </a:spcBef>
            </a:pPr>
            <a:r>
              <a:rPr lang="en-US" sz="1975">
                <a:solidFill>
                  <a:srgbClr val="FF914D"/>
                </a:solidFill>
                <a:latin typeface="HK Modular"/>
                <a:ea typeface="HK Modular"/>
                <a:cs typeface="HK Modular"/>
                <a:sym typeface="HK Modular"/>
              </a:rPr>
              <a:t>CLIENTES</a:t>
            </a:r>
          </a:p>
        </p:txBody>
      </p:sp>
      <p:sp>
        <p:nvSpPr>
          <p:cNvPr name="TextBox 14" id="14"/>
          <p:cNvSpPr txBox="true"/>
          <p:nvPr/>
        </p:nvSpPr>
        <p:spPr>
          <a:xfrm rot="0">
            <a:off x="9478987" y="9089733"/>
            <a:ext cx="2835146" cy="346872"/>
          </a:xfrm>
          <a:prstGeom prst="rect">
            <a:avLst/>
          </a:prstGeom>
        </p:spPr>
        <p:txBody>
          <a:bodyPr anchor="t" rtlCol="false" tIns="0" lIns="0" bIns="0" rIns="0">
            <a:spAutoFit/>
          </a:bodyPr>
          <a:lstStyle/>
          <a:p>
            <a:pPr algn="ctr">
              <a:lnSpc>
                <a:spcPts val="2766"/>
              </a:lnSpc>
              <a:spcBef>
                <a:spcPct val="0"/>
              </a:spcBef>
            </a:pPr>
            <a:r>
              <a:rPr lang="en-US" sz="1975">
                <a:solidFill>
                  <a:srgbClr val="FF914D"/>
                </a:solidFill>
                <a:latin typeface="HK Modular"/>
                <a:ea typeface="HK Modular"/>
                <a:cs typeface="HK Modular"/>
                <a:sym typeface="HK Modular"/>
              </a:rPr>
              <a:t>ITEMS</a:t>
            </a:r>
          </a:p>
        </p:txBody>
      </p:sp>
      <p:sp>
        <p:nvSpPr>
          <p:cNvPr name="TextBox 15" id="15"/>
          <p:cNvSpPr txBox="true"/>
          <p:nvPr/>
        </p:nvSpPr>
        <p:spPr>
          <a:xfrm rot="0">
            <a:off x="14242540" y="9061051"/>
            <a:ext cx="2835146" cy="346872"/>
          </a:xfrm>
          <a:prstGeom prst="rect">
            <a:avLst/>
          </a:prstGeom>
        </p:spPr>
        <p:txBody>
          <a:bodyPr anchor="t" rtlCol="false" tIns="0" lIns="0" bIns="0" rIns="0">
            <a:spAutoFit/>
          </a:bodyPr>
          <a:lstStyle/>
          <a:p>
            <a:pPr algn="ctr">
              <a:lnSpc>
                <a:spcPts val="2766"/>
              </a:lnSpc>
              <a:spcBef>
                <a:spcPct val="0"/>
              </a:spcBef>
            </a:pPr>
            <a:r>
              <a:rPr lang="en-US" sz="1975">
                <a:solidFill>
                  <a:srgbClr val="FF914D"/>
                </a:solidFill>
                <a:latin typeface="HK Modular"/>
                <a:ea typeface="HK Modular"/>
                <a:cs typeface="HK Modular"/>
                <a:sym typeface="HK Modular"/>
              </a:rPr>
              <a:t>ARTICULOS</a:t>
            </a:r>
          </a:p>
        </p:txBody>
      </p:sp>
      <p:sp>
        <p:nvSpPr>
          <p:cNvPr name="Freeform 16" id="16"/>
          <p:cNvSpPr/>
          <p:nvPr/>
        </p:nvSpPr>
        <p:spPr>
          <a:xfrm flipH="false" flipV="false" rot="0">
            <a:off x="8083470" y="-527300"/>
            <a:ext cx="2339794" cy="2339794"/>
          </a:xfrm>
          <a:custGeom>
            <a:avLst/>
            <a:gdLst/>
            <a:ahLst/>
            <a:cxnLst/>
            <a:rect r="r" b="b" t="t" l="l"/>
            <a:pathLst>
              <a:path h="2339794" w="2339794">
                <a:moveTo>
                  <a:pt x="0" y="0"/>
                </a:moveTo>
                <a:lnTo>
                  <a:pt x="2339794" y="0"/>
                </a:lnTo>
                <a:lnTo>
                  <a:pt x="2339794" y="2339794"/>
                </a:lnTo>
                <a:lnTo>
                  <a:pt x="0" y="2339794"/>
                </a:lnTo>
                <a:lnTo>
                  <a:pt x="0" y="0"/>
                </a:lnTo>
                <a:close/>
              </a:path>
            </a:pathLst>
          </a:custGeom>
          <a:blipFill>
            <a:blip r:embed="rId7"/>
            <a:stretch>
              <a:fillRect l="0" t="0" r="0" b="0"/>
            </a:stretch>
          </a:blipFill>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C800AE">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3598197" y="6563361"/>
            <a:ext cx="2037981" cy="3071324"/>
          </a:xfrm>
          <a:custGeom>
            <a:avLst/>
            <a:gdLst/>
            <a:ahLst/>
            <a:cxnLst/>
            <a:rect r="r" b="b" t="t" l="l"/>
            <a:pathLst>
              <a:path h="3071324" w="2037981">
                <a:moveTo>
                  <a:pt x="0" y="0"/>
                </a:moveTo>
                <a:lnTo>
                  <a:pt x="2037981" y="0"/>
                </a:lnTo>
                <a:lnTo>
                  <a:pt x="2037981" y="3071324"/>
                </a:lnTo>
                <a:lnTo>
                  <a:pt x="0" y="3071324"/>
                </a:lnTo>
                <a:lnTo>
                  <a:pt x="0" y="0"/>
                </a:lnTo>
                <a:close/>
              </a:path>
            </a:pathLst>
          </a:custGeom>
          <a:blipFill>
            <a:blip r:embed="rId3"/>
            <a:stretch>
              <a:fillRect l="0" t="0" r="0" b="0"/>
            </a:stretch>
          </a:blipFill>
        </p:spPr>
      </p:sp>
      <p:sp>
        <p:nvSpPr>
          <p:cNvPr name="Freeform 7" id="7"/>
          <p:cNvSpPr/>
          <p:nvPr/>
        </p:nvSpPr>
        <p:spPr>
          <a:xfrm flipH="false" flipV="false" rot="0">
            <a:off x="13080387" y="7016116"/>
            <a:ext cx="1655909" cy="2778559"/>
          </a:xfrm>
          <a:custGeom>
            <a:avLst/>
            <a:gdLst/>
            <a:ahLst/>
            <a:cxnLst/>
            <a:rect r="r" b="b" t="t" l="l"/>
            <a:pathLst>
              <a:path h="2778559" w="1655909">
                <a:moveTo>
                  <a:pt x="0" y="0"/>
                </a:moveTo>
                <a:lnTo>
                  <a:pt x="1655908" y="0"/>
                </a:lnTo>
                <a:lnTo>
                  <a:pt x="1655908" y="2778559"/>
                </a:lnTo>
                <a:lnTo>
                  <a:pt x="0" y="2778559"/>
                </a:lnTo>
                <a:lnTo>
                  <a:pt x="0" y="0"/>
                </a:lnTo>
                <a:close/>
              </a:path>
            </a:pathLst>
          </a:custGeom>
          <a:blipFill>
            <a:blip r:embed="rId4"/>
            <a:stretch>
              <a:fillRect l="0" t="0" r="0" b="0"/>
            </a:stretch>
          </a:blipFill>
        </p:spPr>
      </p:sp>
      <p:sp>
        <p:nvSpPr>
          <p:cNvPr name="TextBox 8" id="8"/>
          <p:cNvSpPr txBox="true"/>
          <p:nvPr/>
        </p:nvSpPr>
        <p:spPr>
          <a:xfrm rot="0">
            <a:off x="2851734" y="452117"/>
            <a:ext cx="12584532" cy="1739679"/>
          </a:xfrm>
          <a:prstGeom prst="rect">
            <a:avLst/>
          </a:prstGeom>
        </p:spPr>
        <p:txBody>
          <a:bodyPr anchor="t" rtlCol="false" tIns="0" lIns="0" bIns="0" rIns="0">
            <a:spAutoFit/>
          </a:bodyPr>
          <a:lstStyle/>
          <a:p>
            <a:pPr algn="ctr">
              <a:lnSpc>
                <a:spcPts val="7012"/>
              </a:lnSpc>
              <a:spcBef>
                <a:spcPct val="0"/>
              </a:spcBef>
            </a:pPr>
            <a:r>
              <a:rPr lang="en-US" sz="5008">
                <a:solidFill>
                  <a:srgbClr val="FF914D"/>
                </a:solidFill>
                <a:latin typeface="HK Modular"/>
                <a:ea typeface="HK Modular"/>
                <a:cs typeface="HK Modular"/>
                <a:sym typeface="HK Modular"/>
              </a:rPr>
              <a:t>AGREGACION VS COMPOSICION</a:t>
            </a:r>
          </a:p>
        </p:txBody>
      </p:sp>
      <p:sp>
        <p:nvSpPr>
          <p:cNvPr name="TextBox 9" id="9"/>
          <p:cNvSpPr txBox="true"/>
          <p:nvPr/>
        </p:nvSpPr>
        <p:spPr>
          <a:xfrm rot="0">
            <a:off x="1167526" y="3180505"/>
            <a:ext cx="7176975"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Agregacion es un tipo de asociacion que indica que una clase es parte de otra</a:t>
            </a:r>
          </a:p>
        </p:txBody>
      </p:sp>
      <p:sp>
        <p:nvSpPr>
          <p:cNvPr name="TextBox 10" id="10"/>
          <p:cNvSpPr txBox="true"/>
          <p:nvPr/>
        </p:nvSpPr>
        <p:spPr>
          <a:xfrm rot="0">
            <a:off x="1167526" y="4228464"/>
            <a:ext cx="7176975"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Los componentes pueden ser compartidos por varios compuestos</a:t>
            </a:r>
          </a:p>
        </p:txBody>
      </p:sp>
      <p:sp>
        <p:nvSpPr>
          <p:cNvPr name="TextBox 11" id="11"/>
          <p:cNvSpPr txBox="true"/>
          <p:nvPr/>
        </p:nvSpPr>
        <p:spPr>
          <a:xfrm rot="0">
            <a:off x="1028700" y="5276850"/>
            <a:ext cx="7176975"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La destruccion no conlleva a la destruccion de los demas componentes</a:t>
            </a:r>
          </a:p>
        </p:txBody>
      </p:sp>
      <p:sp>
        <p:nvSpPr>
          <p:cNvPr name="TextBox 12" id="12"/>
          <p:cNvSpPr txBox="true"/>
          <p:nvPr/>
        </p:nvSpPr>
        <p:spPr>
          <a:xfrm rot="0">
            <a:off x="10082325" y="2889884"/>
            <a:ext cx="7176975" cy="18294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Composicion es una forma fuerte de asociacion donde la vida de la clase contenida debe coincidir con la vida de la clase contenedor</a:t>
            </a:r>
          </a:p>
        </p:txBody>
      </p:sp>
      <p:sp>
        <p:nvSpPr>
          <p:cNvPr name="TextBox 13" id="13"/>
          <p:cNvSpPr txBox="true"/>
          <p:nvPr/>
        </p:nvSpPr>
        <p:spPr>
          <a:xfrm rot="0">
            <a:off x="10082325" y="4852670"/>
            <a:ext cx="7176975"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Los componentes no pueden ser compartidos por varios compuestos</a:t>
            </a:r>
          </a:p>
        </p:txBody>
      </p:sp>
      <p:sp>
        <p:nvSpPr>
          <p:cNvPr name="TextBox 14" id="14"/>
          <p:cNvSpPr txBox="true"/>
          <p:nvPr/>
        </p:nvSpPr>
        <p:spPr>
          <a:xfrm rot="0">
            <a:off x="9969033" y="5901055"/>
            <a:ext cx="7176975"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La destruccion conlleva a la destruccion de los demas componentes</a:t>
            </a:r>
          </a:p>
        </p:txBody>
      </p:sp>
      <p:sp>
        <p:nvSpPr>
          <p:cNvPr name="Freeform 15" id="15"/>
          <p:cNvSpPr/>
          <p:nvPr/>
        </p:nvSpPr>
        <p:spPr>
          <a:xfrm flipH="false" flipV="false" rot="0">
            <a:off x="2067175" y="199685"/>
            <a:ext cx="2339794" cy="2339794"/>
          </a:xfrm>
          <a:custGeom>
            <a:avLst/>
            <a:gdLst/>
            <a:ahLst/>
            <a:cxnLst/>
            <a:rect r="r" b="b" t="t" l="l"/>
            <a:pathLst>
              <a:path h="2339794" w="2339794">
                <a:moveTo>
                  <a:pt x="0" y="0"/>
                </a:moveTo>
                <a:lnTo>
                  <a:pt x="2339794" y="0"/>
                </a:lnTo>
                <a:lnTo>
                  <a:pt x="2339794" y="2339794"/>
                </a:lnTo>
                <a:lnTo>
                  <a:pt x="0" y="2339794"/>
                </a:lnTo>
                <a:lnTo>
                  <a:pt x="0" y="0"/>
                </a:lnTo>
                <a:close/>
              </a:path>
            </a:pathLst>
          </a:custGeom>
          <a:blipFill>
            <a:blip r:embed="rId5"/>
            <a:stretch>
              <a:fillRect l="0" t="0" r="0" b="0"/>
            </a:stretch>
          </a:blipFill>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C800AE">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C800AE">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C800AE">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392623" y="2740960"/>
            <a:ext cx="15721487" cy="4633631"/>
          </a:xfrm>
          <a:prstGeom prst="rect">
            <a:avLst/>
          </a:prstGeom>
        </p:spPr>
        <p:txBody>
          <a:bodyPr anchor="t" rtlCol="false" tIns="0" lIns="0" bIns="0" rIns="0">
            <a:spAutoFit/>
          </a:bodyPr>
          <a:lstStyle/>
          <a:p>
            <a:pPr algn="ctr">
              <a:lnSpc>
                <a:spcPts val="12353"/>
              </a:lnSpc>
              <a:spcBef>
                <a:spcPct val="0"/>
              </a:spcBef>
            </a:pPr>
            <a:r>
              <a:rPr lang="en-US" sz="8823">
                <a:solidFill>
                  <a:srgbClr val="FF009D"/>
                </a:solidFill>
                <a:latin typeface="HK Modular"/>
                <a:ea typeface="HK Modular"/>
                <a:cs typeface="HK Modular"/>
                <a:sym typeface="HK Modular"/>
              </a:rPr>
              <a:t>MODULO DE DIAGRAMACION BD RELACIONAL</a:t>
            </a:r>
          </a:p>
        </p:txBody>
      </p:sp>
      <p:sp>
        <p:nvSpPr>
          <p:cNvPr name="Freeform 13" id="13"/>
          <p:cNvSpPr/>
          <p:nvPr/>
        </p:nvSpPr>
        <p:spPr>
          <a:xfrm flipH="false" flipV="false" rot="0">
            <a:off x="7619646" y="-527300"/>
            <a:ext cx="3439709" cy="3439709"/>
          </a:xfrm>
          <a:custGeom>
            <a:avLst/>
            <a:gdLst/>
            <a:ahLst/>
            <a:cxnLst/>
            <a:rect r="r" b="b" t="t" l="l"/>
            <a:pathLst>
              <a:path h="3439709" w="3439709">
                <a:moveTo>
                  <a:pt x="0" y="0"/>
                </a:moveTo>
                <a:lnTo>
                  <a:pt x="3439710" y="0"/>
                </a:lnTo>
                <a:lnTo>
                  <a:pt x="3439710" y="3439710"/>
                </a:lnTo>
                <a:lnTo>
                  <a:pt x="0" y="3439710"/>
                </a:lnTo>
                <a:lnTo>
                  <a:pt x="0" y="0"/>
                </a:lnTo>
                <a:close/>
              </a:path>
            </a:pathLst>
          </a:custGeom>
          <a:blipFill>
            <a:blip r:embed="rId3"/>
            <a:stretch>
              <a:fillRect l="0" t="0" r="0" b="0"/>
            </a:stretch>
          </a:blip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C800AE">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028700" y="1337942"/>
            <a:ext cx="16552439" cy="853854"/>
          </a:xfrm>
          <a:prstGeom prst="rect">
            <a:avLst/>
          </a:prstGeom>
        </p:spPr>
        <p:txBody>
          <a:bodyPr anchor="t" rtlCol="false" tIns="0" lIns="0" bIns="0" rIns="0">
            <a:spAutoFit/>
          </a:bodyPr>
          <a:lstStyle/>
          <a:p>
            <a:pPr algn="ctr">
              <a:lnSpc>
                <a:spcPts val="7012"/>
              </a:lnSpc>
              <a:spcBef>
                <a:spcPct val="0"/>
              </a:spcBef>
            </a:pPr>
            <a:r>
              <a:rPr lang="en-US" sz="5008">
                <a:solidFill>
                  <a:srgbClr val="FF914D"/>
                </a:solidFill>
                <a:latin typeface="HK Modular"/>
                <a:ea typeface="HK Modular"/>
                <a:cs typeface="HK Modular"/>
                <a:sym typeface="HK Modular"/>
              </a:rPr>
              <a:t>MODELO ENTIDAD RELACION</a:t>
            </a:r>
          </a:p>
        </p:txBody>
      </p:sp>
      <p:sp>
        <p:nvSpPr>
          <p:cNvPr name="Freeform 7" id="7"/>
          <p:cNvSpPr/>
          <p:nvPr/>
        </p:nvSpPr>
        <p:spPr>
          <a:xfrm flipH="false" flipV="false" rot="0">
            <a:off x="7274873" y="2763055"/>
            <a:ext cx="9838113" cy="5656915"/>
          </a:xfrm>
          <a:custGeom>
            <a:avLst/>
            <a:gdLst/>
            <a:ahLst/>
            <a:cxnLst/>
            <a:rect r="r" b="b" t="t" l="l"/>
            <a:pathLst>
              <a:path h="5656915" w="9838113">
                <a:moveTo>
                  <a:pt x="0" y="0"/>
                </a:moveTo>
                <a:lnTo>
                  <a:pt x="9838113" y="0"/>
                </a:lnTo>
                <a:lnTo>
                  <a:pt x="9838113" y="5656915"/>
                </a:lnTo>
                <a:lnTo>
                  <a:pt x="0" y="5656915"/>
                </a:lnTo>
                <a:lnTo>
                  <a:pt x="0" y="0"/>
                </a:lnTo>
                <a:close/>
              </a:path>
            </a:pathLst>
          </a:custGeom>
          <a:blipFill>
            <a:blip r:embed="rId3"/>
            <a:stretch>
              <a:fillRect l="0" t="0" r="0" b="0"/>
            </a:stretch>
          </a:blipFill>
        </p:spPr>
      </p:sp>
      <p:sp>
        <p:nvSpPr>
          <p:cNvPr name="TextBox 8" id="8"/>
          <p:cNvSpPr txBox="true"/>
          <p:nvPr/>
        </p:nvSpPr>
        <p:spPr>
          <a:xfrm rot="0">
            <a:off x="1028700" y="2900537"/>
            <a:ext cx="5728807" cy="6630270"/>
          </a:xfrm>
          <a:prstGeom prst="rect">
            <a:avLst/>
          </a:prstGeom>
        </p:spPr>
        <p:txBody>
          <a:bodyPr anchor="t" rtlCol="false" tIns="0" lIns="0" bIns="0" rIns="0">
            <a:spAutoFit/>
          </a:bodyPr>
          <a:lstStyle/>
          <a:p>
            <a:pPr algn="ctr" marL="451320" indent="-225660" lvl="1">
              <a:lnSpc>
                <a:spcPts val="2926"/>
              </a:lnSpc>
              <a:buFont typeface="Arial"/>
              <a:buChar char="•"/>
            </a:pPr>
            <a:r>
              <a:rPr lang="en-US" sz="2090">
                <a:solidFill>
                  <a:srgbClr val="FFFFFF"/>
                </a:solidFill>
                <a:latin typeface="Poppins"/>
                <a:ea typeface="Poppins"/>
                <a:cs typeface="Poppins"/>
                <a:sym typeface="Poppins"/>
              </a:rPr>
              <a:t>Muestra la estructura lógica de la base, incluidas las relaciones y limitaciones que determinan como se almacenan los datos y como se accede a ellos.</a:t>
            </a:r>
          </a:p>
          <a:p>
            <a:pPr algn="ctr" marL="451320" indent="-225660" lvl="1">
              <a:lnSpc>
                <a:spcPts val="2926"/>
              </a:lnSpc>
              <a:buFont typeface="Arial"/>
              <a:buChar char="•"/>
            </a:pPr>
            <a:r>
              <a:rPr lang="en-US" sz="2090">
                <a:solidFill>
                  <a:srgbClr val="FFFFFF"/>
                </a:solidFill>
                <a:latin typeface="Poppins"/>
                <a:ea typeface="Poppins"/>
                <a:cs typeface="Poppins"/>
                <a:sym typeface="Poppins"/>
              </a:rPr>
              <a:t>El modelo relacional es el mas común, ordenando los datos en tablas, también conocidas como relaciones, cada columna enumera un atributo de la entidad, cada fila o tupla incluye datos sobre una instancia especifica de la entidad</a:t>
            </a:r>
          </a:p>
          <a:p>
            <a:pPr algn="ctr" marL="451320" indent="-225660" lvl="1">
              <a:lnSpc>
                <a:spcPts val="2926"/>
              </a:lnSpc>
              <a:buFont typeface="Arial"/>
              <a:buChar char="•"/>
            </a:pPr>
            <a:r>
              <a:rPr lang="en-US" sz="2090">
                <a:solidFill>
                  <a:srgbClr val="FFFFFF"/>
                </a:solidFill>
                <a:latin typeface="Poppins"/>
                <a:ea typeface="Poppins"/>
                <a:cs typeface="Poppins"/>
                <a:sym typeface="Poppins"/>
              </a:rPr>
              <a:t>El modelo Entidad relación es utilizado para diseñar BD conceptualmente, las entidades tienen ciertos atributos que en conjunto forman su dominio, la cardinalidad o relaciones también se representan en diagramas.</a:t>
            </a:r>
          </a:p>
          <a:p>
            <a:pPr algn="ctr">
              <a:lnSpc>
                <a:spcPts val="2926"/>
              </a:lnSpc>
            </a:pPr>
          </a:p>
        </p:txBody>
      </p:sp>
      <p:sp>
        <p:nvSpPr>
          <p:cNvPr name="Freeform 9" id="9"/>
          <p:cNvSpPr/>
          <p:nvPr/>
        </p:nvSpPr>
        <p:spPr>
          <a:xfrm flipH="false" flipV="false" rot="0">
            <a:off x="8083470" y="-527300"/>
            <a:ext cx="2339794" cy="2339794"/>
          </a:xfrm>
          <a:custGeom>
            <a:avLst/>
            <a:gdLst/>
            <a:ahLst/>
            <a:cxnLst/>
            <a:rect r="r" b="b" t="t" l="l"/>
            <a:pathLst>
              <a:path h="2339794" w="2339794">
                <a:moveTo>
                  <a:pt x="0" y="0"/>
                </a:moveTo>
                <a:lnTo>
                  <a:pt x="2339794" y="0"/>
                </a:lnTo>
                <a:lnTo>
                  <a:pt x="2339794" y="2339794"/>
                </a:lnTo>
                <a:lnTo>
                  <a:pt x="0" y="2339794"/>
                </a:lnTo>
                <a:lnTo>
                  <a:pt x="0" y="0"/>
                </a:lnTo>
                <a:close/>
              </a:path>
            </a:pathLst>
          </a:custGeom>
          <a:blipFill>
            <a:blip r:embed="rId4"/>
            <a:stretch>
              <a:fillRect l="0" t="0" r="0" b="0"/>
            </a:stretch>
          </a:blipFill>
        </p:spPr>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C800AE">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4972461" y="4366918"/>
            <a:ext cx="8940899" cy="4554009"/>
          </a:xfrm>
          <a:custGeom>
            <a:avLst/>
            <a:gdLst/>
            <a:ahLst/>
            <a:cxnLst/>
            <a:rect r="r" b="b" t="t" l="l"/>
            <a:pathLst>
              <a:path h="4554009" w="8940899">
                <a:moveTo>
                  <a:pt x="0" y="0"/>
                </a:moveTo>
                <a:lnTo>
                  <a:pt x="8940899" y="0"/>
                </a:lnTo>
                <a:lnTo>
                  <a:pt x="8940899" y="4554009"/>
                </a:lnTo>
                <a:lnTo>
                  <a:pt x="0" y="4554009"/>
                </a:lnTo>
                <a:lnTo>
                  <a:pt x="0" y="0"/>
                </a:lnTo>
                <a:close/>
              </a:path>
            </a:pathLst>
          </a:custGeom>
          <a:blipFill>
            <a:blip r:embed="rId3"/>
            <a:stretch>
              <a:fillRect l="0" t="0" r="0" b="0"/>
            </a:stretch>
          </a:blipFill>
        </p:spPr>
      </p:sp>
      <p:sp>
        <p:nvSpPr>
          <p:cNvPr name="TextBox 7" id="7"/>
          <p:cNvSpPr txBox="true"/>
          <p:nvPr/>
        </p:nvSpPr>
        <p:spPr>
          <a:xfrm rot="0">
            <a:off x="3720250" y="1662732"/>
            <a:ext cx="11445321" cy="2080302"/>
          </a:xfrm>
          <a:prstGeom prst="rect">
            <a:avLst/>
          </a:prstGeom>
        </p:spPr>
        <p:txBody>
          <a:bodyPr anchor="t" rtlCol="false" tIns="0" lIns="0" bIns="0" rIns="0">
            <a:spAutoFit/>
          </a:bodyPr>
          <a:lstStyle/>
          <a:p>
            <a:pPr algn="ctr">
              <a:lnSpc>
                <a:spcPts val="5527"/>
              </a:lnSpc>
              <a:spcBef>
                <a:spcPct val="0"/>
              </a:spcBef>
            </a:pPr>
            <a:r>
              <a:rPr lang="en-US" sz="3948">
                <a:solidFill>
                  <a:srgbClr val="FF914D"/>
                </a:solidFill>
                <a:latin typeface="HK Modular"/>
                <a:ea typeface="HK Modular"/>
                <a:cs typeface="HK Modular"/>
                <a:sym typeface="HK Modular"/>
              </a:rPr>
              <a:t>COMO IMPLEMENTAR UNA BASE DE DATOS RELACIONAL EN MI API?</a:t>
            </a:r>
          </a:p>
        </p:txBody>
      </p:sp>
      <p:sp>
        <p:nvSpPr>
          <p:cNvPr name="Freeform 8" id="8"/>
          <p:cNvSpPr/>
          <p:nvPr/>
        </p:nvSpPr>
        <p:spPr>
          <a:xfrm flipH="false" flipV="false" rot="0">
            <a:off x="8083470" y="-527300"/>
            <a:ext cx="2339794" cy="2339794"/>
          </a:xfrm>
          <a:custGeom>
            <a:avLst/>
            <a:gdLst/>
            <a:ahLst/>
            <a:cxnLst/>
            <a:rect r="r" b="b" t="t" l="l"/>
            <a:pathLst>
              <a:path h="2339794" w="2339794">
                <a:moveTo>
                  <a:pt x="0" y="0"/>
                </a:moveTo>
                <a:lnTo>
                  <a:pt x="2339794" y="0"/>
                </a:lnTo>
                <a:lnTo>
                  <a:pt x="2339794" y="2339794"/>
                </a:lnTo>
                <a:lnTo>
                  <a:pt x="0" y="2339794"/>
                </a:lnTo>
                <a:lnTo>
                  <a:pt x="0" y="0"/>
                </a:lnTo>
                <a:close/>
              </a:path>
            </a:pathLst>
          </a:custGeom>
          <a:blipFill>
            <a:blip r:embed="rId4"/>
            <a:stretch>
              <a:fillRect l="0" t="0" r="0" b="0"/>
            </a:stretch>
          </a:blipFill>
        </p:spPr>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C800AE">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532254" y="3333043"/>
            <a:ext cx="992891" cy="992891"/>
          </a:xfrm>
          <a:custGeom>
            <a:avLst/>
            <a:gdLst/>
            <a:ahLst/>
            <a:cxnLst/>
            <a:rect r="r" b="b" t="t" l="l"/>
            <a:pathLst>
              <a:path h="992891" w="992891">
                <a:moveTo>
                  <a:pt x="0" y="0"/>
                </a:moveTo>
                <a:lnTo>
                  <a:pt x="992892" y="0"/>
                </a:lnTo>
                <a:lnTo>
                  <a:pt x="992892" y="992892"/>
                </a:lnTo>
                <a:lnTo>
                  <a:pt x="0" y="99289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0790993" y="6194966"/>
            <a:ext cx="6609066" cy="1450145"/>
          </a:xfrm>
          <a:custGeom>
            <a:avLst/>
            <a:gdLst/>
            <a:ahLst/>
            <a:cxnLst/>
            <a:rect r="r" b="b" t="t" l="l"/>
            <a:pathLst>
              <a:path h="1450145" w="6609066">
                <a:moveTo>
                  <a:pt x="0" y="0"/>
                </a:moveTo>
                <a:lnTo>
                  <a:pt x="6609066" y="0"/>
                </a:lnTo>
                <a:lnTo>
                  <a:pt x="6609066" y="1450144"/>
                </a:lnTo>
                <a:lnTo>
                  <a:pt x="0" y="1450144"/>
                </a:lnTo>
                <a:lnTo>
                  <a:pt x="0" y="0"/>
                </a:lnTo>
                <a:close/>
              </a:path>
            </a:pathLst>
          </a:custGeom>
          <a:blipFill>
            <a:blip r:embed="rId5"/>
            <a:stretch>
              <a:fillRect l="0" t="0" r="0" b="0"/>
            </a:stretch>
          </a:blipFill>
        </p:spPr>
      </p:sp>
      <p:sp>
        <p:nvSpPr>
          <p:cNvPr name="Freeform 8" id="8"/>
          <p:cNvSpPr/>
          <p:nvPr/>
        </p:nvSpPr>
        <p:spPr>
          <a:xfrm flipH="false" flipV="false" rot="0">
            <a:off x="1313943" y="5057704"/>
            <a:ext cx="8486053" cy="4200596"/>
          </a:xfrm>
          <a:custGeom>
            <a:avLst/>
            <a:gdLst/>
            <a:ahLst/>
            <a:cxnLst/>
            <a:rect r="r" b="b" t="t" l="l"/>
            <a:pathLst>
              <a:path h="4200596" w="8486053">
                <a:moveTo>
                  <a:pt x="0" y="0"/>
                </a:moveTo>
                <a:lnTo>
                  <a:pt x="8486053" y="0"/>
                </a:lnTo>
                <a:lnTo>
                  <a:pt x="8486053" y="4200596"/>
                </a:lnTo>
                <a:lnTo>
                  <a:pt x="0" y="4200596"/>
                </a:lnTo>
                <a:lnTo>
                  <a:pt x="0" y="0"/>
                </a:lnTo>
                <a:close/>
              </a:path>
            </a:pathLst>
          </a:custGeom>
          <a:blipFill>
            <a:blip r:embed="rId6"/>
            <a:stretch>
              <a:fillRect l="0" t="0" r="0" b="0"/>
            </a:stretch>
          </a:blipFill>
        </p:spPr>
      </p:sp>
      <p:sp>
        <p:nvSpPr>
          <p:cNvPr name="Freeform 9" id="9"/>
          <p:cNvSpPr/>
          <p:nvPr/>
        </p:nvSpPr>
        <p:spPr>
          <a:xfrm flipH="false" flipV="false" rot="0">
            <a:off x="11235062" y="7924062"/>
            <a:ext cx="4313624" cy="1712378"/>
          </a:xfrm>
          <a:custGeom>
            <a:avLst/>
            <a:gdLst/>
            <a:ahLst/>
            <a:cxnLst/>
            <a:rect r="r" b="b" t="t" l="l"/>
            <a:pathLst>
              <a:path h="1712378" w="4313624">
                <a:moveTo>
                  <a:pt x="0" y="0"/>
                </a:moveTo>
                <a:lnTo>
                  <a:pt x="4313624" y="0"/>
                </a:lnTo>
                <a:lnTo>
                  <a:pt x="4313624" y="1712378"/>
                </a:lnTo>
                <a:lnTo>
                  <a:pt x="0" y="1712378"/>
                </a:lnTo>
                <a:lnTo>
                  <a:pt x="0" y="0"/>
                </a:lnTo>
                <a:close/>
              </a:path>
            </a:pathLst>
          </a:custGeom>
          <a:blipFill>
            <a:blip r:embed="rId7"/>
            <a:stretch>
              <a:fillRect l="0" t="0" r="0" b="0"/>
            </a:stretch>
          </a:blipFill>
        </p:spPr>
      </p:sp>
      <p:sp>
        <p:nvSpPr>
          <p:cNvPr name="Freeform 10" id="10"/>
          <p:cNvSpPr/>
          <p:nvPr/>
        </p:nvSpPr>
        <p:spPr>
          <a:xfrm flipH="false" flipV="false" rot="0">
            <a:off x="11496328" y="4600504"/>
            <a:ext cx="5198396" cy="1247615"/>
          </a:xfrm>
          <a:custGeom>
            <a:avLst/>
            <a:gdLst/>
            <a:ahLst/>
            <a:cxnLst/>
            <a:rect r="r" b="b" t="t" l="l"/>
            <a:pathLst>
              <a:path h="1247615" w="5198396">
                <a:moveTo>
                  <a:pt x="0" y="0"/>
                </a:moveTo>
                <a:lnTo>
                  <a:pt x="5198396" y="0"/>
                </a:lnTo>
                <a:lnTo>
                  <a:pt x="5198396" y="1247615"/>
                </a:lnTo>
                <a:lnTo>
                  <a:pt x="0" y="1247615"/>
                </a:lnTo>
                <a:lnTo>
                  <a:pt x="0" y="0"/>
                </a:lnTo>
                <a:close/>
              </a:path>
            </a:pathLst>
          </a:custGeom>
          <a:blipFill>
            <a:blip r:embed="rId8"/>
            <a:stretch>
              <a:fillRect l="0" t="0" r="0" b="0"/>
            </a:stretch>
          </a:blipFill>
        </p:spPr>
      </p:sp>
      <p:sp>
        <p:nvSpPr>
          <p:cNvPr name="TextBox 11" id="11"/>
          <p:cNvSpPr txBox="true"/>
          <p:nvPr/>
        </p:nvSpPr>
        <p:spPr>
          <a:xfrm rot="0">
            <a:off x="3754713" y="835632"/>
            <a:ext cx="11445321" cy="2080302"/>
          </a:xfrm>
          <a:prstGeom prst="rect">
            <a:avLst/>
          </a:prstGeom>
        </p:spPr>
        <p:txBody>
          <a:bodyPr anchor="t" rtlCol="false" tIns="0" lIns="0" bIns="0" rIns="0">
            <a:spAutoFit/>
          </a:bodyPr>
          <a:lstStyle/>
          <a:p>
            <a:pPr algn="ctr">
              <a:lnSpc>
                <a:spcPts val="5527"/>
              </a:lnSpc>
              <a:spcBef>
                <a:spcPct val="0"/>
              </a:spcBef>
            </a:pPr>
            <a:r>
              <a:rPr lang="en-US" sz="3948">
                <a:solidFill>
                  <a:srgbClr val="FF914D"/>
                </a:solidFill>
                <a:latin typeface="HK Modular"/>
                <a:ea typeface="HK Modular"/>
                <a:cs typeface="HK Modular"/>
                <a:sym typeface="HK Modular"/>
              </a:rPr>
              <a:t>COMO IMPLEMENTAR UNA BASE DE DATOS RELACIONAL EN MI API?</a:t>
            </a:r>
          </a:p>
        </p:txBody>
      </p:sp>
      <p:sp>
        <p:nvSpPr>
          <p:cNvPr name="TextBox 12" id="12"/>
          <p:cNvSpPr txBox="true"/>
          <p:nvPr/>
        </p:nvSpPr>
        <p:spPr>
          <a:xfrm rot="0">
            <a:off x="1766325" y="3266368"/>
            <a:ext cx="7946306" cy="13722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Con spring initializr pueden agregar la dependencia de data en sus proyectos al momento de generarlo</a:t>
            </a:r>
          </a:p>
        </p:txBody>
      </p:sp>
      <p:sp>
        <p:nvSpPr>
          <p:cNvPr name="TextBox 13" id="13"/>
          <p:cNvSpPr txBox="true"/>
          <p:nvPr/>
        </p:nvSpPr>
        <p:spPr>
          <a:xfrm rot="0">
            <a:off x="9950756" y="3266368"/>
            <a:ext cx="7946306"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Si no pueden agregar la dependencia en su Maven directamente</a:t>
            </a:r>
          </a:p>
        </p:txBody>
      </p:sp>
      <p:sp>
        <p:nvSpPr>
          <p:cNvPr name="Freeform 14" id="14"/>
          <p:cNvSpPr/>
          <p:nvPr/>
        </p:nvSpPr>
        <p:spPr>
          <a:xfrm flipH="false" flipV="false" rot="0">
            <a:off x="897811" y="370908"/>
            <a:ext cx="2339794" cy="2339794"/>
          </a:xfrm>
          <a:custGeom>
            <a:avLst/>
            <a:gdLst/>
            <a:ahLst/>
            <a:cxnLst/>
            <a:rect r="r" b="b" t="t" l="l"/>
            <a:pathLst>
              <a:path h="2339794" w="2339794">
                <a:moveTo>
                  <a:pt x="0" y="0"/>
                </a:moveTo>
                <a:lnTo>
                  <a:pt x="2339794" y="0"/>
                </a:lnTo>
                <a:lnTo>
                  <a:pt x="2339794" y="2339794"/>
                </a:lnTo>
                <a:lnTo>
                  <a:pt x="0" y="2339794"/>
                </a:lnTo>
                <a:lnTo>
                  <a:pt x="0" y="0"/>
                </a:lnTo>
                <a:close/>
              </a:path>
            </a:pathLst>
          </a:custGeom>
          <a:blipFill>
            <a:blip r:embed="rId9"/>
            <a:stretch>
              <a:fillRect l="0" t="0" r="0" b="0"/>
            </a:stretch>
          </a:blipFill>
        </p:spPr>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C800AE">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686901" y="3333043"/>
            <a:ext cx="1254085" cy="1254085"/>
          </a:xfrm>
          <a:custGeom>
            <a:avLst/>
            <a:gdLst/>
            <a:ahLst/>
            <a:cxnLst/>
            <a:rect r="r" b="b" t="t" l="l"/>
            <a:pathLst>
              <a:path h="1254085" w="1254085">
                <a:moveTo>
                  <a:pt x="0" y="0"/>
                </a:moveTo>
                <a:lnTo>
                  <a:pt x="1254085" y="0"/>
                </a:lnTo>
                <a:lnTo>
                  <a:pt x="1254085" y="1254085"/>
                </a:lnTo>
                <a:lnTo>
                  <a:pt x="0" y="125408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11818636" y="3333043"/>
            <a:ext cx="959316" cy="914348"/>
            <a:chOff x="0" y="0"/>
            <a:chExt cx="812800" cy="774700"/>
          </a:xfrm>
        </p:grpSpPr>
        <p:sp>
          <p:nvSpPr>
            <p:cNvPr name="Freeform 8" id="8"/>
            <p:cNvSpPr/>
            <p:nvPr/>
          </p:nvSpPr>
          <p:spPr>
            <a:xfrm flipH="false" flipV="false" rot="0">
              <a:off x="0" y="0"/>
              <a:ext cx="812800" cy="774700"/>
            </a:xfrm>
            <a:custGeom>
              <a:avLst/>
              <a:gdLst/>
              <a:ahLst/>
              <a:cxnLst/>
              <a:rect r="r" b="b" t="t" l="l"/>
              <a:pathLst>
                <a:path h="774700" w="8128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FF009D"/>
            </a:solidFill>
          </p:spPr>
        </p:sp>
        <p:sp>
          <p:nvSpPr>
            <p:cNvPr name="TextBox 9" id="9"/>
            <p:cNvSpPr txBox="true"/>
            <p:nvPr/>
          </p:nvSpPr>
          <p:spPr>
            <a:xfrm>
              <a:off x="228600" y="228600"/>
              <a:ext cx="355600" cy="381000"/>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0">
            <a:off x="1940986" y="5057704"/>
            <a:ext cx="4116875" cy="4636837"/>
          </a:xfrm>
          <a:custGeom>
            <a:avLst/>
            <a:gdLst/>
            <a:ahLst/>
            <a:cxnLst/>
            <a:rect r="r" b="b" t="t" l="l"/>
            <a:pathLst>
              <a:path h="4636837" w="4116875">
                <a:moveTo>
                  <a:pt x="0" y="0"/>
                </a:moveTo>
                <a:lnTo>
                  <a:pt x="4116875" y="0"/>
                </a:lnTo>
                <a:lnTo>
                  <a:pt x="4116875" y="4636837"/>
                </a:lnTo>
                <a:lnTo>
                  <a:pt x="0" y="4636837"/>
                </a:lnTo>
                <a:lnTo>
                  <a:pt x="0" y="0"/>
                </a:lnTo>
                <a:close/>
              </a:path>
            </a:pathLst>
          </a:custGeom>
          <a:blipFill>
            <a:blip r:embed="rId5"/>
            <a:stretch>
              <a:fillRect l="0" t="0" r="-71572" b="0"/>
            </a:stretch>
          </a:blipFill>
        </p:spPr>
      </p:sp>
      <p:sp>
        <p:nvSpPr>
          <p:cNvPr name="Freeform 11" id="11"/>
          <p:cNvSpPr/>
          <p:nvPr/>
        </p:nvSpPr>
        <p:spPr>
          <a:xfrm flipH="false" flipV="false" rot="0">
            <a:off x="6428728" y="5057704"/>
            <a:ext cx="4443104" cy="4432550"/>
          </a:xfrm>
          <a:custGeom>
            <a:avLst/>
            <a:gdLst/>
            <a:ahLst/>
            <a:cxnLst/>
            <a:rect r="r" b="b" t="t" l="l"/>
            <a:pathLst>
              <a:path h="4432550" w="4443104">
                <a:moveTo>
                  <a:pt x="0" y="0"/>
                </a:moveTo>
                <a:lnTo>
                  <a:pt x="4443104" y="0"/>
                </a:lnTo>
                <a:lnTo>
                  <a:pt x="4443104" y="4432550"/>
                </a:lnTo>
                <a:lnTo>
                  <a:pt x="0" y="4432550"/>
                </a:lnTo>
                <a:lnTo>
                  <a:pt x="0" y="0"/>
                </a:lnTo>
                <a:close/>
              </a:path>
            </a:pathLst>
          </a:custGeom>
          <a:blipFill>
            <a:blip r:embed="rId6"/>
            <a:stretch>
              <a:fillRect l="0" t="0" r="0" b="0"/>
            </a:stretch>
          </a:blipFill>
        </p:spPr>
      </p:sp>
      <p:sp>
        <p:nvSpPr>
          <p:cNvPr name="TextBox 12" id="12"/>
          <p:cNvSpPr txBox="true"/>
          <p:nvPr/>
        </p:nvSpPr>
        <p:spPr>
          <a:xfrm rot="0">
            <a:off x="3754713" y="835632"/>
            <a:ext cx="11445321" cy="2080302"/>
          </a:xfrm>
          <a:prstGeom prst="rect">
            <a:avLst/>
          </a:prstGeom>
        </p:spPr>
        <p:txBody>
          <a:bodyPr anchor="t" rtlCol="false" tIns="0" lIns="0" bIns="0" rIns="0">
            <a:spAutoFit/>
          </a:bodyPr>
          <a:lstStyle/>
          <a:p>
            <a:pPr algn="ctr">
              <a:lnSpc>
                <a:spcPts val="5527"/>
              </a:lnSpc>
              <a:spcBef>
                <a:spcPct val="0"/>
              </a:spcBef>
            </a:pPr>
            <a:r>
              <a:rPr lang="en-US" sz="3948">
                <a:solidFill>
                  <a:srgbClr val="FF914D"/>
                </a:solidFill>
                <a:latin typeface="HK Modular"/>
                <a:ea typeface="HK Modular"/>
                <a:cs typeface="HK Modular"/>
                <a:sym typeface="HK Modular"/>
              </a:rPr>
              <a:t>COMO IMPLEMENTAR UNA BASE DE DATOS RELACIONAL EN MI API?</a:t>
            </a:r>
          </a:p>
        </p:txBody>
      </p:sp>
      <p:sp>
        <p:nvSpPr>
          <p:cNvPr name="TextBox 13" id="13"/>
          <p:cNvSpPr txBox="true"/>
          <p:nvPr/>
        </p:nvSpPr>
        <p:spPr>
          <a:xfrm rot="0">
            <a:off x="2455575" y="3266368"/>
            <a:ext cx="7946306" cy="13722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Una vez tengamos generado nuestro proyecto, es momento de definir las entidades o DAOS de nuestra aplicacion</a:t>
            </a:r>
          </a:p>
        </p:txBody>
      </p:sp>
      <p:sp>
        <p:nvSpPr>
          <p:cNvPr name="TextBox 14" id="14"/>
          <p:cNvSpPr txBox="true"/>
          <p:nvPr/>
        </p:nvSpPr>
        <p:spPr>
          <a:xfrm rot="0">
            <a:off x="12989130" y="3275893"/>
            <a:ext cx="5119110" cy="1781811"/>
          </a:xfrm>
          <a:prstGeom prst="rect">
            <a:avLst/>
          </a:prstGeom>
        </p:spPr>
        <p:txBody>
          <a:bodyPr anchor="t" rtlCol="false" tIns="0" lIns="0" bIns="0" rIns="0">
            <a:spAutoFit/>
          </a:bodyPr>
          <a:lstStyle/>
          <a:p>
            <a:pPr algn="ctr">
              <a:lnSpc>
                <a:spcPts val="2344"/>
              </a:lnSpc>
              <a:spcBef>
                <a:spcPct val="0"/>
              </a:spcBef>
            </a:pPr>
            <a:r>
              <a:rPr lang="en-US" sz="1674">
                <a:solidFill>
                  <a:srgbClr val="FFFFFF"/>
                </a:solidFill>
                <a:latin typeface="Poppins"/>
                <a:ea typeface="Poppins"/>
                <a:cs typeface="Poppins"/>
                <a:sym typeface="Poppins"/>
              </a:rPr>
              <a:t>Un Dao es la manera en la que nombramos una entidad de software que representa una tabla a nivel de codigo de una estructura relacional, usamos la anotacion de ejemplo CustomerDao en codigo para identificar el tipo de objeto</a:t>
            </a:r>
          </a:p>
        </p:txBody>
      </p:sp>
      <p:grpSp>
        <p:nvGrpSpPr>
          <p:cNvPr name="Group 15" id="15"/>
          <p:cNvGrpSpPr/>
          <p:nvPr/>
        </p:nvGrpSpPr>
        <p:grpSpPr>
          <a:xfrm rot="0">
            <a:off x="11818636" y="5294724"/>
            <a:ext cx="959316" cy="914348"/>
            <a:chOff x="0" y="0"/>
            <a:chExt cx="812800" cy="774700"/>
          </a:xfrm>
        </p:grpSpPr>
        <p:sp>
          <p:nvSpPr>
            <p:cNvPr name="Freeform 16" id="16"/>
            <p:cNvSpPr/>
            <p:nvPr/>
          </p:nvSpPr>
          <p:spPr>
            <a:xfrm flipH="false" flipV="false" rot="0">
              <a:off x="0" y="0"/>
              <a:ext cx="812800" cy="774700"/>
            </a:xfrm>
            <a:custGeom>
              <a:avLst/>
              <a:gdLst/>
              <a:ahLst/>
              <a:cxnLst/>
              <a:rect r="r" b="b" t="t" l="l"/>
              <a:pathLst>
                <a:path h="774700" w="8128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FF009D"/>
            </a:solidFill>
          </p:spPr>
        </p:sp>
        <p:sp>
          <p:nvSpPr>
            <p:cNvPr name="TextBox 17" id="17"/>
            <p:cNvSpPr txBox="true"/>
            <p:nvPr/>
          </p:nvSpPr>
          <p:spPr>
            <a:xfrm>
              <a:off x="228600" y="228600"/>
              <a:ext cx="355600" cy="381000"/>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0">
            <a:off x="12989130" y="5594312"/>
            <a:ext cx="5119110" cy="898209"/>
          </a:xfrm>
          <a:prstGeom prst="rect">
            <a:avLst/>
          </a:prstGeom>
        </p:spPr>
        <p:txBody>
          <a:bodyPr anchor="t" rtlCol="false" tIns="0" lIns="0" bIns="0" rIns="0">
            <a:spAutoFit/>
          </a:bodyPr>
          <a:lstStyle/>
          <a:p>
            <a:pPr algn="ctr">
              <a:lnSpc>
                <a:spcPts val="2344"/>
              </a:lnSpc>
              <a:spcBef>
                <a:spcPct val="0"/>
              </a:spcBef>
            </a:pPr>
            <a:r>
              <a:rPr lang="en-US" sz="1674">
                <a:solidFill>
                  <a:srgbClr val="FFFFFF"/>
                </a:solidFill>
                <a:latin typeface="Poppins"/>
                <a:ea typeface="Poppins"/>
                <a:cs typeface="Poppins"/>
                <a:sym typeface="Poppins"/>
              </a:rPr>
              <a:t>Un DAO tambien puede utilizar las anotaciones de lombok asi nos liberamos de realizar manualmente ciertos metodos de clase</a:t>
            </a:r>
          </a:p>
        </p:txBody>
      </p:sp>
      <p:sp>
        <p:nvSpPr>
          <p:cNvPr name="Freeform 19" id="19"/>
          <p:cNvSpPr/>
          <p:nvPr/>
        </p:nvSpPr>
        <p:spPr>
          <a:xfrm flipH="false" flipV="false" rot="0">
            <a:off x="1028700" y="526524"/>
            <a:ext cx="2339794" cy="2339794"/>
          </a:xfrm>
          <a:custGeom>
            <a:avLst/>
            <a:gdLst/>
            <a:ahLst/>
            <a:cxnLst/>
            <a:rect r="r" b="b" t="t" l="l"/>
            <a:pathLst>
              <a:path h="2339794" w="2339794">
                <a:moveTo>
                  <a:pt x="0" y="0"/>
                </a:moveTo>
                <a:lnTo>
                  <a:pt x="2339794" y="0"/>
                </a:lnTo>
                <a:lnTo>
                  <a:pt x="2339794" y="2339794"/>
                </a:lnTo>
                <a:lnTo>
                  <a:pt x="0" y="2339794"/>
                </a:lnTo>
                <a:lnTo>
                  <a:pt x="0" y="0"/>
                </a:lnTo>
                <a:close/>
              </a:path>
            </a:pathLst>
          </a:custGeom>
          <a:blipFill>
            <a:blip r:embed="rId7"/>
            <a:stretch>
              <a:fillRect l="0" t="0" r="0" b="0"/>
            </a:stretch>
          </a:blipFill>
        </p:spPr>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C800AE">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1818636" y="3333043"/>
            <a:ext cx="959316" cy="914348"/>
            <a:chOff x="0" y="0"/>
            <a:chExt cx="812800" cy="774700"/>
          </a:xfrm>
        </p:grpSpPr>
        <p:sp>
          <p:nvSpPr>
            <p:cNvPr name="Freeform 7" id="7"/>
            <p:cNvSpPr/>
            <p:nvPr/>
          </p:nvSpPr>
          <p:spPr>
            <a:xfrm flipH="false" flipV="false" rot="0">
              <a:off x="0" y="0"/>
              <a:ext cx="812800" cy="774700"/>
            </a:xfrm>
            <a:custGeom>
              <a:avLst/>
              <a:gdLst/>
              <a:ahLst/>
              <a:cxnLst/>
              <a:rect r="r" b="b" t="t" l="l"/>
              <a:pathLst>
                <a:path h="774700" w="8128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FF009D"/>
            </a:solidFill>
          </p:spPr>
        </p:sp>
        <p:sp>
          <p:nvSpPr>
            <p:cNvPr name="TextBox 8" id="8"/>
            <p:cNvSpPr txBox="true"/>
            <p:nvPr/>
          </p:nvSpPr>
          <p:spPr>
            <a:xfrm>
              <a:off x="228600" y="228600"/>
              <a:ext cx="355600" cy="38100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1818636" y="5294724"/>
            <a:ext cx="959316" cy="914348"/>
            <a:chOff x="0" y="0"/>
            <a:chExt cx="812800" cy="774700"/>
          </a:xfrm>
        </p:grpSpPr>
        <p:sp>
          <p:nvSpPr>
            <p:cNvPr name="Freeform 10" id="10"/>
            <p:cNvSpPr/>
            <p:nvPr/>
          </p:nvSpPr>
          <p:spPr>
            <a:xfrm flipH="false" flipV="false" rot="0">
              <a:off x="0" y="0"/>
              <a:ext cx="812800" cy="774700"/>
            </a:xfrm>
            <a:custGeom>
              <a:avLst/>
              <a:gdLst/>
              <a:ahLst/>
              <a:cxnLst/>
              <a:rect r="r" b="b" t="t" l="l"/>
              <a:pathLst>
                <a:path h="774700" w="8128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FF009D"/>
            </a:solidFill>
          </p:spPr>
        </p:sp>
        <p:sp>
          <p:nvSpPr>
            <p:cNvPr name="TextBox 11" id="11"/>
            <p:cNvSpPr txBox="true"/>
            <p:nvPr/>
          </p:nvSpPr>
          <p:spPr>
            <a:xfrm>
              <a:off x="228600" y="228600"/>
              <a:ext cx="355600" cy="381000"/>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1136751" y="3086100"/>
            <a:ext cx="1109274" cy="1109274"/>
          </a:xfrm>
          <a:custGeom>
            <a:avLst/>
            <a:gdLst/>
            <a:ahLst/>
            <a:cxnLst/>
            <a:rect r="r" b="b" t="t" l="l"/>
            <a:pathLst>
              <a:path h="1109274" w="1109274">
                <a:moveTo>
                  <a:pt x="0" y="0"/>
                </a:moveTo>
                <a:lnTo>
                  <a:pt x="1109274" y="0"/>
                </a:lnTo>
                <a:lnTo>
                  <a:pt x="1109274" y="1109274"/>
                </a:lnTo>
                <a:lnTo>
                  <a:pt x="0" y="110927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0">
            <a:off x="3720757" y="4600504"/>
            <a:ext cx="5415941" cy="2573532"/>
          </a:xfrm>
          <a:custGeom>
            <a:avLst/>
            <a:gdLst/>
            <a:ahLst/>
            <a:cxnLst/>
            <a:rect r="r" b="b" t="t" l="l"/>
            <a:pathLst>
              <a:path h="2573532" w="5415941">
                <a:moveTo>
                  <a:pt x="0" y="0"/>
                </a:moveTo>
                <a:lnTo>
                  <a:pt x="5415941" y="0"/>
                </a:lnTo>
                <a:lnTo>
                  <a:pt x="5415941" y="2573532"/>
                </a:lnTo>
                <a:lnTo>
                  <a:pt x="0" y="2573532"/>
                </a:lnTo>
                <a:lnTo>
                  <a:pt x="0" y="0"/>
                </a:lnTo>
                <a:close/>
              </a:path>
            </a:pathLst>
          </a:custGeom>
          <a:blipFill>
            <a:blip r:embed="rId5"/>
            <a:stretch>
              <a:fillRect l="0" t="0" r="0" b="0"/>
            </a:stretch>
          </a:blipFill>
        </p:spPr>
      </p:sp>
      <p:sp>
        <p:nvSpPr>
          <p:cNvPr name="Freeform 14" id="14"/>
          <p:cNvSpPr/>
          <p:nvPr/>
        </p:nvSpPr>
        <p:spPr>
          <a:xfrm flipH="false" flipV="false" rot="0">
            <a:off x="13636921" y="6998035"/>
            <a:ext cx="3823529" cy="820758"/>
          </a:xfrm>
          <a:custGeom>
            <a:avLst/>
            <a:gdLst/>
            <a:ahLst/>
            <a:cxnLst/>
            <a:rect r="r" b="b" t="t" l="l"/>
            <a:pathLst>
              <a:path h="820758" w="3823529">
                <a:moveTo>
                  <a:pt x="0" y="0"/>
                </a:moveTo>
                <a:lnTo>
                  <a:pt x="3823529" y="0"/>
                </a:lnTo>
                <a:lnTo>
                  <a:pt x="3823529" y="820758"/>
                </a:lnTo>
                <a:lnTo>
                  <a:pt x="0" y="820758"/>
                </a:lnTo>
                <a:lnTo>
                  <a:pt x="0" y="0"/>
                </a:lnTo>
                <a:close/>
              </a:path>
            </a:pathLst>
          </a:custGeom>
          <a:blipFill>
            <a:blip r:embed="rId6"/>
            <a:stretch>
              <a:fillRect l="0" t="0" r="0" b="0"/>
            </a:stretch>
          </a:blipFill>
        </p:spPr>
      </p:sp>
      <p:sp>
        <p:nvSpPr>
          <p:cNvPr name="Freeform 15" id="15"/>
          <p:cNvSpPr/>
          <p:nvPr/>
        </p:nvSpPr>
        <p:spPr>
          <a:xfrm flipH="false" flipV="false" rot="0">
            <a:off x="3294864" y="7504962"/>
            <a:ext cx="6267727" cy="1413773"/>
          </a:xfrm>
          <a:custGeom>
            <a:avLst/>
            <a:gdLst/>
            <a:ahLst/>
            <a:cxnLst/>
            <a:rect r="r" b="b" t="t" l="l"/>
            <a:pathLst>
              <a:path h="1413773" w="6267727">
                <a:moveTo>
                  <a:pt x="0" y="0"/>
                </a:moveTo>
                <a:lnTo>
                  <a:pt x="6267727" y="0"/>
                </a:lnTo>
                <a:lnTo>
                  <a:pt x="6267727" y="1413773"/>
                </a:lnTo>
                <a:lnTo>
                  <a:pt x="0" y="1413773"/>
                </a:lnTo>
                <a:lnTo>
                  <a:pt x="0" y="0"/>
                </a:lnTo>
                <a:close/>
              </a:path>
            </a:pathLst>
          </a:custGeom>
          <a:blipFill>
            <a:blip r:embed="rId7"/>
            <a:stretch>
              <a:fillRect l="0" t="0" r="0" b="0"/>
            </a:stretch>
          </a:blipFill>
        </p:spPr>
      </p:sp>
      <p:sp>
        <p:nvSpPr>
          <p:cNvPr name="TextBox 16" id="16"/>
          <p:cNvSpPr txBox="true"/>
          <p:nvPr/>
        </p:nvSpPr>
        <p:spPr>
          <a:xfrm rot="0">
            <a:off x="3754713" y="835632"/>
            <a:ext cx="11445321" cy="2080302"/>
          </a:xfrm>
          <a:prstGeom prst="rect">
            <a:avLst/>
          </a:prstGeom>
        </p:spPr>
        <p:txBody>
          <a:bodyPr anchor="t" rtlCol="false" tIns="0" lIns="0" bIns="0" rIns="0">
            <a:spAutoFit/>
          </a:bodyPr>
          <a:lstStyle/>
          <a:p>
            <a:pPr algn="ctr">
              <a:lnSpc>
                <a:spcPts val="5527"/>
              </a:lnSpc>
              <a:spcBef>
                <a:spcPct val="0"/>
              </a:spcBef>
            </a:pPr>
            <a:r>
              <a:rPr lang="en-US" sz="3948">
                <a:solidFill>
                  <a:srgbClr val="FF914D"/>
                </a:solidFill>
                <a:latin typeface="HK Modular"/>
                <a:ea typeface="HK Modular"/>
                <a:cs typeface="HK Modular"/>
                <a:sym typeface="HK Modular"/>
              </a:rPr>
              <a:t>COMO IMPLEMENTAR UNA BASE DE DATOS RELACIONAL EN MI API?</a:t>
            </a:r>
          </a:p>
        </p:txBody>
      </p:sp>
      <p:sp>
        <p:nvSpPr>
          <p:cNvPr name="TextBox 17" id="17"/>
          <p:cNvSpPr txBox="true"/>
          <p:nvPr/>
        </p:nvSpPr>
        <p:spPr>
          <a:xfrm rot="0">
            <a:off x="2455575" y="3266368"/>
            <a:ext cx="7946306"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Creamos nuestro Repository y lo extendemos de la Interface que nos ofrece Spring Data</a:t>
            </a:r>
          </a:p>
        </p:txBody>
      </p:sp>
      <p:sp>
        <p:nvSpPr>
          <p:cNvPr name="TextBox 18" id="18"/>
          <p:cNvSpPr txBox="true"/>
          <p:nvPr/>
        </p:nvSpPr>
        <p:spPr>
          <a:xfrm rot="0">
            <a:off x="12989130" y="3275893"/>
            <a:ext cx="5119110" cy="898209"/>
          </a:xfrm>
          <a:prstGeom prst="rect">
            <a:avLst/>
          </a:prstGeom>
        </p:spPr>
        <p:txBody>
          <a:bodyPr anchor="t" rtlCol="false" tIns="0" lIns="0" bIns="0" rIns="0">
            <a:spAutoFit/>
          </a:bodyPr>
          <a:lstStyle/>
          <a:p>
            <a:pPr algn="ctr">
              <a:lnSpc>
                <a:spcPts val="2344"/>
              </a:lnSpc>
              <a:spcBef>
                <a:spcPct val="0"/>
              </a:spcBef>
            </a:pPr>
            <a:r>
              <a:rPr lang="en-US" sz="1674">
                <a:solidFill>
                  <a:srgbClr val="FFFFFF"/>
                </a:solidFill>
                <a:latin typeface="Poppins"/>
                <a:ea typeface="Poppins"/>
                <a:cs typeface="Poppins"/>
                <a:sym typeface="Poppins"/>
              </a:rPr>
              <a:t>CRUD REPOSITORY y JPARepository son las interfaces que nos ofrece Spring data para realizar las operaciones que necesitamos</a:t>
            </a:r>
          </a:p>
        </p:txBody>
      </p:sp>
      <p:sp>
        <p:nvSpPr>
          <p:cNvPr name="TextBox 19" id="19"/>
          <p:cNvSpPr txBox="true"/>
          <p:nvPr/>
        </p:nvSpPr>
        <p:spPr>
          <a:xfrm rot="0">
            <a:off x="12989130" y="5371501"/>
            <a:ext cx="5119110" cy="1192743"/>
          </a:xfrm>
          <a:prstGeom prst="rect">
            <a:avLst/>
          </a:prstGeom>
        </p:spPr>
        <p:txBody>
          <a:bodyPr anchor="t" rtlCol="false" tIns="0" lIns="0" bIns="0" rIns="0">
            <a:spAutoFit/>
          </a:bodyPr>
          <a:lstStyle/>
          <a:p>
            <a:pPr algn="ctr">
              <a:lnSpc>
                <a:spcPts val="2344"/>
              </a:lnSpc>
              <a:spcBef>
                <a:spcPct val="0"/>
              </a:spcBef>
            </a:pPr>
            <a:r>
              <a:rPr lang="en-US" sz="1674">
                <a:solidFill>
                  <a:srgbClr val="FFFFFF"/>
                </a:solidFill>
                <a:latin typeface="Poppins"/>
                <a:ea typeface="Poppins"/>
                <a:cs typeface="Poppins"/>
                <a:sym typeface="Poppins"/>
              </a:rPr>
              <a:t>Es necesario colocar primero el objeto o DAO que representa la tabla y luego el tipo del identificador que tiene ese objeto (debe ser el mismo que se establece en el objeto dao)</a:t>
            </a:r>
          </a:p>
        </p:txBody>
      </p:sp>
      <p:sp>
        <p:nvSpPr>
          <p:cNvPr name="Freeform 20" id="20"/>
          <p:cNvSpPr/>
          <p:nvPr/>
        </p:nvSpPr>
        <p:spPr>
          <a:xfrm flipH="false" flipV="false" rot="0">
            <a:off x="1028700" y="526524"/>
            <a:ext cx="2339794" cy="2339794"/>
          </a:xfrm>
          <a:custGeom>
            <a:avLst/>
            <a:gdLst/>
            <a:ahLst/>
            <a:cxnLst/>
            <a:rect r="r" b="b" t="t" l="l"/>
            <a:pathLst>
              <a:path h="2339794" w="2339794">
                <a:moveTo>
                  <a:pt x="0" y="0"/>
                </a:moveTo>
                <a:lnTo>
                  <a:pt x="2339794" y="0"/>
                </a:lnTo>
                <a:lnTo>
                  <a:pt x="2339794" y="2339794"/>
                </a:lnTo>
                <a:lnTo>
                  <a:pt x="0" y="2339794"/>
                </a:lnTo>
                <a:lnTo>
                  <a:pt x="0" y="0"/>
                </a:lnTo>
                <a:close/>
              </a:path>
            </a:pathLst>
          </a:custGeom>
          <a:blipFill>
            <a:blip r:embed="rId8"/>
            <a:stretch>
              <a:fillRect l="0" t="0" r="0" b="0"/>
            </a:stretch>
          </a:blipFill>
        </p:spPr>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C800AE">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2148229" y="2915934"/>
            <a:ext cx="959316" cy="914348"/>
            <a:chOff x="0" y="0"/>
            <a:chExt cx="812800" cy="774700"/>
          </a:xfrm>
        </p:grpSpPr>
        <p:sp>
          <p:nvSpPr>
            <p:cNvPr name="Freeform 7" id="7"/>
            <p:cNvSpPr/>
            <p:nvPr/>
          </p:nvSpPr>
          <p:spPr>
            <a:xfrm flipH="false" flipV="false" rot="0">
              <a:off x="0" y="0"/>
              <a:ext cx="812800" cy="774700"/>
            </a:xfrm>
            <a:custGeom>
              <a:avLst/>
              <a:gdLst/>
              <a:ahLst/>
              <a:cxnLst/>
              <a:rect r="r" b="b" t="t" l="l"/>
              <a:pathLst>
                <a:path h="774700" w="8128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FF009D"/>
            </a:solidFill>
          </p:spPr>
        </p:sp>
        <p:sp>
          <p:nvSpPr>
            <p:cNvPr name="TextBox 8" id="8"/>
            <p:cNvSpPr txBox="true"/>
            <p:nvPr/>
          </p:nvSpPr>
          <p:spPr>
            <a:xfrm>
              <a:off x="228600" y="228600"/>
              <a:ext cx="355600" cy="381000"/>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4427905" y="4248521"/>
            <a:ext cx="10466065" cy="1100709"/>
          </a:xfrm>
          <a:custGeom>
            <a:avLst/>
            <a:gdLst/>
            <a:ahLst/>
            <a:cxnLst/>
            <a:rect r="r" b="b" t="t" l="l"/>
            <a:pathLst>
              <a:path h="1100709" w="10466065">
                <a:moveTo>
                  <a:pt x="0" y="0"/>
                </a:moveTo>
                <a:lnTo>
                  <a:pt x="10466065" y="0"/>
                </a:lnTo>
                <a:lnTo>
                  <a:pt x="10466065" y="1100709"/>
                </a:lnTo>
                <a:lnTo>
                  <a:pt x="0" y="1100709"/>
                </a:lnTo>
                <a:lnTo>
                  <a:pt x="0" y="0"/>
                </a:lnTo>
                <a:close/>
              </a:path>
            </a:pathLst>
          </a:custGeom>
          <a:blipFill>
            <a:blip r:embed="rId3"/>
            <a:stretch>
              <a:fillRect l="0" t="0" r="0" b="0"/>
            </a:stretch>
          </a:blipFill>
        </p:spPr>
      </p:sp>
      <p:sp>
        <p:nvSpPr>
          <p:cNvPr name="Freeform 10" id="10"/>
          <p:cNvSpPr/>
          <p:nvPr/>
        </p:nvSpPr>
        <p:spPr>
          <a:xfrm flipH="false" flipV="false" rot="0">
            <a:off x="2148229" y="5755906"/>
            <a:ext cx="960474" cy="960474"/>
          </a:xfrm>
          <a:custGeom>
            <a:avLst/>
            <a:gdLst/>
            <a:ahLst/>
            <a:cxnLst/>
            <a:rect r="r" b="b" t="t" l="l"/>
            <a:pathLst>
              <a:path h="960474" w="960474">
                <a:moveTo>
                  <a:pt x="0" y="0"/>
                </a:moveTo>
                <a:lnTo>
                  <a:pt x="960474" y="0"/>
                </a:lnTo>
                <a:lnTo>
                  <a:pt x="960474" y="960474"/>
                </a:lnTo>
                <a:lnTo>
                  <a:pt x="0" y="9604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332911" y="6856735"/>
            <a:ext cx="4591111" cy="1296454"/>
          </a:xfrm>
          <a:custGeom>
            <a:avLst/>
            <a:gdLst/>
            <a:ahLst/>
            <a:cxnLst/>
            <a:rect r="r" b="b" t="t" l="l"/>
            <a:pathLst>
              <a:path h="1296454" w="4591111">
                <a:moveTo>
                  <a:pt x="0" y="0"/>
                </a:moveTo>
                <a:lnTo>
                  <a:pt x="4591111" y="0"/>
                </a:lnTo>
                <a:lnTo>
                  <a:pt x="4591111" y="1296453"/>
                </a:lnTo>
                <a:lnTo>
                  <a:pt x="0" y="1296453"/>
                </a:lnTo>
                <a:lnTo>
                  <a:pt x="0" y="0"/>
                </a:lnTo>
                <a:close/>
              </a:path>
            </a:pathLst>
          </a:custGeom>
          <a:blipFill>
            <a:blip r:embed="rId6"/>
            <a:stretch>
              <a:fillRect l="0" t="0" r="0" b="0"/>
            </a:stretch>
          </a:blipFill>
        </p:spPr>
      </p:sp>
      <p:sp>
        <p:nvSpPr>
          <p:cNvPr name="Freeform 12" id="12"/>
          <p:cNvSpPr/>
          <p:nvPr/>
        </p:nvSpPr>
        <p:spPr>
          <a:xfrm flipH="false" flipV="false" rot="0">
            <a:off x="5541763" y="6499145"/>
            <a:ext cx="5310122" cy="3429848"/>
          </a:xfrm>
          <a:custGeom>
            <a:avLst/>
            <a:gdLst/>
            <a:ahLst/>
            <a:cxnLst/>
            <a:rect r="r" b="b" t="t" l="l"/>
            <a:pathLst>
              <a:path h="3429848" w="5310122">
                <a:moveTo>
                  <a:pt x="0" y="0"/>
                </a:moveTo>
                <a:lnTo>
                  <a:pt x="5310123" y="0"/>
                </a:lnTo>
                <a:lnTo>
                  <a:pt x="5310123" y="3429848"/>
                </a:lnTo>
                <a:lnTo>
                  <a:pt x="0" y="3429848"/>
                </a:lnTo>
                <a:lnTo>
                  <a:pt x="0" y="0"/>
                </a:lnTo>
                <a:close/>
              </a:path>
            </a:pathLst>
          </a:custGeom>
          <a:blipFill>
            <a:blip r:embed="rId7"/>
            <a:stretch>
              <a:fillRect l="0" t="0" r="0" b="0"/>
            </a:stretch>
          </a:blipFill>
        </p:spPr>
      </p:sp>
      <p:sp>
        <p:nvSpPr>
          <p:cNvPr name="Freeform 13" id="13"/>
          <p:cNvSpPr/>
          <p:nvPr/>
        </p:nvSpPr>
        <p:spPr>
          <a:xfrm flipH="false" flipV="false" rot="0">
            <a:off x="11202424" y="6560026"/>
            <a:ext cx="3995723" cy="3308087"/>
          </a:xfrm>
          <a:custGeom>
            <a:avLst/>
            <a:gdLst/>
            <a:ahLst/>
            <a:cxnLst/>
            <a:rect r="r" b="b" t="t" l="l"/>
            <a:pathLst>
              <a:path h="3308087" w="3995723">
                <a:moveTo>
                  <a:pt x="0" y="0"/>
                </a:moveTo>
                <a:lnTo>
                  <a:pt x="3995723" y="0"/>
                </a:lnTo>
                <a:lnTo>
                  <a:pt x="3995723" y="3308086"/>
                </a:lnTo>
                <a:lnTo>
                  <a:pt x="0" y="3308086"/>
                </a:lnTo>
                <a:lnTo>
                  <a:pt x="0" y="0"/>
                </a:lnTo>
                <a:close/>
              </a:path>
            </a:pathLst>
          </a:custGeom>
          <a:blipFill>
            <a:blip r:embed="rId8"/>
            <a:stretch>
              <a:fillRect l="0" t="0" r="0" b="0"/>
            </a:stretch>
          </a:blipFill>
        </p:spPr>
      </p:sp>
      <p:sp>
        <p:nvSpPr>
          <p:cNvPr name="TextBox 14" id="14"/>
          <p:cNvSpPr txBox="true"/>
          <p:nvPr/>
        </p:nvSpPr>
        <p:spPr>
          <a:xfrm rot="0">
            <a:off x="3754713" y="835632"/>
            <a:ext cx="11445321" cy="2080302"/>
          </a:xfrm>
          <a:prstGeom prst="rect">
            <a:avLst/>
          </a:prstGeom>
        </p:spPr>
        <p:txBody>
          <a:bodyPr anchor="t" rtlCol="false" tIns="0" lIns="0" bIns="0" rIns="0">
            <a:spAutoFit/>
          </a:bodyPr>
          <a:lstStyle/>
          <a:p>
            <a:pPr algn="ctr">
              <a:lnSpc>
                <a:spcPts val="5527"/>
              </a:lnSpc>
              <a:spcBef>
                <a:spcPct val="0"/>
              </a:spcBef>
            </a:pPr>
            <a:r>
              <a:rPr lang="en-US" sz="3948">
                <a:solidFill>
                  <a:srgbClr val="FF914D"/>
                </a:solidFill>
                <a:latin typeface="HK Modular"/>
                <a:ea typeface="HK Modular"/>
                <a:cs typeface="HK Modular"/>
                <a:sym typeface="HK Modular"/>
              </a:rPr>
              <a:t>COMO IMPLEMENTAR UNA BASE DE DATOS RELACIONAL EN MI API?</a:t>
            </a:r>
          </a:p>
        </p:txBody>
      </p:sp>
      <p:sp>
        <p:nvSpPr>
          <p:cNvPr name="TextBox 15" id="15"/>
          <p:cNvSpPr txBox="true"/>
          <p:nvPr/>
        </p:nvSpPr>
        <p:spPr>
          <a:xfrm rot="0">
            <a:off x="2455575" y="3266368"/>
            <a:ext cx="14993883"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Podemos tambien utilizar queries generadas de manera manual por nosotros</a:t>
            </a:r>
          </a:p>
        </p:txBody>
      </p:sp>
      <p:sp>
        <p:nvSpPr>
          <p:cNvPr name="TextBox 16" id="16"/>
          <p:cNvSpPr txBox="true"/>
          <p:nvPr/>
        </p:nvSpPr>
        <p:spPr>
          <a:xfrm rot="0">
            <a:off x="2455575" y="5973888"/>
            <a:ext cx="14993883"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En el application.properties o en el application.yaml configuremos las variables</a:t>
            </a:r>
          </a:p>
        </p:txBody>
      </p:sp>
      <p:sp>
        <p:nvSpPr>
          <p:cNvPr name="Freeform 17" id="17"/>
          <p:cNvSpPr/>
          <p:nvPr/>
        </p:nvSpPr>
        <p:spPr>
          <a:xfrm flipH="false" flipV="false" rot="0">
            <a:off x="1028700" y="526524"/>
            <a:ext cx="2339794" cy="2339794"/>
          </a:xfrm>
          <a:custGeom>
            <a:avLst/>
            <a:gdLst/>
            <a:ahLst/>
            <a:cxnLst/>
            <a:rect r="r" b="b" t="t" l="l"/>
            <a:pathLst>
              <a:path h="2339794" w="2339794">
                <a:moveTo>
                  <a:pt x="0" y="0"/>
                </a:moveTo>
                <a:lnTo>
                  <a:pt x="2339794" y="0"/>
                </a:lnTo>
                <a:lnTo>
                  <a:pt x="2339794" y="2339794"/>
                </a:lnTo>
                <a:lnTo>
                  <a:pt x="0" y="2339794"/>
                </a:lnTo>
                <a:lnTo>
                  <a:pt x="0" y="0"/>
                </a:lnTo>
                <a:close/>
              </a:path>
            </a:pathLst>
          </a:custGeom>
          <a:blipFill>
            <a:blip r:embed="rId9"/>
            <a:stretch>
              <a:fillRect l="0" t="0" r="0" b="0"/>
            </a:stretch>
          </a:blipFill>
        </p:spPr>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C800AE">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4661173" y="4449087"/>
            <a:ext cx="3699613" cy="5133784"/>
          </a:xfrm>
          <a:custGeom>
            <a:avLst/>
            <a:gdLst/>
            <a:ahLst/>
            <a:cxnLst/>
            <a:rect r="r" b="b" t="t" l="l"/>
            <a:pathLst>
              <a:path h="5133784" w="3699613">
                <a:moveTo>
                  <a:pt x="0" y="0"/>
                </a:moveTo>
                <a:lnTo>
                  <a:pt x="3699613" y="0"/>
                </a:lnTo>
                <a:lnTo>
                  <a:pt x="3699613" y="5133784"/>
                </a:lnTo>
                <a:lnTo>
                  <a:pt x="0" y="5133784"/>
                </a:lnTo>
                <a:lnTo>
                  <a:pt x="0" y="0"/>
                </a:lnTo>
                <a:close/>
              </a:path>
            </a:pathLst>
          </a:custGeom>
          <a:blipFill>
            <a:blip r:embed="rId3"/>
            <a:stretch>
              <a:fillRect l="0" t="0" r="0" b="0"/>
            </a:stretch>
          </a:blipFill>
        </p:spPr>
      </p:sp>
      <p:sp>
        <p:nvSpPr>
          <p:cNvPr name="Freeform 7" id="7"/>
          <p:cNvSpPr/>
          <p:nvPr/>
        </p:nvSpPr>
        <p:spPr>
          <a:xfrm flipH="false" flipV="false" rot="0">
            <a:off x="10242823" y="4449087"/>
            <a:ext cx="3601670" cy="5133784"/>
          </a:xfrm>
          <a:custGeom>
            <a:avLst/>
            <a:gdLst/>
            <a:ahLst/>
            <a:cxnLst/>
            <a:rect r="r" b="b" t="t" l="l"/>
            <a:pathLst>
              <a:path h="5133784" w="3601670">
                <a:moveTo>
                  <a:pt x="0" y="0"/>
                </a:moveTo>
                <a:lnTo>
                  <a:pt x="3601670" y="0"/>
                </a:lnTo>
                <a:lnTo>
                  <a:pt x="3601670" y="5133784"/>
                </a:lnTo>
                <a:lnTo>
                  <a:pt x="0" y="5133784"/>
                </a:lnTo>
                <a:lnTo>
                  <a:pt x="0" y="0"/>
                </a:lnTo>
                <a:close/>
              </a:path>
            </a:pathLst>
          </a:custGeom>
          <a:blipFill>
            <a:blip r:embed="rId4"/>
            <a:stretch>
              <a:fillRect l="0" t="0" r="0" b="0"/>
            </a:stretch>
          </a:blipFill>
        </p:spPr>
      </p:sp>
      <p:sp>
        <p:nvSpPr>
          <p:cNvPr name="Freeform 8" id="8"/>
          <p:cNvSpPr/>
          <p:nvPr/>
        </p:nvSpPr>
        <p:spPr>
          <a:xfrm flipH="false" flipV="false" rot="0">
            <a:off x="1028700" y="3086100"/>
            <a:ext cx="1020087" cy="1020087"/>
          </a:xfrm>
          <a:custGeom>
            <a:avLst/>
            <a:gdLst/>
            <a:ahLst/>
            <a:cxnLst/>
            <a:rect r="r" b="b" t="t" l="l"/>
            <a:pathLst>
              <a:path h="1020087" w="1020087">
                <a:moveTo>
                  <a:pt x="0" y="0"/>
                </a:moveTo>
                <a:lnTo>
                  <a:pt x="1020087" y="0"/>
                </a:lnTo>
                <a:lnTo>
                  <a:pt x="1020087" y="1020087"/>
                </a:lnTo>
                <a:lnTo>
                  <a:pt x="0" y="102008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3754713" y="835632"/>
            <a:ext cx="11445321" cy="2080302"/>
          </a:xfrm>
          <a:prstGeom prst="rect">
            <a:avLst/>
          </a:prstGeom>
        </p:spPr>
        <p:txBody>
          <a:bodyPr anchor="t" rtlCol="false" tIns="0" lIns="0" bIns="0" rIns="0">
            <a:spAutoFit/>
          </a:bodyPr>
          <a:lstStyle/>
          <a:p>
            <a:pPr algn="ctr">
              <a:lnSpc>
                <a:spcPts val="5527"/>
              </a:lnSpc>
              <a:spcBef>
                <a:spcPct val="0"/>
              </a:spcBef>
            </a:pPr>
            <a:r>
              <a:rPr lang="en-US" sz="3948">
                <a:solidFill>
                  <a:srgbClr val="FF914D"/>
                </a:solidFill>
                <a:latin typeface="HK Modular"/>
                <a:ea typeface="HK Modular"/>
                <a:cs typeface="HK Modular"/>
                <a:sym typeface="HK Modular"/>
              </a:rPr>
              <a:t>COMO IMPLEMENTAR UNA BASE DE DATOS RELACIONAL EN MI API?</a:t>
            </a:r>
          </a:p>
        </p:txBody>
      </p:sp>
      <p:sp>
        <p:nvSpPr>
          <p:cNvPr name="TextBox 10" id="10"/>
          <p:cNvSpPr txBox="true"/>
          <p:nvPr/>
        </p:nvSpPr>
        <p:spPr>
          <a:xfrm rot="0">
            <a:off x="1980431" y="3191152"/>
            <a:ext cx="14993883"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Creamos un servicio para manejar la logica que es el encargado de usar el repositorio y un controlador REST que es el que llama nuestro servicio</a:t>
            </a:r>
          </a:p>
        </p:txBody>
      </p:sp>
      <p:sp>
        <p:nvSpPr>
          <p:cNvPr name="Freeform 11" id="11"/>
          <p:cNvSpPr/>
          <p:nvPr/>
        </p:nvSpPr>
        <p:spPr>
          <a:xfrm flipH="false" flipV="false" rot="0">
            <a:off x="1028700" y="526524"/>
            <a:ext cx="2339794" cy="2339794"/>
          </a:xfrm>
          <a:custGeom>
            <a:avLst/>
            <a:gdLst/>
            <a:ahLst/>
            <a:cxnLst/>
            <a:rect r="r" b="b" t="t" l="l"/>
            <a:pathLst>
              <a:path h="2339794" w="2339794">
                <a:moveTo>
                  <a:pt x="0" y="0"/>
                </a:moveTo>
                <a:lnTo>
                  <a:pt x="2339794" y="0"/>
                </a:lnTo>
                <a:lnTo>
                  <a:pt x="2339794" y="2339794"/>
                </a:lnTo>
                <a:lnTo>
                  <a:pt x="0" y="2339794"/>
                </a:lnTo>
                <a:lnTo>
                  <a:pt x="0" y="0"/>
                </a:lnTo>
                <a:close/>
              </a:path>
            </a:pathLst>
          </a:custGeom>
          <a:blipFill>
            <a:blip r:embed="rId7"/>
            <a:stretch>
              <a:fillRect l="0" t="0" r="0" b="0"/>
            </a:stretch>
          </a:blipFill>
        </p:spPr>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C800AE">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5577594" y="5363487"/>
            <a:ext cx="7132813" cy="3638601"/>
          </a:xfrm>
          <a:custGeom>
            <a:avLst/>
            <a:gdLst/>
            <a:ahLst/>
            <a:cxnLst/>
            <a:rect r="r" b="b" t="t" l="l"/>
            <a:pathLst>
              <a:path h="3638601" w="7132813">
                <a:moveTo>
                  <a:pt x="0" y="0"/>
                </a:moveTo>
                <a:lnTo>
                  <a:pt x="7132812" y="0"/>
                </a:lnTo>
                <a:lnTo>
                  <a:pt x="7132812" y="3638601"/>
                </a:lnTo>
                <a:lnTo>
                  <a:pt x="0" y="3638601"/>
                </a:lnTo>
                <a:lnTo>
                  <a:pt x="0" y="0"/>
                </a:lnTo>
                <a:close/>
              </a:path>
            </a:pathLst>
          </a:custGeom>
          <a:blipFill>
            <a:blip r:embed="rId3"/>
            <a:stretch>
              <a:fillRect l="0" t="0" r="0" b="0"/>
            </a:stretch>
          </a:blipFill>
        </p:spPr>
      </p:sp>
      <p:sp>
        <p:nvSpPr>
          <p:cNvPr name="TextBox 7" id="7"/>
          <p:cNvSpPr txBox="true"/>
          <p:nvPr/>
        </p:nvSpPr>
        <p:spPr>
          <a:xfrm rot="0">
            <a:off x="3754713" y="835632"/>
            <a:ext cx="11445321" cy="2080302"/>
          </a:xfrm>
          <a:prstGeom prst="rect">
            <a:avLst/>
          </a:prstGeom>
        </p:spPr>
        <p:txBody>
          <a:bodyPr anchor="t" rtlCol="false" tIns="0" lIns="0" bIns="0" rIns="0">
            <a:spAutoFit/>
          </a:bodyPr>
          <a:lstStyle/>
          <a:p>
            <a:pPr algn="ctr">
              <a:lnSpc>
                <a:spcPts val="5527"/>
              </a:lnSpc>
              <a:spcBef>
                <a:spcPct val="0"/>
              </a:spcBef>
            </a:pPr>
            <a:r>
              <a:rPr lang="en-US" sz="3948">
                <a:solidFill>
                  <a:srgbClr val="FF914D"/>
                </a:solidFill>
                <a:latin typeface="HK Modular"/>
                <a:ea typeface="HK Modular"/>
                <a:cs typeface="HK Modular"/>
                <a:sym typeface="HK Modular"/>
              </a:rPr>
              <a:t>COMO IMPLEMENTAR UNA BASE DE DATOS RELACIONAL EN MI API?</a:t>
            </a:r>
          </a:p>
        </p:txBody>
      </p:sp>
      <p:sp>
        <p:nvSpPr>
          <p:cNvPr name="TextBox 8" id="8"/>
          <p:cNvSpPr txBox="true"/>
          <p:nvPr/>
        </p:nvSpPr>
        <p:spPr>
          <a:xfrm rot="0">
            <a:off x="1980431" y="3191152"/>
            <a:ext cx="14993883" cy="18294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Normalemnte no necesitamos usar @EnableJpaRepositories ya que Springboot lo hace ,automaticamente si los repositorios estan en paquetes hijos del paquete principal, si no estan @EnableJpaRepositories(basePackages = "com.ejemplo.demo.repository") &lt;-- opcional si tus repositorios están fuera del paquete base</a:t>
            </a:r>
          </a:p>
        </p:txBody>
      </p:sp>
      <p:grpSp>
        <p:nvGrpSpPr>
          <p:cNvPr name="Group 9" id="9"/>
          <p:cNvGrpSpPr/>
          <p:nvPr/>
        </p:nvGrpSpPr>
        <p:grpSpPr>
          <a:xfrm rot="0">
            <a:off x="1028700" y="3036553"/>
            <a:ext cx="959316" cy="914348"/>
            <a:chOff x="0" y="0"/>
            <a:chExt cx="812800" cy="774700"/>
          </a:xfrm>
        </p:grpSpPr>
        <p:sp>
          <p:nvSpPr>
            <p:cNvPr name="Freeform 10" id="10"/>
            <p:cNvSpPr/>
            <p:nvPr/>
          </p:nvSpPr>
          <p:spPr>
            <a:xfrm flipH="false" flipV="false" rot="0">
              <a:off x="0" y="0"/>
              <a:ext cx="812800" cy="774700"/>
            </a:xfrm>
            <a:custGeom>
              <a:avLst/>
              <a:gdLst/>
              <a:ahLst/>
              <a:cxnLst/>
              <a:rect r="r" b="b" t="t" l="l"/>
              <a:pathLst>
                <a:path h="774700" w="8128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FF009D"/>
            </a:solidFill>
          </p:spPr>
        </p:sp>
        <p:sp>
          <p:nvSpPr>
            <p:cNvPr name="TextBox 11" id="11"/>
            <p:cNvSpPr txBox="true"/>
            <p:nvPr/>
          </p:nvSpPr>
          <p:spPr>
            <a:xfrm>
              <a:off x="228600" y="228600"/>
              <a:ext cx="355600" cy="381000"/>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1028700" y="526524"/>
            <a:ext cx="2339794" cy="2339794"/>
          </a:xfrm>
          <a:custGeom>
            <a:avLst/>
            <a:gdLst/>
            <a:ahLst/>
            <a:cxnLst/>
            <a:rect r="r" b="b" t="t" l="l"/>
            <a:pathLst>
              <a:path h="2339794" w="2339794">
                <a:moveTo>
                  <a:pt x="0" y="0"/>
                </a:moveTo>
                <a:lnTo>
                  <a:pt x="2339794" y="0"/>
                </a:lnTo>
                <a:lnTo>
                  <a:pt x="2339794" y="2339794"/>
                </a:lnTo>
                <a:lnTo>
                  <a:pt x="0" y="2339794"/>
                </a:lnTo>
                <a:lnTo>
                  <a:pt x="0" y="0"/>
                </a:lnTo>
                <a:close/>
              </a:path>
            </a:pathLst>
          </a:custGeom>
          <a:blipFill>
            <a:blip r:embed="rId4"/>
            <a:stretch>
              <a:fillRect l="0" t="0" r="0" b="0"/>
            </a:stretch>
          </a:blipFill>
        </p:spPr>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C800AE">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093969" y="3154439"/>
            <a:ext cx="886462" cy="886462"/>
          </a:xfrm>
          <a:custGeom>
            <a:avLst/>
            <a:gdLst/>
            <a:ahLst/>
            <a:cxnLst/>
            <a:rect r="r" b="b" t="t" l="l"/>
            <a:pathLst>
              <a:path h="886462" w="886462">
                <a:moveTo>
                  <a:pt x="0" y="0"/>
                </a:moveTo>
                <a:lnTo>
                  <a:pt x="886462" y="0"/>
                </a:lnTo>
                <a:lnTo>
                  <a:pt x="886462" y="886463"/>
                </a:lnTo>
                <a:lnTo>
                  <a:pt x="0" y="88646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529502" y="5763537"/>
            <a:ext cx="4362238" cy="2544639"/>
          </a:xfrm>
          <a:custGeom>
            <a:avLst/>
            <a:gdLst/>
            <a:ahLst/>
            <a:cxnLst/>
            <a:rect r="r" b="b" t="t" l="l"/>
            <a:pathLst>
              <a:path h="2544639" w="4362238">
                <a:moveTo>
                  <a:pt x="0" y="0"/>
                </a:moveTo>
                <a:lnTo>
                  <a:pt x="4362238" y="0"/>
                </a:lnTo>
                <a:lnTo>
                  <a:pt x="4362238" y="2544639"/>
                </a:lnTo>
                <a:lnTo>
                  <a:pt x="0" y="2544639"/>
                </a:lnTo>
                <a:lnTo>
                  <a:pt x="0" y="0"/>
                </a:lnTo>
                <a:close/>
              </a:path>
            </a:pathLst>
          </a:custGeom>
          <a:blipFill>
            <a:blip r:embed="rId5"/>
            <a:stretch>
              <a:fillRect l="0" t="0" r="0" b="0"/>
            </a:stretch>
          </a:blipFill>
        </p:spPr>
      </p:sp>
      <p:sp>
        <p:nvSpPr>
          <p:cNvPr name="Freeform 8" id="8"/>
          <p:cNvSpPr/>
          <p:nvPr/>
        </p:nvSpPr>
        <p:spPr>
          <a:xfrm flipH="false" flipV="false" rot="0">
            <a:off x="9727199" y="6089210"/>
            <a:ext cx="4892736" cy="698962"/>
          </a:xfrm>
          <a:custGeom>
            <a:avLst/>
            <a:gdLst/>
            <a:ahLst/>
            <a:cxnLst/>
            <a:rect r="r" b="b" t="t" l="l"/>
            <a:pathLst>
              <a:path h="698962" w="4892736">
                <a:moveTo>
                  <a:pt x="0" y="0"/>
                </a:moveTo>
                <a:lnTo>
                  <a:pt x="4892736" y="0"/>
                </a:lnTo>
                <a:lnTo>
                  <a:pt x="4892736" y="698962"/>
                </a:lnTo>
                <a:lnTo>
                  <a:pt x="0" y="698962"/>
                </a:lnTo>
                <a:lnTo>
                  <a:pt x="0" y="0"/>
                </a:lnTo>
                <a:close/>
              </a:path>
            </a:pathLst>
          </a:custGeom>
          <a:blipFill>
            <a:blip r:embed="rId6"/>
            <a:stretch>
              <a:fillRect l="0" t="0" r="0" b="0"/>
            </a:stretch>
          </a:blipFill>
        </p:spPr>
      </p:sp>
      <p:sp>
        <p:nvSpPr>
          <p:cNvPr name="Freeform 9" id="9"/>
          <p:cNvSpPr/>
          <p:nvPr/>
        </p:nvSpPr>
        <p:spPr>
          <a:xfrm flipH="false" flipV="false" rot="0">
            <a:off x="8398163" y="6966207"/>
            <a:ext cx="7292427" cy="538755"/>
          </a:xfrm>
          <a:custGeom>
            <a:avLst/>
            <a:gdLst/>
            <a:ahLst/>
            <a:cxnLst/>
            <a:rect r="r" b="b" t="t" l="l"/>
            <a:pathLst>
              <a:path h="538755" w="7292427">
                <a:moveTo>
                  <a:pt x="0" y="0"/>
                </a:moveTo>
                <a:lnTo>
                  <a:pt x="7292428" y="0"/>
                </a:lnTo>
                <a:lnTo>
                  <a:pt x="7292428" y="538755"/>
                </a:lnTo>
                <a:lnTo>
                  <a:pt x="0" y="538755"/>
                </a:lnTo>
                <a:lnTo>
                  <a:pt x="0" y="0"/>
                </a:lnTo>
                <a:close/>
              </a:path>
            </a:pathLst>
          </a:custGeom>
          <a:blipFill>
            <a:blip r:embed="rId7"/>
            <a:stretch>
              <a:fillRect l="0" t="0" r="0" b="0"/>
            </a:stretch>
          </a:blipFill>
        </p:spPr>
      </p:sp>
      <p:sp>
        <p:nvSpPr>
          <p:cNvPr name="TextBox 10" id="10"/>
          <p:cNvSpPr txBox="true"/>
          <p:nvPr/>
        </p:nvSpPr>
        <p:spPr>
          <a:xfrm rot="0">
            <a:off x="3754713" y="835632"/>
            <a:ext cx="11445321" cy="2080302"/>
          </a:xfrm>
          <a:prstGeom prst="rect">
            <a:avLst/>
          </a:prstGeom>
        </p:spPr>
        <p:txBody>
          <a:bodyPr anchor="t" rtlCol="false" tIns="0" lIns="0" bIns="0" rIns="0">
            <a:spAutoFit/>
          </a:bodyPr>
          <a:lstStyle/>
          <a:p>
            <a:pPr algn="ctr">
              <a:lnSpc>
                <a:spcPts val="5527"/>
              </a:lnSpc>
              <a:spcBef>
                <a:spcPct val="0"/>
              </a:spcBef>
            </a:pPr>
            <a:r>
              <a:rPr lang="en-US" sz="3948">
                <a:solidFill>
                  <a:srgbClr val="FF914D"/>
                </a:solidFill>
                <a:latin typeface="HK Modular"/>
                <a:ea typeface="HK Modular"/>
                <a:cs typeface="HK Modular"/>
                <a:sym typeface="HK Modular"/>
              </a:rPr>
              <a:t>COMO IMPLEMENTAR UNA BASE DE DATOS RELACIONAL EN MI API?</a:t>
            </a:r>
          </a:p>
        </p:txBody>
      </p:sp>
      <p:sp>
        <p:nvSpPr>
          <p:cNvPr name="TextBox 11" id="11"/>
          <p:cNvSpPr txBox="true"/>
          <p:nvPr/>
        </p:nvSpPr>
        <p:spPr>
          <a:xfrm rot="0">
            <a:off x="1980431" y="3191152"/>
            <a:ext cx="14993883" cy="13722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Probar la API, Recuerda que antes de todo tu Base de datos ya debe estar construida, si usas MySQL o Postgres es necesario que ya este creada y con las configuraciones que estableciste</a:t>
            </a:r>
          </a:p>
        </p:txBody>
      </p:sp>
      <p:sp>
        <p:nvSpPr>
          <p:cNvPr name="Freeform 12" id="12"/>
          <p:cNvSpPr/>
          <p:nvPr/>
        </p:nvSpPr>
        <p:spPr>
          <a:xfrm flipH="false" flipV="false" rot="0">
            <a:off x="1028700" y="526524"/>
            <a:ext cx="2339794" cy="2339794"/>
          </a:xfrm>
          <a:custGeom>
            <a:avLst/>
            <a:gdLst/>
            <a:ahLst/>
            <a:cxnLst/>
            <a:rect r="r" b="b" t="t" l="l"/>
            <a:pathLst>
              <a:path h="2339794" w="2339794">
                <a:moveTo>
                  <a:pt x="0" y="0"/>
                </a:moveTo>
                <a:lnTo>
                  <a:pt x="2339794" y="0"/>
                </a:lnTo>
                <a:lnTo>
                  <a:pt x="2339794" y="2339794"/>
                </a:lnTo>
                <a:lnTo>
                  <a:pt x="0" y="2339794"/>
                </a:lnTo>
                <a:lnTo>
                  <a:pt x="0" y="0"/>
                </a:lnTo>
                <a:close/>
              </a:path>
            </a:pathLst>
          </a:custGeom>
          <a:blipFill>
            <a:blip r:embed="rId8"/>
            <a:stretch>
              <a:fillRect l="0" t="0" r="0" b="0"/>
            </a:stretch>
          </a:blipFill>
        </p:spPr>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C800AE">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512230" y="4302577"/>
            <a:ext cx="13482274" cy="2168669"/>
          </a:xfrm>
          <a:prstGeom prst="rect">
            <a:avLst/>
          </a:prstGeom>
        </p:spPr>
        <p:txBody>
          <a:bodyPr anchor="t" rtlCol="false" tIns="0" lIns="0" bIns="0" rIns="0">
            <a:spAutoFit/>
          </a:bodyPr>
          <a:lstStyle/>
          <a:p>
            <a:pPr algn="ctr">
              <a:lnSpc>
                <a:spcPts val="8723"/>
              </a:lnSpc>
              <a:spcBef>
                <a:spcPct val="0"/>
              </a:spcBef>
            </a:pPr>
            <a:r>
              <a:rPr lang="en-US" sz="6230">
                <a:solidFill>
                  <a:srgbClr val="FF009D"/>
                </a:solidFill>
                <a:latin typeface="HK Modular"/>
                <a:ea typeface="HK Modular"/>
                <a:cs typeface="HK Modular"/>
                <a:sym typeface="HK Modular"/>
              </a:rPr>
              <a:t>SEGURIDAD EN SERVICIOS</a:t>
            </a:r>
          </a:p>
        </p:txBody>
      </p:sp>
      <p:sp>
        <p:nvSpPr>
          <p:cNvPr name="Freeform 7" id="7"/>
          <p:cNvSpPr/>
          <p:nvPr/>
        </p:nvSpPr>
        <p:spPr>
          <a:xfrm flipH="false" flipV="false" rot="0">
            <a:off x="7214920" y="0"/>
            <a:ext cx="4076893" cy="4076893"/>
          </a:xfrm>
          <a:custGeom>
            <a:avLst/>
            <a:gdLst/>
            <a:ahLst/>
            <a:cxnLst/>
            <a:rect r="r" b="b" t="t" l="l"/>
            <a:pathLst>
              <a:path h="4076893" w="4076893">
                <a:moveTo>
                  <a:pt x="0" y="0"/>
                </a:moveTo>
                <a:lnTo>
                  <a:pt x="4076894" y="0"/>
                </a:lnTo>
                <a:lnTo>
                  <a:pt x="4076894" y="4076893"/>
                </a:lnTo>
                <a:lnTo>
                  <a:pt x="0" y="4076893"/>
                </a:lnTo>
                <a:lnTo>
                  <a:pt x="0" y="0"/>
                </a:lnTo>
                <a:close/>
              </a:path>
            </a:pathLst>
          </a:custGeom>
          <a:blipFill>
            <a:blip r:embed="rId3"/>
            <a:stretch>
              <a:fillRect l="0" t="0" r="0" b="0"/>
            </a:stretch>
          </a:blipFill>
        </p:spPr>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C800AE">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3599253" y="1888647"/>
            <a:ext cx="11308227" cy="1819884"/>
          </a:xfrm>
          <a:prstGeom prst="rect">
            <a:avLst/>
          </a:prstGeom>
        </p:spPr>
        <p:txBody>
          <a:bodyPr anchor="t" rtlCol="false" tIns="0" lIns="0" bIns="0" rIns="0">
            <a:spAutoFit/>
          </a:bodyPr>
          <a:lstStyle/>
          <a:p>
            <a:pPr algn="ctr">
              <a:lnSpc>
                <a:spcPts val="7316"/>
              </a:lnSpc>
              <a:spcBef>
                <a:spcPct val="0"/>
              </a:spcBef>
            </a:pPr>
            <a:r>
              <a:rPr lang="en-US" sz="5226">
                <a:solidFill>
                  <a:srgbClr val="FF009D"/>
                </a:solidFill>
                <a:latin typeface="HK Modular"/>
                <a:ea typeface="HK Modular"/>
                <a:cs typeface="HK Modular"/>
                <a:sym typeface="HK Modular"/>
              </a:rPr>
              <a:t>SEGURIDAD EN SERVICIOS</a:t>
            </a:r>
          </a:p>
        </p:txBody>
      </p:sp>
      <p:sp>
        <p:nvSpPr>
          <p:cNvPr name="TextBox 7" id="7"/>
          <p:cNvSpPr txBox="true"/>
          <p:nvPr/>
        </p:nvSpPr>
        <p:spPr>
          <a:xfrm rot="0">
            <a:off x="1028700" y="4225264"/>
            <a:ext cx="16052430" cy="794108"/>
          </a:xfrm>
          <a:prstGeom prst="rect">
            <a:avLst/>
          </a:prstGeom>
        </p:spPr>
        <p:txBody>
          <a:bodyPr anchor="t" rtlCol="false" tIns="0" lIns="0" bIns="0" rIns="0">
            <a:spAutoFit/>
          </a:bodyPr>
          <a:lstStyle/>
          <a:p>
            <a:pPr algn="ctr">
              <a:lnSpc>
                <a:spcPts val="3120"/>
              </a:lnSpc>
            </a:pPr>
            <a:r>
              <a:rPr lang="en-US" sz="2228">
                <a:solidFill>
                  <a:srgbClr val="FFFFFF"/>
                </a:solidFill>
                <a:latin typeface="Poppins"/>
                <a:ea typeface="Poppins"/>
                <a:cs typeface="Poppins"/>
                <a:sym typeface="Poppins"/>
              </a:rPr>
              <a:t>La seguridad de las APIS es el proceso de proteger las APIs de los ataques. Al igual que las aplicaciones, las redes y los servidores pueden ser objeto de ataques, las APIS pueden sufrir de diversas amenazas</a:t>
            </a:r>
          </a:p>
        </p:txBody>
      </p:sp>
      <p:sp>
        <p:nvSpPr>
          <p:cNvPr name="TextBox 8" id="8"/>
          <p:cNvSpPr txBox="true"/>
          <p:nvPr/>
        </p:nvSpPr>
        <p:spPr>
          <a:xfrm rot="0">
            <a:off x="1028700" y="6029582"/>
            <a:ext cx="16052430" cy="2353183"/>
          </a:xfrm>
          <a:prstGeom prst="rect">
            <a:avLst/>
          </a:prstGeom>
        </p:spPr>
        <p:txBody>
          <a:bodyPr anchor="t" rtlCol="false" tIns="0" lIns="0" bIns="0" rIns="0">
            <a:spAutoFit/>
          </a:bodyPr>
          <a:lstStyle/>
          <a:p>
            <a:pPr algn="ctr">
              <a:lnSpc>
                <a:spcPts val="3121"/>
              </a:lnSpc>
              <a:spcBef>
                <a:spcPct val="0"/>
              </a:spcBef>
            </a:pPr>
            <a:r>
              <a:rPr lang="en-US" sz="2229">
                <a:solidFill>
                  <a:srgbClr val="FFFFFF"/>
                </a:solidFill>
                <a:latin typeface="Poppins"/>
                <a:ea typeface="Poppins"/>
                <a:cs typeface="Poppins"/>
                <a:sym typeface="Poppins"/>
              </a:rPr>
              <a:t>La mayoría de las aplicaciones web modernas dependen de las APIs para funcionar, y las APIs introducen un riesgo adicional para una aplicación al permitir que terceros accedan a la misma. Una comparación es una empresa que abre su oficina al público: tener más personas en las instalaciones, algunas de las cuales pueden ser desconocidas para los empleados de la empresa, introduce un mayor riesgo. De manera similar, una API permite a personas externas usar un programa, lo que introduce más riesgo para la infraestructura del servicio de la API.</a:t>
            </a:r>
          </a:p>
        </p:txBody>
      </p:sp>
      <p:sp>
        <p:nvSpPr>
          <p:cNvPr name="Freeform 9" id="9"/>
          <p:cNvSpPr/>
          <p:nvPr/>
        </p:nvSpPr>
        <p:spPr>
          <a:xfrm flipH="false" flipV="false" rot="0">
            <a:off x="8083470" y="-147998"/>
            <a:ext cx="2339794" cy="2339794"/>
          </a:xfrm>
          <a:custGeom>
            <a:avLst/>
            <a:gdLst/>
            <a:ahLst/>
            <a:cxnLst/>
            <a:rect r="r" b="b" t="t" l="l"/>
            <a:pathLst>
              <a:path h="2339794" w="2339794">
                <a:moveTo>
                  <a:pt x="0" y="0"/>
                </a:moveTo>
                <a:lnTo>
                  <a:pt x="2339794" y="0"/>
                </a:lnTo>
                <a:lnTo>
                  <a:pt x="2339794" y="2339794"/>
                </a:lnTo>
                <a:lnTo>
                  <a:pt x="0" y="2339794"/>
                </a:lnTo>
                <a:lnTo>
                  <a:pt x="0" y="0"/>
                </a:lnTo>
                <a:close/>
              </a:path>
            </a:pathLst>
          </a:custGeom>
          <a:blipFill>
            <a:blip r:embed="rId3"/>
            <a:stretch>
              <a:fillRect l="0" t="0" r="0" b="0"/>
            </a:stretch>
          </a:blipFill>
        </p:spPr>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C800AE">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3599253" y="1888647"/>
            <a:ext cx="11308227" cy="895959"/>
          </a:xfrm>
          <a:prstGeom prst="rect">
            <a:avLst/>
          </a:prstGeom>
        </p:spPr>
        <p:txBody>
          <a:bodyPr anchor="t" rtlCol="false" tIns="0" lIns="0" bIns="0" rIns="0">
            <a:spAutoFit/>
          </a:bodyPr>
          <a:lstStyle/>
          <a:p>
            <a:pPr algn="ctr">
              <a:lnSpc>
                <a:spcPts val="7316"/>
              </a:lnSpc>
              <a:spcBef>
                <a:spcPct val="0"/>
              </a:spcBef>
            </a:pPr>
            <a:r>
              <a:rPr lang="en-US" sz="5226">
                <a:solidFill>
                  <a:srgbClr val="FF009D"/>
                </a:solidFill>
                <a:latin typeface="HK Modular"/>
                <a:ea typeface="HK Modular"/>
                <a:cs typeface="HK Modular"/>
                <a:sym typeface="HK Modular"/>
              </a:rPr>
              <a:t>RIESGOS DE SEGURIDAD</a:t>
            </a:r>
          </a:p>
        </p:txBody>
      </p:sp>
      <p:sp>
        <p:nvSpPr>
          <p:cNvPr name="TextBox 7" id="7"/>
          <p:cNvSpPr txBox="true"/>
          <p:nvPr/>
        </p:nvSpPr>
        <p:spPr>
          <a:xfrm rot="0">
            <a:off x="1117785" y="3142130"/>
            <a:ext cx="16052430" cy="1186132"/>
          </a:xfrm>
          <a:prstGeom prst="rect">
            <a:avLst/>
          </a:prstGeom>
        </p:spPr>
        <p:txBody>
          <a:bodyPr anchor="t" rtlCol="false" tIns="0" lIns="0" bIns="0" rIns="0">
            <a:spAutoFit/>
          </a:bodyPr>
          <a:lstStyle/>
          <a:p>
            <a:pPr algn="ctr">
              <a:lnSpc>
                <a:spcPts val="3120"/>
              </a:lnSpc>
            </a:pPr>
            <a:r>
              <a:rPr lang="en-US" sz="2228">
                <a:solidFill>
                  <a:srgbClr val="FFFFFF"/>
                </a:solidFill>
                <a:latin typeface="Poppins"/>
                <a:ea typeface="Poppins"/>
                <a:cs typeface="Poppins"/>
                <a:sym typeface="Poppins"/>
              </a:rPr>
              <a:t>Aprovechamiento de vulnerabilidades, cuando un atacante envia datos especialmente elaborados a un objetivo, datos que se aprovechan de defectos en la construccion del objetivo - OWASP mantiene el listado de las 10 vulnerabilidades de las API</a:t>
            </a:r>
          </a:p>
        </p:txBody>
      </p:sp>
      <p:sp>
        <p:nvSpPr>
          <p:cNvPr name="TextBox 8" id="8"/>
          <p:cNvSpPr txBox="true"/>
          <p:nvPr/>
        </p:nvSpPr>
        <p:spPr>
          <a:xfrm rot="0">
            <a:off x="1028700" y="4690212"/>
            <a:ext cx="16052430" cy="1572133"/>
          </a:xfrm>
          <a:prstGeom prst="rect">
            <a:avLst/>
          </a:prstGeom>
        </p:spPr>
        <p:txBody>
          <a:bodyPr anchor="t" rtlCol="false" tIns="0" lIns="0" bIns="0" rIns="0">
            <a:spAutoFit/>
          </a:bodyPr>
          <a:lstStyle/>
          <a:p>
            <a:pPr algn="ctr">
              <a:lnSpc>
                <a:spcPts val="3121"/>
              </a:lnSpc>
              <a:spcBef>
                <a:spcPct val="0"/>
              </a:spcBef>
            </a:pPr>
            <a:r>
              <a:rPr lang="en-US" sz="2229">
                <a:solidFill>
                  <a:srgbClr val="FFFFFF"/>
                </a:solidFill>
                <a:latin typeface="Poppins"/>
                <a:ea typeface="Poppins"/>
                <a:cs typeface="Poppins"/>
                <a:sym typeface="Poppins"/>
              </a:rPr>
              <a:t>Ataques basados en autenticacion, como los clientes necesitan autenticarse antes de realizar las solicitudes a una API para que el servidor no acepte solicitudes ilegitimas o desconocidas, existen ataques relacionados con la obtencion de credenciales de manera ilicita, robar una clave de la API o interceptar y utilizar un token de autenticacion</a:t>
            </a:r>
          </a:p>
        </p:txBody>
      </p:sp>
      <p:sp>
        <p:nvSpPr>
          <p:cNvPr name="TextBox 9" id="9"/>
          <p:cNvSpPr txBox="true"/>
          <p:nvPr/>
        </p:nvSpPr>
        <p:spPr>
          <a:xfrm rot="0">
            <a:off x="1117785" y="6624295"/>
            <a:ext cx="16474299" cy="1181608"/>
          </a:xfrm>
          <a:prstGeom prst="rect">
            <a:avLst/>
          </a:prstGeom>
        </p:spPr>
        <p:txBody>
          <a:bodyPr anchor="t" rtlCol="false" tIns="0" lIns="0" bIns="0" rIns="0">
            <a:spAutoFit/>
          </a:bodyPr>
          <a:lstStyle/>
          <a:p>
            <a:pPr algn="ctr">
              <a:lnSpc>
                <a:spcPts val="3121"/>
              </a:lnSpc>
              <a:spcBef>
                <a:spcPct val="0"/>
              </a:spcBef>
            </a:pPr>
            <a:r>
              <a:rPr lang="en-US" sz="2229">
                <a:solidFill>
                  <a:srgbClr val="FFFFFF"/>
                </a:solidFill>
                <a:latin typeface="Poppins"/>
                <a:ea typeface="Poppins"/>
                <a:cs typeface="Poppins"/>
                <a:sym typeface="Poppins"/>
              </a:rPr>
              <a:t>la autorización determina el nivel de acceso que tiene cada usuario. Si la autorización no se gestiona con cuidado, un cliente de la API podría tener acceso a datos que no deberían estar a su disposición, lo que aumenta la posibilidad de que se produzca una fuga de datos.</a:t>
            </a:r>
          </a:p>
        </p:txBody>
      </p:sp>
      <p:sp>
        <p:nvSpPr>
          <p:cNvPr name="TextBox 10" id="10"/>
          <p:cNvSpPr txBox="true"/>
          <p:nvPr/>
        </p:nvSpPr>
        <p:spPr>
          <a:xfrm rot="0">
            <a:off x="442152" y="8270802"/>
            <a:ext cx="17622431" cy="1181608"/>
          </a:xfrm>
          <a:prstGeom prst="rect">
            <a:avLst/>
          </a:prstGeom>
        </p:spPr>
        <p:txBody>
          <a:bodyPr anchor="t" rtlCol="false" tIns="0" lIns="0" bIns="0" rIns="0">
            <a:spAutoFit/>
          </a:bodyPr>
          <a:lstStyle/>
          <a:p>
            <a:pPr algn="ctr">
              <a:lnSpc>
                <a:spcPts val="3121"/>
              </a:lnSpc>
              <a:spcBef>
                <a:spcPct val="0"/>
              </a:spcBef>
            </a:pPr>
            <a:r>
              <a:rPr lang="en-US" sz="2229">
                <a:solidFill>
                  <a:srgbClr val="FFFFFF"/>
                </a:solidFill>
                <a:latin typeface="Poppins"/>
                <a:ea typeface="Poppins"/>
                <a:cs typeface="Poppins"/>
                <a:sym typeface="Poppins"/>
              </a:rPr>
              <a:t>demasiadas solicitudes dirigidas a una API pueden ralentizar o detener el servicio para otros clientes. Algunos atacantes envían una cantidad enorme de solicitudes a una API a propósito en un ataque de denegación de servicio (DoS) o de denegación de servicio distribuido (DDoS).</a:t>
            </a:r>
          </a:p>
        </p:txBody>
      </p:sp>
      <p:sp>
        <p:nvSpPr>
          <p:cNvPr name="Freeform 11" id="11"/>
          <p:cNvSpPr/>
          <p:nvPr/>
        </p:nvSpPr>
        <p:spPr>
          <a:xfrm flipH="false" flipV="false" rot="0">
            <a:off x="8185038" y="-147998"/>
            <a:ext cx="2339794" cy="2339794"/>
          </a:xfrm>
          <a:custGeom>
            <a:avLst/>
            <a:gdLst/>
            <a:ahLst/>
            <a:cxnLst/>
            <a:rect r="r" b="b" t="t" l="l"/>
            <a:pathLst>
              <a:path h="2339794" w="2339794">
                <a:moveTo>
                  <a:pt x="0" y="0"/>
                </a:moveTo>
                <a:lnTo>
                  <a:pt x="2339794" y="0"/>
                </a:lnTo>
                <a:lnTo>
                  <a:pt x="2339794" y="2339794"/>
                </a:lnTo>
                <a:lnTo>
                  <a:pt x="0" y="2339794"/>
                </a:lnTo>
                <a:lnTo>
                  <a:pt x="0" y="0"/>
                </a:lnTo>
                <a:close/>
              </a:path>
            </a:pathLst>
          </a:custGeom>
          <a:blipFill>
            <a:blip r:embed="rId3"/>
            <a:stretch>
              <a:fillRect l="0" t="0" r="0" b="0"/>
            </a:stretch>
          </a:blipFill>
        </p:spPr>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C800AE">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6222494" y="8167775"/>
            <a:ext cx="5843012" cy="1210987"/>
          </a:xfrm>
          <a:custGeom>
            <a:avLst/>
            <a:gdLst/>
            <a:ahLst/>
            <a:cxnLst/>
            <a:rect r="r" b="b" t="t" l="l"/>
            <a:pathLst>
              <a:path h="1210987" w="5843012">
                <a:moveTo>
                  <a:pt x="0" y="0"/>
                </a:moveTo>
                <a:lnTo>
                  <a:pt x="5843012" y="0"/>
                </a:lnTo>
                <a:lnTo>
                  <a:pt x="5843012" y="1210987"/>
                </a:lnTo>
                <a:lnTo>
                  <a:pt x="0" y="1210987"/>
                </a:lnTo>
                <a:lnTo>
                  <a:pt x="0" y="0"/>
                </a:lnTo>
                <a:close/>
              </a:path>
            </a:pathLst>
          </a:custGeom>
          <a:blipFill>
            <a:blip r:embed="rId3"/>
            <a:stretch>
              <a:fillRect l="0" t="0" r="0" b="0"/>
            </a:stretch>
          </a:blipFill>
        </p:spPr>
      </p:sp>
      <p:sp>
        <p:nvSpPr>
          <p:cNvPr name="TextBox 7" id="7"/>
          <p:cNvSpPr txBox="true"/>
          <p:nvPr/>
        </p:nvSpPr>
        <p:spPr>
          <a:xfrm rot="0">
            <a:off x="3526388" y="2106071"/>
            <a:ext cx="11235223" cy="1463358"/>
          </a:xfrm>
          <a:prstGeom prst="rect">
            <a:avLst/>
          </a:prstGeom>
        </p:spPr>
        <p:txBody>
          <a:bodyPr anchor="t" rtlCol="false" tIns="0" lIns="0" bIns="0" rIns="0">
            <a:spAutoFit/>
          </a:bodyPr>
          <a:lstStyle/>
          <a:p>
            <a:pPr algn="ctr">
              <a:lnSpc>
                <a:spcPts val="5876"/>
              </a:lnSpc>
              <a:spcBef>
                <a:spcPct val="0"/>
              </a:spcBef>
            </a:pPr>
            <a:r>
              <a:rPr lang="en-US" sz="4197">
                <a:solidFill>
                  <a:srgbClr val="FF009D"/>
                </a:solidFill>
                <a:latin typeface="HK Modular"/>
                <a:ea typeface="HK Modular"/>
                <a:cs typeface="HK Modular"/>
                <a:sym typeface="HK Modular"/>
              </a:rPr>
              <a:t>CSRF (CROSS-SITE REQUEST FORGERY)</a:t>
            </a:r>
          </a:p>
        </p:txBody>
      </p:sp>
      <p:sp>
        <p:nvSpPr>
          <p:cNvPr name="TextBox 8" id="8"/>
          <p:cNvSpPr txBox="true"/>
          <p:nvPr/>
        </p:nvSpPr>
        <p:spPr>
          <a:xfrm rot="0">
            <a:off x="1660931" y="4571714"/>
            <a:ext cx="15184872" cy="782320"/>
          </a:xfrm>
          <a:prstGeom prst="rect">
            <a:avLst/>
          </a:prstGeom>
        </p:spPr>
        <p:txBody>
          <a:bodyPr anchor="t" rtlCol="false" tIns="0" lIns="0" bIns="0" rIns="0">
            <a:spAutoFit/>
          </a:bodyPr>
          <a:lstStyle/>
          <a:p>
            <a:pPr algn="ctr">
              <a:lnSpc>
                <a:spcPts val="3079"/>
              </a:lnSpc>
              <a:spcBef>
                <a:spcPct val="0"/>
              </a:spcBef>
            </a:pPr>
            <a:r>
              <a:rPr lang="en-US" sz="2199">
                <a:solidFill>
                  <a:srgbClr val="FFFFFF"/>
                </a:solidFill>
                <a:latin typeface="Poppins"/>
                <a:ea typeface="Poppins"/>
                <a:cs typeface="Poppins"/>
                <a:sym typeface="Poppins"/>
              </a:rPr>
              <a:t>Un atacante intenta ejecutar acciones en nombre de un usuario autenticado sin su consentimiento (por ejemplo, haciendo clic en un link malicioso).</a:t>
            </a:r>
          </a:p>
        </p:txBody>
      </p:sp>
      <p:sp>
        <p:nvSpPr>
          <p:cNvPr name="TextBox 9" id="9"/>
          <p:cNvSpPr txBox="true"/>
          <p:nvPr/>
        </p:nvSpPr>
        <p:spPr>
          <a:xfrm rot="0">
            <a:off x="1750791" y="6268471"/>
            <a:ext cx="14786417" cy="783221"/>
          </a:xfrm>
          <a:prstGeom prst="rect">
            <a:avLst/>
          </a:prstGeom>
        </p:spPr>
        <p:txBody>
          <a:bodyPr anchor="t" rtlCol="false" tIns="0" lIns="0" bIns="0" rIns="0">
            <a:spAutoFit/>
          </a:bodyPr>
          <a:lstStyle/>
          <a:p>
            <a:pPr algn="ctr">
              <a:lnSpc>
                <a:spcPts val="3134"/>
              </a:lnSpc>
              <a:spcBef>
                <a:spcPct val="0"/>
              </a:spcBef>
            </a:pPr>
            <a:r>
              <a:rPr lang="en-US" b="true" sz="2238">
                <a:solidFill>
                  <a:srgbClr val="FFFFFF"/>
                </a:solidFill>
                <a:latin typeface="HK Modular"/>
                <a:ea typeface="HK Modular"/>
                <a:cs typeface="HK Modular"/>
                <a:sym typeface="HK Modular"/>
              </a:rPr>
              <a:t>LAS APIS STATELESS (JWT) NO SUELEN SER VULNERABLES A CSRF, PERO EN APPS WEB TRADICIONALES SE MANEJA CON SPRING SECURITY</a:t>
            </a:r>
          </a:p>
        </p:txBody>
      </p:sp>
      <p:sp>
        <p:nvSpPr>
          <p:cNvPr name="Freeform 10" id="10"/>
          <p:cNvSpPr/>
          <p:nvPr/>
        </p:nvSpPr>
        <p:spPr>
          <a:xfrm flipH="false" flipV="false" rot="0">
            <a:off x="8185038" y="-147998"/>
            <a:ext cx="2339794" cy="2339794"/>
          </a:xfrm>
          <a:custGeom>
            <a:avLst/>
            <a:gdLst/>
            <a:ahLst/>
            <a:cxnLst/>
            <a:rect r="r" b="b" t="t" l="l"/>
            <a:pathLst>
              <a:path h="2339794" w="2339794">
                <a:moveTo>
                  <a:pt x="0" y="0"/>
                </a:moveTo>
                <a:lnTo>
                  <a:pt x="2339794" y="0"/>
                </a:lnTo>
                <a:lnTo>
                  <a:pt x="2339794" y="2339794"/>
                </a:lnTo>
                <a:lnTo>
                  <a:pt x="0" y="2339794"/>
                </a:lnTo>
                <a:lnTo>
                  <a:pt x="0" y="0"/>
                </a:lnTo>
                <a:close/>
              </a:path>
            </a:pathLst>
          </a:custGeom>
          <a:blipFill>
            <a:blip r:embed="rId4"/>
            <a:stretch>
              <a:fillRect l="0" t="0" r="0" b="0"/>
            </a:stretch>
          </a:blipFill>
        </p:spPr>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C800AE">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5465362" y="7321166"/>
            <a:ext cx="7229603" cy="699046"/>
          </a:xfrm>
          <a:custGeom>
            <a:avLst/>
            <a:gdLst/>
            <a:ahLst/>
            <a:cxnLst/>
            <a:rect r="r" b="b" t="t" l="l"/>
            <a:pathLst>
              <a:path h="699046" w="7229603">
                <a:moveTo>
                  <a:pt x="0" y="0"/>
                </a:moveTo>
                <a:lnTo>
                  <a:pt x="7229603" y="0"/>
                </a:lnTo>
                <a:lnTo>
                  <a:pt x="7229603" y="699046"/>
                </a:lnTo>
                <a:lnTo>
                  <a:pt x="0" y="699046"/>
                </a:lnTo>
                <a:lnTo>
                  <a:pt x="0" y="0"/>
                </a:lnTo>
                <a:close/>
              </a:path>
            </a:pathLst>
          </a:custGeom>
          <a:blipFill>
            <a:blip r:embed="rId3"/>
            <a:stretch>
              <a:fillRect l="0" t="0" r="0" b="0"/>
            </a:stretch>
          </a:blipFill>
        </p:spPr>
      </p:sp>
      <p:sp>
        <p:nvSpPr>
          <p:cNvPr name="TextBox 7" id="7"/>
          <p:cNvSpPr txBox="true"/>
          <p:nvPr/>
        </p:nvSpPr>
        <p:spPr>
          <a:xfrm rot="0">
            <a:off x="3526388" y="2106071"/>
            <a:ext cx="11235223" cy="721230"/>
          </a:xfrm>
          <a:prstGeom prst="rect">
            <a:avLst/>
          </a:prstGeom>
        </p:spPr>
        <p:txBody>
          <a:bodyPr anchor="t" rtlCol="false" tIns="0" lIns="0" bIns="0" rIns="0">
            <a:spAutoFit/>
          </a:bodyPr>
          <a:lstStyle/>
          <a:p>
            <a:pPr algn="ctr">
              <a:lnSpc>
                <a:spcPts val="5876"/>
              </a:lnSpc>
              <a:spcBef>
                <a:spcPct val="0"/>
              </a:spcBef>
            </a:pPr>
            <a:r>
              <a:rPr lang="en-US" sz="4197">
                <a:solidFill>
                  <a:srgbClr val="FF009D"/>
                </a:solidFill>
                <a:latin typeface="HK Modular"/>
                <a:ea typeface="HK Modular"/>
                <a:cs typeface="HK Modular"/>
                <a:sym typeface="HK Modular"/>
              </a:rPr>
              <a:t>XSS (CROSS-SITE SCRIPTING)</a:t>
            </a:r>
          </a:p>
        </p:txBody>
      </p:sp>
      <p:sp>
        <p:nvSpPr>
          <p:cNvPr name="TextBox 8" id="8"/>
          <p:cNvSpPr txBox="true"/>
          <p:nvPr/>
        </p:nvSpPr>
        <p:spPr>
          <a:xfrm rot="0">
            <a:off x="899666" y="3278472"/>
            <a:ext cx="16488668" cy="391795"/>
          </a:xfrm>
          <a:prstGeom prst="rect">
            <a:avLst/>
          </a:prstGeom>
        </p:spPr>
        <p:txBody>
          <a:bodyPr anchor="t" rtlCol="false" tIns="0" lIns="0" bIns="0" rIns="0">
            <a:spAutoFit/>
          </a:bodyPr>
          <a:lstStyle/>
          <a:p>
            <a:pPr algn="ctr">
              <a:lnSpc>
                <a:spcPts val="3079"/>
              </a:lnSpc>
              <a:spcBef>
                <a:spcPct val="0"/>
              </a:spcBef>
            </a:pPr>
            <a:r>
              <a:rPr lang="en-US" sz="2199">
                <a:solidFill>
                  <a:srgbClr val="F0F7FE"/>
                </a:solidFill>
                <a:latin typeface="Poppins"/>
                <a:ea typeface="Poppins"/>
                <a:cs typeface="Poppins"/>
                <a:sym typeface="Poppins"/>
              </a:rPr>
              <a:t>Un atacante inyecta JavaScript malicioso en el navegador de otro usuario, por ejemplo al mostrar texto no sanitizado.</a:t>
            </a:r>
          </a:p>
        </p:txBody>
      </p:sp>
      <p:sp>
        <p:nvSpPr>
          <p:cNvPr name="TextBox 9" id="9"/>
          <p:cNvSpPr txBox="true"/>
          <p:nvPr/>
        </p:nvSpPr>
        <p:spPr>
          <a:xfrm rot="0">
            <a:off x="5593035" y="5477861"/>
            <a:ext cx="7101929" cy="1172845"/>
          </a:xfrm>
          <a:prstGeom prst="rect">
            <a:avLst/>
          </a:prstGeom>
        </p:spPr>
        <p:txBody>
          <a:bodyPr anchor="t" rtlCol="false" tIns="0" lIns="0" bIns="0" rIns="0">
            <a:spAutoFit/>
          </a:bodyPr>
          <a:lstStyle/>
          <a:p>
            <a:pPr algn="ctr">
              <a:lnSpc>
                <a:spcPts val="3079"/>
              </a:lnSpc>
              <a:spcBef>
                <a:spcPct val="0"/>
              </a:spcBef>
            </a:pPr>
            <a:r>
              <a:rPr lang="en-US" sz="2199">
                <a:solidFill>
                  <a:srgbClr val="FFFFFF"/>
                </a:solidFill>
                <a:latin typeface="Poppins"/>
                <a:ea typeface="Poppins"/>
                <a:cs typeface="Poppins"/>
                <a:sym typeface="Poppins"/>
              </a:rPr>
              <a:t>Escapar contenido HTML (&lt;script&gt; → &amp;lt;script&amp;gt;).</a:t>
            </a:r>
          </a:p>
          <a:p>
            <a:pPr algn="ctr">
              <a:lnSpc>
                <a:spcPts val="3079"/>
              </a:lnSpc>
              <a:spcBef>
                <a:spcPct val="0"/>
              </a:spcBef>
            </a:pPr>
            <a:r>
              <a:rPr lang="en-US" sz="2199">
                <a:solidFill>
                  <a:srgbClr val="FFFFFF"/>
                </a:solidFill>
                <a:latin typeface="Poppins"/>
                <a:ea typeface="Poppins"/>
                <a:cs typeface="Poppins"/>
                <a:sym typeface="Poppins"/>
              </a:rPr>
              <a:t>Usar librerías seguras para plantillas.</a:t>
            </a:r>
          </a:p>
          <a:p>
            <a:pPr algn="ctr">
              <a:lnSpc>
                <a:spcPts val="3079"/>
              </a:lnSpc>
              <a:spcBef>
                <a:spcPct val="0"/>
              </a:spcBef>
            </a:pPr>
            <a:r>
              <a:rPr lang="en-US" sz="2199">
                <a:solidFill>
                  <a:srgbClr val="FFFFFF"/>
                </a:solidFill>
                <a:latin typeface="Poppins"/>
                <a:ea typeface="Poppins"/>
                <a:cs typeface="Poppins"/>
                <a:sym typeface="Poppins"/>
              </a:rPr>
              <a:t>Configurar encabezados HTTP:</a:t>
            </a:r>
          </a:p>
        </p:txBody>
      </p:sp>
      <p:sp>
        <p:nvSpPr>
          <p:cNvPr name="TextBox 10" id="10"/>
          <p:cNvSpPr txBox="true"/>
          <p:nvPr/>
        </p:nvSpPr>
        <p:spPr>
          <a:xfrm rot="0">
            <a:off x="3073011" y="4498789"/>
            <a:ext cx="12141979" cy="669942"/>
          </a:xfrm>
          <a:prstGeom prst="rect">
            <a:avLst/>
          </a:prstGeom>
        </p:spPr>
        <p:txBody>
          <a:bodyPr anchor="t" rtlCol="false" tIns="0" lIns="0" bIns="0" rIns="0">
            <a:spAutoFit/>
          </a:bodyPr>
          <a:lstStyle/>
          <a:p>
            <a:pPr algn="ctr">
              <a:lnSpc>
                <a:spcPts val="5490"/>
              </a:lnSpc>
              <a:spcBef>
                <a:spcPct val="0"/>
              </a:spcBef>
            </a:pPr>
            <a:r>
              <a:rPr lang="en-US" sz="3921">
                <a:solidFill>
                  <a:srgbClr val="FF914D"/>
                </a:solidFill>
                <a:latin typeface="HK Modular"/>
                <a:ea typeface="HK Modular"/>
                <a:cs typeface="HK Modular"/>
                <a:sym typeface="HK Modular"/>
              </a:rPr>
              <a:t>PREVENCION</a:t>
            </a:r>
          </a:p>
        </p:txBody>
      </p:sp>
      <p:sp>
        <p:nvSpPr>
          <p:cNvPr name="Freeform 11" id="11"/>
          <p:cNvSpPr/>
          <p:nvPr/>
        </p:nvSpPr>
        <p:spPr>
          <a:xfrm flipH="false" flipV="false" rot="0">
            <a:off x="8185038" y="-147998"/>
            <a:ext cx="2339794" cy="2339794"/>
          </a:xfrm>
          <a:custGeom>
            <a:avLst/>
            <a:gdLst/>
            <a:ahLst/>
            <a:cxnLst/>
            <a:rect r="r" b="b" t="t" l="l"/>
            <a:pathLst>
              <a:path h="2339794" w="2339794">
                <a:moveTo>
                  <a:pt x="0" y="0"/>
                </a:moveTo>
                <a:lnTo>
                  <a:pt x="2339794" y="0"/>
                </a:lnTo>
                <a:lnTo>
                  <a:pt x="2339794" y="2339794"/>
                </a:lnTo>
                <a:lnTo>
                  <a:pt x="0" y="2339794"/>
                </a:lnTo>
                <a:lnTo>
                  <a:pt x="0" y="0"/>
                </a:lnTo>
                <a:close/>
              </a:path>
            </a:pathLst>
          </a:custGeom>
          <a:blipFill>
            <a:blip r:embed="rId4"/>
            <a:stretch>
              <a:fillRect l="0" t="0" r="0" b="0"/>
            </a:stretch>
          </a:blipFill>
        </p:spPr>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C800AE">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919082" y="5948315"/>
            <a:ext cx="2668569" cy="485194"/>
          </a:xfrm>
          <a:custGeom>
            <a:avLst/>
            <a:gdLst/>
            <a:ahLst/>
            <a:cxnLst/>
            <a:rect r="r" b="b" t="t" l="l"/>
            <a:pathLst>
              <a:path h="485194" w="2668569">
                <a:moveTo>
                  <a:pt x="0" y="0"/>
                </a:moveTo>
                <a:lnTo>
                  <a:pt x="2668570" y="0"/>
                </a:lnTo>
                <a:lnTo>
                  <a:pt x="2668570" y="485194"/>
                </a:lnTo>
                <a:lnTo>
                  <a:pt x="0" y="485194"/>
                </a:lnTo>
                <a:lnTo>
                  <a:pt x="0" y="0"/>
                </a:lnTo>
                <a:close/>
              </a:path>
            </a:pathLst>
          </a:custGeom>
          <a:blipFill>
            <a:blip r:embed="rId3"/>
            <a:stretch>
              <a:fillRect l="0" t="0" r="0" b="0"/>
            </a:stretch>
          </a:blipFill>
        </p:spPr>
      </p:sp>
      <p:sp>
        <p:nvSpPr>
          <p:cNvPr name="Freeform 7" id="7"/>
          <p:cNvSpPr/>
          <p:nvPr/>
        </p:nvSpPr>
        <p:spPr>
          <a:xfrm flipH="false" flipV="false" rot="0">
            <a:off x="6624673" y="6662109"/>
            <a:ext cx="5257387" cy="467604"/>
          </a:xfrm>
          <a:custGeom>
            <a:avLst/>
            <a:gdLst/>
            <a:ahLst/>
            <a:cxnLst/>
            <a:rect r="r" b="b" t="t" l="l"/>
            <a:pathLst>
              <a:path h="467604" w="5257387">
                <a:moveTo>
                  <a:pt x="0" y="0"/>
                </a:moveTo>
                <a:lnTo>
                  <a:pt x="5257388" y="0"/>
                </a:lnTo>
                <a:lnTo>
                  <a:pt x="5257388" y="467604"/>
                </a:lnTo>
                <a:lnTo>
                  <a:pt x="0" y="467604"/>
                </a:lnTo>
                <a:lnTo>
                  <a:pt x="0" y="0"/>
                </a:lnTo>
                <a:close/>
              </a:path>
            </a:pathLst>
          </a:custGeom>
          <a:blipFill>
            <a:blip r:embed="rId4"/>
            <a:stretch>
              <a:fillRect l="0" t="0" r="0" b="0"/>
            </a:stretch>
          </a:blipFill>
        </p:spPr>
      </p:sp>
      <p:sp>
        <p:nvSpPr>
          <p:cNvPr name="TextBox 8" id="8"/>
          <p:cNvSpPr txBox="true"/>
          <p:nvPr/>
        </p:nvSpPr>
        <p:spPr>
          <a:xfrm rot="0">
            <a:off x="3526388" y="2106071"/>
            <a:ext cx="11235223" cy="721230"/>
          </a:xfrm>
          <a:prstGeom prst="rect">
            <a:avLst/>
          </a:prstGeom>
        </p:spPr>
        <p:txBody>
          <a:bodyPr anchor="t" rtlCol="false" tIns="0" lIns="0" bIns="0" rIns="0">
            <a:spAutoFit/>
          </a:bodyPr>
          <a:lstStyle/>
          <a:p>
            <a:pPr algn="ctr">
              <a:lnSpc>
                <a:spcPts val="5876"/>
              </a:lnSpc>
              <a:spcBef>
                <a:spcPct val="0"/>
              </a:spcBef>
            </a:pPr>
            <a:r>
              <a:rPr lang="en-US" sz="4197">
                <a:solidFill>
                  <a:srgbClr val="FF009D"/>
                </a:solidFill>
                <a:latin typeface="HK Modular"/>
                <a:ea typeface="HK Modular"/>
                <a:cs typeface="HK Modular"/>
                <a:sym typeface="HK Modular"/>
              </a:rPr>
              <a:t>CLICKJACKING</a:t>
            </a:r>
          </a:p>
        </p:txBody>
      </p:sp>
      <p:sp>
        <p:nvSpPr>
          <p:cNvPr name="TextBox 9" id="9"/>
          <p:cNvSpPr txBox="true"/>
          <p:nvPr/>
        </p:nvSpPr>
        <p:spPr>
          <a:xfrm rot="0">
            <a:off x="1028700" y="3101149"/>
            <a:ext cx="16288941" cy="391795"/>
          </a:xfrm>
          <a:prstGeom prst="rect">
            <a:avLst/>
          </a:prstGeom>
        </p:spPr>
        <p:txBody>
          <a:bodyPr anchor="t" rtlCol="false" tIns="0" lIns="0" bIns="0" rIns="0">
            <a:spAutoFit/>
          </a:bodyPr>
          <a:lstStyle/>
          <a:p>
            <a:pPr algn="ctr">
              <a:lnSpc>
                <a:spcPts val="3079"/>
              </a:lnSpc>
              <a:spcBef>
                <a:spcPct val="0"/>
              </a:spcBef>
            </a:pPr>
            <a:r>
              <a:rPr lang="en-US" sz="2199">
                <a:solidFill>
                  <a:srgbClr val="FFFFFF"/>
                </a:solidFill>
                <a:latin typeface="Poppins"/>
                <a:ea typeface="Poppins"/>
                <a:cs typeface="Poppins"/>
                <a:sym typeface="Poppins"/>
              </a:rPr>
              <a:t>Cuando un atacante "incrusta" tu sitio en un iframe invisible para engañar al usuario a hacer clic en algo sin saberlo.</a:t>
            </a:r>
          </a:p>
        </p:txBody>
      </p:sp>
      <p:sp>
        <p:nvSpPr>
          <p:cNvPr name="TextBox 10" id="10"/>
          <p:cNvSpPr txBox="true"/>
          <p:nvPr/>
        </p:nvSpPr>
        <p:spPr>
          <a:xfrm rot="0">
            <a:off x="3073011" y="4378769"/>
            <a:ext cx="12141979" cy="669942"/>
          </a:xfrm>
          <a:prstGeom prst="rect">
            <a:avLst/>
          </a:prstGeom>
        </p:spPr>
        <p:txBody>
          <a:bodyPr anchor="t" rtlCol="false" tIns="0" lIns="0" bIns="0" rIns="0">
            <a:spAutoFit/>
          </a:bodyPr>
          <a:lstStyle/>
          <a:p>
            <a:pPr algn="ctr">
              <a:lnSpc>
                <a:spcPts val="5490"/>
              </a:lnSpc>
              <a:spcBef>
                <a:spcPct val="0"/>
              </a:spcBef>
            </a:pPr>
            <a:r>
              <a:rPr lang="en-US" sz="3921">
                <a:solidFill>
                  <a:srgbClr val="FF914D"/>
                </a:solidFill>
                <a:latin typeface="HK Modular"/>
                <a:ea typeface="HK Modular"/>
                <a:cs typeface="HK Modular"/>
                <a:sym typeface="HK Modular"/>
              </a:rPr>
              <a:t>PREVENCION</a:t>
            </a:r>
          </a:p>
        </p:txBody>
      </p:sp>
      <p:sp>
        <p:nvSpPr>
          <p:cNvPr name="TextBox 11" id="11"/>
          <p:cNvSpPr txBox="true"/>
          <p:nvPr/>
        </p:nvSpPr>
        <p:spPr>
          <a:xfrm rot="0">
            <a:off x="6776740" y="5324937"/>
            <a:ext cx="4734520" cy="391795"/>
          </a:xfrm>
          <a:prstGeom prst="rect">
            <a:avLst/>
          </a:prstGeom>
        </p:spPr>
        <p:txBody>
          <a:bodyPr anchor="t" rtlCol="false" tIns="0" lIns="0" bIns="0" rIns="0">
            <a:spAutoFit/>
          </a:bodyPr>
          <a:lstStyle/>
          <a:p>
            <a:pPr algn="ctr">
              <a:lnSpc>
                <a:spcPts val="3079"/>
              </a:lnSpc>
              <a:spcBef>
                <a:spcPct val="0"/>
              </a:spcBef>
            </a:pPr>
            <a:r>
              <a:rPr lang="en-US" sz="2199">
                <a:solidFill>
                  <a:srgbClr val="FFFFFF"/>
                </a:solidFill>
                <a:latin typeface="Poppins"/>
                <a:ea typeface="Poppins"/>
                <a:cs typeface="Poppins"/>
                <a:sym typeface="Poppins"/>
              </a:rPr>
              <a:t>Agregar encabezados HTTP como</a:t>
            </a:r>
          </a:p>
        </p:txBody>
      </p:sp>
      <p:sp>
        <p:nvSpPr>
          <p:cNvPr name="Freeform 12" id="12"/>
          <p:cNvSpPr/>
          <p:nvPr/>
        </p:nvSpPr>
        <p:spPr>
          <a:xfrm flipH="false" flipV="false" rot="0">
            <a:off x="8185038" y="-147998"/>
            <a:ext cx="2339794" cy="2339794"/>
          </a:xfrm>
          <a:custGeom>
            <a:avLst/>
            <a:gdLst/>
            <a:ahLst/>
            <a:cxnLst/>
            <a:rect r="r" b="b" t="t" l="l"/>
            <a:pathLst>
              <a:path h="2339794" w="2339794">
                <a:moveTo>
                  <a:pt x="0" y="0"/>
                </a:moveTo>
                <a:lnTo>
                  <a:pt x="2339794" y="0"/>
                </a:lnTo>
                <a:lnTo>
                  <a:pt x="2339794" y="2339794"/>
                </a:lnTo>
                <a:lnTo>
                  <a:pt x="0" y="2339794"/>
                </a:lnTo>
                <a:lnTo>
                  <a:pt x="0" y="0"/>
                </a:lnTo>
                <a:close/>
              </a:path>
            </a:pathLst>
          </a:custGeom>
          <a:blipFill>
            <a:blip r:embed="rId5"/>
            <a:stretch>
              <a:fillRect l="0" t="0" r="0" b="0"/>
            </a:stretch>
          </a:blipFill>
        </p:spPr>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C800AE">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3334021" y="2087021"/>
            <a:ext cx="11308227" cy="895959"/>
          </a:xfrm>
          <a:prstGeom prst="rect">
            <a:avLst/>
          </a:prstGeom>
        </p:spPr>
        <p:txBody>
          <a:bodyPr anchor="t" rtlCol="false" tIns="0" lIns="0" bIns="0" rIns="0">
            <a:spAutoFit/>
          </a:bodyPr>
          <a:lstStyle/>
          <a:p>
            <a:pPr algn="ctr">
              <a:lnSpc>
                <a:spcPts val="7316"/>
              </a:lnSpc>
              <a:spcBef>
                <a:spcPct val="0"/>
              </a:spcBef>
            </a:pPr>
            <a:r>
              <a:rPr lang="en-US" sz="5226">
                <a:solidFill>
                  <a:srgbClr val="FF009D"/>
                </a:solidFill>
                <a:latin typeface="HK Modular"/>
                <a:ea typeface="HK Modular"/>
                <a:cs typeface="HK Modular"/>
                <a:sym typeface="HK Modular"/>
              </a:rPr>
              <a:t>AUTHENTICATION</a:t>
            </a:r>
          </a:p>
        </p:txBody>
      </p:sp>
      <p:sp>
        <p:nvSpPr>
          <p:cNvPr name="TextBox 7" id="7"/>
          <p:cNvSpPr txBox="true"/>
          <p:nvPr/>
        </p:nvSpPr>
        <p:spPr>
          <a:xfrm rot="0">
            <a:off x="2821293" y="3630670"/>
            <a:ext cx="12333684" cy="400558"/>
          </a:xfrm>
          <a:prstGeom prst="rect">
            <a:avLst/>
          </a:prstGeom>
        </p:spPr>
        <p:txBody>
          <a:bodyPr anchor="t" rtlCol="false" tIns="0" lIns="0" bIns="0" rIns="0">
            <a:spAutoFit/>
          </a:bodyPr>
          <a:lstStyle/>
          <a:p>
            <a:pPr algn="ctr">
              <a:lnSpc>
                <a:spcPts val="3121"/>
              </a:lnSpc>
              <a:spcBef>
                <a:spcPct val="0"/>
              </a:spcBef>
            </a:pPr>
            <a:r>
              <a:rPr lang="en-US" sz="2229">
                <a:solidFill>
                  <a:srgbClr val="FFFFFF"/>
                </a:solidFill>
                <a:latin typeface="Poppins"/>
                <a:ea typeface="Poppins"/>
                <a:cs typeface="Poppins"/>
                <a:sym typeface="Poppins"/>
              </a:rPr>
              <a:t>Es el proceso de verificar la identidad del usuario o cliente que intenta acceder a la API.</a:t>
            </a:r>
          </a:p>
        </p:txBody>
      </p:sp>
      <p:sp>
        <p:nvSpPr>
          <p:cNvPr name="TextBox 8" id="8"/>
          <p:cNvSpPr txBox="true"/>
          <p:nvPr/>
        </p:nvSpPr>
        <p:spPr>
          <a:xfrm rot="0">
            <a:off x="2933094" y="7686167"/>
            <a:ext cx="12421812" cy="1572133"/>
          </a:xfrm>
          <a:prstGeom prst="rect">
            <a:avLst/>
          </a:prstGeom>
        </p:spPr>
        <p:txBody>
          <a:bodyPr anchor="t" rtlCol="false" tIns="0" lIns="0" bIns="0" rIns="0">
            <a:spAutoFit/>
          </a:bodyPr>
          <a:lstStyle/>
          <a:p>
            <a:pPr algn="ctr">
              <a:lnSpc>
                <a:spcPts val="3121"/>
              </a:lnSpc>
              <a:spcBef>
                <a:spcPct val="0"/>
              </a:spcBef>
            </a:pPr>
            <a:r>
              <a:rPr lang="en-US" sz="2229">
                <a:solidFill>
                  <a:srgbClr val="FFFFFF"/>
                </a:solidFill>
                <a:latin typeface="Poppins"/>
                <a:ea typeface="Poppins"/>
                <a:cs typeface="Poppins"/>
                <a:sym typeface="Poppins"/>
              </a:rPr>
              <a:t>Usualmente, el cliente (por ejemplo, una app o un frontend) envía credenciales (usuario/contraseña, tokens, claves de API, etc.) al servidor.</a:t>
            </a:r>
          </a:p>
          <a:p>
            <a:pPr algn="ctr">
              <a:lnSpc>
                <a:spcPts val="3121"/>
              </a:lnSpc>
              <a:spcBef>
                <a:spcPct val="0"/>
              </a:spcBef>
            </a:pPr>
            <a:r>
              <a:rPr lang="en-US" sz="2229">
                <a:solidFill>
                  <a:srgbClr val="FFFFFF"/>
                </a:solidFill>
                <a:latin typeface="Poppins"/>
                <a:ea typeface="Poppins"/>
                <a:cs typeface="Poppins"/>
                <a:sym typeface="Poppins"/>
              </a:rPr>
              <a:t>Si las credenciales son válidas, la API confía en que quien hace la petición es quien dice ser.</a:t>
            </a:r>
          </a:p>
        </p:txBody>
      </p:sp>
      <p:sp>
        <p:nvSpPr>
          <p:cNvPr name="TextBox 9" id="9"/>
          <p:cNvSpPr txBox="true"/>
          <p:nvPr/>
        </p:nvSpPr>
        <p:spPr>
          <a:xfrm rot="0">
            <a:off x="3073011" y="6245929"/>
            <a:ext cx="12141979" cy="669942"/>
          </a:xfrm>
          <a:prstGeom prst="rect">
            <a:avLst/>
          </a:prstGeom>
        </p:spPr>
        <p:txBody>
          <a:bodyPr anchor="t" rtlCol="false" tIns="0" lIns="0" bIns="0" rIns="0">
            <a:spAutoFit/>
          </a:bodyPr>
          <a:lstStyle/>
          <a:p>
            <a:pPr algn="ctr">
              <a:lnSpc>
                <a:spcPts val="5490"/>
              </a:lnSpc>
              <a:spcBef>
                <a:spcPct val="0"/>
              </a:spcBef>
            </a:pPr>
            <a:r>
              <a:rPr lang="en-US" sz="3921">
                <a:solidFill>
                  <a:srgbClr val="FF914D"/>
                </a:solidFill>
                <a:latin typeface="HK Modular"/>
                <a:ea typeface="HK Modular"/>
                <a:cs typeface="HK Modular"/>
                <a:sym typeface="HK Modular"/>
              </a:rPr>
              <a:t>COMO SE APLICA EN UNA API REST</a:t>
            </a:r>
          </a:p>
        </p:txBody>
      </p:sp>
      <p:sp>
        <p:nvSpPr>
          <p:cNvPr name="TextBox 10" id="10"/>
          <p:cNvSpPr txBox="true"/>
          <p:nvPr/>
        </p:nvSpPr>
        <p:spPr>
          <a:xfrm rot="0">
            <a:off x="6206271" y="4678928"/>
            <a:ext cx="5787330" cy="400558"/>
          </a:xfrm>
          <a:prstGeom prst="rect">
            <a:avLst/>
          </a:prstGeom>
        </p:spPr>
        <p:txBody>
          <a:bodyPr anchor="t" rtlCol="false" tIns="0" lIns="0" bIns="0" rIns="0">
            <a:spAutoFit/>
          </a:bodyPr>
          <a:lstStyle/>
          <a:p>
            <a:pPr algn="ctr">
              <a:lnSpc>
                <a:spcPts val="3121"/>
              </a:lnSpc>
              <a:spcBef>
                <a:spcPct val="0"/>
              </a:spcBef>
            </a:pPr>
            <a:r>
              <a:rPr lang="en-US" sz="2229">
                <a:solidFill>
                  <a:srgbClr val="FFFFFF"/>
                </a:solidFill>
                <a:latin typeface="Poppins"/>
                <a:ea typeface="Poppins"/>
                <a:cs typeface="Poppins"/>
                <a:sym typeface="Poppins"/>
              </a:rPr>
              <a:t>Responde a la pregunta: “Quien eres tu?”</a:t>
            </a:r>
          </a:p>
        </p:txBody>
      </p:sp>
      <p:sp>
        <p:nvSpPr>
          <p:cNvPr name="Freeform 11" id="11"/>
          <p:cNvSpPr/>
          <p:nvPr/>
        </p:nvSpPr>
        <p:spPr>
          <a:xfrm flipH="false" flipV="false" rot="0">
            <a:off x="8185038" y="-147998"/>
            <a:ext cx="2339794" cy="2339794"/>
          </a:xfrm>
          <a:custGeom>
            <a:avLst/>
            <a:gdLst/>
            <a:ahLst/>
            <a:cxnLst/>
            <a:rect r="r" b="b" t="t" l="l"/>
            <a:pathLst>
              <a:path h="2339794" w="2339794">
                <a:moveTo>
                  <a:pt x="0" y="0"/>
                </a:moveTo>
                <a:lnTo>
                  <a:pt x="2339794" y="0"/>
                </a:lnTo>
                <a:lnTo>
                  <a:pt x="2339794" y="2339794"/>
                </a:lnTo>
                <a:lnTo>
                  <a:pt x="0" y="2339794"/>
                </a:lnTo>
                <a:lnTo>
                  <a:pt x="0" y="0"/>
                </a:lnTo>
                <a:close/>
              </a:path>
            </a:pathLst>
          </a:custGeom>
          <a:blipFill>
            <a:blip r:embed="rId3"/>
            <a:stretch>
              <a:fillRect l="0" t="0" r="0" b="0"/>
            </a:stretch>
          </a:blipFill>
        </p:spPr>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C800AE">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115135" y="6771358"/>
            <a:ext cx="4822506" cy="1205627"/>
          </a:xfrm>
          <a:custGeom>
            <a:avLst/>
            <a:gdLst/>
            <a:ahLst/>
            <a:cxnLst/>
            <a:rect r="r" b="b" t="t" l="l"/>
            <a:pathLst>
              <a:path h="1205627" w="4822506">
                <a:moveTo>
                  <a:pt x="0" y="0"/>
                </a:moveTo>
                <a:lnTo>
                  <a:pt x="4822507" y="0"/>
                </a:lnTo>
                <a:lnTo>
                  <a:pt x="4822507" y="1205627"/>
                </a:lnTo>
                <a:lnTo>
                  <a:pt x="0" y="1205627"/>
                </a:lnTo>
                <a:lnTo>
                  <a:pt x="0" y="0"/>
                </a:lnTo>
                <a:close/>
              </a:path>
            </a:pathLst>
          </a:custGeom>
          <a:blipFill>
            <a:blip r:embed="rId3"/>
            <a:stretch>
              <a:fillRect l="0" t="0" r="0" b="0"/>
            </a:stretch>
          </a:blipFill>
        </p:spPr>
      </p:sp>
      <p:sp>
        <p:nvSpPr>
          <p:cNvPr name="Freeform 7" id="7"/>
          <p:cNvSpPr/>
          <p:nvPr/>
        </p:nvSpPr>
        <p:spPr>
          <a:xfrm flipH="false" flipV="false" rot="0">
            <a:off x="7830057" y="6801190"/>
            <a:ext cx="2364617" cy="475994"/>
          </a:xfrm>
          <a:custGeom>
            <a:avLst/>
            <a:gdLst/>
            <a:ahLst/>
            <a:cxnLst/>
            <a:rect r="r" b="b" t="t" l="l"/>
            <a:pathLst>
              <a:path h="475994" w="2364617">
                <a:moveTo>
                  <a:pt x="0" y="0"/>
                </a:moveTo>
                <a:lnTo>
                  <a:pt x="2364617" y="0"/>
                </a:lnTo>
                <a:lnTo>
                  <a:pt x="2364617" y="475995"/>
                </a:lnTo>
                <a:lnTo>
                  <a:pt x="0" y="475995"/>
                </a:lnTo>
                <a:lnTo>
                  <a:pt x="0" y="0"/>
                </a:lnTo>
                <a:close/>
              </a:path>
            </a:pathLst>
          </a:custGeom>
          <a:blipFill>
            <a:blip r:embed="rId4"/>
            <a:stretch>
              <a:fillRect l="0" t="0" r="0" b="0"/>
            </a:stretch>
          </a:blipFill>
        </p:spPr>
      </p:sp>
      <p:sp>
        <p:nvSpPr>
          <p:cNvPr name="Freeform 8" id="8"/>
          <p:cNvSpPr/>
          <p:nvPr/>
        </p:nvSpPr>
        <p:spPr>
          <a:xfrm flipH="false" flipV="false" rot="0">
            <a:off x="8261614" y="7976985"/>
            <a:ext cx="1501501" cy="338176"/>
          </a:xfrm>
          <a:custGeom>
            <a:avLst/>
            <a:gdLst/>
            <a:ahLst/>
            <a:cxnLst/>
            <a:rect r="r" b="b" t="t" l="l"/>
            <a:pathLst>
              <a:path h="338176" w="1501501">
                <a:moveTo>
                  <a:pt x="0" y="0"/>
                </a:moveTo>
                <a:lnTo>
                  <a:pt x="1501502" y="0"/>
                </a:lnTo>
                <a:lnTo>
                  <a:pt x="1501502" y="338176"/>
                </a:lnTo>
                <a:lnTo>
                  <a:pt x="0" y="338176"/>
                </a:lnTo>
                <a:lnTo>
                  <a:pt x="0" y="0"/>
                </a:lnTo>
                <a:close/>
              </a:path>
            </a:pathLst>
          </a:custGeom>
          <a:blipFill>
            <a:blip r:embed="rId5"/>
            <a:stretch>
              <a:fillRect l="0" t="0" r="0" b="0"/>
            </a:stretch>
          </a:blipFill>
        </p:spPr>
      </p:sp>
      <p:sp>
        <p:nvSpPr>
          <p:cNvPr name="Freeform 9" id="9"/>
          <p:cNvSpPr/>
          <p:nvPr/>
        </p:nvSpPr>
        <p:spPr>
          <a:xfrm flipH="false" flipV="false" rot="0">
            <a:off x="12376172" y="6099472"/>
            <a:ext cx="5259537" cy="2810979"/>
          </a:xfrm>
          <a:custGeom>
            <a:avLst/>
            <a:gdLst/>
            <a:ahLst/>
            <a:cxnLst/>
            <a:rect r="r" b="b" t="t" l="l"/>
            <a:pathLst>
              <a:path h="2810979" w="5259537">
                <a:moveTo>
                  <a:pt x="0" y="0"/>
                </a:moveTo>
                <a:lnTo>
                  <a:pt x="5259537" y="0"/>
                </a:lnTo>
                <a:lnTo>
                  <a:pt x="5259537" y="2810979"/>
                </a:lnTo>
                <a:lnTo>
                  <a:pt x="0" y="2810979"/>
                </a:lnTo>
                <a:lnTo>
                  <a:pt x="0" y="0"/>
                </a:lnTo>
                <a:close/>
              </a:path>
            </a:pathLst>
          </a:custGeom>
          <a:blipFill>
            <a:blip r:embed="rId6"/>
            <a:stretch>
              <a:fillRect l="0" t="0" r="0" b="0"/>
            </a:stretch>
          </a:blipFill>
        </p:spPr>
      </p:sp>
      <p:sp>
        <p:nvSpPr>
          <p:cNvPr name="Freeform 10" id="10"/>
          <p:cNvSpPr/>
          <p:nvPr/>
        </p:nvSpPr>
        <p:spPr>
          <a:xfrm flipH="false" flipV="false" rot="0">
            <a:off x="8576290" y="7394330"/>
            <a:ext cx="872150" cy="465510"/>
          </a:xfrm>
          <a:custGeom>
            <a:avLst/>
            <a:gdLst/>
            <a:ahLst/>
            <a:cxnLst/>
            <a:rect r="r" b="b" t="t" l="l"/>
            <a:pathLst>
              <a:path h="465510" w="872150">
                <a:moveTo>
                  <a:pt x="0" y="0"/>
                </a:moveTo>
                <a:lnTo>
                  <a:pt x="872150" y="0"/>
                </a:lnTo>
                <a:lnTo>
                  <a:pt x="872150" y="465510"/>
                </a:lnTo>
                <a:lnTo>
                  <a:pt x="0" y="46551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1" id="11"/>
          <p:cNvSpPr txBox="true"/>
          <p:nvPr/>
        </p:nvSpPr>
        <p:spPr>
          <a:xfrm rot="0">
            <a:off x="3526388" y="2106071"/>
            <a:ext cx="11235223" cy="721230"/>
          </a:xfrm>
          <a:prstGeom prst="rect">
            <a:avLst/>
          </a:prstGeom>
        </p:spPr>
        <p:txBody>
          <a:bodyPr anchor="t" rtlCol="false" tIns="0" lIns="0" bIns="0" rIns="0">
            <a:spAutoFit/>
          </a:bodyPr>
          <a:lstStyle/>
          <a:p>
            <a:pPr algn="ctr">
              <a:lnSpc>
                <a:spcPts val="5876"/>
              </a:lnSpc>
              <a:spcBef>
                <a:spcPct val="0"/>
              </a:spcBef>
            </a:pPr>
            <a:r>
              <a:rPr lang="en-US" sz="4197">
                <a:solidFill>
                  <a:srgbClr val="FF009D"/>
                </a:solidFill>
                <a:latin typeface="HK Modular"/>
                <a:ea typeface="HK Modular"/>
                <a:cs typeface="HK Modular"/>
                <a:sym typeface="HK Modular"/>
              </a:rPr>
              <a:t>HTTP BASIC</a:t>
            </a:r>
          </a:p>
        </p:txBody>
      </p:sp>
      <p:sp>
        <p:nvSpPr>
          <p:cNvPr name="TextBox 12" id="12"/>
          <p:cNvSpPr txBox="true"/>
          <p:nvPr/>
        </p:nvSpPr>
        <p:spPr>
          <a:xfrm rot="0">
            <a:off x="3614716" y="3753551"/>
            <a:ext cx="11277302" cy="391795"/>
          </a:xfrm>
          <a:prstGeom prst="rect">
            <a:avLst/>
          </a:prstGeom>
        </p:spPr>
        <p:txBody>
          <a:bodyPr anchor="t" rtlCol="false" tIns="0" lIns="0" bIns="0" rIns="0">
            <a:spAutoFit/>
          </a:bodyPr>
          <a:lstStyle/>
          <a:p>
            <a:pPr algn="ctr">
              <a:lnSpc>
                <a:spcPts val="3079"/>
              </a:lnSpc>
              <a:spcBef>
                <a:spcPct val="0"/>
              </a:spcBef>
            </a:pPr>
            <a:r>
              <a:rPr lang="en-US" sz="2199">
                <a:solidFill>
                  <a:srgbClr val="FFFFFF"/>
                </a:solidFill>
                <a:latin typeface="Poppins"/>
                <a:ea typeface="Poppins"/>
                <a:cs typeface="Poppins"/>
                <a:sym typeface="Poppins"/>
              </a:rPr>
              <a:t>Se envía usuario y contraseña codificados en base64 en el header Authorization.</a:t>
            </a:r>
          </a:p>
        </p:txBody>
      </p:sp>
      <p:sp>
        <p:nvSpPr>
          <p:cNvPr name="TextBox 13" id="13"/>
          <p:cNvSpPr txBox="true"/>
          <p:nvPr/>
        </p:nvSpPr>
        <p:spPr>
          <a:xfrm rot="0">
            <a:off x="5626574" y="3154966"/>
            <a:ext cx="7253585" cy="391795"/>
          </a:xfrm>
          <a:prstGeom prst="rect">
            <a:avLst/>
          </a:prstGeom>
        </p:spPr>
        <p:txBody>
          <a:bodyPr anchor="t" rtlCol="false" tIns="0" lIns="0" bIns="0" rIns="0">
            <a:spAutoFit/>
          </a:bodyPr>
          <a:lstStyle/>
          <a:p>
            <a:pPr algn="ctr">
              <a:lnSpc>
                <a:spcPts val="3079"/>
              </a:lnSpc>
              <a:spcBef>
                <a:spcPct val="0"/>
              </a:spcBef>
            </a:pPr>
            <a:r>
              <a:rPr lang="en-US" sz="2199">
                <a:solidFill>
                  <a:srgbClr val="FFFFFF"/>
                </a:solidFill>
                <a:latin typeface="Poppins"/>
                <a:ea typeface="Poppins"/>
                <a:cs typeface="Poppins"/>
                <a:sym typeface="Poppins"/>
              </a:rPr>
              <a:t>Es el mecanismo mas simple de autenticacion HTTP</a:t>
            </a:r>
          </a:p>
        </p:txBody>
      </p:sp>
      <p:sp>
        <p:nvSpPr>
          <p:cNvPr name="TextBox 14" id="14"/>
          <p:cNvSpPr txBox="true"/>
          <p:nvPr/>
        </p:nvSpPr>
        <p:spPr>
          <a:xfrm rot="0">
            <a:off x="7211458" y="4354897"/>
            <a:ext cx="4331940" cy="391795"/>
          </a:xfrm>
          <a:prstGeom prst="rect">
            <a:avLst/>
          </a:prstGeom>
        </p:spPr>
        <p:txBody>
          <a:bodyPr anchor="t" rtlCol="false" tIns="0" lIns="0" bIns="0" rIns="0">
            <a:spAutoFit/>
          </a:bodyPr>
          <a:lstStyle/>
          <a:p>
            <a:pPr algn="ctr">
              <a:lnSpc>
                <a:spcPts val="3079"/>
              </a:lnSpc>
              <a:spcBef>
                <a:spcPct val="0"/>
              </a:spcBef>
            </a:pPr>
            <a:r>
              <a:rPr lang="en-US" sz="2199">
                <a:solidFill>
                  <a:srgbClr val="FFFFFF"/>
                </a:solidFill>
                <a:latin typeface="Poppins"/>
                <a:ea typeface="Poppins"/>
                <a:cs typeface="Poppins"/>
                <a:sym typeface="Poppins"/>
              </a:rPr>
              <a:t>No es cifrado, solo codificacion</a:t>
            </a:r>
          </a:p>
        </p:txBody>
      </p:sp>
      <p:sp>
        <p:nvSpPr>
          <p:cNvPr name="TextBox 15" id="15"/>
          <p:cNvSpPr txBox="true"/>
          <p:nvPr/>
        </p:nvSpPr>
        <p:spPr>
          <a:xfrm rot="0">
            <a:off x="7074776" y="5102548"/>
            <a:ext cx="4138447" cy="669942"/>
          </a:xfrm>
          <a:prstGeom prst="rect">
            <a:avLst/>
          </a:prstGeom>
        </p:spPr>
        <p:txBody>
          <a:bodyPr anchor="t" rtlCol="false" tIns="0" lIns="0" bIns="0" rIns="0">
            <a:spAutoFit/>
          </a:bodyPr>
          <a:lstStyle/>
          <a:p>
            <a:pPr algn="ctr">
              <a:lnSpc>
                <a:spcPts val="5490"/>
              </a:lnSpc>
              <a:spcBef>
                <a:spcPct val="0"/>
              </a:spcBef>
            </a:pPr>
            <a:r>
              <a:rPr lang="en-US" sz="3921">
                <a:solidFill>
                  <a:srgbClr val="FF914D"/>
                </a:solidFill>
                <a:latin typeface="HK Modular"/>
                <a:ea typeface="HK Modular"/>
                <a:cs typeface="HK Modular"/>
                <a:sym typeface="HK Modular"/>
              </a:rPr>
              <a:t>EJEMPLO</a:t>
            </a:r>
          </a:p>
        </p:txBody>
      </p:sp>
      <p:sp>
        <p:nvSpPr>
          <p:cNvPr name="TextBox 16" id="16"/>
          <p:cNvSpPr txBox="true"/>
          <p:nvPr/>
        </p:nvSpPr>
        <p:spPr>
          <a:xfrm rot="0">
            <a:off x="2510569" y="8518656"/>
            <a:ext cx="1833265" cy="391795"/>
          </a:xfrm>
          <a:prstGeom prst="rect">
            <a:avLst/>
          </a:prstGeom>
        </p:spPr>
        <p:txBody>
          <a:bodyPr anchor="t" rtlCol="false" tIns="0" lIns="0" bIns="0" rIns="0">
            <a:spAutoFit/>
          </a:bodyPr>
          <a:lstStyle/>
          <a:p>
            <a:pPr algn="ctr">
              <a:lnSpc>
                <a:spcPts val="3079"/>
              </a:lnSpc>
              <a:spcBef>
                <a:spcPct val="0"/>
              </a:spcBef>
            </a:pPr>
            <a:r>
              <a:rPr lang="en-US" sz="2199">
                <a:solidFill>
                  <a:srgbClr val="FFFFFF"/>
                </a:solidFill>
                <a:latin typeface="Poppins"/>
                <a:ea typeface="Poppins"/>
                <a:cs typeface="Poppins"/>
                <a:sym typeface="Poppins"/>
              </a:rPr>
              <a:t>Peticion HTTP</a:t>
            </a:r>
          </a:p>
        </p:txBody>
      </p:sp>
      <p:sp>
        <p:nvSpPr>
          <p:cNvPr name="TextBox 17" id="17"/>
          <p:cNvSpPr txBox="true"/>
          <p:nvPr/>
        </p:nvSpPr>
        <p:spPr>
          <a:xfrm rot="0">
            <a:off x="8128847" y="8639011"/>
            <a:ext cx="1767036" cy="391795"/>
          </a:xfrm>
          <a:prstGeom prst="rect">
            <a:avLst/>
          </a:prstGeom>
        </p:spPr>
        <p:txBody>
          <a:bodyPr anchor="t" rtlCol="false" tIns="0" lIns="0" bIns="0" rIns="0">
            <a:spAutoFit/>
          </a:bodyPr>
          <a:lstStyle/>
          <a:p>
            <a:pPr algn="ctr">
              <a:lnSpc>
                <a:spcPts val="3079"/>
              </a:lnSpc>
              <a:spcBef>
                <a:spcPct val="0"/>
              </a:spcBef>
            </a:pPr>
            <a:r>
              <a:rPr lang="en-US" sz="2199">
                <a:solidFill>
                  <a:srgbClr val="FFFFFF"/>
                </a:solidFill>
                <a:latin typeface="Poppins"/>
                <a:ea typeface="Poppins"/>
                <a:cs typeface="Poppins"/>
                <a:sym typeface="Poppins"/>
              </a:rPr>
              <a:t>Codificacion</a:t>
            </a:r>
          </a:p>
        </p:txBody>
      </p:sp>
      <p:sp>
        <p:nvSpPr>
          <p:cNvPr name="TextBox 18" id="18"/>
          <p:cNvSpPr txBox="true"/>
          <p:nvPr/>
        </p:nvSpPr>
        <p:spPr>
          <a:xfrm rot="0">
            <a:off x="13175727" y="9201150"/>
            <a:ext cx="3660428" cy="391795"/>
          </a:xfrm>
          <a:prstGeom prst="rect">
            <a:avLst/>
          </a:prstGeom>
        </p:spPr>
        <p:txBody>
          <a:bodyPr anchor="t" rtlCol="false" tIns="0" lIns="0" bIns="0" rIns="0">
            <a:spAutoFit/>
          </a:bodyPr>
          <a:lstStyle/>
          <a:p>
            <a:pPr algn="ctr">
              <a:lnSpc>
                <a:spcPts val="3079"/>
              </a:lnSpc>
              <a:spcBef>
                <a:spcPct val="0"/>
              </a:spcBef>
            </a:pPr>
            <a:r>
              <a:rPr lang="en-US" sz="2199">
                <a:solidFill>
                  <a:srgbClr val="FFFFFF"/>
                </a:solidFill>
                <a:latin typeface="Poppins"/>
                <a:ea typeface="Poppins"/>
                <a:cs typeface="Poppins"/>
                <a:sym typeface="Poppins"/>
              </a:rPr>
              <a:t>Ejemplo en spring security</a:t>
            </a:r>
          </a:p>
        </p:txBody>
      </p:sp>
      <p:sp>
        <p:nvSpPr>
          <p:cNvPr name="Freeform 19" id="19"/>
          <p:cNvSpPr/>
          <p:nvPr/>
        </p:nvSpPr>
        <p:spPr>
          <a:xfrm flipH="false" flipV="false" rot="0">
            <a:off x="8185038" y="-147998"/>
            <a:ext cx="2339794" cy="2339794"/>
          </a:xfrm>
          <a:custGeom>
            <a:avLst/>
            <a:gdLst/>
            <a:ahLst/>
            <a:cxnLst/>
            <a:rect r="r" b="b" t="t" l="l"/>
            <a:pathLst>
              <a:path h="2339794" w="2339794">
                <a:moveTo>
                  <a:pt x="0" y="0"/>
                </a:moveTo>
                <a:lnTo>
                  <a:pt x="2339794" y="0"/>
                </a:lnTo>
                <a:lnTo>
                  <a:pt x="2339794" y="2339794"/>
                </a:lnTo>
                <a:lnTo>
                  <a:pt x="0" y="2339794"/>
                </a:lnTo>
                <a:lnTo>
                  <a:pt x="0" y="0"/>
                </a:lnTo>
                <a:close/>
              </a:path>
            </a:pathLst>
          </a:custGeom>
          <a:blipFill>
            <a:blip r:embed="rId9"/>
            <a:stretch>
              <a:fillRect l="0" t="0" r="0" b="0"/>
            </a:stretch>
          </a:blipFill>
        </p:spPr>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C800AE">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3240994" y="5546467"/>
            <a:ext cx="2011916" cy="2011916"/>
          </a:xfrm>
          <a:custGeom>
            <a:avLst/>
            <a:gdLst/>
            <a:ahLst/>
            <a:cxnLst/>
            <a:rect r="r" b="b" t="t" l="l"/>
            <a:pathLst>
              <a:path h="2011916" w="2011916">
                <a:moveTo>
                  <a:pt x="0" y="0"/>
                </a:moveTo>
                <a:lnTo>
                  <a:pt x="2011916" y="0"/>
                </a:lnTo>
                <a:lnTo>
                  <a:pt x="2011916" y="2011916"/>
                </a:lnTo>
                <a:lnTo>
                  <a:pt x="0" y="2011916"/>
                </a:lnTo>
                <a:lnTo>
                  <a:pt x="0" y="0"/>
                </a:lnTo>
                <a:close/>
              </a:path>
            </a:pathLst>
          </a:custGeom>
          <a:blipFill>
            <a:blip r:embed="rId3"/>
            <a:stretch>
              <a:fillRect l="0" t="0" r="0" b="0"/>
            </a:stretch>
          </a:blipFill>
        </p:spPr>
      </p:sp>
      <p:sp>
        <p:nvSpPr>
          <p:cNvPr name="Freeform 7" id="7"/>
          <p:cNvSpPr/>
          <p:nvPr/>
        </p:nvSpPr>
        <p:spPr>
          <a:xfrm flipH="false" flipV="false" rot="0">
            <a:off x="6182122" y="8438412"/>
            <a:ext cx="6334352" cy="1148536"/>
          </a:xfrm>
          <a:custGeom>
            <a:avLst/>
            <a:gdLst/>
            <a:ahLst/>
            <a:cxnLst/>
            <a:rect r="r" b="b" t="t" l="l"/>
            <a:pathLst>
              <a:path h="1148536" w="6334352">
                <a:moveTo>
                  <a:pt x="0" y="0"/>
                </a:moveTo>
                <a:lnTo>
                  <a:pt x="6334352" y="0"/>
                </a:lnTo>
                <a:lnTo>
                  <a:pt x="6334352" y="1148536"/>
                </a:lnTo>
                <a:lnTo>
                  <a:pt x="0" y="1148536"/>
                </a:lnTo>
                <a:lnTo>
                  <a:pt x="0" y="0"/>
                </a:lnTo>
                <a:close/>
              </a:path>
            </a:pathLst>
          </a:custGeom>
          <a:blipFill>
            <a:blip r:embed="rId4"/>
            <a:stretch>
              <a:fillRect l="0" t="0" r="0" b="0"/>
            </a:stretch>
          </a:blipFill>
        </p:spPr>
      </p:sp>
      <p:sp>
        <p:nvSpPr>
          <p:cNvPr name="TextBox 8" id="8"/>
          <p:cNvSpPr txBox="true"/>
          <p:nvPr/>
        </p:nvSpPr>
        <p:spPr>
          <a:xfrm rot="0">
            <a:off x="3526388" y="2106071"/>
            <a:ext cx="11235223" cy="721230"/>
          </a:xfrm>
          <a:prstGeom prst="rect">
            <a:avLst/>
          </a:prstGeom>
        </p:spPr>
        <p:txBody>
          <a:bodyPr anchor="t" rtlCol="false" tIns="0" lIns="0" bIns="0" rIns="0">
            <a:spAutoFit/>
          </a:bodyPr>
          <a:lstStyle/>
          <a:p>
            <a:pPr algn="ctr">
              <a:lnSpc>
                <a:spcPts val="5876"/>
              </a:lnSpc>
              <a:spcBef>
                <a:spcPct val="0"/>
              </a:spcBef>
            </a:pPr>
            <a:r>
              <a:rPr lang="en-US" sz="4197">
                <a:solidFill>
                  <a:srgbClr val="FF009D"/>
                </a:solidFill>
                <a:latin typeface="HK Modular"/>
                <a:ea typeface="HK Modular"/>
                <a:cs typeface="HK Modular"/>
                <a:sym typeface="HK Modular"/>
              </a:rPr>
              <a:t>OAUTH 2</a:t>
            </a:r>
          </a:p>
        </p:txBody>
      </p:sp>
      <p:sp>
        <p:nvSpPr>
          <p:cNvPr name="TextBox 9" id="9"/>
          <p:cNvSpPr txBox="true"/>
          <p:nvPr/>
        </p:nvSpPr>
        <p:spPr>
          <a:xfrm rot="0">
            <a:off x="2474476" y="3998538"/>
            <a:ext cx="13557782" cy="782320"/>
          </a:xfrm>
          <a:prstGeom prst="rect">
            <a:avLst/>
          </a:prstGeom>
        </p:spPr>
        <p:txBody>
          <a:bodyPr anchor="t" rtlCol="false" tIns="0" lIns="0" bIns="0" rIns="0">
            <a:spAutoFit/>
          </a:bodyPr>
          <a:lstStyle/>
          <a:p>
            <a:pPr algn="ctr">
              <a:lnSpc>
                <a:spcPts val="3079"/>
              </a:lnSpc>
              <a:spcBef>
                <a:spcPct val="0"/>
              </a:spcBef>
            </a:pPr>
            <a:r>
              <a:rPr lang="en-US" sz="2199">
                <a:solidFill>
                  <a:srgbClr val="FFFFFF"/>
                </a:solidFill>
                <a:latin typeface="Poppins"/>
                <a:ea typeface="Poppins"/>
                <a:cs typeface="Poppins"/>
                <a:sym typeface="Poppins"/>
              </a:rPr>
              <a:t>Permite autenticarse usando un proveedor externo como Google, Facebook, etc, y obtener un token temporal</a:t>
            </a:r>
          </a:p>
        </p:txBody>
      </p:sp>
      <p:sp>
        <p:nvSpPr>
          <p:cNvPr name="TextBox 10" id="10"/>
          <p:cNvSpPr txBox="true"/>
          <p:nvPr/>
        </p:nvSpPr>
        <p:spPr>
          <a:xfrm rot="0">
            <a:off x="1439296" y="3064268"/>
            <a:ext cx="15820004" cy="782320"/>
          </a:xfrm>
          <a:prstGeom prst="rect">
            <a:avLst/>
          </a:prstGeom>
        </p:spPr>
        <p:txBody>
          <a:bodyPr anchor="t" rtlCol="false" tIns="0" lIns="0" bIns="0" rIns="0">
            <a:spAutoFit/>
          </a:bodyPr>
          <a:lstStyle/>
          <a:p>
            <a:pPr algn="ctr">
              <a:lnSpc>
                <a:spcPts val="3079"/>
              </a:lnSpc>
              <a:spcBef>
                <a:spcPct val="0"/>
              </a:spcBef>
            </a:pPr>
            <a:r>
              <a:rPr lang="en-US" sz="2199">
                <a:solidFill>
                  <a:srgbClr val="FFFFFF"/>
                </a:solidFill>
                <a:latin typeface="Poppins"/>
                <a:ea typeface="Poppins"/>
                <a:cs typeface="Poppins"/>
                <a:sym typeface="Poppins"/>
              </a:rPr>
              <a:t>Es un protocolo de autorizacion que permite a una app acceder a recursos en nombre de un usuario sin conocer su contraseña</a:t>
            </a:r>
          </a:p>
        </p:txBody>
      </p:sp>
      <p:sp>
        <p:nvSpPr>
          <p:cNvPr name="TextBox 11" id="11"/>
          <p:cNvSpPr txBox="true"/>
          <p:nvPr/>
        </p:nvSpPr>
        <p:spPr>
          <a:xfrm rot="0">
            <a:off x="6652786" y="5173396"/>
            <a:ext cx="5201162" cy="669942"/>
          </a:xfrm>
          <a:prstGeom prst="rect">
            <a:avLst/>
          </a:prstGeom>
        </p:spPr>
        <p:txBody>
          <a:bodyPr anchor="t" rtlCol="false" tIns="0" lIns="0" bIns="0" rIns="0">
            <a:spAutoFit/>
          </a:bodyPr>
          <a:lstStyle/>
          <a:p>
            <a:pPr algn="ctr">
              <a:lnSpc>
                <a:spcPts val="5490"/>
              </a:lnSpc>
              <a:spcBef>
                <a:spcPct val="0"/>
              </a:spcBef>
            </a:pPr>
            <a:r>
              <a:rPr lang="en-US" sz="3921">
                <a:solidFill>
                  <a:srgbClr val="FF914D"/>
                </a:solidFill>
                <a:latin typeface="HK Modular"/>
                <a:ea typeface="HK Modular"/>
                <a:cs typeface="HK Modular"/>
                <a:sym typeface="HK Modular"/>
              </a:rPr>
              <a:t>FLUJO BASICO</a:t>
            </a:r>
          </a:p>
        </p:txBody>
      </p:sp>
      <p:sp>
        <p:nvSpPr>
          <p:cNvPr name="TextBox 12" id="12"/>
          <p:cNvSpPr txBox="true"/>
          <p:nvPr/>
        </p:nvSpPr>
        <p:spPr>
          <a:xfrm rot="0">
            <a:off x="5805522" y="6181622"/>
            <a:ext cx="8417647" cy="1323340"/>
          </a:xfrm>
          <a:prstGeom prst="rect">
            <a:avLst/>
          </a:prstGeom>
        </p:spPr>
        <p:txBody>
          <a:bodyPr anchor="t" rtlCol="false" tIns="0" lIns="0" bIns="0" rIns="0">
            <a:spAutoFit/>
          </a:bodyPr>
          <a:lstStyle/>
          <a:p>
            <a:pPr algn="ctr" marL="410209" indent="-205105" lvl="1">
              <a:lnSpc>
                <a:spcPts val="2659"/>
              </a:lnSpc>
              <a:buAutoNum type="arabicPeriod" startAt="1"/>
            </a:pPr>
            <a:r>
              <a:rPr lang="en-US" sz="1899">
                <a:solidFill>
                  <a:srgbClr val="FFFFFF"/>
                </a:solidFill>
                <a:latin typeface="Canva Sans"/>
                <a:ea typeface="Canva Sans"/>
                <a:cs typeface="Canva Sans"/>
                <a:sym typeface="Canva Sans"/>
              </a:rPr>
              <a:t>El usuario inicia sesión con el proveedor de identidad (Google).</a:t>
            </a:r>
          </a:p>
          <a:p>
            <a:pPr algn="ctr" marL="410209" indent="-205105" lvl="1">
              <a:lnSpc>
                <a:spcPts val="2659"/>
              </a:lnSpc>
              <a:buAutoNum type="arabicPeriod" startAt="1"/>
            </a:pPr>
            <a:r>
              <a:rPr lang="en-US" sz="1899">
                <a:solidFill>
                  <a:srgbClr val="FFFFFF"/>
                </a:solidFill>
                <a:latin typeface="Canva Sans"/>
                <a:ea typeface="Canva Sans"/>
                <a:cs typeface="Canva Sans"/>
                <a:sym typeface="Canva Sans"/>
              </a:rPr>
              <a:t>Google le da un authorization code a la app.</a:t>
            </a:r>
          </a:p>
          <a:p>
            <a:pPr algn="ctr" marL="410209" indent="-205105" lvl="1">
              <a:lnSpc>
                <a:spcPts val="2659"/>
              </a:lnSpc>
              <a:buAutoNum type="arabicPeriod" startAt="1"/>
            </a:pPr>
            <a:r>
              <a:rPr lang="en-US" sz="1899">
                <a:solidFill>
                  <a:srgbClr val="FFFFFF"/>
                </a:solidFill>
                <a:latin typeface="Canva Sans"/>
                <a:ea typeface="Canva Sans"/>
                <a:cs typeface="Canva Sans"/>
                <a:sym typeface="Canva Sans"/>
              </a:rPr>
              <a:t>La app canjea ese código por un access token.</a:t>
            </a:r>
          </a:p>
          <a:p>
            <a:pPr algn="ctr" marL="410209" indent="-205105" lvl="1">
              <a:lnSpc>
                <a:spcPts val="2659"/>
              </a:lnSpc>
              <a:buAutoNum type="arabicPeriod" startAt="1"/>
            </a:pPr>
            <a:r>
              <a:rPr lang="en-US" sz="1899">
                <a:solidFill>
                  <a:srgbClr val="FFFFFF"/>
                </a:solidFill>
                <a:latin typeface="Canva Sans"/>
                <a:ea typeface="Canva Sans"/>
                <a:cs typeface="Canva Sans"/>
                <a:sym typeface="Canva Sans"/>
              </a:rPr>
              <a:t>La app usa ese token para acceder a la API en nombre del usuario.</a:t>
            </a:r>
          </a:p>
        </p:txBody>
      </p:sp>
      <p:sp>
        <p:nvSpPr>
          <p:cNvPr name="Freeform 13" id="13"/>
          <p:cNvSpPr/>
          <p:nvPr/>
        </p:nvSpPr>
        <p:spPr>
          <a:xfrm flipH="false" flipV="false" rot="0">
            <a:off x="8185038" y="-147998"/>
            <a:ext cx="2339794" cy="2339794"/>
          </a:xfrm>
          <a:custGeom>
            <a:avLst/>
            <a:gdLst/>
            <a:ahLst/>
            <a:cxnLst/>
            <a:rect r="r" b="b" t="t" l="l"/>
            <a:pathLst>
              <a:path h="2339794" w="2339794">
                <a:moveTo>
                  <a:pt x="0" y="0"/>
                </a:moveTo>
                <a:lnTo>
                  <a:pt x="2339794" y="0"/>
                </a:lnTo>
                <a:lnTo>
                  <a:pt x="2339794" y="2339794"/>
                </a:lnTo>
                <a:lnTo>
                  <a:pt x="0" y="2339794"/>
                </a:lnTo>
                <a:lnTo>
                  <a:pt x="0" y="0"/>
                </a:lnTo>
                <a:close/>
              </a:path>
            </a:pathLst>
          </a:custGeom>
          <a:blipFill>
            <a:blip r:embed="rId5"/>
            <a:stretch>
              <a:fillRect l="0" t="0" r="0" b="0"/>
            </a:stretch>
          </a:blipFill>
        </p:spPr>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C800AE">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6782371" y="5260338"/>
            <a:ext cx="4941992" cy="1000165"/>
          </a:xfrm>
          <a:custGeom>
            <a:avLst/>
            <a:gdLst/>
            <a:ahLst/>
            <a:cxnLst/>
            <a:rect r="r" b="b" t="t" l="l"/>
            <a:pathLst>
              <a:path h="1000165" w="4941992">
                <a:moveTo>
                  <a:pt x="0" y="0"/>
                </a:moveTo>
                <a:lnTo>
                  <a:pt x="4941992" y="0"/>
                </a:lnTo>
                <a:lnTo>
                  <a:pt x="4941992" y="1000165"/>
                </a:lnTo>
                <a:lnTo>
                  <a:pt x="0" y="1000165"/>
                </a:lnTo>
                <a:lnTo>
                  <a:pt x="0" y="0"/>
                </a:lnTo>
                <a:close/>
              </a:path>
            </a:pathLst>
          </a:custGeom>
          <a:blipFill>
            <a:blip r:embed="rId3"/>
            <a:stretch>
              <a:fillRect l="0" t="0" r="0" b="0"/>
            </a:stretch>
          </a:blipFill>
        </p:spPr>
      </p:sp>
      <p:sp>
        <p:nvSpPr>
          <p:cNvPr name="Freeform 7" id="7"/>
          <p:cNvSpPr/>
          <p:nvPr/>
        </p:nvSpPr>
        <p:spPr>
          <a:xfrm flipH="false" flipV="false" rot="0">
            <a:off x="1221395" y="7622165"/>
            <a:ext cx="3577159" cy="643641"/>
          </a:xfrm>
          <a:custGeom>
            <a:avLst/>
            <a:gdLst/>
            <a:ahLst/>
            <a:cxnLst/>
            <a:rect r="r" b="b" t="t" l="l"/>
            <a:pathLst>
              <a:path h="643641" w="3577159">
                <a:moveTo>
                  <a:pt x="0" y="0"/>
                </a:moveTo>
                <a:lnTo>
                  <a:pt x="3577159" y="0"/>
                </a:lnTo>
                <a:lnTo>
                  <a:pt x="3577159" y="643641"/>
                </a:lnTo>
                <a:lnTo>
                  <a:pt x="0" y="643641"/>
                </a:lnTo>
                <a:lnTo>
                  <a:pt x="0" y="0"/>
                </a:lnTo>
                <a:close/>
              </a:path>
            </a:pathLst>
          </a:custGeom>
          <a:blipFill>
            <a:blip r:embed="rId4"/>
            <a:stretch>
              <a:fillRect l="0" t="0" r="0" b="0"/>
            </a:stretch>
          </a:blipFill>
        </p:spPr>
      </p:sp>
      <p:sp>
        <p:nvSpPr>
          <p:cNvPr name="Freeform 8" id="8"/>
          <p:cNvSpPr/>
          <p:nvPr/>
        </p:nvSpPr>
        <p:spPr>
          <a:xfrm flipH="false" flipV="false" rot="0">
            <a:off x="6652786" y="7834913"/>
            <a:ext cx="4025451" cy="430893"/>
          </a:xfrm>
          <a:custGeom>
            <a:avLst/>
            <a:gdLst/>
            <a:ahLst/>
            <a:cxnLst/>
            <a:rect r="r" b="b" t="t" l="l"/>
            <a:pathLst>
              <a:path h="430893" w="4025451">
                <a:moveTo>
                  <a:pt x="0" y="0"/>
                </a:moveTo>
                <a:lnTo>
                  <a:pt x="4025451" y="0"/>
                </a:lnTo>
                <a:lnTo>
                  <a:pt x="4025451" y="430893"/>
                </a:lnTo>
                <a:lnTo>
                  <a:pt x="0" y="430893"/>
                </a:lnTo>
                <a:lnTo>
                  <a:pt x="0" y="0"/>
                </a:lnTo>
                <a:close/>
              </a:path>
            </a:pathLst>
          </a:custGeom>
          <a:blipFill>
            <a:blip r:embed="rId5"/>
            <a:stretch>
              <a:fillRect l="0" t="0" r="0" b="0"/>
            </a:stretch>
          </a:blipFill>
        </p:spPr>
      </p:sp>
      <p:sp>
        <p:nvSpPr>
          <p:cNvPr name="Freeform 9" id="9"/>
          <p:cNvSpPr/>
          <p:nvPr/>
        </p:nvSpPr>
        <p:spPr>
          <a:xfrm flipH="false" flipV="false" rot="0">
            <a:off x="11207284" y="7876352"/>
            <a:ext cx="6760513" cy="389454"/>
          </a:xfrm>
          <a:custGeom>
            <a:avLst/>
            <a:gdLst/>
            <a:ahLst/>
            <a:cxnLst/>
            <a:rect r="r" b="b" t="t" l="l"/>
            <a:pathLst>
              <a:path h="389454" w="6760513">
                <a:moveTo>
                  <a:pt x="0" y="0"/>
                </a:moveTo>
                <a:lnTo>
                  <a:pt x="6760513" y="0"/>
                </a:lnTo>
                <a:lnTo>
                  <a:pt x="6760513" y="389454"/>
                </a:lnTo>
                <a:lnTo>
                  <a:pt x="0" y="389454"/>
                </a:lnTo>
                <a:lnTo>
                  <a:pt x="0" y="0"/>
                </a:lnTo>
                <a:close/>
              </a:path>
            </a:pathLst>
          </a:custGeom>
          <a:blipFill>
            <a:blip r:embed="rId6"/>
            <a:stretch>
              <a:fillRect l="0" t="0" r="0" b="0"/>
            </a:stretch>
          </a:blipFill>
        </p:spPr>
      </p:sp>
      <p:sp>
        <p:nvSpPr>
          <p:cNvPr name="TextBox 10" id="10"/>
          <p:cNvSpPr txBox="true"/>
          <p:nvPr/>
        </p:nvSpPr>
        <p:spPr>
          <a:xfrm rot="0">
            <a:off x="3526388" y="2106071"/>
            <a:ext cx="11235223" cy="721230"/>
          </a:xfrm>
          <a:prstGeom prst="rect">
            <a:avLst/>
          </a:prstGeom>
        </p:spPr>
        <p:txBody>
          <a:bodyPr anchor="t" rtlCol="false" tIns="0" lIns="0" bIns="0" rIns="0">
            <a:spAutoFit/>
          </a:bodyPr>
          <a:lstStyle/>
          <a:p>
            <a:pPr algn="ctr">
              <a:lnSpc>
                <a:spcPts val="5876"/>
              </a:lnSpc>
              <a:spcBef>
                <a:spcPct val="0"/>
              </a:spcBef>
            </a:pPr>
            <a:r>
              <a:rPr lang="en-US" sz="4197">
                <a:solidFill>
                  <a:srgbClr val="FF009D"/>
                </a:solidFill>
                <a:latin typeface="HK Modular"/>
                <a:ea typeface="HK Modular"/>
                <a:cs typeface="HK Modular"/>
                <a:sym typeface="HK Modular"/>
              </a:rPr>
              <a:t>JWT</a:t>
            </a:r>
          </a:p>
        </p:txBody>
      </p:sp>
      <p:sp>
        <p:nvSpPr>
          <p:cNvPr name="TextBox 11" id="11"/>
          <p:cNvSpPr txBox="true"/>
          <p:nvPr/>
        </p:nvSpPr>
        <p:spPr>
          <a:xfrm rot="0">
            <a:off x="2067802" y="3090930"/>
            <a:ext cx="14889212" cy="782320"/>
          </a:xfrm>
          <a:prstGeom prst="rect">
            <a:avLst/>
          </a:prstGeom>
        </p:spPr>
        <p:txBody>
          <a:bodyPr anchor="t" rtlCol="false" tIns="0" lIns="0" bIns="0" rIns="0">
            <a:spAutoFit/>
          </a:bodyPr>
          <a:lstStyle/>
          <a:p>
            <a:pPr algn="ctr">
              <a:lnSpc>
                <a:spcPts val="3079"/>
              </a:lnSpc>
              <a:spcBef>
                <a:spcPct val="0"/>
              </a:spcBef>
            </a:pPr>
            <a:r>
              <a:rPr lang="en-US" sz="2199">
                <a:solidFill>
                  <a:srgbClr val="FFFFFF"/>
                </a:solidFill>
                <a:latin typeface="Poppins"/>
                <a:ea typeface="Poppins"/>
                <a:cs typeface="Poppins"/>
                <a:sym typeface="Poppins"/>
              </a:rPr>
              <a:t>JWT (JSON Web Token) es un token seguro y firmado que se usa para autenticación sin estado (stateless).</a:t>
            </a:r>
          </a:p>
          <a:p>
            <a:pPr algn="ctr">
              <a:lnSpc>
                <a:spcPts val="3079"/>
              </a:lnSpc>
              <a:spcBef>
                <a:spcPct val="0"/>
              </a:spcBef>
            </a:pPr>
            <a:r>
              <a:rPr lang="en-US" sz="2199">
                <a:solidFill>
                  <a:srgbClr val="FFFFFF"/>
                </a:solidFill>
                <a:latin typeface="Poppins"/>
                <a:ea typeface="Poppins"/>
                <a:cs typeface="Poppins"/>
                <a:sym typeface="Poppins"/>
              </a:rPr>
              <a:t>Sirve para evitar mantener sesiones en el servidor: toda la info de autenticación está dentro del token.</a:t>
            </a:r>
          </a:p>
        </p:txBody>
      </p:sp>
      <p:sp>
        <p:nvSpPr>
          <p:cNvPr name="TextBox 12" id="12"/>
          <p:cNvSpPr txBox="true"/>
          <p:nvPr/>
        </p:nvSpPr>
        <p:spPr>
          <a:xfrm rot="0">
            <a:off x="6652786" y="4266545"/>
            <a:ext cx="5201162" cy="669942"/>
          </a:xfrm>
          <a:prstGeom prst="rect">
            <a:avLst/>
          </a:prstGeom>
        </p:spPr>
        <p:txBody>
          <a:bodyPr anchor="t" rtlCol="false" tIns="0" lIns="0" bIns="0" rIns="0">
            <a:spAutoFit/>
          </a:bodyPr>
          <a:lstStyle/>
          <a:p>
            <a:pPr algn="ctr">
              <a:lnSpc>
                <a:spcPts val="5490"/>
              </a:lnSpc>
              <a:spcBef>
                <a:spcPct val="0"/>
              </a:spcBef>
            </a:pPr>
            <a:r>
              <a:rPr lang="en-US" sz="3921">
                <a:solidFill>
                  <a:srgbClr val="FF914D"/>
                </a:solidFill>
                <a:latin typeface="HK Modular"/>
                <a:ea typeface="HK Modular"/>
                <a:cs typeface="HK Modular"/>
                <a:sym typeface="HK Modular"/>
              </a:rPr>
              <a:t>ESTRUCTURA</a:t>
            </a:r>
          </a:p>
        </p:txBody>
      </p:sp>
      <p:sp>
        <p:nvSpPr>
          <p:cNvPr name="TextBox 13" id="13"/>
          <p:cNvSpPr txBox="true"/>
          <p:nvPr/>
        </p:nvSpPr>
        <p:spPr>
          <a:xfrm rot="0">
            <a:off x="6710746" y="6428685"/>
            <a:ext cx="5143202" cy="391795"/>
          </a:xfrm>
          <a:prstGeom prst="rect">
            <a:avLst/>
          </a:prstGeom>
        </p:spPr>
        <p:txBody>
          <a:bodyPr anchor="t" rtlCol="false" tIns="0" lIns="0" bIns="0" rIns="0">
            <a:spAutoFit/>
          </a:bodyPr>
          <a:lstStyle/>
          <a:p>
            <a:pPr algn="ctr">
              <a:lnSpc>
                <a:spcPts val="3079"/>
              </a:lnSpc>
              <a:spcBef>
                <a:spcPct val="0"/>
              </a:spcBef>
            </a:pPr>
            <a:r>
              <a:rPr lang="en-US" sz="2199">
                <a:solidFill>
                  <a:srgbClr val="FFFFFF"/>
                </a:solidFill>
                <a:latin typeface="Poppins"/>
                <a:ea typeface="Poppins"/>
                <a:cs typeface="Poppins"/>
                <a:sym typeface="Poppins"/>
              </a:rPr>
              <a:t>Tiene 3 partes separadas por puntos</a:t>
            </a:r>
          </a:p>
        </p:txBody>
      </p:sp>
      <p:sp>
        <p:nvSpPr>
          <p:cNvPr name="TextBox 14" id="14"/>
          <p:cNvSpPr txBox="true"/>
          <p:nvPr/>
        </p:nvSpPr>
        <p:spPr>
          <a:xfrm rot="0">
            <a:off x="7249307" y="6991931"/>
            <a:ext cx="3619351" cy="391795"/>
          </a:xfrm>
          <a:prstGeom prst="rect">
            <a:avLst/>
          </a:prstGeom>
        </p:spPr>
        <p:txBody>
          <a:bodyPr anchor="t" rtlCol="false" tIns="0" lIns="0" bIns="0" rIns="0">
            <a:spAutoFit/>
          </a:bodyPr>
          <a:lstStyle/>
          <a:p>
            <a:pPr algn="ctr">
              <a:lnSpc>
                <a:spcPts val="3079"/>
              </a:lnSpc>
              <a:spcBef>
                <a:spcPct val="0"/>
              </a:spcBef>
            </a:pPr>
            <a:r>
              <a:rPr lang="en-US" sz="2199">
                <a:solidFill>
                  <a:srgbClr val="FFFFFF"/>
                </a:solidFill>
                <a:latin typeface="Poppins"/>
                <a:ea typeface="Poppins"/>
                <a:cs typeface="Poppins"/>
                <a:sym typeface="Poppins"/>
              </a:rPr>
              <a:t>Header.Payload.Signature</a:t>
            </a:r>
          </a:p>
        </p:txBody>
      </p:sp>
      <p:sp>
        <p:nvSpPr>
          <p:cNvPr name="TextBox 15" id="15"/>
          <p:cNvSpPr txBox="true"/>
          <p:nvPr/>
        </p:nvSpPr>
        <p:spPr>
          <a:xfrm rot="0">
            <a:off x="0" y="8674641"/>
            <a:ext cx="5977757" cy="782320"/>
          </a:xfrm>
          <a:prstGeom prst="rect">
            <a:avLst/>
          </a:prstGeom>
        </p:spPr>
        <p:txBody>
          <a:bodyPr anchor="t" rtlCol="false" tIns="0" lIns="0" bIns="0" rIns="0">
            <a:spAutoFit/>
          </a:bodyPr>
          <a:lstStyle/>
          <a:p>
            <a:pPr algn="ctr">
              <a:lnSpc>
                <a:spcPts val="3079"/>
              </a:lnSpc>
              <a:spcBef>
                <a:spcPct val="0"/>
              </a:spcBef>
            </a:pPr>
            <a:r>
              <a:rPr lang="en-US" sz="2199">
                <a:solidFill>
                  <a:srgbClr val="FFFFFF"/>
                </a:solidFill>
                <a:latin typeface="Poppins"/>
                <a:ea typeface="Poppins"/>
                <a:cs typeface="Poppins"/>
                <a:sym typeface="Poppins"/>
              </a:rPr>
              <a:t>Header donde esta el tipo de token y algoritmo de firma</a:t>
            </a:r>
          </a:p>
        </p:txBody>
      </p:sp>
      <p:sp>
        <p:nvSpPr>
          <p:cNvPr name="TextBox 16" id="16"/>
          <p:cNvSpPr txBox="true"/>
          <p:nvPr/>
        </p:nvSpPr>
        <p:spPr>
          <a:xfrm rot="0">
            <a:off x="6614542" y="8656331"/>
            <a:ext cx="4101938" cy="782320"/>
          </a:xfrm>
          <a:prstGeom prst="rect">
            <a:avLst/>
          </a:prstGeom>
        </p:spPr>
        <p:txBody>
          <a:bodyPr anchor="t" rtlCol="false" tIns="0" lIns="0" bIns="0" rIns="0">
            <a:spAutoFit/>
          </a:bodyPr>
          <a:lstStyle/>
          <a:p>
            <a:pPr algn="ctr">
              <a:lnSpc>
                <a:spcPts val="3079"/>
              </a:lnSpc>
              <a:spcBef>
                <a:spcPct val="0"/>
              </a:spcBef>
            </a:pPr>
            <a:r>
              <a:rPr lang="en-US" sz="2199">
                <a:solidFill>
                  <a:srgbClr val="FFFFFF"/>
                </a:solidFill>
                <a:latin typeface="Poppins"/>
                <a:ea typeface="Poppins"/>
                <a:cs typeface="Poppins"/>
                <a:sym typeface="Poppins"/>
              </a:rPr>
              <a:t>payload con datos del usuario no sensibles</a:t>
            </a:r>
          </a:p>
        </p:txBody>
      </p:sp>
      <p:sp>
        <p:nvSpPr>
          <p:cNvPr name="TextBox 17" id="17"/>
          <p:cNvSpPr txBox="true"/>
          <p:nvPr/>
        </p:nvSpPr>
        <p:spPr>
          <a:xfrm rot="0">
            <a:off x="12710643" y="8580131"/>
            <a:ext cx="4101938" cy="782320"/>
          </a:xfrm>
          <a:prstGeom prst="rect">
            <a:avLst/>
          </a:prstGeom>
        </p:spPr>
        <p:txBody>
          <a:bodyPr anchor="t" rtlCol="false" tIns="0" lIns="0" bIns="0" rIns="0">
            <a:spAutoFit/>
          </a:bodyPr>
          <a:lstStyle/>
          <a:p>
            <a:pPr algn="ctr">
              <a:lnSpc>
                <a:spcPts val="3079"/>
              </a:lnSpc>
              <a:spcBef>
                <a:spcPct val="0"/>
              </a:spcBef>
            </a:pPr>
            <a:r>
              <a:rPr lang="en-US" sz="2199">
                <a:solidFill>
                  <a:srgbClr val="FFFFFF"/>
                </a:solidFill>
                <a:latin typeface="Poppins"/>
                <a:ea typeface="Poppins"/>
                <a:cs typeface="Poppins"/>
                <a:sym typeface="Poppins"/>
              </a:rPr>
              <a:t>Firma digital para validar integridad</a:t>
            </a:r>
          </a:p>
        </p:txBody>
      </p:sp>
      <p:sp>
        <p:nvSpPr>
          <p:cNvPr name="Freeform 18" id="18"/>
          <p:cNvSpPr/>
          <p:nvPr/>
        </p:nvSpPr>
        <p:spPr>
          <a:xfrm flipH="false" flipV="false" rot="0">
            <a:off x="8185038" y="-147998"/>
            <a:ext cx="2339794" cy="2339794"/>
          </a:xfrm>
          <a:custGeom>
            <a:avLst/>
            <a:gdLst/>
            <a:ahLst/>
            <a:cxnLst/>
            <a:rect r="r" b="b" t="t" l="l"/>
            <a:pathLst>
              <a:path h="2339794" w="2339794">
                <a:moveTo>
                  <a:pt x="0" y="0"/>
                </a:moveTo>
                <a:lnTo>
                  <a:pt x="2339794" y="0"/>
                </a:lnTo>
                <a:lnTo>
                  <a:pt x="2339794" y="2339794"/>
                </a:lnTo>
                <a:lnTo>
                  <a:pt x="0" y="2339794"/>
                </a:lnTo>
                <a:lnTo>
                  <a:pt x="0" y="0"/>
                </a:lnTo>
                <a:close/>
              </a:path>
            </a:pathLst>
          </a:custGeom>
          <a:blipFill>
            <a:blip r:embed="rId7"/>
            <a:stretch>
              <a:fillRect l="0" t="0" r="0" b="0"/>
            </a:stretch>
          </a:blipFill>
        </p:spPr>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C800AE">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627671" y="5885449"/>
            <a:ext cx="7255768" cy="1952623"/>
          </a:xfrm>
          <a:custGeom>
            <a:avLst/>
            <a:gdLst/>
            <a:ahLst/>
            <a:cxnLst/>
            <a:rect r="r" b="b" t="t" l="l"/>
            <a:pathLst>
              <a:path h="1952623" w="7255768">
                <a:moveTo>
                  <a:pt x="0" y="0"/>
                </a:moveTo>
                <a:lnTo>
                  <a:pt x="7255768" y="0"/>
                </a:lnTo>
                <a:lnTo>
                  <a:pt x="7255768" y="1952623"/>
                </a:lnTo>
                <a:lnTo>
                  <a:pt x="0" y="1952623"/>
                </a:lnTo>
                <a:lnTo>
                  <a:pt x="0" y="0"/>
                </a:lnTo>
                <a:close/>
              </a:path>
            </a:pathLst>
          </a:custGeom>
          <a:blipFill>
            <a:blip r:embed="rId3"/>
            <a:stretch>
              <a:fillRect l="0" t="0" r="0" b="0"/>
            </a:stretch>
          </a:blipFill>
        </p:spPr>
      </p:sp>
      <p:sp>
        <p:nvSpPr>
          <p:cNvPr name="Freeform 7" id="7"/>
          <p:cNvSpPr/>
          <p:nvPr/>
        </p:nvSpPr>
        <p:spPr>
          <a:xfrm flipH="false" flipV="false" rot="0">
            <a:off x="12280210" y="5885449"/>
            <a:ext cx="4979090" cy="2085065"/>
          </a:xfrm>
          <a:custGeom>
            <a:avLst/>
            <a:gdLst/>
            <a:ahLst/>
            <a:cxnLst/>
            <a:rect r="r" b="b" t="t" l="l"/>
            <a:pathLst>
              <a:path h="2085065" w="4979090">
                <a:moveTo>
                  <a:pt x="0" y="0"/>
                </a:moveTo>
                <a:lnTo>
                  <a:pt x="4979090" y="0"/>
                </a:lnTo>
                <a:lnTo>
                  <a:pt x="4979090" y="2085065"/>
                </a:lnTo>
                <a:lnTo>
                  <a:pt x="0" y="2085065"/>
                </a:lnTo>
                <a:lnTo>
                  <a:pt x="0" y="0"/>
                </a:lnTo>
                <a:close/>
              </a:path>
            </a:pathLst>
          </a:custGeom>
          <a:blipFill>
            <a:blip r:embed="rId4"/>
            <a:stretch>
              <a:fillRect l="0" t="0" r="0" b="0"/>
            </a:stretch>
          </a:blipFill>
        </p:spPr>
      </p:sp>
      <p:sp>
        <p:nvSpPr>
          <p:cNvPr name="TextBox 8" id="8"/>
          <p:cNvSpPr txBox="true"/>
          <p:nvPr/>
        </p:nvSpPr>
        <p:spPr>
          <a:xfrm rot="0">
            <a:off x="3526388" y="2106071"/>
            <a:ext cx="11235223" cy="721230"/>
          </a:xfrm>
          <a:prstGeom prst="rect">
            <a:avLst/>
          </a:prstGeom>
        </p:spPr>
        <p:txBody>
          <a:bodyPr anchor="t" rtlCol="false" tIns="0" lIns="0" bIns="0" rIns="0">
            <a:spAutoFit/>
          </a:bodyPr>
          <a:lstStyle/>
          <a:p>
            <a:pPr algn="ctr">
              <a:lnSpc>
                <a:spcPts val="5876"/>
              </a:lnSpc>
              <a:spcBef>
                <a:spcPct val="0"/>
              </a:spcBef>
            </a:pPr>
            <a:r>
              <a:rPr lang="en-US" sz="4197">
                <a:solidFill>
                  <a:srgbClr val="FF009D"/>
                </a:solidFill>
                <a:latin typeface="HK Modular"/>
                <a:ea typeface="HK Modular"/>
                <a:cs typeface="HK Modular"/>
                <a:sym typeface="HK Modular"/>
              </a:rPr>
              <a:t>SPRING SECURITY Y JWT</a:t>
            </a:r>
          </a:p>
        </p:txBody>
      </p:sp>
      <p:sp>
        <p:nvSpPr>
          <p:cNvPr name="TextBox 9" id="9"/>
          <p:cNvSpPr txBox="true"/>
          <p:nvPr/>
        </p:nvSpPr>
        <p:spPr>
          <a:xfrm rot="0">
            <a:off x="218734" y="3186770"/>
            <a:ext cx="18069266" cy="782320"/>
          </a:xfrm>
          <a:prstGeom prst="rect">
            <a:avLst/>
          </a:prstGeom>
        </p:spPr>
        <p:txBody>
          <a:bodyPr anchor="t" rtlCol="false" tIns="0" lIns="0" bIns="0" rIns="0">
            <a:spAutoFit/>
          </a:bodyPr>
          <a:lstStyle/>
          <a:p>
            <a:pPr algn="ctr">
              <a:lnSpc>
                <a:spcPts val="3079"/>
              </a:lnSpc>
              <a:spcBef>
                <a:spcPct val="0"/>
              </a:spcBef>
            </a:pPr>
            <a:r>
              <a:rPr lang="en-US" sz="2199">
                <a:solidFill>
                  <a:srgbClr val="FFFFFF"/>
                </a:solidFill>
                <a:latin typeface="Poppins"/>
                <a:ea typeface="Poppins"/>
                <a:cs typeface="Poppins"/>
                <a:sym typeface="Poppins"/>
              </a:rPr>
              <a:t>El cliente obtiene un token de acceso al autenticarse por ejemplo usando /login, y luego lo incluye en cada peticion, por lo general tiene un tiempo de vida (TTL)</a:t>
            </a:r>
          </a:p>
        </p:txBody>
      </p:sp>
      <p:sp>
        <p:nvSpPr>
          <p:cNvPr name="TextBox 10" id="10"/>
          <p:cNvSpPr txBox="true"/>
          <p:nvPr/>
        </p:nvSpPr>
        <p:spPr>
          <a:xfrm rot="0">
            <a:off x="6652786" y="4311990"/>
            <a:ext cx="5201162" cy="669942"/>
          </a:xfrm>
          <a:prstGeom prst="rect">
            <a:avLst/>
          </a:prstGeom>
        </p:spPr>
        <p:txBody>
          <a:bodyPr anchor="t" rtlCol="false" tIns="0" lIns="0" bIns="0" rIns="0">
            <a:spAutoFit/>
          </a:bodyPr>
          <a:lstStyle/>
          <a:p>
            <a:pPr algn="ctr">
              <a:lnSpc>
                <a:spcPts val="5490"/>
              </a:lnSpc>
              <a:spcBef>
                <a:spcPct val="0"/>
              </a:spcBef>
            </a:pPr>
            <a:r>
              <a:rPr lang="en-US" sz="3921">
                <a:solidFill>
                  <a:srgbClr val="FF914D"/>
                </a:solidFill>
                <a:latin typeface="HK Modular"/>
                <a:ea typeface="HK Modular"/>
                <a:cs typeface="HK Modular"/>
                <a:sym typeface="HK Modular"/>
              </a:rPr>
              <a:t>EJEMPLO</a:t>
            </a:r>
          </a:p>
        </p:txBody>
      </p:sp>
      <p:sp>
        <p:nvSpPr>
          <p:cNvPr name="TextBox 11" id="11"/>
          <p:cNvSpPr txBox="true"/>
          <p:nvPr/>
        </p:nvSpPr>
        <p:spPr>
          <a:xfrm rot="0">
            <a:off x="2632628" y="5215116"/>
            <a:ext cx="5047480" cy="391795"/>
          </a:xfrm>
          <a:prstGeom prst="rect">
            <a:avLst/>
          </a:prstGeom>
        </p:spPr>
        <p:txBody>
          <a:bodyPr anchor="t" rtlCol="false" tIns="0" lIns="0" bIns="0" rIns="0">
            <a:spAutoFit/>
          </a:bodyPr>
          <a:lstStyle/>
          <a:p>
            <a:pPr algn="ctr">
              <a:lnSpc>
                <a:spcPts val="3079"/>
              </a:lnSpc>
              <a:spcBef>
                <a:spcPct val="0"/>
              </a:spcBef>
            </a:pPr>
            <a:r>
              <a:rPr lang="en-US" sz="2199">
                <a:solidFill>
                  <a:srgbClr val="FFFFFF"/>
                </a:solidFill>
                <a:latin typeface="Poppins"/>
                <a:ea typeface="Poppins"/>
                <a:cs typeface="Poppins"/>
                <a:sym typeface="Poppins"/>
              </a:rPr>
              <a:t>Generar un JWT</a:t>
            </a:r>
          </a:p>
        </p:txBody>
      </p:sp>
      <p:sp>
        <p:nvSpPr>
          <p:cNvPr name="TextBox 12" id="12"/>
          <p:cNvSpPr txBox="true"/>
          <p:nvPr/>
        </p:nvSpPr>
        <p:spPr>
          <a:xfrm rot="0">
            <a:off x="12059799" y="5215116"/>
            <a:ext cx="5047480" cy="391795"/>
          </a:xfrm>
          <a:prstGeom prst="rect">
            <a:avLst/>
          </a:prstGeom>
        </p:spPr>
        <p:txBody>
          <a:bodyPr anchor="t" rtlCol="false" tIns="0" lIns="0" bIns="0" rIns="0">
            <a:spAutoFit/>
          </a:bodyPr>
          <a:lstStyle/>
          <a:p>
            <a:pPr algn="ctr">
              <a:lnSpc>
                <a:spcPts val="3079"/>
              </a:lnSpc>
              <a:spcBef>
                <a:spcPct val="0"/>
              </a:spcBef>
            </a:pPr>
            <a:r>
              <a:rPr lang="en-US" sz="2199">
                <a:solidFill>
                  <a:srgbClr val="FFFFFF"/>
                </a:solidFill>
                <a:latin typeface="Poppins"/>
                <a:ea typeface="Poppins"/>
                <a:cs typeface="Poppins"/>
                <a:sym typeface="Poppins"/>
              </a:rPr>
              <a:t>Validar JWT</a:t>
            </a:r>
          </a:p>
        </p:txBody>
      </p:sp>
      <p:sp>
        <p:nvSpPr>
          <p:cNvPr name="Freeform 13" id="13"/>
          <p:cNvSpPr/>
          <p:nvPr/>
        </p:nvSpPr>
        <p:spPr>
          <a:xfrm flipH="false" flipV="false" rot="0">
            <a:off x="8185038" y="-147998"/>
            <a:ext cx="2339794" cy="2339794"/>
          </a:xfrm>
          <a:custGeom>
            <a:avLst/>
            <a:gdLst/>
            <a:ahLst/>
            <a:cxnLst/>
            <a:rect r="r" b="b" t="t" l="l"/>
            <a:pathLst>
              <a:path h="2339794" w="2339794">
                <a:moveTo>
                  <a:pt x="0" y="0"/>
                </a:moveTo>
                <a:lnTo>
                  <a:pt x="2339794" y="0"/>
                </a:lnTo>
                <a:lnTo>
                  <a:pt x="2339794" y="2339794"/>
                </a:lnTo>
                <a:lnTo>
                  <a:pt x="0" y="2339794"/>
                </a:lnTo>
                <a:lnTo>
                  <a:pt x="0" y="0"/>
                </a:lnTo>
                <a:close/>
              </a:path>
            </a:pathLst>
          </a:custGeom>
          <a:blipFill>
            <a:blip r:embed="rId5"/>
            <a:stretch>
              <a:fillRect l="0" t="0" r="0" b="0"/>
            </a:stretch>
          </a:blipFill>
        </p:spPr>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C800AE">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3291513" y="2087021"/>
            <a:ext cx="11308227" cy="895959"/>
          </a:xfrm>
          <a:prstGeom prst="rect">
            <a:avLst/>
          </a:prstGeom>
        </p:spPr>
        <p:txBody>
          <a:bodyPr anchor="t" rtlCol="false" tIns="0" lIns="0" bIns="0" rIns="0">
            <a:spAutoFit/>
          </a:bodyPr>
          <a:lstStyle/>
          <a:p>
            <a:pPr algn="ctr">
              <a:lnSpc>
                <a:spcPts val="7316"/>
              </a:lnSpc>
              <a:spcBef>
                <a:spcPct val="0"/>
              </a:spcBef>
            </a:pPr>
            <a:r>
              <a:rPr lang="en-US" sz="5226">
                <a:solidFill>
                  <a:srgbClr val="FF009D"/>
                </a:solidFill>
                <a:latin typeface="HK Modular"/>
                <a:ea typeface="HK Modular"/>
                <a:cs typeface="HK Modular"/>
                <a:sym typeface="HK Modular"/>
              </a:rPr>
              <a:t>AUTHORIZATION</a:t>
            </a:r>
          </a:p>
        </p:txBody>
      </p:sp>
      <p:sp>
        <p:nvSpPr>
          <p:cNvPr name="TextBox 7" id="7"/>
          <p:cNvSpPr txBox="true"/>
          <p:nvPr/>
        </p:nvSpPr>
        <p:spPr>
          <a:xfrm rot="0">
            <a:off x="2797671" y="3257618"/>
            <a:ext cx="12692658" cy="391795"/>
          </a:xfrm>
          <a:prstGeom prst="rect">
            <a:avLst/>
          </a:prstGeom>
        </p:spPr>
        <p:txBody>
          <a:bodyPr anchor="t" rtlCol="false" tIns="0" lIns="0" bIns="0" rIns="0">
            <a:spAutoFit/>
          </a:bodyPr>
          <a:lstStyle/>
          <a:p>
            <a:pPr algn="ctr">
              <a:lnSpc>
                <a:spcPts val="3079"/>
              </a:lnSpc>
              <a:spcBef>
                <a:spcPct val="0"/>
              </a:spcBef>
            </a:pPr>
            <a:r>
              <a:rPr lang="en-US" sz="2199">
                <a:solidFill>
                  <a:srgbClr val="FFFFFF"/>
                </a:solidFill>
                <a:latin typeface="Poppins"/>
                <a:ea typeface="Poppins"/>
                <a:cs typeface="Poppins"/>
                <a:sym typeface="Poppins"/>
              </a:rPr>
              <a:t>Una vez autenticado el usuario, la autorización define qué puede hacer dentro del sistema.</a:t>
            </a:r>
          </a:p>
        </p:txBody>
      </p:sp>
      <p:sp>
        <p:nvSpPr>
          <p:cNvPr name="TextBox 8" id="8"/>
          <p:cNvSpPr txBox="true"/>
          <p:nvPr/>
        </p:nvSpPr>
        <p:spPr>
          <a:xfrm rot="0">
            <a:off x="5253410" y="4012960"/>
            <a:ext cx="7781181" cy="400558"/>
          </a:xfrm>
          <a:prstGeom prst="rect">
            <a:avLst/>
          </a:prstGeom>
        </p:spPr>
        <p:txBody>
          <a:bodyPr anchor="t" rtlCol="false" tIns="0" lIns="0" bIns="0" rIns="0">
            <a:spAutoFit/>
          </a:bodyPr>
          <a:lstStyle/>
          <a:p>
            <a:pPr algn="ctr">
              <a:lnSpc>
                <a:spcPts val="3121"/>
              </a:lnSpc>
              <a:spcBef>
                <a:spcPct val="0"/>
              </a:spcBef>
            </a:pPr>
            <a:r>
              <a:rPr lang="en-US" sz="2229">
                <a:solidFill>
                  <a:srgbClr val="FFFFFF"/>
                </a:solidFill>
                <a:latin typeface="Poppins"/>
                <a:ea typeface="Poppins"/>
                <a:cs typeface="Poppins"/>
                <a:sym typeface="Poppins"/>
              </a:rPr>
              <a:t>Responde a la pregunta: “Que tienes permitido hacer?”</a:t>
            </a:r>
          </a:p>
        </p:txBody>
      </p:sp>
      <p:sp>
        <p:nvSpPr>
          <p:cNvPr name="TextBox 9" id="9"/>
          <p:cNvSpPr txBox="true"/>
          <p:nvPr/>
        </p:nvSpPr>
        <p:spPr>
          <a:xfrm rot="0">
            <a:off x="3073011" y="5268231"/>
            <a:ext cx="12141979" cy="669942"/>
          </a:xfrm>
          <a:prstGeom prst="rect">
            <a:avLst/>
          </a:prstGeom>
        </p:spPr>
        <p:txBody>
          <a:bodyPr anchor="t" rtlCol="false" tIns="0" lIns="0" bIns="0" rIns="0">
            <a:spAutoFit/>
          </a:bodyPr>
          <a:lstStyle/>
          <a:p>
            <a:pPr algn="ctr">
              <a:lnSpc>
                <a:spcPts val="5490"/>
              </a:lnSpc>
              <a:spcBef>
                <a:spcPct val="0"/>
              </a:spcBef>
            </a:pPr>
            <a:r>
              <a:rPr lang="en-US" sz="3921">
                <a:solidFill>
                  <a:srgbClr val="FF914D"/>
                </a:solidFill>
                <a:latin typeface="HK Modular"/>
                <a:ea typeface="HK Modular"/>
                <a:cs typeface="HK Modular"/>
                <a:sym typeface="HK Modular"/>
              </a:rPr>
              <a:t>COMO SE APLICA EN UNA API REST</a:t>
            </a:r>
          </a:p>
        </p:txBody>
      </p:sp>
      <p:sp>
        <p:nvSpPr>
          <p:cNvPr name="TextBox 10" id="10"/>
          <p:cNvSpPr txBox="true"/>
          <p:nvPr/>
        </p:nvSpPr>
        <p:spPr>
          <a:xfrm rot="0">
            <a:off x="2933094" y="6552604"/>
            <a:ext cx="12421812" cy="1181608"/>
          </a:xfrm>
          <a:prstGeom prst="rect">
            <a:avLst/>
          </a:prstGeom>
        </p:spPr>
        <p:txBody>
          <a:bodyPr anchor="t" rtlCol="false" tIns="0" lIns="0" bIns="0" rIns="0">
            <a:spAutoFit/>
          </a:bodyPr>
          <a:lstStyle/>
          <a:p>
            <a:pPr algn="ctr">
              <a:lnSpc>
                <a:spcPts val="3121"/>
              </a:lnSpc>
            </a:pPr>
            <a:r>
              <a:rPr lang="en-US" sz="2229">
                <a:solidFill>
                  <a:srgbClr val="FFFFFF"/>
                </a:solidFill>
                <a:latin typeface="Poppins"/>
                <a:ea typeface="Poppins"/>
                <a:cs typeface="Poppins"/>
                <a:sym typeface="Poppins"/>
              </a:rPr>
              <a:t>Se evalúan los roles, permisos o scopes del usuario autenticado.</a:t>
            </a:r>
          </a:p>
          <a:p>
            <a:pPr algn="ctr">
              <a:lnSpc>
                <a:spcPts val="3121"/>
              </a:lnSpc>
            </a:pPr>
            <a:r>
              <a:rPr lang="en-US" sz="2229">
                <a:solidFill>
                  <a:srgbClr val="FFFFFF"/>
                </a:solidFill>
                <a:latin typeface="Poppins"/>
                <a:ea typeface="Poppins"/>
                <a:cs typeface="Poppins"/>
                <a:sym typeface="Poppins"/>
              </a:rPr>
              <a:t>La API permite o niega el acceso a ciertos recursos o acciones.</a:t>
            </a:r>
          </a:p>
          <a:p>
            <a:pPr algn="ctr">
              <a:lnSpc>
                <a:spcPts val="3121"/>
              </a:lnSpc>
              <a:spcBef>
                <a:spcPct val="0"/>
              </a:spcBef>
            </a:pPr>
          </a:p>
        </p:txBody>
      </p:sp>
      <p:sp>
        <p:nvSpPr>
          <p:cNvPr name="Freeform 11" id="11"/>
          <p:cNvSpPr/>
          <p:nvPr/>
        </p:nvSpPr>
        <p:spPr>
          <a:xfrm flipH="false" flipV="false" rot="0">
            <a:off x="8185038" y="-147998"/>
            <a:ext cx="2339794" cy="2339794"/>
          </a:xfrm>
          <a:custGeom>
            <a:avLst/>
            <a:gdLst/>
            <a:ahLst/>
            <a:cxnLst/>
            <a:rect r="r" b="b" t="t" l="l"/>
            <a:pathLst>
              <a:path h="2339794" w="2339794">
                <a:moveTo>
                  <a:pt x="0" y="0"/>
                </a:moveTo>
                <a:lnTo>
                  <a:pt x="2339794" y="0"/>
                </a:lnTo>
                <a:lnTo>
                  <a:pt x="2339794" y="2339794"/>
                </a:lnTo>
                <a:lnTo>
                  <a:pt x="0" y="2339794"/>
                </a:lnTo>
                <a:lnTo>
                  <a:pt x="0" y="0"/>
                </a:lnTo>
                <a:close/>
              </a:path>
            </a:pathLst>
          </a:custGeom>
          <a:blipFill>
            <a:blip r:embed="rId3"/>
            <a:stretch>
              <a:fillRect l="0" t="0" r="0" b="0"/>
            </a:stretch>
          </a:blipFill>
        </p:spPr>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C800AE">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2462421" y="6491900"/>
            <a:ext cx="5518961" cy="1484493"/>
          </a:xfrm>
          <a:custGeom>
            <a:avLst/>
            <a:gdLst/>
            <a:ahLst/>
            <a:cxnLst/>
            <a:rect r="r" b="b" t="t" l="l"/>
            <a:pathLst>
              <a:path h="1484493" w="5518961">
                <a:moveTo>
                  <a:pt x="0" y="0"/>
                </a:moveTo>
                <a:lnTo>
                  <a:pt x="5518961" y="0"/>
                </a:lnTo>
                <a:lnTo>
                  <a:pt x="5518961" y="1484493"/>
                </a:lnTo>
                <a:lnTo>
                  <a:pt x="0" y="1484493"/>
                </a:lnTo>
                <a:lnTo>
                  <a:pt x="0" y="0"/>
                </a:lnTo>
                <a:close/>
              </a:path>
            </a:pathLst>
          </a:custGeom>
          <a:blipFill>
            <a:blip r:embed="rId3"/>
            <a:stretch>
              <a:fillRect l="0" t="0" r="0" b="0"/>
            </a:stretch>
          </a:blipFill>
        </p:spPr>
      </p:sp>
      <p:sp>
        <p:nvSpPr>
          <p:cNvPr name="Freeform 7" id="7"/>
          <p:cNvSpPr/>
          <p:nvPr/>
        </p:nvSpPr>
        <p:spPr>
          <a:xfrm flipH="false" flipV="false" rot="0">
            <a:off x="1739775" y="8351450"/>
            <a:ext cx="6663144" cy="545287"/>
          </a:xfrm>
          <a:custGeom>
            <a:avLst/>
            <a:gdLst/>
            <a:ahLst/>
            <a:cxnLst/>
            <a:rect r="r" b="b" t="t" l="l"/>
            <a:pathLst>
              <a:path h="545287" w="6663144">
                <a:moveTo>
                  <a:pt x="0" y="0"/>
                </a:moveTo>
                <a:lnTo>
                  <a:pt x="6663144" y="0"/>
                </a:lnTo>
                <a:lnTo>
                  <a:pt x="6663144" y="545287"/>
                </a:lnTo>
                <a:lnTo>
                  <a:pt x="0" y="545287"/>
                </a:lnTo>
                <a:lnTo>
                  <a:pt x="0" y="0"/>
                </a:lnTo>
                <a:close/>
              </a:path>
            </a:pathLst>
          </a:custGeom>
          <a:blipFill>
            <a:blip r:embed="rId4"/>
            <a:stretch>
              <a:fillRect l="0" t="0" r="0" b="0"/>
            </a:stretch>
          </a:blipFill>
        </p:spPr>
      </p:sp>
      <p:sp>
        <p:nvSpPr>
          <p:cNvPr name="TextBox 8" id="8"/>
          <p:cNvSpPr txBox="true"/>
          <p:nvPr/>
        </p:nvSpPr>
        <p:spPr>
          <a:xfrm rot="0">
            <a:off x="3073011" y="4770429"/>
            <a:ext cx="12141979" cy="669942"/>
          </a:xfrm>
          <a:prstGeom prst="rect">
            <a:avLst/>
          </a:prstGeom>
        </p:spPr>
        <p:txBody>
          <a:bodyPr anchor="t" rtlCol="false" tIns="0" lIns="0" bIns="0" rIns="0">
            <a:spAutoFit/>
          </a:bodyPr>
          <a:lstStyle/>
          <a:p>
            <a:pPr algn="ctr">
              <a:lnSpc>
                <a:spcPts val="5490"/>
              </a:lnSpc>
              <a:spcBef>
                <a:spcPct val="0"/>
              </a:spcBef>
            </a:pPr>
            <a:r>
              <a:rPr lang="en-US" sz="3921">
                <a:solidFill>
                  <a:srgbClr val="FF914D"/>
                </a:solidFill>
                <a:latin typeface="HK Modular"/>
                <a:ea typeface="HK Modular"/>
                <a:cs typeface="HK Modular"/>
                <a:sym typeface="HK Modular"/>
              </a:rPr>
              <a:t>COMO SE APLICA EN UNA API REST</a:t>
            </a:r>
          </a:p>
        </p:txBody>
      </p:sp>
      <p:sp>
        <p:nvSpPr>
          <p:cNvPr name="Freeform 9" id="9"/>
          <p:cNvSpPr/>
          <p:nvPr/>
        </p:nvSpPr>
        <p:spPr>
          <a:xfrm flipH="false" flipV="false" rot="0">
            <a:off x="1142411" y="9258300"/>
            <a:ext cx="8158981" cy="374838"/>
          </a:xfrm>
          <a:custGeom>
            <a:avLst/>
            <a:gdLst/>
            <a:ahLst/>
            <a:cxnLst/>
            <a:rect r="r" b="b" t="t" l="l"/>
            <a:pathLst>
              <a:path h="374838" w="8158981">
                <a:moveTo>
                  <a:pt x="0" y="0"/>
                </a:moveTo>
                <a:lnTo>
                  <a:pt x="8158981" y="0"/>
                </a:lnTo>
                <a:lnTo>
                  <a:pt x="8158981" y="374838"/>
                </a:lnTo>
                <a:lnTo>
                  <a:pt x="0" y="374838"/>
                </a:lnTo>
                <a:lnTo>
                  <a:pt x="0" y="0"/>
                </a:lnTo>
                <a:close/>
              </a:path>
            </a:pathLst>
          </a:custGeom>
          <a:blipFill>
            <a:blip r:embed="rId5"/>
            <a:stretch>
              <a:fillRect l="0" t="0" r="0" b="0"/>
            </a:stretch>
          </a:blipFill>
        </p:spPr>
      </p:sp>
      <p:sp>
        <p:nvSpPr>
          <p:cNvPr name="TextBox 10" id="10"/>
          <p:cNvSpPr txBox="true"/>
          <p:nvPr/>
        </p:nvSpPr>
        <p:spPr>
          <a:xfrm rot="0">
            <a:off x="3526388" y="2106071"/>
            <a:ext cx="11235223" cy="2205486"/>
          </a:xfrm>
          <a:prstGeom prst="rect">
            <a:avLst/>
          </a:prstGeom>
        </p:spPr>
        <p:txBody>
          <a:bodyPr anchor="t" rtlCol="false" tIns="0" lIns="0" bIns="0" rIns="0">
            <a:spAutoFit/>
          </a:bodyPr>
          <a:lstStyle/>
          <a:p>
            <a:pPr algn="ctr">
              <a:lnSpc>
                <a:spcPts val="5876"/>
              </a:lnSpc>
            </a:pPr>
            <a:r>
              <a:rPr lang="en-US" sz="4197">
                <a:solidFill>
                  <a:srgbClr val="FF009D"/>
                </a:solidFill>
                <a:latin typeface="HK Modular"/>
                <a:ea typeface="HK Modular"/>
                <a:cs typeface="HK Modular"/>
                <a:sym typeface="HK Modular"/>
              </a:rPr>
              <a:t>SECURING URLS - PERMISOS POR ROLES</a:t>
            </a:r>
          </a:p>
          <a:p>
            <a:pPr algn="ctr">
              <a:lnSpc>
                <a:spcPts val="5876"/>
              </a:lnSpc>
              <a:spcBef>
                <a:spcPct val="0"/>
              </a:spcBef>
            </a:pPr>
          </a:p>
        </p:txBody>
      </p:sp>
      <p:sp>
        <p:nvSpPr>
          <p:cNvPr name="TextBox 11" id="11"/>
          <p:cNvSpPr txBox="true"/>
          <p:nvPr/>
        </p:nvSpPr>
        <p:spPr>
          <a:xfrm rot="0">
            <a:off x="2077098" y="3919762"/>
            <a:ext cx="14352538" cy="391795"/>
          </a:xfrm>
          <a:prstGeom prst="rect">
            <a:avLst/>
          </a:prstGeom>
        </p:spPr>
        <p:txBody>
          <a:bodyPr anchor="t" rtlCol="false" tIns="0" lIns="0" bIns="0" rIns="0">
            <a:spAutoFit/>
          </a:bodyPr>
          <a:lstStyle/>
          <a:p>
            <a:pPr algn="ctr">
              <a:lnSpc>
                <a:spcPts val="3079"/>
              </a:lnSpc>
              <a:spcBef>
                <a:spcPct val="0"/>
              </a:spcBef>
            </a:pPr>
            <a:r>
              <a:rPr lang="en-US" sz="2199">
                <a:solidFill>
                  <a:srgbClr val="FFFFFF"/>
                </a:solidFill>
                <a:latin typeface="Poppins"/>
                <a:ea typeface="Poppins"/>
                <a:cs typeface="Poppins"/>
                <a:sym typeface="Poppins"/>
              </a:rPr>
              <a:t>Permite restringir el acceso a ciertas partes de la aplicación según el rol del usuario (admin, user, etc.).</a:t>
            </a:r>
          </a:p>
        </p:txBody>
      </p:sp>
      <p:sp>
        <p:nvSpPr>
          <p:cNvPr name="TextBox 12" id="12"/>
          <p:cNvSpPr txBox="true"/>
          <p:nvPr/>
        </p:nvSpPr>
        <p:spPr>
          <a:xfrm rot="0">
            <a:off x="811857" y="5566648"/>
            <a:ext cx="16447443" cy="391851"/>
          </a:xfrm>
          <a:prstGeom prst="rect">
            <a:avLst/>
          </a:prstGeom>
        </p:spPr>
        <p:txBody>
          <a:bodyPr anchor="t" rtlCol="false" tIns="0" lIns="0" bIns="0" rIns="0">
            <a:spAutoFit/>
          </a:bodyPr>
          <a:lstStyle/>
          <a:p>
            <a:pPr algn="ctr">
              <a:lnSpc>
                <a:spcPts val="3076"/>
              </a:lnSpc>
              <a:spcBef>
                <a:spcPct val="0"/>
              </a:spcBef>
            </a:pPr>
            <a:r>
              <a:rPr lang="en-US" sz="2197">
                <a:solidFill>
                  <a:srgbClr val="FFFFFF"/>
                </a:solidFill>
                <a:latin typeface="Poppins"/>
                <a:ea typeface="Poppins"/>
                <a:cs typeface="Poppins"/>
                <a:sym typeface="Poppins"/>
              </a:rPr>
              <a:t>Spring Security te permite definir reglas de acceso directamente en tus métodos o clases, usando anotaciones como:</a:t>
            </a:r>
          </a:p>
        </p:txBody>
      </p:sp>
      <p:sp>
        <p:nvSpPr>
          <p:cNvPr name="TextBox 13" id="13"/>
          <p:cNvSpPr txBox="true"/>
          <p:nvPr/>
        </p:nvSpPr>
        <p:spPr>
          <a:xfrm rot="0">
            <a:off x="10866782" y="6722585"/>
            <a:ext cx="4730259" cy="782376"/>
          </a:xfrm>
          <a:prstGeom prst="rect">
            <a:avLst/>
          </a:prstGeom>
        </p:spPr>
        <p:txBody>
          <a:bodyPr anchor="t" rtlCol="false" tIns="0" lIns="0" bIns="0" rIns="0">
            <a:spAutoFit/>
          </a:bodyPr>
          <a:lstStyle/>
          <a:p>
            <a:pPr algn="ctr">
              <a:lnSpc>
                <a:spcPts val="3076"/>
              </a:lnSpc>
              <a:spcBef>
                <a:spcPct val="0"/>
              </a:spcBef>
            </a:pPr>
            <a:r>
              <a:rPr lang="en-US" sz="2197">
                <a:solidFill>
                  <a:srgbClr val="FFFFFF"/>
                </a:solidFill>
                <a:latin typeface="Poppins"/>
                <a:ea typeface="Poppins"/>
                <a:cs typeface="Poppins"/>
                <a:sym typeface="Poppins"/>
              </a:rPr>
              <a:t>Evaluar una expresion antes de ejecutar el metodo</a:t>
            </a:r>
          </a:p>
        </p:txBody>
      </p:sp>
      <p:sp>
        <p:nvSpPr>
          <p:cNvPr name="TextBox 14" id="14"/>
          <p:cNvSpPr txBox="true"/>
          <p:nvPr/>
        </p:nvSpPr>
        <p:spPr>
          <a:xfrm rot="0">
            <a:off x="10976673" y="8114360"/>
            <a:ext cx="4730259" cy="391851"/>
          </a:xfrm>
          <a:prstGeom prst="rect">
            <a:avLst/>
          </a:prstGeom>
        </p:spPr>
        <p:txBody>
          <a:bodyPr anchor="t" rtlCol="false" tIns="0" lIns="0" bIns="0" rIns="0">
            <a:spAutoFit/>
          </a:bodyPr>
          <a:lstStyle/>
          <a:p>
            <a:pPr algn="ctr">
              <a:lnSpc>
                <a:spcPts val="3076"/>
              </a:lnSpc>
              <a:spcBef>
                <a:spcPct val="0"/>
              </a:spcBef>
            </a:pPr>
            <a:r>
              <a:rPr lang="en-US" sz="2197">
                <a:solidFill>
                  <a:srgbClr val="FFFFFF"/>
                </a:solidFill>
                <a:latin typeface="Poppins"/>
                <a:ea typeface="Poppins"/>
                <a:cs typeface="Poppins"/>
                <a:sym typeface="Poppins"/>
              </a:rPr>
              <a:t>Permite expresiones logicas</a:t>
            </a:r>
          </a:p>
        </p:txBody>
      </p:sp>
      <p:sp>
        <p:nvSpPr>
          <p:cNvPr name="TextBox 15" id="15"/>
          <p:cNvSpPr txBox="true"/>
          <p:nvPr/>
        </p:nvSpPr>
        <p:spPr>
          <a:xfrm rot="0">
            <a:off x="10976673" y="9115812"/>
            <a:ext cx="4730259" cy="391851"/>
          </a:xfrm>
          <a:prstGeom prst="rect">
            <a:avLst/>
          </a:prstGeom>
        </p:spPr>
        <p:txBody>
          <a:bodyPr anchor="t" rtlCol="false" tIns="0" lIns="0" bIns="0" rIns="0">
            <a:spAutoFit/>
          </a:bodyPr>
          <a:lstStyle/>
          <a:p>
            <a:pPr algn="ctr">
              <a:lnSpc>
                <a:spcPts val="3076"/>
              </a:lnSpc>
              <a:spcBef>
                <a:spcPct val="0"/>
              </a:spcBef>
            </a:pPr>
            <a:r>
              <a:rPr lang="en-US" sz="2197">
                <a:solidFill>
                  <a:srgbClr val="FFFFFF"/>
                </a:solidFill>
                <a:latin typeface="Poppins"/>
                <a:ea typeface="Poppins"/>
                <a:cs typeface="Poppins"/>
                <a:sym typeface="Poppins"/>
              </a:rPr>
              <a:t>Permite condiciones dinamicas</a:t>
            </a:r>
          </a:p>
        </p:txBody>
      </p:sp>
      <p:sp>
        <p:nvSpPr>
          <p:cNvPr name="Freeform 16" id="16"/>
          <p:cNvSpPr/>
          <p:nvPr/>
        </p:nvSpPr>
        <p:spPr>
          <a:xfrm flipH="false" flipV="false" rot="0">
            <a:off x="8185038" y="-147998"/>
            <a:ext cx="2339794" cy="2339794"/>
          </a:xfrm>
          <a:custGeom>
            <a:avLst/>
            <a:gdLst/>
            <a:ahLst/>
            <a:cxnLst/>
            <a:rect r="r" b="b" t="t" l="l"/>
            <a:pathLst>
              <a:path h="2339794" w="2339794">
                <a:moveTo>
                  <a:pt x="0" y="0"/>
                </a:moveTo>
                <a:lnTo>
                  <a:pt x="2339794" y="0"/>
                </a:lnTo>
                <a:lnTo>
                  <a:pt x="2339794" y="2339794"/>
                </a:lnTo>
                <a:lnTo>
                  <a:pt x="0" y="2339794"/>
                </a:lnTo>
                <a:lnTo>
                  <a:pt x="0" y="0"/>
                </a:lnTo>
                <a:close/>
              </a:path>
            </a:pathLst>
          </a:custGeom>
          <a:blipFill>
            <a:blip r:embed="rId6"/>
            <a:stretch>
              <a:fillRect l="0" t="0" r="0" b="0"/>
            </a:stretch>
          </a:blipFill>
        </p:spPr>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C800AE">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6550790" y="3553408"/>
            <a:ext cx="5004115" cy="1590092"/>
          </a:xfrm>
          <a:custGeom>
            <a:avLst/>
            <a:gdLst/>
            <a:ahLst/>
            <a:cxnLst/>
            <a:rect r="r" b="b" t="t" l="l"/>
            <a:pathLst>
              <a:path h="1590092" w="5004115">
                <a:moveTo>
                  <a:pt x="0" y="0"/>
                </a:moveTo>
                <a:lnTo>
                  <a:pt x="5004115" y="0"/>
                </a:lnTo>
                <a:lnTo>
                  <a:pt x="5004115" y="1590092"/>
                </a:lnTo>
                <a:lnTo>
                  <a:pt x="0" y="1590092"/>
                </a:lnTo>
                <a:lnTo>
                  <a:pt x="0" y="0"/>
                </a:lnTo>
                <a:close/>
              </a:path>
            </a:pathLst>
          </a:custGeom>
          <a:blipFill>
            <a:blip r:embed="rId3"/>
            <a:stretch>
              <a:fillRect l="0" t="0" r="0" b="0"/>
            </a:stretch>
          </a:blipFill>
        </p:spPr>
      </p:sp>
      <p:sp>
        <p:nvSpPr>
          <p:cNvPr name="Freeform 7" id="7"/>
          <p:cNvSpPr/>
          <p:nvPr/>
        </p:nvSpPr>
        <p:spPr>
          <a:xfrm flipH="false" flipV="false" rot="0">
            <a:off x="3605159" y="6505575"/>
            <a:ext cx="11077682" cy="954711"/>
          </a:xfrm>
          <a:custGeom>
            <a:avLst/>
            <a:gdLst/>
            <a:ahLst/>
            <a:cxnLst/>
            <a:rect r="r" b="b" t="t" l="l"/>
            <a:pathLst>
              <a:path h="954711" w="11077682">
                <a:moveTo>
                  <a:pt x="0" y="0"/>
                </a:moveTo>
                <a:lnTo>
                  <a:pt x="11077682" y="0"/>
                </a:lnTo>
                <a:lnTo>
                  <a:pt x="11077682" y="954711"/>
                </a:lnTo>
                <a:lnTo>
                  <a:pt x="0" y="954711"/>
                </a:lnTo>
                <a:lnTo>
                  <a:pt x="0" y="0"/>
                </a:lnTo>
                <a:close/>
              </a:path>
            </a:pathLst>
          </a:custGeom>
          <a:blipFill>
            <a:blip r:embed="rId4"/>
            <a:stretch>
              <a:fillRect l="0" t="0" r="0" b="0"/>
            </a:stretch>
          </a:blipFill>
        </p:spPr>
      </p:sp>
      <p:sp>
        <p:nvSpPr>
          <p:cNvPr name="Freeform 8" id="8"/>
          <p:cNvSpPr/>
          <p:nvPr/>
        </p:nvSpPr>
        <p:spPr>
          <a:xfrm flipH="false" flipV="false" rot="0">
            <a:off x="6837349" y="8448572"/>
            <a:ext cx="4613303" cy="534468"/>
          </a:xfrm>
          <a:custGeom>
            <a:avLst/>
            <a:gdLst/>
            <a:ahLst/>
            <a:cxnLst/>
            <a:rect r="r" b="b" t="t" l="l"/>
            <a:pathLst>
              <a:path h="534468" w="4613303">
                <a:moveTo>
                  <a:pt x="0" y="0"/>
                </a:moveTo>
                <a:lnTo>
                  <a:pt x="4613302" y="0"/>
                </a:lnTo>
                <a:lnTo>
                  <a:pt x="4613302" y="534468"/>
                </a:lnTo>
                <a:lnTo>
                  <a:pt x="0" y="534468"/>
                </a:lnTo>
                <a:lnTo>
                  <a:pt x="0" y="0"/>
                </a:lnTo>
                <a:close/>
              </a:path>
            </a:pathLst>
          </a:custGeom>
          <a:blipFill>
            <a:blip r:embed="rId5"/>
            <a:stretch>
              <a:fillRect l="0" t="0" r="0" b="0"/>
            </a:stretch>
          </a:blipFill>
        </p:spPr>
      </p:sp>
      <p:sp>
        <p:nvSpPr>
          <p:cNvPr name="TextBox 9" id="9"/>
          <p:cNvSpPr txBox="true"/>
          <p:nvPr/>
        </p:nvSpPr>
        <p:spPr>
          <a:xfrm rot="0">
            <a:off x="3526388" y="2106071"/>
            <a:ext cx="11235223" cy="721230"/>
          </a:xfrm>
          <a:prstGeom prst="rect">
            <a:avLst/>
          </a:prstGeom>
        </p:spPr>
        <p:txBody>
          <a:bodyPr anchor="t" rtlCol="false" tIns="0" lIns="0" bIns="0" rIns="0">
            <a:spAutoFit/>
          </a:bodyPr>
          <a:lstStyle/>
          <a:p>
            <a:pPr algn="ctr">
              <a:lnSpc>
                <a:spcPts val="5876"/>
              </a:lnSpc>
              <a:spcBef>
                <a:spcPct val="0"/>
              </a:spcBef>
            </a:pPr>
            <a:r>
              <a:rPr lang="en-US" sz="4197">
                <a:solidFill>
                  <a:srgbClr val="FF009D"/>
                </a:solidFill>
                <a:latin typeface="HK Modular"/>
                <a:ea typeface="HK Modular"/>
                <a:cs typeface="HK Modular"/>
                <a:sym typeface="HK Modular"/>
              </a:rPr>
              <a:t>SECURING URLS</a:t>
            </a:r>
          </a:p>
        </p:txBody>
      </p:sp>
      <p:sp>
        <p:nvSpPr>
          <p:cNvPr name="TextBox 10" id="10"/>
          <p:cNvSpPr txBox="true"/>
          <p:nvPr/>
        </p:nvSpPr>
        <p:spPr>
          <a:xfrm rot="0">
            <a:off x="3938885" y="2921123"/>
            <a:ext cx="10410230" cy="391795"/>
          </a:xfrm>
          <a:prstGeom prst="rect">
            <a:avLst/>
          </a:prstGeom>
        </p:spPr>
        <p:txBody>
          <a:bodyPr anchor="t" rtlCol="false" tIns="0" lIns="0" bIns="0" rIns="0">
            <a:spAutoFit/>
          </a:bodyPr>
          <a:lstStyle/>
          <a:p>
            <a:pPr algn="ctr">
              <a:lnSpc>
                <a:spcPts val="3079"/>
              </a:lnSpc>
              <a:spcBef>
                <a:spcPct val="0"/>
              </a:spcBef>
            </a:pPr>
            <a:r>
              <a:rPr lang="en-US" sz="2199">
                <a:solidFill>
                  <a:srgbClr val="FFFFFF"/>
                </a:solidFill>
                <a:latin typeface="Poppins"/>
                <a:ea typeface="Poppins"/>
                <a:cs typeface="Poppins"/>
                <a:sym typeface="Poppins"/>
              </a:rPr>
              <a:t>Si tu API usa JWT, puedes incluir roles o permisos directamente en el token.</a:t>
            </a:r>
          </a:p>
        </p:txBody>
      </p:sp>
      <p:sp>
        <p:nvSpPr>
          <p:cNvPr name="TextBox 11" id="11"/>
          <p:cNvSpPr txBox="true"/>
          <p:nvPr/>
        </p:nvSpPr>
        <p:spPr>
          <a:xfrm rot="0">
            <a:off x="2044080" y="5600065"/>
            <a:ext cx="14199840" cy="391795"/>
          </a:xfrm>
          <a:prstGeom prst="rect">
            <a:avLst/>
          </a:prstGeom>
        </p:spPr>
        <p:txBody>
          <a:bodyPr anchor="t" rtlCol="false" tIns="0" lIns="0" bIns="0" rIns="0">
            <a:spAutoFit/>
          </a:bodyPr>
          <a:lstStyle/>
          <a:p>
            <a:pPr algn="ctr">
              <a:lnSpc>
                <a:spcPts val="3079"/>
              </a:lnSpc>
              <a:spcBef>
                <a:spcPct val="0"/>
              </a:spcBef>
            </a:pPr>
            <a:r>
              <a:rPr lang="en-US" sz="2199">
                <a:solidFill>
                  <a:srgbClr val="FFFFFF"/>
                </a:solidFill>
                <a:latin typeface="Poppins"/>
                <a:ea typeface="Poppins"/>
                <a:cs typeface="Poppins"/>
                <a:sym typeface="Poppins"/>
              </a:rPr>
              <a:t>Luego pueden usar el filtro de autenticacion en Spring para mapear esos claims a GrantedAuthorities</a:t>
            </a:r>
          </a:p>
        </p:txBody>
      </p:sp>
      <p:sp>
        <p:nvSpPr>
          <p:cNvPr name="TextBox 12" id="12"/>
          <p:cNvSpPr txBox="true"/>
          <p:nvPr/>
        </p:nvSpPr>
        <p:spPr>
          <a:xfrm rot="0">
            <a:off x="7551018" y="7751977"/>
            <a:ext cx="3185964" cy="391795"/>
          </a:xfrm>
          <a:prstGeom prst="rect">
            <a:avLst/>
          </a:prstGeom>
        </p:spPr>
        <p:txBody>
          <a:bodyPr anchor="t" rtlCol="false" tIns="0" lIns="0" bIns="0" rIns="0">
            <a:spAutoFit/>
          </a:bodyPr>
          <a:lstStyle/>
          <a:p>
            <a:pPr algn="ctr">
              <a:lnSpc>
                <a:spcPts val="3079"/>
              </a:lnSpc>
              <a:spcBef>
                <a:spcPct val="0"/>
              </a:spcBef>
            </a:pPr>
            <a:r>
              <a:rPr lang="en-US" sz="2199">
                <a:solidFill>
                  <a:srgbClr val="FFFFFF"/>
                </a:solidFill>
                <a:latin typeface="Poppins"/>
                <a:ea typeface="Poppins"/>
                <a:cs typeface="Poppins"/>
                <a:sym typeface="Poppins"/>
              </a:rPr>
              <a:t>Y con eso pueden usar</a:t>
            </a:r>
          </a:p>
        </p:txBody>
      </p:sp>
      <p:sp>
        <p:nvSpPr>
          <p:cNvPr name="Freeform 13" id="13"/>
          <p:cNvSpPr/>
          <p:nvPr/>
        </p:nvSpPr>
        <p:spPr>
          <a:xfrm flipH="false" flipV="false" rot="0">
            <a:off x="8185038" y="-147998"/>
            <a:ext cx="2339794" cy="2339794"/>
          </a:xfrm>
          <a:custGeom>
            <a:avLst/>
            <a:gdLst/>
            <a:ahLst/>
            <a:cxnLst/>
            <a:rect r="r" b="b" t="t" l="l"/>
            <a:pathLst>
              <a:path h="2339794" w="2339794">
                <a:moveTo>
                  <a:pt x="0" y="0"/>
                </a:moveTo>
                <a:lnTo>
                  <a:pt x="2339794" y="0"/>
                </a:lnTo>
                <a:lnTo>
                  <a:pt x="2339794" y="2339794"/>
                </a:lnTo>
                <a:lnTo>
                  <a:pt x="0" y="2339794"/>
                </a:lnTo>
                <a:lnTo>
                  <a:pt x="0" y="0"/>
                </a:lnTo>
                <a:close/>
              </a:path>
            </a:pathLst>
          </a:custGeom>
          <a:blipFill>
            <a:blip r:embed="rId6"/>
            <a:stretch>
              <a:fillRect l="0" t="0" r="0" b="0"/>
            </a:stretch>
          </a:blipFill>
        </p:spPr>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C800AE">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3277343" y="2087021"/>
            <a:ext cx="11308227" cy="895959"/>
          </a:xfrm>
          <a:prstGeom prst="rect">
            <a:avLst/>
          </a:prstGeom>
        </p:spPr>
        <p:txBody>
          <a:bodyPr anchor="t" rtlCol="false" tIns="0" lIns="0" bIns="0" rIns="0">
            <a:spAutoFit/>
          </a:bodyPr>
          <a:lstStyle/>
          <a:p>
            <a:pPr algn="ctr">
              <a:lnSpc>
                <a:spcPts val="7316"/>
              </a:lnSpc>
              <a:spcBef>
                <a:spcPct val="0"/>
              </a:spcBef>
            </a:pPr>
            <a:r>
              <a:rPr lang="en-US" sz="5226">
                <a:solidFill>
                  <a:srgbClr val="FF009D"/>
                </a:solidFill>
                <a:latin typeface="HK Modular"/>
                <a:ea typeface="HK Modular"/>
                <a:cs typeface="HK Modular"/>
                <a:sym typeface="HK Modular"/>
              </a:rPr>
              <a:t>INTEGRITY</a:t>
            </a:r>
          </a:p>
        </p:txBody>
      </p:sp>
      <p:sp>
        <p:nvSpPr>
          <p:cNvPr name="TextBox 7" id="7"/>
          <p:cNvSpPr txBox="true"/>
          <p:nvPr/>
        </p:nvSpPr>
        <p:spPr>
          <a:xfrm rot="0">
            <a:off x="1181546" y="3271787"/>
            <a:ext cx="15924907" cy="391795"/>
          </a:xfrm>
          <a:prstGeom prst="rect">
            <a:avLst/>
          </a:prstGeom>
        </p:spPr>
        <p:txBody>
          <a:bodyPr anchor="t" rtlCol="false" tIns="0" lIns="0" bIns="0" rIns="0">
            <a:spAutoFit/>
          </a:bodyPr>
          <a:lstStyle/>
          <a:p>
            <a:pPr algn="ctr">
              <a:lnSpc>
                <a:spcPts val="3079"/>
              </a:lnSpc>
              <a:spcBef>
                <a:spcPct val="0"/>
              </a:spcBef>
            </a:pPr>
            <a:r>
              <a:rPr lang="en-US" sz="2199">
                <a:solidFill>
                  <a:srgbClr val="FFFFFF"/>
                </a:solidFill>
                <a:latin typeface="Poppins"/>
                <a:ea typeface="Poppins"/>
                <a:cs typeface="Poppins"/>
                <a:sym typeface="Poppins"/>
              </a:rPr>
              <a:t>La integridad garantiza que los datos no se han modificado o alterado durante la transmisión o almacenamiento.</a:t>
            </a:r>
          </a:p>
        </p:txBody>
      </p:sp>
      <p:sp>
        <p:nvSpPr>
          <p:cNvPr name="TextBox 8" id="8"/>
          <p:cNvSpPr txBox="true"/>
          <p:nvPr/>
        </p:nvSpPr>
        <p:spPr>
          <a:xfrm rot="0">
            <a:off x="3230389" y="4012960"/>
            <a:ext cx="11827222" cy="400558"/>
          </a:xfrm>
          <a:prstGeom prst="rect">
            <a:avLst/>
          </a:prstGeom>
        </p:spPr>
        <p:txBody>
          <a:bodyPr anchor="t" rtlCol="false" tIns="0" lIns="0" bIns="0" rIns="0">
            <a:spAutoFit/>
          </a:bodyPr>
          <a:lstStyle/>
          <a:p>
            <a:pPr algn="ctr">
              <a:lnSpc>
                <a:spcPts val="3121"/>
              </a:lnSpc>
              <a:spcBef>
                <a:spcPct val="0"/>
              </a:spcBef>
            </a:pPr>
            <a:r>
              <a:rPr lang="en-US" sz="2229">
                <a:solidFill>
                  <a:srgbClr val="FFFFFF"/>
                </a:solidFill>
                <a:latin typeface="Poppins"/>
                <a:ea typeface="Poppins"/>
                <a:cs typeface="Poppins"/>
                <a:sym typeface="Poppins"/>
              </a:rPr>
              <a:t>Responde a la pregunta: “El mensaje o dato llego exactamente como fue enviado?”</a:t>
            </a:r>
          </a:p>
        </p:txBody>
      </p:sp>
      <p:sp>
        <p:nvSpPr>
          <p:cNvPr name="TextBox 9" id="9"/>
          <p:cNvSpPr txBox="true"/>
          <p:nvPr/>
        </p:nvSpPr>
        <p:spPr>
          <a:xfrm rot="0">
            <a:off x="2968518" y="6583330"/>
            <a:ext cx="12804390" cy="2344420"/>
          </a:xfrm>
          <a:prstGeom prst="rect">
            <a:avLst/>
          </a:prstGeom>
        </p:spPr>
        <p:txBody>
          <a:bodyPr anchor="t" rtlCol="false" tIns="0" lIns="0" bIns="0" rIns="0">
            <a:spAutoFit/>
          </a:bodyPr>
          <a:lstStyle/>
          <a:p>
            <a:pPr algn="ctr">
              <a:lnSpc>
                <a:spcPts val="3079"/>
              </a:lnSpc>
              <a:spcBef>
                <a:spcPct val="0"/>
              </a:spcBef>
            </a:pPr>
            <a:r>
              <a:rPr lang="en-US" sz="2199">
                <a:solidFill>
                  <a:srgbClr val="FFFFFF"/>
                </a:solidFill>
                <a:latin typeface="Poppins"/>
                <a:ea typeface="Poppins"/>
                <a:cs typeface="Poppins"/>
                <a:sym typeface="Poppins"/>
              </a:rPr>
              <a:t>Usando HTTPS (SSL/TLS) para cifrar la comunicación y evitar que los datos se alteren en tránsito.</a:t>
            </a:r>
          </a:p>
          <a:p>
            <a:pPr algn="ctr">
              <a:lnSpc>
                <a:spcPts val="3079"/>
              </a:lnSpc>
              <a:spcBef>
                <a:spcPct val="0"/>
              </a:spcBef>
            </a:pPr>
            <a:r>
              <a:rPr lang="en-US" sz="2199">
                <a:solidFill>
                  <a:srgbClr val="FFFFFF"/>
                </a:solidFill>
                <a:latin typeface="Poppins"/>
                <a:ea typeface="Poppins"/>
                <a:cs typeface="Poppins"/>
                <a:sym typeface="Poppins"/>
              </a:rPr>
              <a:t>Usando firmas digitales o HMAC (Hash-based Message Authentication Code) para validar que el cuerpo de la petición o respuesta no fue modificado.</a:t>
            </a:r>
          </a:p>
          <a:p>
            <a:pPr algn="ctr">
              <a:lnSpc>
                <a:spcPts val="3079"/>
              </a:lnSpc>
              <a:spcBef>
                <a:spcPct val="0"/>
              </a:spcBef>
            </a:pPr>
            <a:r>
              <a:rPr lang="en-US" sz="2199">
                <a:solidFill>
                  <a:srgbClr val="FFFFFF"/>
                </a:solidFill>
                <a:latin typeface="Poppins"/>
                <a:ea typeface="Poppins"/>
                <a:cs typeface="Poppins"/>
                <a:sym typeface="Poppins"/>
              </a:rPr>
              <a:t>En algunos sistemas, los tokens JWT incluyen una firma digital (firma HMAC o RSA) que garantiza que el contenido del token no fue alterado.</a:t>
            </a:r>
          </a:p>
        </p:txBody>
      </p:sp>
      <p:sp>
        <p:nvSpPr>
          <p:cNvPr name="TextBox 10" id="10"/>
          <p:cNvSpPr txBox="true"/>
          <p:nvPr/>
        </p:nvSpPr>
        <p:spPr>
          <a:xfrm rot="0">
            <a:off x="3073011" y="5268231"/>
            <a:ext cx="12141979" cy="669942"/>
          </a:xfrm>
          <a:prstGeom prst="rect">
            <a:avLst/>
          </a:prstGeom>
        </p:spPr>
        <p:txBody>
          <a:bodyPr anchor="t" rtlCol="false" tIns="0" lIns="0" bIns="0" rIns="0">
            <a:spAutoFit/>
          </a:bodyPr>
          <a:lstStyle/>
          <a:p>
            <a:pPr algn="ctr">
              <a:lnSpc>
                <a:spcPts val="5490"/>
              </a:lnSpc>
              <a:spcBef>
                <a:spcPct val="0"/>
              </a:spcBef>
            </a:pPr>
            <a:r>
              <a:rPr lang="en-US" sz="3921">
                <a:solidFill>
                  <a:srgbClr val="FF914D"/>
                </a:solidFill>
                <a:latin typeface="HK Modular"/>
                <a:ea typeface="HK Modular"/>
                <a:cs typeface="HK Modular"/>
                <a:sym typeface="HK Modular"/>
              </a:rPr>
              <a:t>COMO SE APLICA EN UNA API REST</a:t>
            </a:r>
          </a:p>
        </p:txBody>
      </p:sp>
      <p:sp>
        <p:nvSpPr>
          <p:cNvPr name="Freeform 11" id="11"/>
          <p:cNvSpPr/>
          <p:nvPr/>
        </p:nvSpPr>
        <p:spPr>
          <a:xfrm flipH="false" flipV="false" rot="0">
            <a:off x="8185038" y="-147998"/>
            <a:ext cx="2339794" cy="2339794"/>
          </a:xfrm>
          <a:custGeom>
            <a:avLst/>
            <a:gdLst/>
            <a:ahLst/>
            <a:cxnLst/>
            <a:rect r="r" b="b" t="t" l="l"/>
            <a:pathLst>
              <a:path h="2339794" w="2339794">
                <a:moveTo>
                  <a:pt x="0" y="0"/>
                </a:moveTo>
                <a:lnTo>
                  <a:pt x="2339794" y="0"/>
                </a:lnTo>
                <a:lnTo>
                  <a:pt x="2339794" y="2339794"/>
                </a:lnTo>
                <a:lnTo>
                  <a:pt x="0" y="2339794"/>
                </a:lnTo>
                <a:lnTo>
                  <a:pt x="0" y="0"/>
                </a:lnTo>
                <a:close/>
              </a:path>
            </a:pathLst>
          </a:custGeom>
          <a:blipFill>
            <a:blip r:embed="rId3"/>
            <a:stretch>
              <a:fillRect l="0" t="0" r="0" b="0"/>
            </a:stretch>
          </a:blipFill>
        </p:spPr>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C800AE">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4366713" y="7590610"/>
            <a:ext cx="9320153" cy="1028646"/>
          </a:xfrm>
          <a:custGeom>
            <a:avLst/>
            <a:gdLst/>
            <a:ahLst/>
            <a:cxnLst/>
            <a:rect r="r" b="b" t="t" l="l"/>
            <a:pathLst>
              <a:path h="1028646" w="9320153">
                <a:moveTo>
                  <a:pt x="0" y="0"/>
                </a:moveTo>
                <a:lnTo>
                  <a:pt x="9320153" y="0"/>
                </a:lnTo>
                <a:lnTo>
                  <a:pt x="9320153" y="1028646"/>
                </a:lnTo>
                <a:lnTo>
                  <a:pt x="0" y="1028646"/>
                </a:lnTo>
                <a:lnTo>
                  <a:pt x="0" y="0"/>
                </a:lnTo>
                <a:close/>
              </a:path>
            </a:pathLst>
          </a:custGeom>
          <a:blipFill>
            <a:blip r:embed="rId3"/>
            <a:stretch>
              <a:fillRect l="0" t="0" r="0" b="0"/>
            </a:stretch>
          </a:blipFill>
        </p:spPr>
      </p:sp>
      <p:sp>
        <p:nvSpPr>
          <p:cNvPr name="TextBox 7" id="7"/>
          <p:cNvSpPr txBox="true"/>
          <p:nvPr/>
        </p:nvSpPr>
        <p:spPr>
          <a:xfrm rot="0">
            <a:off x="3526388" y="2106071"/>
            <a:ext cx="11235223" cy="721230"/>
          </a:xfrm>
          <a:prstGeom prst="rect">
            <a:avLst/>
          </a:prstGeom>
        </p:spPr>
        <p:txBody>
          <a:bodyPr anchor="t" rtlCol="false" tIns="0" lIns="0" bIns="0" rIns="0">
            <a:spAutoFit/>
          </a:bodyPr>
          <a:lstStyle/>
          <a:p>
            <a:pPr algn="ctr">
              <a:lnSpc>
                <a:spcPts val="5876"/>
              </a:lnSpc>
              <a:spcBef>
                <a:spcPct val="0"/>
              </a:spcBef>
            </a:pPr>
            <a:r>
              <a:rPr lang="en-US" sz="4197">
                <a:solidFill>
                  <a:srgbClr val="FF009D"/>
                </a:solidFill>
                <a:latin typeface="HK Modular"/>
                <a:ea typeface="HK Modular"/>
                <a:cs typeface="HK Modular"/>
                <a:sym typeface="HK Modular"/>
              </a:rPr>
              <a:t>SSL</a:t>
            </a:r>
          </a:p>
        </p:txBody>
      </p:sp>
      <p:sp>
        <p:nvSpPr>
          <p:cNvPr name="TextBox 8" id="8"/>
          <p:cNvSpPr txBox="true"/>
          <p:nvPr/>
        </p:nvSpPr>
        <p:spPr>
          <a:xfrm rot="0">
            <a:off x="1538803" y="3069040"/>
            <a:ext cx="14975972" cy="1172845"/>
          </a:xfrm>
          <a:prstGeom prst="rect">
            <a:avLst/>
          </a:prstGeom>
        </p:spPr>
        <p:txBody>
          <a:bodyPr anchor="t" rtlCol="false" tIns="0" lIns="0" bIns="0" rIns="0">
            <a:spAutoFit/>
          </a:bodyPr>
          <a:lstStyle/>
          <a:p>
            <a:pPr algn="ctr">
              <a:lnSpc>
                <a:spcPts val="3079"/>
              </a:lnSpc>
              <a:spcBef>
                <a:spcPct val="0"/>
              </a:spcBef>
            </a:pPr>
            <a:r>
              <a:rPr lang="en-US" sz="2199">
                <a:solidFill>
                  <a:srgbClr val="FFFFFF"/>
                </a:solidFill>
                <a:latin typeface="Poppins"/>
                <a:ea typeface="Poppins"/>
                <a:cs typeface="Poppins"/>
                <a:sym typeface="Poppins"/>
              </a:rPr>
              <a:t>SSL/TLS cifra la comunicación entre cliente y servidor para:</a:t>
            </a:r>
          </a:p>
          <a:p>
            <a:pPr algn="ctr">
              <a:lnSpc>
                <a:spcPts val="3079"/>
              </a:lnSpc>
              <a:spcBef>
                <a:spcPct val="0"/>
              </a:spcBef>
            </a:pPr>
            <a:r>
              <a:rPr lang="en-US" sz="2199">
                <a:solidFill>
                  <a:srgbClr val="FFFFFF"/>
                </a:solidFill>
                <a:latin typeface="Poppins"/>
                <a:ea typeface="Poppins"/>
                <a:cs typeface="Poppins"/>
                <a:sym typeface="Poppins"/>
              </a:rPr>
              <a:t>Evitar que alguien intercepte los datos (man-in-the-middle).</a:t>
            </a:r>
          </a:p>
          <a:p>
            <a:pPr algn="ctr">
              <a:lnSpc>
                <a:spcPts val="3079"/>
              </a:lnSpc>
              <a:spcBef>
                <a:spcPct val="0"/>
              </a:spcBef>
            </a:pPr>
            <a:r>
              <a:rPr lang="en-US" sz="2199">
                <a:solidFill>
                  <a:srgbClr val="FFFFFF"/>
                </a:solidFill>
                <a:latin typeface="Poppins"/>
                <a:ea typeface="Poppins"/>
                <a:cs typeface="Poppins"/>
                <a:sym typeface="Poppins"/>
              </a:rPr>
              <a:t>Garantizar confidencialidad e integridad.</a:t>
            </a:r>
          </a:p>
        </p:txBody>
      </p:sp>
      <p:sp>
        <p:nvSpPr>
          <p:cNvPr name="TextBox 9" id="9"/>
          <p:cNvSpPr txBox="true"/>
          <p:nvPr/>
        </p:nvSpPr>
        <p:spPr>
          <a:xfrm rot="0">
            <a:off x="1538803" y="5885080"/>
            <a:ext cx="14975972" cy="782320"/>
          </a:xfrm>
          <a:prstGeom prst="rect">
            <a:avLst/>
          </a:prstGeom>
        </p:spPr>
        <p:txBody>
          <a:bodyPr anchor="t" rtlCol="false" tIns="0" lIns="0" bIns="0" rIns="0">
            <a:spAutoFit/>
          </a:bodyPr>
          <a:lstStyle/>
          <a:p>
            <a:pPr algn="ctr">
              <a:lnSpc>
                <a:spcPts val="3079"/>
              </a:lnSpc>
              <a:spcBef>
                <a:spcPct val="0"/>
              </a:spcBef>
            </a:pPr>
            <a:r>
              <a:rPr lang="en-US" sz="2199">
                <a:solidFill>
                  <a:srgbClr val="FFFFFF"/>
                </a:solidFill>
                <a:latin typeface="Poppins"/>
                <a:ea typeface="Poppins"/>
                <a:cs typeface="Poppins"/>
                <a:sym typeface="Poppins"/>
              </a:rPr>
              <a:t>Siempre se debe usar https:// en lugar de http://.</a:t>
            </a:r>
          </a:p>
          <a:p>
            <a:pPr algn="ctr">
              <a:lnSpc>
                <a:spcPts val="3079"/>
              </a:lnSpc>
              <a:spcBef>
                <a:spcPct val="0"/>
              </a:spcBef>
            </a:pPr>
            <a:r>
              <a:rPr lang="en-US" sz="2199">
                <a:solidFill>
                  <a:srgbClr val="FFFFFF"/>
                </a:solidFill>
                <a:latin typeface="Poppins"/>
                <a:ea typeface="Poppins"/>
                <a:cs typeface="Poppins"/>
                <a:sym typeface="Poppins"/>
              </a:rPr>
              <a:t>Se configura un certificado digital (de Let's Encrypt o CA).</a:t>
            </a:r>
          </a:p>
        </p:txBody>
      </p:sp>
      <p:sp>
        <p:nvSpPr>
          <p:cNvPr name="TextBox 10" id="10"/>
          <p:cNvSpPr txBox="true"/>
          <p:nvPr/>
        </p:nvSpPr>
        <p:spPr>
          <a:xfrm rot="0">
            <a:off x="3073011" y="4770429"/>
            <a:ext cx="12141979" cy="669942"/>
          </a:xfrm>
          <a:prstGeom prst="rect">
            <a:avLst/>
          </a:prstGeom>
        </p:spPr>
        <p:txBody>
          <a:bodyPr anchor="t" rtlCol="false" tIns="0" lIns="0" bIns="0" rIns="0">
            <a:spAutoFit/>
          </a:bodyPr>
          <a:lstStyle/>
          <a:p>
            <a:pPr algn="ctr">
              <a:lnSpc>
                <a:spcPts val="5490"/>
              </a:lnSpc>
              <a:spcBef>
                <a:spcPct val="0"/>
              </a:spcBef>
            </a:pPr>
            <a:r>
              <a:rPr lang="en-US" sz="3921">
                <a:solidFill>
                  <a:srgbClr val="FF914D"/>
                </a:solidFill>
                <a:latin typeface="HK Modular"/>
                <a:ea typeface="HK Modular"/>
                <a:cs typeface="HK Modular"/>
                <a:sym typeface="HK Modular"/>
              </a:rPr>
              <a:t>COMO SE APLICA EN UNA API REST</a:t>
            </a:r>
          </a:p>
        </p:txBody>
      </p:sp>
      <p:sp>
        <p:nvSpPr>
          <p:cNvPr name="Freeform 11" id="11"/>
          <p:cNvSpPr/>
          <p:nvPr/>
        </p:nvSpPr>
        <p:spPr>
          <a:xfrm flipH="false" flipV="false" rot="0">
            <a:off x="8185038" y="-147998"/>
            <a:ext cx="2339794" cy="2339794"/>
          </a:xfrm>
          <a:custGeom>
            <a:avLst/>
            <a:gdLst/>
            <a:ahLst/>
            <a:cxnLst/>
            <a:rect r="r" b="b" t="t" l="l"/>
            <a:pathLst>
              <a:path h="2339794" w="2339794">
                <a:moveTo>
                  <a:pt x="0" y="0"/>
                </a:moveTo>
                <a:lnTo>
                  <a:pt x="2339794" y="0"/>
                </a:lnTo>
                <a:lnTo>
                  <a:pt x="2339794" y="2339794"/>
                </a:lnTo>
                <a:lnTo>
                  <a:pt x="0" y="2339794"/>
                </a:lnTo>
                <a:lnTo>
                  <a:pt x="0" y="0"/>
                </a:lnTo>
                <a:close/>
              </a:path>
            </a:pathLst>
          </a:custGeom>
          <a:blipFill>
            <a:blip r:embed="rId4"/>
            <a:stretch>
              <a:fillRect l="0" t="0" r="0" b="0"/>
            </a:stretch>
          </a:blipFill>
        </p:spPr>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C800AE">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436600" y="7504962"/>
            <a:ext cx="4036642" cy="1038271"/>
          </a:xfrm>
          <a:custGeom>
            <a:avLst/>
            <a:gdLst/>
            <a:ahLst/>
            <a:cxnLst/>
            <a:rect r="r" b="b" t="t" l="l"/>
            <a:pathLst>
              <a:path h="1038271" w="4036642">
                <a:moveTo>
                  <a:pt x="0" y="0"/>
                </a:moveTo>
                <a:lnTo>
                  <a:pt x="4036642" y="0"/>
                </a:lnTo>
                <a:lnTo>
                  <a:pt x="4036642" y="1038271"/>
                </a:lnTo>
                <a:lnTo>
                  <a:pt x="0" y="1038271"/>
                </a:lnTo>
                <a:lnTo>
                  <a:pt x="0" y="0"/>
                </a:lnTo>
                <a:close/>
              </a:path>
            </a:pathLst>
          </a:custGeom>
          <a:blipFill>
            <a:blip r:embed="rId3"/>
            <a:stretch>
              <a:fillRect l="0" t="0" r="0" b="0"/>
            </a:stretch>
          </a:blipFill>
        </p:spPr>
      </p:sp>
      <p:sp>
        <p:nvSpPr>
          <p:cNvPr name="Freeform 7" id="7"/>
          <p:cNvSpPr/>
          <p:nvPr/>
        </p:nvSpPr>
        <p:spPr>
          <a:xfrm flipH="false" flipV="false" rot="0">
            <a:off x="7168527" y="7471336"/>
            <a:ext cx="4169680" cy="1039944"/>
          </a:xfrm>
          <a:custGeom>
            <a:avLst/>
            <a:gdLst/>
            <a:ahLst/>
            <a:cxnLst/>
            <a:rect r="r" b="b" t="t" l="l"/>
            <a:pathLst>
              <a:path h="1039944" w="4169680">
                <a:moveTo>
                  <a:pt x="0" y="0"/>
                </a:moveTo>
                <a:lnTo>
                  <a:pt x="4169680" y="0"/>
                </a:lnTo>
                <a:lnTo>
                  <a:pt x="4169680" y="1039944"/>
                </a:lnTo>
                <a:lnTo>
                  <a:pt x="0" y="1039944"/>
                </a:lnTo>
                <a:lnTo>
                  <a:pt x="0" y="0"/>
                </a:lnTo>
                <a:close/>
              </a:path>
            </a:pathLst>
          </a:custGeom>
          <a:blipFill>
            <a:blip r:embed="rId4"/>
            <a:stretch>
              <a:fillRect l="0" t="0" r="0" b="0"/>
            </a:stretch>
          </a:blipFill>
        </p:spPr>
      </p:sp>
      <p:sp>
        <p:nvSpPr>
          <p:cNvPr name="Freeform 8" id="8"/>
          <p:cNvSpPr/>
          <p:nvPr/>
        </p:nvSpPr>
        <p:spPr>
          <a:xfrm flipH="false" flipV="false" rot="-2205771">
            <a:off x="5705191" y="7930329"/>
            <a:ext cx="1231386" cy="464848"/>
          </a:xfrm>
          <a:custGeom>
            <a:avLst/>
            <a:gdLst/>
            <a:ahLst/>
            <a:cxnLst/>
            <a:rect r="r" b="b" t="t" l="l"/>
            <a:pathLst>
              <a:path h="464848" w="1231386">
                <a:moveTo>
                  <a:pt x="0" y="0"/>
                </a:moveTo>
                <a:lnTo>
                  <a:pt x="1231386" y="0"/>
                </a:lnTo>
                <a:lnTo>
                  <a:pt x="1231386" y="464848"/>
                </a:lnTo>
                <a:lnTo>
                  <a:pt x="0" y="46484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2205771">
            <a:off x="11766287" y="7758884"/>
            <a:ext cx="1231386" cy="464848"/>
          </a:xfrm>
          <a:custGeom>
            <a:avLst/>
            <a:gdLst/>
            <a:ahLst/>
            <a:cxnLst/>
            <a:rect r="r" b="b" t="t" l="l"/>
            <a:pathLst>
              <a:path h="464848" w="1231386">
                <a:moveTo>
                  <a:pt x="0" y="0"/>
                </a:moveTo>
                <a:lnTo>
                  <a:pt x="1231387" y="0"/>
                </a:lnTo>
                <a:lnTo>
                  <a:pt x="1231387" y="464848"/>
                </a:lnTo>
                <a:lnTo>
                  <a:pt x="0" y="46484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13233406" y="7471336"/>
            <a:ext cx="4618347" cy="992223"/>
          </a:xfrm>
          <a:custGeom>
            <a:avLst/>
            <a:gdLst/>
            <a:ahLst/>
            <a:cxnLst/>
            <a:rect r="r" b="b" t="t" l="l"/>
            <a:pathLst>
              <a:path h="992223" w="4618347">
                <a:moveTo>
                  <a:pt x="0" y="0"/>
                </a:moveTo>
                <a:lnTo>
                  <a:pt x="4618347" y="0"/>
                </a:lnTo>
                <a:lnTo>
                  <a:pt x="4618347" y="992223"/>
                </a:lnTo>
                <a:lnTo>
                  <a:pt x="0" y="992223"/>
                </a:lnTo>
                <a:lnTo>
                  <a:pt x="0" y="0"/>
                </a:lnTo>
                <a:close/>
              </a:path>
            </a:pathLst>
          </a:custGeom>
          <a:blipFill>
            <a:blip r:embed="rId7"/>
            <a:stretch>
              <a:fillRect l="0" t="0" r="0" b="0"/>
            </a:stretch>
          </a:blipFill>
        </p:spPr>
      </p:sp>
      <p:sp>
        <p:nvSpPr>
          <p:cNvPr name="TextBox 11" id="11"/>
          <p:cNvSpPr txBox="true"/>
          <p:nvPr/>
        </p:nvSpPr>
        <p:spPr>
          <a:xfrm rot="0">
            <a:off x="3526388" y="2106071"/>
            <a:ext cx="11235223" cy="721230"/>
          </a:xfrm>
          <a:prstGeom prst="rect">
            <a:avLst/>
          </a:prstGeom>
        </p:spPr>
        <p:txBody>
          <a:bodyPr anchor="t" rtlCol="false" tIns="0" lIns="0" bIns="0" rIns="0">
            <a:spAutoFit/>
          </a:bodyPr>
          <a:lstStyle/>
          <a:p>
            <a:pPr algn="ctr">
              <a:lnSpc>
                <a:spcPts val="5876"/>
              </a:lnSpc>
              <a:spcBef>
                <a:spcPct val="0"/>
              </a:spcBef>
            </a:pPr>
            <a:r>
              <a:rPr lang="en-US" sz="4197">
                <a:solidFill>
                  <a:srgbClr val="FF009D"/>
                </a:solidFill>
                <a:latin typeface="HK Modular"/>
                <a:ea typeface="HK Modular"/>
                <a:cs typeface="HK Modular"/>
                <a:sym typeface="HK Modular"/>
              </a:rPr>
              <a:t>CORS</a:t>
            </a:r>
          </a:p>
        </p:txBody>
      </p:sp>
      <p:sp>
        <p:nvSpPr>
          <p:cNvPr name="TextBox 12" id="12"/>
          <p:cNvSpPr txBox="true"/>
          <p:nvPr/>
        </p:nvSpPr>
        <p:spPr>
          <a:xfrm rot="0">
            <a:off x="1538803" y="3069040"/>
            <a:ext cx="14975972" cy="1563370"/>
          </a:xfrm>
          <a:prstGeom prst="rect">
            <a:avLst/>
          </a:prstGeom>
        </p:spPr>
        <p:txBody>
          <a:bodyPr anchor="t" rtlCol="false" tIns="0" lIns="0" bIns="0" rIns="0">
            <a:spAutoFit/>
          </a:bodyPr>
          <a:lstStyle/>
          <a:p>
            <a:pPr algn="ctr">
              <a:lnSpc>
                <a:spcPts val="3079"/>
              </a:lnSpc>
              <a:spcBef>
                <a:spcPct val="0"/>
              </a:spcBef>
            </a:pPr>
            <a:r>
              <a:rPr lang="en-US" sz="2199">
                <a:solidFill>
                  <a:srgbClr val="FFFFFF"/>
                </a:solidFill>
                <a:latin typeface="Poppins"/>
                <a:ea typeface="Poppins"/>
                <a:cs typeface="Poppins"/>
                <a:sym typeface="Poppins"/>
              </a:rPr>
              <a:t>Es un mecanismo de seguridad del navegador que controla que recursos pueden ser solicitados desde un dominio diferente al del servidor original, impidiendo que una pagina web cargada en un dominio haga peticiones a otro dominio a mejos que el servidor lo permita, es fundamental en API REST modernas sobre todo en comunicacion front - back</a:t>
            </a:r>
          </a:p>
        </p:txBody>
      </p:sp>
      <p:sp>
        <p:nvSpPr>
          <p:cNvPr name="TextBox 13" id="13"/>
          <p:cNvSpPr txBox="true"/>
          <p:nvPr/>
        </p:nvSpPr>
        <p:spPr>
          <a:xfrm rot="0">
            <a:off x="1538803" y="6146091"/>
            <a:ext cx="14975972" cy="391795"/>
          </a:xfrm>
          <a:prstGeom prst="rect">
            <a:avLst/>
          </a:prstGeom>
        </p:spPr>
        <p:txBody>
          <a:bodyPr anchor="t" rtlCol="false" tIns="0" lIns="0" bIns="0" rIns="0">
            <a:spAutoFit/>
          </a:bodyPr>
          <a:lstStyle/>
          <a:p>
            <a:pPr algn="ctr">
              <a:lnSpc>
                <a:spcPts val="3079"/>
              </a:lnSpc>
              <a:spcBef>
                <a:spcPct val="0"/>
              </a:spcBef>
            </a:pPr>
            <a:r>
              <a:rPr lang="en-US" sz="2199">
                <a:solidFill>
                  <a:srgbClr val="FFFFFF"/>
                </a:solidFill>
                <a:latin typeface="Poppins"/>
                <a:ea typeface="Poppins"/>
                <a:cs typeface="Poppins"/>
                <a:sym typeface="Poppins"/>
              </a:rPr>
              <a:t>Cuando haces una peticion desde un dominio distinto, el navegador agrega cabeceras CORS especiales</a:t>
            </a:r>
          </a:p>
        </p:txBody>
      </p:sp>
      <p:sp>
        <p:nvSpPr>
          <p:cNvPr name="TextBox 14" id="14"/>
          <p:cNvSpPr txBox="true"/>
          <p:nvPr/>
        </p:nvSpPr>
        <p:spPr>
          <a:xfrm rot="0">
            <a:off x="3073011" y="5238024"/>
            <a:ext cx="12141979" cy="669942"/>
          </a:xfrm>
          <a:prstGeom prst="rect">
            <a:avLst/>
          </a:prstGeom>
        </p:spPr>
        <p:txBody>
          <a:bodyPr anchor="t" rtlCol="false" tIns="0" lIns="0" bIns="0" rIns="0">
            <a:spAutoFit/>
          </a:bodyPr>
          <a:lstStyle/>
          <a:p>
            <a:pPr algn="ctr">
              <a:lnSpc>
                <a:spcPts val="5490"/>
              </a:lnSpc>
              <a:spcBef>
                <a:spcPct val="0"/>
              </a:spcBef>
            </a:pPr>
            <a:r>
              <a:rPr lang="en-US" sz="3921">
                <a:solidFill>
                  <a:srgbClr val="FF914D"/>
                </a:solidFill>
                <a:latin typeface="HK Modular"/>
                <a:ea typeface="HK Modular"/>
                <a:cs typeface="HK Modular"/>
                <a:sym typeface="HK Modular"/>
              </a:rPr>
              <a:t>COMO FUNCIONA</a:t>
            </a:r>
          </a:p>
        </p:txBody>
      </p:sp>
      <p:sp>
        <p:nvSpPr>
          <p:cNvPr name="TextBox 15" id="15"/>
          <p:cNvSpPr txBox="true"/>
          <p:nvPr/>
        </p:nvSpPr>
        <p:spPr>
          <a:xfrm rot="0">
            <a:off x="2045442" y="8790883"/>
            <a:ext cx="2609704" cy="997946"/>
          </a:xfrm>
          <a:prstGeom prst="rect">
            <a:avLst/>
          </a:prstGeom>
        </p:spPr>
        <p:txBody>
          <a:bodyPr anchor="t" rtlCol="false" tIns="0" lIns="0" bIns="0" rIns="0">
            <a:spAutoFit/>
          </a:bodyPr>
          <a:lstStyle/>
          <a:p>
            <a:pPr algn="ctr">
              <a:lnSpc>
                <a:spcPts val="1943"/>
              </a:lnSpc>
              <a:spcBef>
                <a:spcPct val="0"/>
              </a:spcBef>
            </a:pPr>
            <a:r>
              <a:rPr lang="en-US" sz="1388">
                <a:solidFill>
                  <a:srgbClr val="FFFFFF"/>
                </a:solidFill>
                <a:latin typeface="Poppins"/>
                <a:ea typeface="Poppins"/>
                <a:cs typeface="Poppins"/>
                <a:sym typeface="Poppins"/>
              </a:rPr>
              <a:t>El navegador no envia la peticion directamente, primero hace una pre solicitud</a:t>
            </a:r>
          </a:p>
        </p:txBody>
      </p:sp>
      <p:sp>
        <p:nvSpPr>
          <p:cNvPr name="TextBox 16" id="16"/>
          <p:cNvSpPr txBox="true"/>
          <p:nvPr/>
        </p:nvSpPr>
        <p:spPr>
          <a:xfrm rot="0">
            <a:off x="13679950" y="8809933"/>
            <a:ext cx="3725259" cy="644223"/>
          </a:xfrm>
          <a:prstGeom prst="rect">
            <a:avLst/>
          </a:prstGeom>
        </p:spPr>
        <p:txBody>
          <a:bodyPr anchor="t" rtlCol="false" tIns="0" lIns="0" bIns="0" rIns="0">
            <a:spAutoFit/>
          </a:bodyPr>
          <a:lstStyle/>
          <a:p>
            <a:pPr algn="ctr">
              <a:lnSpc>
                <a:spcPts val="1699"/>
              </a:lnSpc>
              <a:spcBef>
                <a:spcPct val="0"/>
              </a:spcBef>
            </a:pPr>
            <a:r>
              <a:rPr lang="en-US" sz="1213">
                <a:solidFill>
                  <a:srgbClr val="FFFFFF"/>
                </a:solidFill>
                <a:latin typeface="Poppins"/>
                <a:ea typeface="Poppins"/>
                <a:cs typeface="Poppins"/>
                <a:sym typeface="Poppins"/>
              </a:rPr>
              <a:t>El servidor responde con el access control, si el navegador recibe esas cabeceras permite la peticion si no la bloquea</a:t>
            </a:r>
          </a:p>
        </p:txBody>
      </p:sp>
      <p:sp>
        <p:nvSpPr>
          <p:cNvPr name="Freeform 17" id="17"/>
          <p:cNvSpPr/>
          <p:nvPr/>
        </p:nvSpPr>
        <p:spPr>
          <a:xfrm flipH="false" flipV="false" rot="0">
            <a:off x="8185038" y="-147998"/>
            <a:ext cx="2339794" cy="2339794"/>
          </a:xfrm>
          <a:custGeom>
            <a:avLst/>
            <a:gdLst/>
            <a:ahLst/>
            <a:cxnLst/>
            <a:rect r="r" b="b" t="t" l="l"/>
            <a:pathLst>
              <a:path h="2339794" w="2339794">
                <a:moveTo>
                  <a:pt x="0" y="0"/>
                </a:moveTo>
                <a:lnTo>
                  <a:pt x="2339794" y="0"/>
                </a:lnTo>
                <a:lnTo>
                  <a:pt x="2339794" y="2339794"/>
                </a:lnTo>
                <a:lnTo>
                  <a:pt x="0" y="2339794"/>
                </a:lnTo>
                <a:lnTo>
                  <a:pt x="0" y="0"/>
                </a:lnTo>
                <a:close/>
              </a:path>
            </a:pathLst>
          </a:custGeom>
          <a:blipFill>
            <a:blip r:embed="rId8"/>
            <a:stretch>
              <a:fillRect l="0" t="0" r="0" b="0"/>
            </a:stretch>
          </a:blipFill>
        </p:spPr>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C800AE">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3600158" y="3195907"/>
            <a:ext cx="11087684" cy="891244"/>
          </a:xfrm>
          <a:custGeom>
            <a:avLst/>
            <a:gdLst/>
            <a:ahLst/>
            <a:cxnLst/>
            <a:rect r="r" b="b" t="t" l="l"/>
            <a:pathLst>
              <a:path h="891244" w="11087684">
                <a:moveTo>
                  <a:pt x="0" y="0"/>
                </a:moveTo>
                <a:lnTo>
                  <a:pt x="11087684" y="0"/>
                </a:lnTo>
                <a:lnTo>
                  <a:pt x="11087684" y="891244"/>
                </a:lnTo>
                <a:lnTo>
                  <a:pt x="0" y="891244"/>
                </a:lnTo>
                <a:lnTo>
                  <a:pt x="0" y="0"/>
                </a:lnTo>
                <a:close/>
              </a:path>
            </a:pathLst>
          </a:custGeom>
          <a:blipFill>
            <a:blip r:embed="rId3"/>
            <a:stretch>
              <a:fillRect l="0" t="0" r="0" b="0"/>
            </a:stretch>
          </a:blipFill>
        </p:spPr>
      </p:sp>
      <p:sp>
        <p:nvSpPr>
          <p:cNvPr name="Freeform 7" id="7"/>
          <p:cNvSpPr/>
          <p:nvPr/>
        </p:nvSpPr>
        <p:spPr>
          <a:xfrm flipH="false" flipV="false" rot="0">
            <a:off x="2311260" y="6111325"/>
            <a:ext cx="5641295" cy="3863652"/>
          </a:xfrm>
          <a:custGeom>
            <a:avLst/>
            <a:gdLst/>
            <a:ahLst/>
            <a:cxnLst/>
            <a:rect r="r" b="b" t="t" l="l"/>
            <a:pathLst>
              <a:path h="3863652" w="5641295">
                <a:moveTo>
                  <a:pt x="0" y="0"/>
                </a:moveTo>
                <a:lnTo>
                  <a:pt x="5641296" y="0"/>
                </a:lnTo>
                <a:lnTo>
                  <a:pt x="5641296" y="3863653"/>
                </a:lnTo>
                <a:lnTo>
                  <a:pt x="0" y="3863653"/>
                </a:lnTo>
                <a:lnTo>
                  <a:pt x="0" y="0"/>
                </a:lnTo>
                <a:close/>
              </a:path>
            </a:pathLst>
          </a:custGeom>
          <a:blipFill>
            <a:blip r:embed="rId4"/>
            <a:stretch>
              <a:fillRect l="0" t="0" r="0" b="0"/>
            </a:stretch>
          </a:blipFill>
        </p:spPr>
      </p:sp>
      <p:sp>
        <p:nvSpPr>
          <p:cNvPr name="Freeform 8" id="8"/>
          <p:cNvSpPr/>
          <p:nvPr/>
        </p:nvSpPr>
        <p:spPr>
          <a:xfrm flipH="false" flipV="false" rot="0">
            <a:off x="10754836" y="6111325"/>
            <a:ext cx="6629168" cy="3193022"/>
          </a:xfrm>
          <a:custGeom>
            <a:avLst/>
            <a:gdLst/>
            <a:ahLst/>
            <a:cxnLst/>
            <a:rect r="r" b="b" t="t" l="l"/>
            <a:pathLst>
              <a:path h="3193022" w="6629168">
                <a:moveTo>
                  <a:pt x="0" y="0"/>
                </a:moveTo>
                <a:lnTo>
                  <a:pt x="6629168" y="0"/>
                </a:lnTo>
                <a:lnTo>
                  <a:pt x="6629168" y="3193023"/>
                </a:lnTo>
                <a:lnTo>
                  <a:pt x="0" y="3193023"/>
                </a:lnTo>
                <a:lnTo>
                  <a:pt x="0" y="0"/>
                </a:lnTo>
                <a:close/>
              </a:path>
            </a:pathLst>
          </a:custGeom>
          <a:blipFill>
            <a:blip r:embed="rId5"/>
            <a:stretch>
              <a:fillRect l="0" t="0" r="0" b="0"/>
            </a:stretch>
          </a:blipFill>
        </p:spPr>
      </p:sp>
      <p:sp>
        <p:nvSpPr>
          <p:cNvPr name="TextBox 9" id="9"/>
          <p:cNvSpPr txBox="true"/>
          <p:nvPr/>
        </p:nvSpPr>
        <p:spPr>
          <a:xfrm rot="0">
            <a:off x="3526388" y="2106071"/>
            <a:ext cx="11235223" cy="721230"/>
          </a:xfrm>
          <a:prstGeom prst="rect">
            <a:avLst/>
          </a:prstGeom>
        </p:spPr>
        <p:txBody>
          <a:bodyPr anchor="t" rtlCol="false" tIns="0" lIns="0" bIns="0" rIns="0">
            <a:spAutoFit/>
          </a:bodyPr>
          <a:lstStyle/>
          <a:p>
            <a:pPr algn="ctr">
              <a:lnSpc>
                <a:spcPts val="5876"/>
              </a:lnSpc>
              <a:spcBef>
                <a:spcPct val="0"/>
              </a:spcBef>
            </a:pPr>
            <a:r>
              <a:rPr lang="en-US" sz="4197">
                <a:solidFill>
                  <a:srgbClr val="FF009D"/>
                </a:solidFill>
                <a:latin typeface="HK Modular"/>
                <a:ea typeface="HK Modular"/>
                <a:cs typeface="HK Modular"/>
                <a:sym typeface="HK Modular"/>
              </a:rPr>
              <a:t>EJEMPLO DE ERROR CORS</a:t>
            </a:r>
          </a:p>
        </p:txBody>
      </p:sp>
      <p:sp>
        <p:nvSpPr>
          <p:cNvPr name="TextBox 10" id="10"/>
          <p:cNvSpPr txBox="true"/>
          <p:nvPr/>
        </p:nvSpPr>
        <p:spPr>
          <a:xfrm rot="0">
            <a:off x="3073011" y="4473558"/>
            <a:ext cx="12141979" cy="669942"/>
          </a:xfrm>
          <a:prstGeom prst="rect">
            <a:avLst/>
          </a:prstGeom>
        </p:spPr>
        <p:txBody>
          <a:bodyPr anchor="t" rtlCol="false" tIns="0" lIns="0" bIns="0" rIns="0">
            <a:spAutoFit/>
          </a:bodyPr>
          <a:lstStyle/>
          <a:p>
            <a:pPr algn="ctr">
              <a:lnSpc>
                <a:spcPts val="5490"/>
              </a:lnSpc>
              <a:spcBef>
                <a:spcPct val="0"/>
              </a:spcBef>
            </a:pPr>
            <a:r>
              <a:rPr lang="en-US" sz="3921">
                <a:solidFill>
                  <a:srgbClr val="FF914D"/>
                </a:solidFill>
                <a:latin typeface="HK Modular"/>
                <a:ea typeface="HK Modular"/>
                <a:cs typeface="HK Modular"/>
                <a:sym typeface="HK Modular"/>
              </a:rPr>
              <a:t>COMO HABILITARLO</a:t>
            </a:r>
          </a:p>
        </p:txBody>
      </p:sp>
      <p:sp>
        <p:nvSpPr>
          <p:cNvPr name="TextBox 11" id="11"/>
          <p:cNvSpPr txBox="true"/>
          <p:nvPr/>
        </p:nvSpPr>
        <p:spPr>
          <a:xfrm rot="0">
            <a:off x="2369463" y="5457825"/>
            <a:ext cx="5524891" cy="391795"/>
          </a:xfrm>
          <a:prstGeom prst="rect">
            <a:avLst/>
          </a:prstGeom>
        </p:spPr>
        <p:txBody>
          <a:bodyPr anchor="t" rtlCol="false" tIns="0" lIns="0" bIns="0" rIns="0">
            <a:spAutoFit/>
          </a:bodyPr>
          <a:lstStyle/>
          <a:p>
            <a:pPr algn="ctr">
              <a:lnSpc>
                <a:spcPts val="3079"/>
              </a:lnSpc>
              <a:spcBef>
                <a:spcPct val="0"/>
              </a:spcBef>
            </a:pPr>
            <a:r>
              <a:rPr lang="en-US" sz="2199">
                <a:solidFill>
                  <a:srgbClr val="FFFFFF"/>
                </a:solidFill>
                <a:latin typeface="Poppins"/>
                <a:ea typeface="Poppins"/>
                <a:cs typeface="Poppins"/>
                <a:sym typeface="Poppins"/>
              </a:rPr>
              <a:t>Con springboot a nivel global</a:t>
            </a:r>
          </a:p>
        </p:txBody>
      </p:sp>
      <p:sp>
        <p:nvSpPr>
          <p:cNvPr name="TextBox 12" id="12"/>
          <p:cNvSpPr txBox="true"/>
          <p:nvPr/>
        </p:nvSpPr>
        <p:spPr>
          <a:xfrm rot="0">
            <a:off x="11306975" y="5457825"/>
            <a:ext cx="5524891" cy="391795"/>
          </a:xfrm>
          <a:prstGeom prst="rect">
            <a:avLst/>
          </a:prstGeom>
        </p:spPr>
        <p:txBody>
          <a:bodyPr anchor="t" rtlCol="false" tIns="0" lIns="0" bIns="0" rIns="0">
            <a:spAutoFit/>
          </a:bodyPr>
          <a:lstStyle/>
          <a:p>
            <a:pPr algn="ctr">
              <a:lnSpc>
                <a:spcPts val="3079"/>
              </a:lnSpc>
              <a:spcBef>
                <a:spcPct val="0"/>
              </a:spcBef>
            </a:pPr>
            <a:r>
              <a:rPr lang="en-US" sz="2199">
                <a:solidFill>
                  <a:srgbClr val="FFFFFF"/>
                </a:solidFill>
                <a:latin typeface="Poppins"/>
                <a:ea typeface="Poppins"/>
                <a:cs typeface="Poppins"/>
                <a:sym typeface="Poppins"/>
              </a:rPr>
              <a:t>A nivel de controlador</a:t>
            </a:r>
          </a:p>
        </p:txBody>
      </p:sp>
      <p:sp>
        <p:nvSpPr>
          <p:cNvPr name="Freeform 13" id="13"/>
          <p:cNvSpPr/>
          <p:nvPr/>
        </p:nvSpPr>
        <p:spPr>
          <a:xfrm flipH="false" flipV="false" rot="0">
            <a:off x="8185038" y="-147998"/>
            <a:ext cx="2339794" cy="2339794"/>
          </a:xfrm>
          <a:custGeom>
            <a:avLst/>
            <a:gdLst/>
            <a:ahLst/>
            <a:cxnLst/>
            <a:rect r="r" b="b" t="t" l="l"/>
            <a:pathLst>
              <a:path h="2339794" w="2339794">
                <a:moveTo>
                  <a:pt x="0" y="0"/>
                </a:moveTo>
                <a:lnTo>
                  <a:pt x="2339794" y="0"/>
                </a:lnTo>
                <a:lnTo>
                  <a:pt x="2339794" y="2339794"/>
                </a:lnTo>
                <a:lnTo>
                  <a:pt x="0" y="2339794"/>
                </a:lnTo>
                <a:lnTo>
                  <a:pt x="0" y="0"/>
                </a:lnTo>
                <a:close/>
              </a:path>
            </a:pathLst>
          </a:custGeom>
          <a:blipFill>
            <a:blip r:embed="rId6"/>
            <a:stretch>
              <a:fillRect l="0" t="0" r="0" b="0"/>
            </a:stretch>
          </a:blipFill>
        </p:spPr>
      </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C800AE">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C800AE">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C800AE">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1372717" y="4132302"/>
            <a:ext cx="6745319" cy="3372660"/>
          </a:xfrm>
          <a:custGeom>
            <a:avLst/>
            <a:gdLst/>
            <a:ahLst/>
            <a:cxnLst/>
            <a:rect r="r" b="b" t="t" l="l"/>
            <a:pathLst>
              <a:path h="3372660" w="6745319">
                <a:moveTo>
                  <a:pt x="0" y="0"/>
                </a:moveTo>
                <a:lnTo>
                  <a:pt x="6745319" y="0"/>
                </a:lnTo>
                <a:lnTo>
                  <a:pt x="6745319" y="3372660"/>
                </a:lnTo>
                <a:lnTo>
                  <a:pt x="0" y="3372660"/>
                </a:lnTo>
                <a:lnTo>
                  <a:pt x="0" y="0"/>
                </a:lnTo>
                <a:close/>
              </a:path>
            </a:pathLst>
          </a:custGeom>
          <a:blipFill>
            <a:blip r:embed="rId3"/>
            <a:stretch>
              <a:fillRect l="0" t="0" r="0" b="0"/>
            </a:stretch>
          </a:blipFill>
        </p:spPr>
      </p:sp>
      <p:sp>
        <p:nvSpPr>
          <p:cNvPr name="TextBox 13" id="13"/>
          <p:cNvSpPr txBox="true"/>
          <p:nvPr/>
        </p:nvSpPr>
        <p:spPr>
          <a:xfrm rot="0">
            <a:off x="9339501" y="5221394"/>
            <a:ext cx="7681504" cy="2433724"/>
          </a:xfrm>
          <a:prstGeom prst="rect">
            <a:avLst/>
          </a:prstGeom>
        </p:spPr>
        <p:txBody>
          <a:bodyPr anchor="t" rtlCol="false" tIns="0" lIns="0" bIns="0" rIns="0">
            <a:spAutoFit/>
          </a:bodyPr>
          <a:lstStyle/>
          <a:p>
            <a:pPr algn="ctr">
              <a:lnSpc>
                <a:spcPts val="6476"/>
              </a:lnSpc>
              <a:spcBef>
                <a:spcPct val="0"/>
              </a:spcBef>
            </a:pPr>
            <a:r>
              <a:rPr lang="en-US" sz="4626">
                <a:solidFill>
                  <a:srgbClr val="FF914D"/>
                </a:solidFill>
                <a:latin typeface="HK Modular"/>
                <a:ea typeface="HK Modular"/>
                <a:cs typeface="HK Modular"/>
                <a:sym typeface="HK Modular"/>
              </a:rPr>
              <a:t>LA SESION DE AVANCE DE LABORATORIO</a:t>
            </a:r>
          </a:p>
        </p:txBody>
      </p:sp>
      <p:sp>
        <p:nvSpPr>
          <p:cNvPr name="TextBox 14" id="14"/>
          <p:cNvSpPr txBox="true"/>
          <p:nvPr/>
        </p:nvSpPr>
        <p:spPr>
          <a:xfrm rot="0">
            <a:off x="8400683" y="3925598"/>
            <a:ext cx="9559140" cy="1217902"/>
          </a:xfrm>
          <a:prstGeom prst="rect">
            <a:avLst/>
          </a:prstGeom>
        </p:spPr>
        <p:txBody>
          <a:bodyPr anchor="t" rtlCol="false" tIns="0" lIns="0" bIns="0" rIns="0">
            <a:spAutoFit/>
          </a:bodyPr>
          <a:lstStyle/>
          <a:p>
            <a:pPr algn="ctr">
              <a:lnSpc>
                <a:spcPts val="9973"/>
              </a:lnSpc>
              <a:spcBef>
                <a:spcPct val="0"/>
              </a:spcBef>
            </a:pPr>
            <a:r>
              <a:rPr lang="en-US" sz="7123">
                <a:solidFill>
                  <a:srgbClr val="FF009D"/>
                </a:solidFill>
                <a:latin typeface="HK Modular"/>
                <a:ea typeface="HK Modular"/>
                <a:cs typeface="HK Modular"/>
                <a:sym typeface="HK Modular"/>
              </a:rPr>
              <a:t>NOS VEMOS EN</a:t>
            </a:r>
          </a:p>
        </p:txBody>
      </p:sp>
      <p:sp>
        <p:nvSpPr>
          <p:cNvPr name="Freeform 15" id="15"/>
          <p:cNvSpPr/>
          <p:nvPr/>
        </p:nvSpPr>
        <p:spPr>
          <a:xfrm flipH="false" flipV="false" rot="0">
            <a:off x="11205359" y="216902"/>
            <a:ext cx="3949788" cy="3949788"/>
          </a:xfrm>
          <a:custGeom>
            <a:avLst/>
            <a:gdLst/>
            <a:ahLst/>
            <a:cxnLst/>
            <a:rect r="r" b="b" t="t" l="l"/>
            <a:pathLst>
              <a:path h="3949788" w="3949788">
                <a:moveTo>
                  <a:pt x="0" y="0"/>
                </a:moveTo>
                <a:lnTo>
                  <a:pt x="3949788" y="0"/>
                </a:lnTo>
                <a:lnTo>
                  <a:pt x="3949788" y="3949788"/>
                </a:lnTo>
                <a:lnTo>
                  <a:pt x="0" y="3949788"/>
                </a:lnTo>
                <a:lnTo>
                  <a:pt x="0" y="0"/>
                </a:lnTo>
                <a:close/>
              </a:path>
            </a:pathLst>
          </a:custGeom>
          <a:blipFill>
            <a:blip r:embed="rId4"/>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DAHDbbxllZc</dc:identifier>
  <dcterms:modified xsi:type="dcterms:W3CDTF">2011-08-01T06:04:30Z</dcterms:modified>
  <cp:revision>1</cp:revision>
  <dc:title>DOSW 1  - S09</dc:title>
</cp:coreProperties>
</file>