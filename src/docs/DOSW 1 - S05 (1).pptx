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x="18288000" cy="10287000"/>
  <p:notesSz cx="6858000" cy="9144000"/>
  <p:embeddedFontLst>
    <p:embeddedFont>
      <p:font typeface="HK Modular" charset="1" panose="00000800000000000000"/>
      <p:regular r:id="rId56"/>
    </p:embeddedFont>
    <p:embeddedFont>
      <p:font typeface="RQND Pro" charset="1" panose="00000500000000000000"/>
      <p:regular r:id="rId57"/>
    </p:embeddedFont>
    <p:embeddedFont>
      <p:font typeface="Poppins" charset="1" panose="00000500000000000000"/>
      <p:regular r:id="rId58"/>
    </p:embeddedFont>
    <p:embeddedFont>
      <p:font typeface="Poppins Bold" charset="1" panose="00000800000000000000"/>
      <p:regular r:id="rId59"/>
    </p:embeddedFont>
    <p:embeddedFont>
      <p:font typeface="Poppins Italics" charset="1" panose="00000500000000000000"/>
      <p:regular r:id="rId60"/>
    </p:embeddedFont>
    <p:embeddedFont>
      <p:font typeface="Open Sans" charset="1" panose="020B0606030504020204"/>
      <p:regular r:id="rId61"/>
    </p:embeddedFont>
    <p:embeddedFont>
      <p:font typeface="Poppins Bold Italics" charset="1" panose="00000800000000000000"/>
      <p:regular r:id="rId62"/>
    </p:embeddedFont>
    <p:embeddedFont>
      <p:font typeface="Canva Sans" charset="1" panose="020B0503030501040103"/>
      <p:regular r:id="rId6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png" Type="http://schemas.openxmlformats.org/officeDocument/2006/relationships/image"/><Relationship Id="rId4"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9.png" Type="http://schemas.openxmlformats.org/officeDocument/2006/relationships/image"/><Relationship Id="rId4"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2.png" Type="http://schemas.openxmlformats.org/officeDocument/2006/relationships/image"/><Relationship Id="rId4"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3.png" Type="http://schemas.openxmlformats.org/officeDocument/2006/relationships/image"/><Relationship Id="rId4"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4.png" Type="http://schemas.openxmlformats.org/officeDocument/2006/relationships/image"/><Relationship Id="rId4"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5.png" Type="http://schemas.openxmlformats.org/officeDocument/2006/relationships/image"/><Relationship Id="rId4"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 Id="rId4"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7.png" Type="http://schemas.openxmlformats.org/officeDocument/2006/relationships/image"/><Relationship Id="rId4"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 Id="rId4" Target="../media/image1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23.png" Type="http://schemas.openxmlformats.org/officeDocument/2006/relationships/image"/><Relationship Id="rId8" Target="../media/image24.svg" Type="http://schemas.openxmlformats.org/officeDocument/2006/relationships/image"/><Relationship Id="rId9" Target="../media/image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media/image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 Id="rId6" Target="../media/image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4.png" Type="http://schemas.openxmlformats.org/officeDocument/2006/relationships/image"/><Relationship Id="rId4" Target="../media/image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5.png" Type="http://schemas.openxmlformats.org/officeDocument/2006/relationships/image"/><Relationship Id="rId4" Target="../media/image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6.png" Type="http://schemas.openxmlformats.org/officeDocument/2006/relationships/image"/><Relationship Id="rId4" Target="../media/image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6.png" Type="http://schemas.openxmlformats.org/officeDocument/2006/relationships/image"/><Relationship Id="rId4" Target="../media/image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6.png" Type="http://schemas.openxmlformats.org/officeDocument/2006/relationships/image"/><Relationship Id="rId4" Target="../media/image6.png" Type="http://schemas.openxmlformats.org/officeDocument/2006/relationships/image"/><Relationship Id="rId5" Target="../media/image37.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38.png" Type="http://schemas.openxmlformats.org/officeDocument/2006/relationships/image"/><Relationship Id="rId5" Target="../media/image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39.png" Type="http://schemas.openxmlformats.org/officeDocument/2006/relationships/image"/><Relationship Id="rId5" Target="../media/image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40.png" Type="http://schemas.openxmlformats.org/officeDocument/2006/relationships/image"/><Relationship Id="rId5" Target="../media/image6.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41.png" Type="http://schemas.openxmlformats.org/officeDocument/2006/relationships/image"/><Relationship Id="rId5" Target="../media/image6.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42.png" Type="http://schemas.openxmlformats.org/officeDocument/2006/relationships/image"/><Relationship Id="rId5" Target="../media/image6.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43.png" Type="http://schemas.openxmlformats.org/officeDocument/2006/relationships/image"/><Relationship Id="rId5" Target="../media/image6.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44.png" Type="http://schemas.openxmlformats.org/officeDocument/2006/relationships/image"/><Relationship Id="rId5" Target="../media/image6.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45.png" Type="http://schemas.openxmlformats.org/officeDocument/2006/relationships/image"/><Relationship Id="rId5" Target="../media/image6.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46.png" Type="http://schemas.openxmlformats.org/officeDocument/2006/relationships/image"/><Relationship Id="rId5" Target="../media/image47.png" Type="http://schemas.openxmlformats.org/officeDocument/2006/relationships/image"/><Relationship Id="rId6" Target="../media/image6.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48.png" Type="http://schemas.openxmlformats.org/officeDocument/2006/relationships/image"/><Relationship Id="rId5" Target="../media/image6.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6.png" Type="http://schemas.openxmlformats.org/officeDocument/2006/relationships/image"/><Relationship Id="rId4" Target="../media/image6.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9.png" Type="http://schemas.openxmlformats.org/officeDocument/2006/relationships/image"/><Relationship Id="rId4" Target="../media/image50.png" Type="http://schemas.openxmlformats.org/officeDocument/2006/relationships/image"/><Relationship Id="rId5" Target="../media/image6.png" Type="http://schemas.openxmlformats.org/officeDocument/2006/relationships/image"/><Relationship Id="rId6" Target="../media/image51.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2.png" Type="http://schemas.openxmlformats.org/officeDocument/2006/relationships/image"/><Relationship Id="rId4" Target="../media/image6.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2" Target="../media/image53.jpeg" Type="http://schemas.openxmlformats.org/officeDocument/2006/relationships/image"/><Relationship Id="rId3" Target="../media/image54.png" Type="http://schemas.openxmlformats.org/officeDocument/2006/relationships/image"/><Relationship Id="rId4" Target="../media/image55.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 Id="rId9" Target="../media/image58.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9.png" Type="http://schemas.openxmlformats.org/officeDocument/2006/relationships/image"/><Relationship Id="rId4"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304904" y="2295809"/>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5"/>
            <a:stretch>
              <a:fillRect l="0" t="0" r="0" b="0"/>
            </a:stretch>
          </a:blipFill>
        </p:spPr>
      </p:sp>
      <p:sp>
        <p:nvSpPr>
          <p:cNvPr name="TextBox 8" id="8"/>
          <p:cNvSpPr txBox="true"/>
          <p:nvPr/>
        </p:nvSpPr>
        <p:spPr>
          <a:xfrm rot="0">
            <a:off x="8304904" y="4377652"/>
            <a:ext cx="8271372" cy="1115662"/>
          </a:xfrm>
          <a:prstGeom prst="rect">
            <a:avLst/>
          </a:prstGeom>
        </p:spPr>
        <p:txBody>
          <a:bodyPr anchor="t" rtlCol="false" tIns="0" lIns="0" bIns="0" rIns="0">
            <a:spAutoFit/>
          </a:bodyPr>
          <a:lstStyle/>
          <a:p>
            <a:pPr algn="l">
              <a:lnSpc>
                <a:spcPts val="9165"/>
              </a:lnSpc>
              <a:spcBef>
                <a:spcPct val="0"/>
              </a:spcBef>
            </a:pPr>
            <a:r>
              <a:rPr lang="en-US" sz="6546">
                <a:solidFill>
                  <a:srgbClr val="FA18C2"/>
                </a:solidFill>
                <a:latin typeface="HK Modular"/>
                <a:ea typeface="HK Modular"/>
                <a:cs typeface="HK Modular"/>
                <a:sym typeface="HK Modular"/>
              </a:rPr>
              <a:t>SEMANA 5</a:t>
            </a:r>
          </a:p>
        </p:txBody>
      </p:sp>
      <p:sp>
        <p:nvSpPr>
          <p:cNvPr name="TextBox 9" id="9"/>
          <p:cNvSpPr txBox="true"/>
          <p:nvPr/>
        </p:nvSpPr>
        <p:spPr>
          <a:xfrm rot="0">
            <a:off x="8304904" y="5916767"/>
            <a:ext cx="6621756" cy="892949"/>
          </a:xfrm>
          <a:prstGeom prst="rect">
            <a:avLst/>
          </a:prstGeom>
        </p:spPr>
        <p:txBody>
          <a:bodyPr anchor="t" rtlCol="false" tIns="0" lIns="0" bIns="0" rIns="0">
            <a:spAutoFit/>
          </a:bodyPr>
          <a:lstStyle/>
          <a:p>
            <a:pPr algn="l">
              <a:lnSpc>
                <a:spcPts val="7267"/>
              </a:lnSpc>
              <a:spcBef>
                <a:spcPct val="0"/>
              </a:spcBef>
            </a:pPr>
            <a:r>
              <a:rPr lang="en-US" sz="5191">
                <a:solidFill>
                  <a:srgbClr val="E78939"/>
                </a:solidFill>
                <a:latin typeface="HK Modular"/>
                <a:ea typeface="HK Modular"/>
                <a:cs typeface="HK Modular"/>
                <a:sym typeface="HK Modular"/>
              </a:rPr>
              <a:t>DOSW</a:t>
            </a:r>
            <a:r>
              <a:rPr lang="en-US" sz="5191">
                <a:solidFill>
                  <a:srgbClr val="E78939"/>
                </a:solidFill>
                <a:latin typeface="HK Modular"/>
                <a:ea typeface="HK Modular"/>
                <a:cs typeface="HK Modular"/>
                <a:sym typeface="HK Modular"/>
              </a:rPr>
              <a:t> 1</a:t>
            </a:r>
          </a:p>
        </p:txBody>
      </p:sp>
      <p:sp>
        <p:nvSpPr>
          <p:cNvPr name="TextBox 10" id="10"/>
          <p:cNvSpPr txBox="true"/>
          <p:nvPr/>
        </p:nvSpPr>
        <p:spPr>
          <a:xfrm rot="0">
            <a:off x="8906723" y="2356120"/>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Freeform 11" id="11"/>
          <p:cNvSpPr/>
          <p:nvPr/>
        </p:nvSpPr>
        <p:spPr>
          <a:xfrm flipH="false" flipV="false" rot="0">
            <a:off x="1338394" y="309154"/>
            <a:ext cx="6623053" cy="9668691"/>
          </a:xfrm>
          <a:custGeom>
            <a:avLst/>
            <a:gdLst/>
            <a:ahLst/>
            <a:cxnLst/>
            <a:rect r="r" b="b" t="t" l="l"/>
            <a:pathLst>
              <a:path h="9668691" w="6623053">
                <a:moveTo>
                  <a:pt x="0" y="0"/>
                </a:moveTo>
                <a:lnTo>
                  <a:pt x="6623053" y="0"/>
                </a:lnTo>
                <a:lnTo>
                  <a:pt x="6623053" y="9668692"/>
                </a:lnTo>
                <a:lnTo>
                  <a:pt x="0" y="9668692"/>
                </a:lnTo>
                <a:lnTo>
                  <a:pt x="0" y="0"/>
                </a:lnTo>
                <a:close/>
              </a:path>
            </a:pathLst>
          </a:custGeom>
          <a:blipFill>
            <a:blip r:embed="rId6"/>
            <a:stretch>
              <a:fillRect l="0" t="0" r="0" b="0"/>
            </a:stretch>
          </a:blipFill>
        </p:spPr>
      </p:sp>
      <p:sp>
        <p:nvSpPr>
          <p:cNvPr name="Freeform 12" id="12"/>
          <p:cNvSpPr/>
          <p:nvPr/>
        </p:nvSpPr>
        <p:spPr>
          <a:xfrm flipH="false" flipV="false" rot="0">
            <a:off x="2019038" y="2780169"/>
            <a:ext cx="5261765" cy="5261765"/>
          </a:xfrm>
          <a:custGeom>
            <a:avLst/>
            <a:gdLst/>
            <a:ahLst/>
            <a:cxnLst/>
            <a:rect r="r" b="b" t="t" l="l"/>
            <a:pathLst>
              <a:path h="5261765" w="5261765">
                <a:moveTo>
                  <a:pt x="0" y="0"/>
                </a:moveTo>
                <a:lnTo>
                  <a:pt x="5261765" y="0"/>
                </a:lnTo>
                <a:lnTo>
                  <a:pt x="5261765" y="5261764"/>
                </a:lnTo>
                <a:lnTo>
                  <a:pt x="0" y="5261764"/>
                </a:lnTo>
                <a:lnTo>
                  <a:pt x="0" y="0"/>
                </a:lnTo>
                <a:close/>
              </a:path>
            </a:pathLst>
          </a:custGeom>
          <a:blipFill>
            <a:blip r:embed="rId7"/>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188759" y="4542816"/>
            <a:ext cx="14301484" cy="1369531"/>
          </a:xfrm>
          <a:prstGeom prst="rect">
            <a:avLst/>
          </a:prstGeom>
        </p:spPr>
        <p:txBody>
          <a:bodyPr anchor="t" rtlCol="false" tIns="0" lIns="0" bIns="0" rIns="0">
            <a:spAutoFit/>
          </a:bodyPr>
          <a:lstStyle/>
          <a:p>
            <a:pPr algn="ctr">
              <a:lnSpc>
                <a:spcPts val="11237"/>
              </a:lnSpc>
              <a:spcBef>
                <a:spcPct val="0"/>
              </a:spcBef>
            </a:pPr>
            <a:r>
              <a:rPr lang="en-US" sz="8026">
                <a:solidFill>
                  <a:srgbClr val="FA18C2"/>
                </a:solidFill>
                <a:latin typeface="HK Modular"/>
                <a:ea typeface="HK Modular"/>
                <a:cs typeface="HK Modular"/>
                <a:sym typeface="HK Modular"/>
              </a:rPr>
              <a:t>AGILISMO</a:t>
            </a:r>
          </a:p>
        </p:txBody>
      </p:sp>
      <p:sp>
        <p:nvSpPr>
          <p:cNvPr name="Freeform 13" id="13"/>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144000" y="3534991"/>
            <a:ext cx="8115300" cy="6240114"/>
          </a:xfrm>
          <a:custGeom>
            <a:avLst/>
            <a:gdLst/>
            <a:ahLst/>
            <a:cxnLst/>
            <a:rect r="r" b="b" t="t" l="l"/>
            <a:pathLst>
              <a:path h="6240114" w="8115300">
                <a:moveTo>
                  <a:pt x="0" y="0"/>
                </a:moveTo>
                <a:lnTo>
                  <a:pt x="8115300" y="0"/>
                </a:lnTo>
                <a:lnTo>
                  <a:pt x="8115300" y="6240114"/>
                </a:lnTo>
                <a:lnTo>
                  <a:pt x="0" y="6240114"/>
                </a:lnTo>
                <a:lnTo>
                  <a:pt x="0" y="0"/>
                </a:lnTo>
                <a:close/>
              </a:path>
            </a:pathLst>
          </a:custGeom>
          <a:blipFill>
            <a:blip r:embed="rId3"/>
            <a:stretch>
              <a:fillRect l="0" t="0" r="0" b="0"/>
            </a:stretch>
          </a:blipFill>
        </p:spPr>
      </p:sp>
      <p:sp>
        <p:nvSpPr>
          <p:cNvPr name="TextBox 7" id="7"/>
          <p:cNvSpPr txBox="true"/>
          <p:nvPr/>
        </p:nvSpPr>
        <p:spPr>
          <a:xfrm rot="0">
            <a:off x="1028700" y="1816063"/>
            <a:ext cx="16230600" cy="993012"/>
          </a:xfrm>
          <a:prstGeom prst="rect">
            <a:avLst/>
          </a:prstGeom>
        </p:spPr>
        <p:txBody>
          <a:bodyPr anchor="t" rtlCol="false" tIns="0" lIns="0" bIns="0" rIns="0">
            <a:spAutoFit/>
          </a:bodyPr>
          <a:lstStyle/>
          <a:p>
            <a:pPr algn="ctr">
              <a:lnSpc>
                <a:spcPts val="8072"/>
              </a:lnSpc>
              <a:spcBef>
                <a:spcPct val="0"/>
              </a:spcBef>
            </a:pPr>
            <a:r>
              <a:rPr lang="en-US" sz="5766">
                <a:solidFill>
                  <a:srgbClr val="F800C0"/>
                </a:solidFill>
                <a:latin typeface="HK Modular"/>
                <a:ea typeface="HK Modular"/>
                <a:cs typeface="HK Modular"/>
                <a:sym typeface="HK Modular"/>
              </a:rPr>
              <a:t>¿QUÉ ES LO TRADICIONAL?</a:t>
            </a:r>
          </a:p>
        </p:txBody>
      </p:sp>
      <p:sp>
        <p:nvSpPr>
          <p:cNvPr name="TextBox 8" id="8"/>
          <p:cNvSpPr txBox="true"/>
          <p:nvPr/>
        </p:nvSpPr>
        <p:spPr>
          <a:xfrm rot="0">
            <a:off x="1416928" y="4733447"/>
            <a:ext cx="6719325" cy="2299563"/>
          </a:xfrm>
          <a:prstGeom prst="rect">
            <a:avLst/>
          </a:prstGeom>
        </p:spPr>
        <p:txBody>
          <a:bodyPr anchor="t" rtlCol="false" tIns="0" lIns="0" bIns="0" rIns="0">
            <a:spAutoFit/>
          </a:bodyPr>
          <a:lstStyle/>
          <a:p>
            <a:pPr algn="ctr">
              <a:lnSpc>
                <a:spcPts val="4502"/>
              </a:lnSpc>
              <a:spcBef>
                <a:spcPct val="0"/>
              </a:spcBef>
            </a:pPr>
            <a:r>
              <a:rPr lang="en-US" sz="3216">
                <a:solidFill>
                  <a:srgbClr val="FFFFFF"/>
                </a:solidFill>
                <a:latin typeface="Poppins"/>
                <a:ea typeface="Poppins"/>
                <a:cs typeface="Poppins"/>
                <a:sym typeface="Poppins"/>
              </a:rPr>
              <a:t>Es un enfoque de gestión de proyectos con diferentes fases que se ejecutan de manera secuencial</a:t>
            </a:r>
          </a:p>
        </p:txBody>
      </p:sp>
      <p:sp>
        <p:nvSpPr>
          <p:cNvPr name="TextBox 9" id="9"/>
          <p:cNvSpPr txBox="true"/>
          <p:nvPr/>
        </p:nvSpPr>
        <p:spPr>
          <a:xfrm rot="0">
            <a:off x="2424675" y="3795959"/>
            <a:ext cx="6719325" cy="585063"/>
          </a:xfrm>
          <a:prstGeom prst="rect">
            <a:avLst/>
          </a:prstGeom>
        </p:spPr>
        <p:txBody>
          <a:bodyPr anchor="t" rtlCol="false" tIns="0" lIns="0" bIns="0" rIns="0">
            <a:spAutoFit/>
          </a:bodyPr>
          <a:lstStyle/>
          <a:p>
            <a:pPr algn="l">
              <a:lnSpc>
                <a:spcPts val="4502"/>
              </a:lnSpc>
              <a:spcBef>
                <a:spcPct val="0"/>
              </a:spcBef>
            </a:pPr>
            <a:r>
              <a:rPr lang="en-US" b="true" sz="3216">
                <a:solidFill>
                  <a:srgbClr val="E78939"/>
                </a:solidFill>
                <a:latin typeface="Poppins Bold"/>
                <a:ea typeface="Poppins Bold"/>
                <a:cs typeface="Poppins Bold"/>
                <a:sym typeface="Poppins Bold"/>
              </a:rPr>
              <a:t>Waterfall</a:t>
            </a:r>
            <a:r>
              <a:rPr lang="en-US" sz="3216">
                <a:solidFill>
                  <a:srgbClr val="E78939"/>
                </a:solidFill>
                <a:latin typeface="Poppins"/>
                <a:ea typeface="Poppins"/>
                <a:cs typeface="Poppins"/>
                <a:sym typeface="Poppins"/>
              </a:rPr>
              <a:t> (Cascada)</a:t>
            </a:r>
          </a:p>
        </p:txBody>
      </p:sp>
      <p:sp>
        <p:nvSpPr>
          <p:cNvPr name="TextBox 10" id="10"/>
          <p:cNvSpPr txBox="true"/>
          <p:nvPr/>
        </p:nvSpPr>
        <p:spPr>
          <a:xfrm rot="0">
            <a:off x="443832" y="7967117"/>
            <a:ext cx="9032031" cy="1291183"/>
          </a:xfrm>
          <a:prstGeom prst="rect">
            <a:avLst/>
          </a:prstGeom>
        </p:spPr>
        <p:txBody>
          <a:bodyPr anchor="t" rtlCol="false" tIns="0" lIns="0" bIns="0" rIns="0">
            <a:spAutoFit/>
          </a:bodyPr>
          <a:lstStyle/>
          <a:p>
            <a:pPr algn="l" marL="521624" indent="-260812" lvl="1">
              <a:lnSpc>
                <a:spcPts val="3382"/>
              </a:lnSpc>
              <a:buFont typeface="Arial"/>
              <a:buChar char="•"/>
            </a:pPr>
            <a:r>
              <a:rPr lang="en-US" sz="2416">
                <a:solidFill>
                  <a:srgbClr val="FFFFFF"/>
                </a:solidFill>
                <a:latin typeface="Poppins"/>
                <a:ea typeface="Poppins"/>
                <a:cs typeface="Poppins"/>
                <a:sym typeface="Poppins"/>
              </a:rPr>
              <a:t>Proyectos con requerimientos muy bien definidos y resultados predecibles.</a:t>
            </a:r>
          </a:p>
          <a:p>
            <a:pPr algn="l" marL="521624" indent="-260812" lvl="1">
              <a:lnSpc>
                <a:spcPts val="3382"/>
              </a:lnSpc>
              <a:buFont typeface="Arial"/>
              <a:buChar char="•"/>
            </a:pPr>
            <a:r>
              <a:rPr lang="en-US" sz="2416">
                <a:solidFill>
                  <a:srgbClr val="FFFFFF"/>
                </a:solidFill>
                <a:latin typeface="Poppins"/>
                <a:ea typeface="Poppins"/>
                <a:cs typeface="Poppins"/>
                <a:sym typeface="Poppins"/>
              </a:rPr>
              <a:t>Proyectos con requerimientos fijos y pocos cambios.</a:t>
            </a:r>
          </a:p>
        </p:txBody>
      </p:sp>
      <p:sp>
        <p:nvSpPr>
          <p:cNvPr name="Freeform 11" id="11"/>
          <p:cNvSpPr/>
          <p:nvPr/>
        </p:nvSpPr>
        <p:spPr>
          <a:xfrm flipH="false" flipV="false" rot="0">
            <a:off x="7774581" y="-226699"/>
            <a:ext cx="2418495" cy="2418495"/>
          </a:xfrm>
          <a:custGeom>
            <a:avLst/>
            <a:gdLst/>
            <a:ahLst/>
            <a:cxnLst/>
            <a:rect r="r" b="b" t="t" l="l"/>
            <a:pathLst>
              <a:path h="2418495" w="2418495">
                <a:moveTo>
                  <a:pt x="0" y="0"/>
                </a:moveTo>
                <a:lnTo>
                  <a:pt x="2418495" y="0"/>
                </a:lnTo>
                <a:lnTo>
                  <a:pt x="2418495" y="2418495"/>
                </a:lnTo>
                <a:lnTo>
                  <a:pt x="0" y="2418495"/>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824546" y="4439296"/>
            <a:ext cx="8261811" cy="4163178"/>
          </a:xfrm>
          <a:custGeom>
            <a:avLst/>
            <a:gdLst/>
            <a:ahLst/>
            <a:cxnLst/>
            <a:rect r="r" b="b" t="t" l="l"/>
            <a:pathLst>
              <a:path h="4163178" w="8261811">
                <a:moveTo>
                  <a:pt x="0" y="0"/>
                </a:moveTo>
                <a:lnTo>
                  <a:pt x="8261811" y="0"/>
                </a:lnTo>
                <a:lnTo>
                  <a:pt x="8261811" y="4163179"/>
                </a:lnTo>
                <a:lnTo>
                  <a:pt x="0" y="4163179"/>
                </a:lnTo>
                <a:lnTo>
                  <a:pt x="0" y="0"/>
                </a:lnTo>
                <a:close/>
              </a:path>
            </a:pathLst>
          </a:custGeom>
          <a:blipFill>
            <a:blip r:embed="rId3"/>
            <a:stretch>
              <a:fillRect l="0" t="0" r="0" b="0"/>
            </a:stretch>
          </a:blipFill>
        </p:spPr>
      </p:sp>
      <p:sp>
        <p:nvSpPr>
          <p:cNvPr name="TextBox 7" id="7"/>
          <p:cNvSpPr txBox="true"/>
          <p:nvPr/>
        </p:nvSpPr>
        <p:spPr>
          <a:xfrm rot="0">
            <a:off x="1028700" y="1816063"/>
            <a:ext cx="16230600" cy="2018187"/>
          </a:xfrm>
          <a:prstGeom prst="rect">
            <a:avLst/>
          </a:prstGeom>
        </p:spPr>
        <p:txBody>
          <a:bodyPr anchor="t" rtlCol="false" tIns="0" lIns="0" bIns="0" rIns="0">
            <a:spAutoFit/>
          </a:bodyPr>
          <a:lstStyle/>
          <a:p>
            <a:pPr algn="ctr">
              <a:lnSpc>
                <a:spcPts val="8072"/>
              </a:lnSpc>
              <a:spcBef>
                <a:spcPct val="0"/>
              </a:spcBef>
            </a:pPr>
            <a:r>
              <a:rPr lang="en-US" sz="5766">
                <a:solidFill>
                  <a:srgbClr val="DD7E28"/>
                </a:solidFill>
                <a:latin typeface="HK Modular"/>
                <a:ea typeface="HK Modular"/>
                <a:cs typeface="HK Modular"/>
                <a:sym typeface="HK Modular"/>
              </a:rPr>
              <a:t>¿QUÉ SON LAS METODOLOGÍAS ÁGILES?</a:t>
            </a:r>
          </a:p>
        </p:txBody>
      </p:sp>
      <p:sp>
        <p:nvSpPr>
          <p:cNvPr name="TextBox 8" id="8"/>
          <p:cNvSpPr txBox="true"/>
          <p:nvPr/>
        </p:nvSpPr>
        <p:spPr>
          <a:xfrm rot="0">
            <a:off x="1416928" y="4733447"/>
            <a:ext cx="6719325" cy="2299563"/>
          </a:xfrm>
          <a:prstGeom prst="rect">
            <a:avLst/>
          </a:prstGeom>
        </p:spPr>
        <p:txBody>
          <a:bodyPr anchor="t" rtlCol="false" tIns="0" lIns="0" bIns="0" rIns="0">
            <a:spAutoFit/>
          </a:bodyPr>
          <a:lstStyle/>
          <a:p>
            <a:pPr algn="ctr">
              <a:lnSpc>
                <a:spcPts val="4502"/>
              </a:lnSpc>
              <a:spcBef>
                <a:spcPct val="0"/>
              </a:spcBef>
            </a:pPr>
            <a:r>
              <a:rPr lang="en-US" sz="3216">
                <a:solidFill>
                  <a:srgbClr val="FFFFFF"/>
                </a:solidFill>
                <a:latin typeface="Poppins"/>
                <a:ea typeface="Poppins"/>
                <a:cs typeface="Poppins"/>
                <a:sym typeface="Poppins"/>
              </a:rPr>
              <a:t>“Is an approach that divides work </a:t>
            </a:r>
            <a:r>
              <a:rPr lang="en-US" sz="3216">
                <a:solidFill>
                  <a:srgbClr val="FFFFFF"/>
                </a:solidFill>
                <a:latin typeface="Poppins"/>
                <a:ea typeface="Poppins"/>
                <a:cs typeface="Poppins"/>
                <a:sym typeface="Poppins"/>
              </a:rPr>
              <a:t>i</a:t>
            </a:r>
            <a:r>
              <a:rPr lang="en-US" sz="3216">
                <a:solidFill>
                  <a:srgbClr val="FFFFFF"/>
                </a:solidFill>
                <a:latin typeface="Poppins"/>
                <a:ea typeface="Poppins"/>
                <a:cs typeface="Poppins"/>
                <a:sym typeface="Poppins"/>
              </a:rPr>
              <a:t>nto ph</a:t>
            </a:r>
            <a:r>
              <a:rPr lang="en-US" sz="3216">
                <a:solidFill>
                  <a:srgbClr val="FFFFFF"/>
                </a:solidFill>
                <a:latin typeface="Poppins"/>
                <a:ea typeface="Poppins"/>
                <a:cs typeface="Poppins"/>
                <a:sym typeface="Poppins"/>
              </a:rPr>
              <a:t>a</a:t>
            </a:r>
            <a:r>
              <a:rPr lang="en-US" sz="3216">
                <a:solidFill>
                  <a:srgbClr val="FFFFFF"/>
                </a:solidFill>
                <a:latin typeface="Poppins"/>
                <a:ea typeface="Poppins"/>
                <a:cs typeface="Poppins"/>
                <a:sym typeface="Poppins"/>
              </a:rPr>
              <a:t>ses, e</a:t>
            </a:r>
            <a:r>
              <a:rPr lang="en-US" sz="3216">
                <a:solidFill>
                  <a:srgbClr val="FFFFFF"/>
                </a:solidFill>
                <a:latin typeface="Poppins"/>
                <a:ea typeface="Poppins"/>
                <a:cs typeface="Poppins"/>
                <a:sym typeface="Poppins"/>
              </a:rPr>
              <a:t>m</a:t>
            </a:r>
            <a:r>
              <a:rPr lang="en-US" sz="3216">
                <a:solidFill>
                  <a:srgbClr val="FFFFFF"/>
                </a:solidFill>
                <a:latin typeface="Poppins"/>
                <a:ea typeface="Poppins"/>
                <a:cs typeface="Poppins"/>
                <a:sym typeface="Poppins"/>
              </a:rPr>
              <a:t>ph</a:t>
            </a:r>
            <a:r>
              <a:rPr lang="en-US" sz="3216">
                <a:solidFill>
                  <a:srgbClr val="FFFFFF"/>
                </a:solidFill>
                <a:latin typeface="Poppins"/>
                <a:ea typeface="Poppins"/>
                <a:cs typeface="Poppins"/>
                <a:sym typeface="Poppins"/>
              </a:rPr>
              <a:t>as</a:t>
            </a:r>
            <a:r>
              <a:rPr lang="en-US" sz="3216">
                <a:solidFill>
                  <a:srgbClr val="FFFFFF"/>
                </a:solidFill>
                <a:latin typeface="Poppins"/>
                <a:ea typeface="Poppins"/>
                <a:cs typeface="Poppins"/>
                <a:sym typeface="Poppins"/>
              </a:rPr>
              <a:t>izing </a:t>
            </a:r>
            <a:r>
              <a:rPr lang="en-US" b="true" sz="3216">
                <a:solidFill>
                  <a:srgbClr val="FFFFFF"/>
                </a:solidFill>
                <a:latin typeface="Poppins Bold"/>
                <a:ea typeface="Poppins Bold"/>
                <a:cs typeface="Poppins Bold"/>
                <a:sym typeface="Poppins Bold"/>
              </a:rPr>
              <a:t>continuous delivery</a:t>
            </a:r>
            <a:r>
              <a:rPr lang="en-US" sz="3216">
                <a:solidFill>
                  <a:srgbClr val="FFFFFF"/>
                </a:solidFill>
                <a:latin typeface="Poppins"/>
                <a:ea typeface="Poppins"/>
                <a:cs typeface="Poppins"/>
                <a:sym typeface="Poppins"/>
              </a:rPr>
              <a:t> a</a:t>
            </a:r>
            <a:r>
              <a:rPr lang="en-US" sz="3216">
                <a:solidFill>
                  <a:srgbClr val="FFFFFF"/>
                </a:solidFill>
                <a:latin typeface="Poppins"/>
                <a:ea typeface="Poppins"/>
                <a:cs typeface="Poppins"/>
                <a:sym typeface="Poppins"/>
              </a:rPr>
              <a:t>nd </a:t>
            </a:r>
            <a:r>
              <a:rPr lang="en-US" b="true" sz="3216">
                <a:solidFill>
                  <a:srgbClr val="FFFFFF"/>
                </a:solidFill>
                <a:latin typeface="Poppins Bold"/>
                <a:ea typeface="Poppins Bold"/>
                <a:cs typeface="Poppins Bold"/>
                <a:sym typeface="Poppins Bold"/>
              </a:rPr>
              <a:t>improvement</a:t>
            </a:r>
            <a:r>
              <a:rPr lang="en-US" sz="3216">
                <a:solidFill>
                  <a:srgbClr val="FFFFFF"/>
                </a:solidFill>
                <a:latin typeface="Poppins"/>
                <a:ea typeface="Poppins"/>
                <a:cs typeface="Poppins"/>
                <a:sym typeface="Poppins"/>
              </a:rPr>
              <a:t>”.</a:t>
            </a:r>
          </a:p>
        </p:txBody>
      </p:sp>
      <p:sp>
        <p:nvSpPr>
          <p:cNvPr name="TextBox 9" id="9"/>
          <p:cNvSpPr txBox="true"/>
          <p:nvPr/>
        </p:nvSpPr>
        <p:spPr>
          <a:xfrm rot="0">
            <a:off x="1416928" y="7095619"/>
            <a:ext cx="6719325" cy="400912"/>
          </a:xfrm>
          <a:prstGeom prst="rect">
            <a:avLst/>
          </a:prstGeom>
        </p:spPr>
        <p:txBody>
          <a:bodyPr anchor="t" rtlCol="false" tIns="0" lIns="0" bIns="0" rIns="0">
            <a:spAutoFit/>
          </a:bodyPr>
          <a:lstStyle/>
          <a:p>
            <a:pPr algn="r">
              <a:lnSpc>
                <a:spcPts val="3102"/>
              </a:lnSpc>
              <a:spcBef>
                <a:spcPct val="0"/>
              </a:spcBef>
            </a:pPr>
            <a:r>
              <a:rPr lang="en-US" sz="2216">
                <a:solidFill>
                  <a:srgbClr val="FFFFFF"/>
                </a:solidFill>
                <a:latin typeface="Poppins"/>
                <a:ea typeface="Poppins"/>
                <a:cs typeface="Poppins"/>
                <a:sym typeface="Poppins"/>
              </a:rPr>
              <a:t>-</a:t>
            </a:r>
            <a:r>
              <a:rPr lang="en-US" sz="2216" i="true">
                <a:solidFill>
                  <a:srgbClr val="FFFFFF"/>
                </a:solidFill>
                <a:latin typeface="Poppins Italics"/>
                <a:ea typeface="Poppins Italics"/>
                <a:cs typeface="Poppins Italics"/>
                <a:sym typeface="Poppins Italics"/>
              </a:rPr>
              <a:t>Atlassian</a:t>
            </a:r>
            <a:r>
              <a:rPr lang="en-US" sz="2216">
                <a:solidFill>
                  <a:srgbClr val="FFFFFF"/>
                </a:solidFill>
                <a:latin typeface="Poppins"/>
                <a:ea typeface="Poppins"/>
                <a:cs typeface="Poppins"/>
                <a:sym typeface="Poppins"/>
              </a:rPr>
              <a:t>-</a:t>
            </a:r>
          </a:p>
        </p:txBody>
      </p:sp>
      <p:sp>
        <p:nvSpPr>
          <p:cNvPr name="TextBox 10" id="10"/>
          <p:cNvSpPr txBox="true"/>
          <p:nvPr/>
        </p:nvSpPr>
        <p:spPr>
          <a:xfrm rot="0">
            <a:off x="10367032" y="8749776"/>
            <a:ext cx="6719325" cy="400912"/>
          </a:xfrm>
          <a:prstGeom prst="rect">
            <a:avLst/>
          </a:prstGeom>
        </p:spPr>
        <p:txBody>
          <a:bodyPr anchor="t" rtlCol="false" tIns="0" lIns="0" bIns="0" rIns="0">
            <a:spAutoFit/>
          </a:bodyPr>
          <a:lstStyle/>
          <a:p>
            <a:pPr algn="r">
              <a:lnSpc>
                <a:spcPts val="3102"/>
              </a:lnSpc>
              <a:spcBef>
                <a:spcPct val="0"/>
              </a:spcBef>
            </a:pPr>
            <a:r>
              <a:rPr lang="en-US" sz="2216">
                <a:solidFill>
                  <a:srgbClr val="FFFFFF"/>
                </a:solidFill>
                <a:latin typeface="Poppins"/>
                <a:ea typeface="Poppins"/>
                <a:cs typeface="Poppins"/>
                <a:sym typeface="Poppins"/>
              </a:rPr>
              <a:t>-</a:t>
            </a:r>
            <a:r>
              <a:rPr lang="en-US" sz="2216" i="true">
                <a:solidFill>
                  <a:srgbClr val="FFFFFF"/>
                </a:solidFill>
                <a:latin typeface="Poppins Italics"/>
                <a:ea typeface="Poppins Italics"/>
                <a:cs typeface="Poppins Italics"/>
                <a:sym typeface="Poppins Italics"/>
              </a:rPr>
              <a:t>Ailoitte. Diciembre 2025</a:t>
            </a:r>
            <a:r>
              <a:rPr lang="en-US" sz="2216">
                <a:solidFill>
                  <a:srgbClr val="FFFFFF"/>
                </a:solidFill>
                <a:latin typeface="Poppins"/>
                <a:ea typeface="Poppins"/>
                <a:cs typeface="Poppins"/>
                <a:sym typeface="Poppins"/>
              </a:rPr>
              <a:t>-</a:t>
            </a:r>
          </a:p>
        </p:txBody>
      </p:sp>
      <p:sp>
        <p:nvSpPr>
          <p:cNvPr name="Freeform 11" id="11"/>
          <p:cNvSpPr/>
          <p:nvPr/>
        </p:nvSpPr>
        <p:spPr>
          <a:xfrm flipH="false" flipV="false" rot="0">
            <a:off x="7774581" y="-226699"/>
            <a:ext cx="2418495" cy="2418495"/>
          </a:xfrm>
          <a:custGeom>
            <a:avLst/>
            <a:gdLst/>
            <a:ahLst/>
            <a:cxnLst/>
            <a:rect r="r" b="b" t="t" l="l"/>
            <a:pathLst>
              <a:path h="2418495" w="2418495">
                <a:moveTo>
                  <a:pt x="0" y="0"/>
                </a:moveTo>
                <a:lnTo>
                  <a:pt x="2418495" y="0"/>
                </a:lnTo>
                <a:lnTo>
                  <a:pt x="2418495" y="2418495"/>
                </a:lnTo>
                <a:lnTo>
                  <a:pt x="0" y="2418495"/>
                </a:lnTo>
                <a:lnTo>
                  <a:pt x="0" y="0"/>
                </a:lnTo>
                <a:close/>
              </a:path>
            </a:pathLst>
          </a:custGeom>
          <a:blipFill>
            <a:blip r:embed="rId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816063"/>
            <a:ext cx="16230600" cy="2018187"/>
          </a:xfrm>
          <a:prstGeom prst="rect">
            <a:avLst/>
          </a:prstGeom>
        </p:spPr>
        <p:txBody>
          <a:bodyPr anchor="t" rtlCol="false" tIns="0" lIns="0" bIns="0" rIns="0">
            <a:spAutoFit/>
          </a:bodyPr>
          <a:lstStyle/>
          <a:p>
            <a:pPr algn="ctr">
              <a:lnSpc>
                <a:spcPts val="8072"/>
              </a:lnSpc>
              <a:spcBef>
                <a:spcPct val="0"/>
              </a:spcBef>
            </a:pPr>
            <a:r>
              <a:rPr lang="en-US" sz="5766">
                <a:solidFill>
                  <a:srgbClr val="DD7E28"/>
                </a:solidFill>
                <a:latin typeface="HK Modular"/>
                <a:ea typeface="HK Modular"/>
                <a:cs typeface="HK Modular"/>
                <a:sym typeface="HK Modular"/>
              </a:rPr>
              <a:t>¿QUÉ SON LAS METODOLOGÍAS ÁGILES?</a:t>
            </a:r>
          </a:p>
        </p:txBody>
      </p:sp>
      <p:sp>
        <p:nvSpPr>
          <p:cNvPr name="TextBox 7" id="7"/>
          <p:cNvSpPr txBox="true"/>
          <p:nvPr/>
        </p:nvSpPr>
        <p:spPr>
          <a:xfrm rot="0">
            <a:off x="1522051" y="4805665"/>
            <a:ext cx="6719325" cy="2299563"/>
          </a:xfrm>
          <a:prstGeom prst="rect">
            <a:avLst/>
          </a:prstGeom>
        </p:spPr>
        <p:txBody>
          <a:bodyPr anchor="t" rtlCol="false" tIns="0" lIns="0" bIns="0" rIns="0">
            <a:spAutoFit/>
          </a:bodyPr>
          <a:lstStyle/>
          <a:p>
            <a:pPr algn="ctr">
              <a:lnSpc>
                <a:spcPts val="4502"/>
              </a:lnSpc>
              <a:spcBef>
                <a:spcPct val="0"/>
              </a:spcBef>
            </a:pPr>
            <a:r>
              <a:rPr lang="en-US" sz="3216">
                <a:solidFill>
                  <a:srgbClr val="F0F7FE"/>
                </a:solidFill>
                <a:latin typeface="Poppins"/>
                <a:ea typeface="Poppins"/>
                <a:cs typeface="Poppins"/>
                <a:sym typeface="Poppins"/>
              </a:rPr>
              <a:t>Capacidad de crear y responder al </a:t>
            </a:r>
            <a:r>
              <a:rPr lang="en-US" b="true" sz="3216">
                <a:solidFill>
                  <a:srgbClr val="F0F7FE"/>
                </a:solidFill>
                <a:latin typeface="Poppins Bold"/>
                <a:ea typeface="Poppins Bold"/>
                <a:cs typeface="Poppins Bold"/>
                <a:sym typeface="Poppins Bold"/>
              </a:rPr>
              <a:t>cambio</a:t>
            </a:r>
            <a:r>
              <a:rPr lang="en-US" sz="3216">
                <a:solidFill>
                  <a:srgbClr val="F0F7FE"/>
                </a:solidFill>
                <a:latin typeface="Poppins"/>
                <a:ea typeface="Poppins"/>
                <a:cs typeface="Poppins"/>
                <a:sym typeface="Poppins"/>
              </a:rPr>
              <a:t>, lidiando y teniendo éx</a:t>
            </a:r>
            <a:r>
              <a:rPr lang="en-US" sz="3216">
                <a:solidFill>
                  <a:srgbClr val="F0F7FE"/>
                </a:solidFill>
                <a:latin typeface="Poppins"/>
                <a:ea typeface="Poppins"/>
                <a:cs typeface="Poppins"/>
                <a:sym typeface="Poppins"/>
              </a:rPr>
              <a:t>i</a:t>
            </a:r>
            <a:r>
              <a:rPr lang="en-US" sz="3216">
                <a:solidFill>
                  <a:srgbClr val="F0F7FE"/>
                </a:solidFill>
                <a:latin typeface="Poppins"/>
                <a:ea typeface="Poppins"/>
                <a:cs typeface="Poppins"/>
                <a:sym typeface="Poppins"/>
              </a:rPr>
              <a:t>to en un e</a:t>
            </a:r>
            <a:r>
              <a:rPr lang="en-US" sz="3216">
                <a:solidFill>
                  <a:srgbClr val="F0F7FE"/>
                </a:solidFill>
                <a:latin typeface="Poppins"/>
                <a:ea typeface="Poppins"/>
                <a:cs typeface="Poppins"/>
                <a:sym typeface="Poppins"/>
              </a:rPr>
              <a:t>nt</a:t>
            </a:r>
            <a:r>
              <a:rPr lang="en-US" sz="3216">
                <a:solidFill>
                  <a:srgbClr val="F0F7FE"/>
                </a:solidFill>
                <a:latin typeface="Poppins"/>
                <a:ea typeface="Poppins"/>
                <a:cs typeface="Poppins"/>
                <a:sym typeface="Poppins"/>
              </a:rPr>
              <a:t>or</a:t>
            </a:r>
            <a:r>
              <a:rPr lang="en-US" sz="3216">
                <a:solidFill>
                  <a:srgbClr val="F0F7FE"/>
                </a:solidFill>
                <a:latin typeface="Poppins"/>
                <a:ea typeface="Poppins"/>
                <a:cs typeface="Poppins"/>
                <a:sym typeface="Poppins"/>
              </a:rPr>
              <a:t>no i</a:t>
            </a:r>
            <a:r>
              <a:rPr lang="en-US" sz="3216">
                <a:solidFill>
                  <a:srgbClr val="F0F7FE"/>
                </a:solidFill>
                <a:latin typeface="Poppins"/>
                <a:ea typeface="Poppins"/>
                <a:cs typeface="Poppins"/>
                <a:sym typeface="Poppins"/>
              </a:rPr>
              <a:t>nci</a:t>
            </a:r>
            <a:r>
              <a:rPr lang="en-US" sz="3216">
                <a:solidFill>
                  <a:srgbClr val="F0F7FE"/>
                </a:solidFill>
                <a:latin typeface="Poppins"/>
                <a:ea typeface="Poppins"/>
                <a:cs typeface="Poppins"/>
                <a:sym typeface="Poppins"/>
              </a:rPr>
              <a:t>er</a:t>
            </a:r>
            <a:r>
              <a:rPr lang="en-US" sz="3216">
                <a:solidFill>
                  <a:srgbClr val="F0F7FE"/>
                </a:solidFill>
                <a:latin typeface="Poppins"/>
                <a:ea typeface="Poppins"/>
                <a:cs typeface="Poppins"/>
                <a:sym typeface="Poppins"/>
              </a:rPr>
              <a:t>to o</a:t>
            </a:r>
            <a:r>
              <a:rPr lang="en-US" sz="3216">
                <a:solidFill>
                  <a:srgbClr val="F0F7FE"/>
                </a:solidFill>
                <a:latin typeface="Poppins"/>
                <a:ea typeface="Poppins"/>
                <a:cs typeface="Poppins"/>
                <a:sym typeface="Poppins"/>
              </a:rPr>
              <a:t> caóti</a:t>
            </a:r>
            <a:r>
              <a:rPr lang="en-US" sz="3216">
                <a:solidFill>
                  <a:srgbClr val="F0F7FE"/>
                </a:solidFill>
                <a:latin typeface="Poppins"/>
                <a:ea typeface="Poppins"/>
                <a:cs typeface="Poppins"/>
                <a:sym typeface="Poppins"/>
              </a:rPr>
              <a:t>c</a:t>
            </a:r>
            <a:r>
              <a:rPr lang="en-US" sz="3216">
                <a:solidFill>
                  <a:srgbClr val="F0F7FE"/>
                </a:solidFill>
                <a:latin typeface="Poppins"/>
                <a:ea typeface="Poppins"/>
                <a:cs typeface="Poppins"/>
                <a:sym typeface="Poppins"/>
              </a:rPr>
              <a:t>o.</a:t>
            </a:r>
          </a:p>
        </p:txBody>
      </p:sp>
      <p:sp>
        <p:nvSpPr>
          <p:cNvPr name="Freeform 8" id="8"/>
          <p:cNvSpPr/>
          <p:nvPr/>
        </p:nvSpPr>
        <p:spPr>
          <a:xfrm flipH="false" flipV="false" rot="0">
            <a:off x="9578080" y="4845673"/>
            <a:ext cx="534663" cy="534663"/>
          </a:xfrm>
          <a:custGeom>
            <a:avLst/>
            <a:gdLst/>
            <a:ahLst/>
            <a:cxnLst/>
            <a:rect r="r" b="b" t="t" l="l"/>
            <a:pathLst>
              <a:path h="534663" w="534663">
                <a:moveTo>
                  <a:pt x="0" y="0"/>
                </a:moveTo>
                <a:lnTo>
                  <a:pt x="534663" y="0"/>
                </a:lnTo>
                <a:lnTo>
                  <a:pt x="534663" y="534664"/>
                </a:lnTo>
                <a:lnTo>
                  <a:pt x="0" y="5346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0330470" y="4834240"/>
            <a:ext cx="6634627"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Mejora la colaboración y productividad.</a:t>
            </a:r>
          </a:p>
        </p:txBody>
      </p:sp>
      <p:sp>
        <p:nvSpPr>
          <p:cNvPr name="Freeform 10" id="10"/>
          <p:cNvSpPr/>
          <p:nvPr/>
        </p:nvSpPr>
        <p:spPr>
          <a:xfrm flipH="false" flipV="false" rot="0">
            <a:off x="9578080" y="5582205"/>
            <a:ext cx="534663" cy="534663"/>
          </a:xfrm>
          <a:custGeom>
            <a:avLst/>
            <a:gdLst/>
            <a:ahLst/>
            <a:cxnLst/>
            <a:rect r="r" b="b" t="t" l="l"/>
            <a:pathLst>
              <a:path h="534663" w="534663">
                <a:moveTo>
                  <a:pt x="0" y="0"/>
                </a:moveTo>
                <a:lnTo>
                  <a:pt x="534663" y="0"/>
                </a:lnTo>
                <a:lnTo>
                  <a:pt x="534663" y="534664"/>
                </a:lnTo>
                <a:lnTo>
                  <a:pt x="0" y="5346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0330470" y="5570772"/>
            <a:ext cx="6928830"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Identifica y remueve riesgos potenciales.</a:t>
            </a:r>
          </a:p>
        </p:txBody>
      </p:sp>
      <p:sp>
        <p:nvSpPr>
          <p:cNvPr name="Freeform 12" id="12"/>
          <p:cNvSpPr/>
          <p:nvPr/>
        </p:nvSpPr>
        <p:spPr>
          <a:xfrm flipH="false" flipV="false" rot="0">
            <a:off x="9578080" y="6374044"/>
            <a:ext cx="534663" cy="534663"/>
          </a:xfrm>
          <a:custGeom>
            <a:avLst/>
            <a:gdLst/>
            <a:ahLst/>
            <a:cxnLst/>
            <a:rect r="r" b="b" t="t" l="l"/>
            <a:pathLst>
              <a:path h="534663" w="534663">
                <a:moveTo>
                  <a:pt x="0" y="0"/>
                </a:moveTo>
                <a:lnTo>
                  <a:pt x="534663" y="0"/>
                </a:lnTo>
                <a:lnTo>
                  <a:pt x="534663" y="534663"/>
                </a:lnTo>
                <a:lnTo>
                  <a:pt x="0" y="5346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0330470" y="6362610"/>
            <a:ext cx="6033925"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Entrega de productos de calidad.</a:t>
            </a:r>
          </a:p>
        </p:txBody>
      </p:sp>
      <p:sp>
        <p:nvSpPr>
          <p:cNvPr name="Freeform 14" id="14"/>
          <p:cNvSpPr/>
          <p:nvPr/>
        </p:nvSpPr>
        <p:spPr>
          <a:xfrm flipH="false" flipV="false" rot="0">
            <a:off x="9578080" y="7179372"/>
            <a:ext cx="534663" cy="534663"/>
          </a:xfrm>
          <a:custGeom>
            <a:avLst/>
            <a:gdLst/>
            <a:ahLst/>
            <a:cxnLst/>
            <a:rect r="r" b="b" t="t" l="l"/>
            <a:pathLst>
              <a:path h="534663" w="534663">
                <a:moveTo>
                  <a:pt x="0" y="0"/>
                </a:moveTo>
                <a:lnTo>
                  <a:pt x="534663" y="0"/>
                </a:lnTo>
                <a:lnTo>
                  <a:pt x="534663" y="534663"/>
                </a:lnTo>
                <a:lnTo>
                  <a:pt x="0" y="5346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10330470" y="7167938"/>
            <a:ext cx="6033925"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Simplifica la planeación.</a:t>
            </a:r>
          </a:p>
        </p:txBody>
      </p:sp>
      <p:sp>
        <p:nvSpPr>
          <p:cNvPr name="Freeform 16" id="16"/>
          <p:cNvSpPr/>
          <p:nvPr/>
        </p:nvSpPr>
        <p:spPr>
          <a:xfrm flipH="false" flipV="false" rot="0">
            <a:off x="9578080" y="7914060"/>
            <a:ext cx="534663" cy="534663"/>
          </a:xfrm>
          <a:custGeom>
            <a:avLst/>
            <a:gdLst/>
            <a:ahLst/>
            <a:cxnLst/>
            <a:rect r="r" b="b" t="t" l="l"/>
            <a:pathLst>
              <a:path h="534663" w="534663">
                <a:moveTo>
                  <a:pt x="0" y="0"/>
                </a:moveTo>
                <a:lnTo>
                  <a:pt x="534663" y="0"/>
                </a:lnTo>
                <a:lnTo>
                  <a:pt x="534663" y="534663"/>
                </a:lnTo>
                <a:lnTo>
                  <a:pt x="0" y="5346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10330470" y="7902626"/>
            <a:ext cx="6928830"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Ayuda a prevenir errores y re-procesos.</a:t>
            </a:r>
          </a:p>
        </p:txBody>
      </p:sp>
      <p:sp>
        <p:nvSpPr>
          <p:cNvPr name="Freeform 18" id="18"/>
          <p:cNvSpPr/>
          <p:nvPr/>
        </p:nvSpPr>
        <p:spPr>
          <a:xfrm flipH="false" flipV="false" rot="0">
            <a:off x="9578080" y="8734473"/>
            <a:ext cx="534663" cy="534663"/>
          </a:xfrm>
          <a:custGeom>
            <a:avLst/>
            <a:gdLst/>
            <a:ahLst/>
            <a:cxnLst/>
            <a:rect r="r" b="b" t="t" l="l"/>
            <a:pathLst>
              <a:path h="534663" w="534663">
                <a:moveTo>
                  <a:pt x="0" y="0"/>
                </a:moveTo>
                <a:lnTo>
                  <a:pt x="534663" y="0"/>
                </a:lnTo>
                <a:lnTo>
                  <a:pt x="534663" y="534664"/>
                </a:lnTo>
                <a:lnTo>
                  <a:pt x="0" y="5346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10330470" y="8723040"/>
            <a:ext cx="6033925"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Reduce costos.</a:t>
            </a:r>
          </a:p>
        </p:txBody>
      </p:sp>
      <p:sp>
        <p:nvSpPr>
          <p:cNvPr name="TextBox 20" id="20"/>
          <p:cNvSpPr txBox="true"/>
          <p:nvPr/>
        </p:nvSpPr>
        <p:spPr>
          <a:xfrm rot="0">
            <a:off x="1522051" y="7703641"/>
            <a:ext cx="6719325" cy="1030833"/>
          </a:xfrm>
          <a:prstGeom prst="rect">
            <a:avLst/>
          </a:prstGeom>
        </p:spPr>
        <p:txBody>
          <a:bodyPr anchor="t" rtlCol="false" tIns="0" lIns="0" bIns="0" rIns="0">
            <a:spAutoFit/>
          </a:bodyPr>
          <a:lstStyle/>
          <a:p>
            <a:pPr algn="ctr">
              <a:lnSpc>
                <a:spcPts val="4082"/>
              </a:lnSpc>
            </a:pPr>
            <a:r>
              <a:rPr lang="en-US" sz="2916">
                <a:solidFill>
                  <a:srgbClr val="FFFFFF"/>
                </a:solidFill>
                <a:latin typeface="Poppins"/>
                <a:ea typeface="Poppins"/>
                <a:cs typeface="Poppins"/>
                <a:sym typeface="Poppins"/>
              </a:rPr>
              <a:t>Divide el proyecto en pequeños segmentos (historias de usuario)</a:t>
            </a:r>
          </a:p>
        </p:txBody>
      </p:sp>
      <p:sp>
        <p:nvSpPr>
          <p:cNvPr name="Freeform 21" id="21"/>
          <p:cNvSpPr/>
          <p:nvPr/>
        </p:nvSpPr>
        <p:spPr>
          <a:xfrm flipH="false" flipV="false" rot="0">
            <a:off x="7774581" y="-226699"/>
            <a:ext cx="2418495" cy="2418495"/>
          </a:xfrm>
          <a:custGeom>
            <a:avLst/>
            <a:gdLst/>
            <a:ahLst/>
            <a:cxnLst/>
            <a:rect r="r" b="b" t="t" l="l"/>
            <a:pathLst>
              <a:path h="2418495" w="2418495">
                <a:moveTo>
                  <a:pt x="0" y="0"/>
                </a:moveTo>
                <a:lnTo>
                  <a:pt x="2418495" y="0"/>
                </a:lnTo>
                <a:lnTo>
                  <a:pt x="2418495" y="2418495"/>
                </a:lnTo>
                <a:lnTo>
                  <a:pt x="0" y="2418495"/>
                </a:lnTo>
                <a:lnTo>
                  <a:pt x="0" y="0"/>
                </a:lnTo>
                <a:close/>
              </a:path>
            </a:pathLst>
          </a:custGeom>
          <a:blipFill>
            <a:blip r:embed="rId5"/>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694323" y="3222760"/>
            <a:ext cx="10602406" cy="6035540"/>
          </a:xfrm>
          <a:custGeom>
            <a:avLst/>
            <a:gdLst/>
            <a:ahLst/>
            <a:cxnLst/>
            <a:rect r="r" b="b" t="t" l="l"/>
            <a:pathLst>
              <a:path h="6035540" w="10602406">
                <a:moveTo>
                  <a:pt x="0" y="0"/>
                </a:moveTo>
                <a:lnTo>
                  <a:pt x="10602405" y="0"/>
                </a:lnTo>
                <a:lnTo>
                  <a:pt x="10602405" y="6035540"/>
                </a:lnTo>
                <a:lnTo>
                  <a:pt x="0" y="6035540"/>
                </a:lnTo>
                <a:lnTo>
                  <a:pt x="0" y="0"/>
                </a:lnTo>
                <a:close/>
              </a:path>
            </a:pathLst>
          </a:custGeom>
          <a:blipFill>
            <a:blip r:embed="rId3"/>
            <a:stretch>
              <a:fillRect l="-7521" t="-6069" r="-12305" b="0"/>
            </a:stretch>
          </a:blipFill>
        </p:spPr>
      </p:sp>
      <p:sp>
        <p:nvSpPr>
          <p:cNvPr name="TextBox 7" id="7"/>
          <p:cNvSpPr txBox="true"/>
          <p:nvPr/>
        </p:nvSpPr>
        <p:spPr>
          <a:xfrm rot="0">
            <a:off x="1028700" y="1816063"/>
            <a:ext cx="16230600" cy="993012"/>
          </a:xfrm>
          <a:prstGeom prst="rect">
            <a:avLst/>
          </a:prstGeom>
        </p:spPr>
        <p:txBody>
          <a:bodyPr anchor="t" rtlCol="false" tIns="0" lIns="0" bIns="0" rIns="0">
            <a:spAutoFit/>
          </a:bodyPr>
          <a:lstStyle/>
          <a:p>
            <a:pPr algn="ctr">
              <a:lnSpc>
                <a:spcPts val="8072"/>
              </a:lnSpc>
              <a:spcBef>
                <a:spcPct val="0"/>
              </a:spcBef>
            </a:pPr>
            <a:r>
              <a:rPr lang="en-US" sz="5766">
                <a:solidFill>
                  <a:srgbClr val="DD7E28"/>
                </a:solidFill>
                <a:latin typeface="HK Modular"/>
                <a:ea typeface="HK Modular"/>
                <a:cs typeface="HK Modular"/>
                <a:sym typeface="HK Modular"/>
              </a:rPr>
              <a:t>BENEFICIOS</a:t>
            </a:r>
          </a:p>
        </p:txBody>
      </p:sp>
      <p:sp>
        <p:nvSpPr>
          <p:cNvPr name="Freeform 8" id="8"/>
          <p:cNvSpPr/>
          <p:nvPr/>
        </p:nvSpPr>
        <p:spPr>
          <a:xfrm flipH="false" flipV="false" rot="0">
            <a:off x="7774581" y="-226699"/>
            <a:ext cx="2418495" cy="2418495"/>
          </a:xfrm>
          <a:custGeom>
            <a:avLst/>
            <a:gdLst/>
            <a:ahLst/>
            <a:cxnLst/>
            <a:rect r="r" b="b" t="t" l="l"/>
            <a:pathLst>
              <a:path h="2418495" w="2418495">
                <a:moveTo>
                  <a:pt x="0" y="0"/>
                </a:moveTo>
                <a:lnTo>
                  <a:pt x="2418495" y="0"/>
                </a:lnTo>
                <a:lnTo>
                  <a:pt x="2418495" y="2418495"/>
                </a:lnTo>
                <a:lnTo>
                  <a:pt x="0" y="2418495"/>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609578" y="3408989"/>
            <a:ext cx="13287578" cy="5721924"/>
          </a:xfrm>
          <a:custGeom>
            <a:avLst/>
            <a:gdLst/>
            <a:ahLst/>
            <a:cxnLst/>
            <a:rect r="r" b="b" t="t" l="l"/>
            <a:pathLst>
              <a:path h="5721924" w="13287578">
                <a:moveTo>
                  <a:pt x="0" y="0"/>
                </a:moveTo>
                <a:lnTo>
                  <a:pt x="13287578" y="0"/>
                </a:lnTo>
                <a:lnTo>
                  <a:pt x="13287578" y="5721923"/>
                </a:lnTo>
                <a:lnTo>
                  <a:pt x="0" y="5721923"/>
                </a:lnTo>
                <a:lnTo>
                  <a:pt x="0" y="0"/>
                </a:lnTo>
                <a:close/>
              </a:path>
            </a:pathLst>
          </a:custGeom>
          <a:blipFill>
            <a:blip r:embed="rId3"/>
            <a:stretch>
              <a:fillRect l="-10045" t="-22680" r="-8892" b="-16498"/>
            </a:stretch>
          </a:blipFill>
        </p:spPr>
      </p:sp>
      <p:sp>
        <p:nvSpPr>
          <p:cNvPr name="TextBox 7" id="7"/>
          <p:cNvSpPr txBox="true"/>
          <p:nvPr/>
        </p:nvSpPr>
        <p:spPr>
          <a:xfrm rot="0">
            <a:off x="1138067" y="1816063"/>
            <a:ext cx="16230600" cy="993012"/>
          </a:xfrm>
          <a:prstGeom prst="rect">
            <a:avLst/>
          </a:prstGeom>
        </p:spPr>
        <p:txBody>
          <a:bodyPr anchor="t" rtlCol="false" tIns="0" lIns="0" bIns="0" rIns="0">
            <a:spAutoFit/>
          </a:bodyPr>
          <a:lstStyle/>
          <a:p>
            <a:pPr algn="ctr">
              <a:lnSpc>
                <a:spcPts val="8072"/>
              </a:lnSpc>
              <a:spcBef>
                <a:spcPct val="0"/>
              </a:spcBef>
            </a:pPr>
            <a:r>
              <a:rPr lang="en-US" sz="5766">
                <a:solidFill>
                  <a:srgbClr val="DD7E28"/>
                </a:solidFill>
                <a:latin typeface="HK Modular"/>
                <a:ea typeface="HK Modular"/>
                <a:cs typeface="HK Modular"/>
                <a:sym typeface="HK Modular"/>
              </a:rPr>
              <a:t>DESVENTAJAS</a:t>
            </a:r>
          </a:p>
        </p:txBody>
      </p:sp>
      <p:sp>
        <p:nvSpPr>
          <p:cNvPr name="Freeform 8" id="8"/>
          <p:cNvSpPr/>
          <p:nvPr/>
        </p:nvSpPr>
        <p:spPr>
          <a:xfrm flipH="false" flipV="false" rot="0">
            <a:off x="7774581" y="-226699"/>
            <a:ext cx="2418495" cy="2418495"/>
          </a:xfrm>
          <a:custGeom>
            <a:avLst/>
            <a:gdLst/>
            <a:ahLst/>
            <a:cxnLst/>
            <a:rect r="r" b="b" t="t" l="l"/>
            <a:pathLst>
              <a:path h="2418495" w="2418495">
                <a:moveTo>
                  <a:pt x="0" y="0"/>
                </a:moveTo>
                <a:lnTo>
                  <a:pt x="2418495" y="0"/>
                </a:lnTo>
                <a:lnTo>
                  <a:pt x="2418495" y="2418495"/>
                </a:lnTo>
                <a:lnTo>
                  <a:pt x="0" y="2418495"/>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881286" y="7249576"/>
            <a:ext cx="4913911" cy="2364820"/>
          </a:xfrm>
          <a:custGeom>
            <a:avLst/>
            <a:gdLst/>
            <a:ahLst/>
            <a:cxnLst/>
            <a:rect r="r" b="b" t="t" l="l"/>
            <a:pathLst>
              <a:path h="2364820" w="4913911">
                <a:moveTo>
                  <a:pt x="0" y="0"/>
                </a:moveTo>
                <a:lnTo>
                  <a:pt x="4913910" y="0"/>
                </a:lnTo>
                <a:lnTo>
                  <a:pt x="4913910" y="2364820"/>
                </a:lnTo>
                <a:lnTo>
                  <a:pt x="0" y="2364820"/>
                </a:lnTo>
                <a:lnTo>
                  <a:pt x="0" y="0"/>
                </a:lnTo>
                <a:close/>
              </a:path>
            </a:pathLst>
          </a:custGeom>
          <a:blipFill>
            <a:blip r:embed="rId3"/>
            <a:stretch>
              <a:fillRect l="0" t="0" r="0" b="0"/>
            </a:stretch>
          </a:blipFill>
        </p:spPr>
      </p:sp>
      <p:sp>
        <p:nvSpPr>
          <p:cNvPr name="TextBox 7" id="7"/>
          <p:cNvSpPr txBox="true"/>
          <p:nvPr/>
        </p:nvSpPr>
        <p:spPr>
          <a:xfrm rot="0">
            <a:off x="1386794" y="2372833"/>
            <a:ext cx="5613880"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AGILE</a:t>
            </a:r>
          </a:p>
        </p:txBody>
      </p:sp>
      <p:sp>
        <p:nvSpPr>
          <p:cNvPr name="TextBox 8" id="8"/>
          <p:cNvSpPr txBox="true"/>
          <p:nvPr/>
        </p:nvSpPr>
        <p:spPr>
          <a:xfrm rot="0">
            <a:off x="8247014" y="2429983"/>
            <a:ext cx="7945527" cy="833084"/>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Capacidad de crear y responder al cambio, lidiando y teniendo exito en un entorno incierto o caotico</a:t>
            </a:r>
          </a:p>
        </p:txBody>
      </p:sp>
      <p:sp>
        <p:nvSpPr>
          <p:cNvPr name="TextBox 9" id="9"/>
          <p:cNvSpPr txBox="true"/>
          <p:nvPr/>
        </p:nvSpPr>
        <p:spPr>
          <a:xfrm rot="0">
            <a:off x="1497148" y="4939077"/>
            <a:ext cx="5682186" cy="1739679"/>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MANIFIESTO AGILE</a:t>
            </a:r>
          </a:p>
        </p:txBody>
      </p:sp>
      <p:sp>
        <p:nvSpPr>
          <p:cNvPr name="TextBox 10" id="10"/>
          <p:cNvSpPr txBox="true"/>
          <p:nvPr/>
        </p:nvSpPr>
        <p:spPr>
          <a:xfrm rot="0">
            <a:off x="8247014" y="5452082"/>
            <a:ext cx="7945527"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Creado el 17 de febrero de 2001</a:t>
            </a:r>
          </a:p>
        </p:txBody>
      </p:sp>
      <p:sp>
        <p:nvSpPr>
          <p:cNvPr name="TextBox 11" id="11"/>
          <p:cNvSpPr txBox="true"/>
          <p:nvPr/>
        </p:nvSpPr>
        <p:spPr>
          <a:xfrm rot="0">
            <a:off x="8462458" y="8732918"/>
            <a:ext cx="7945527"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Establecen 12 principios y 4 aspectos o pilares</a:t>
            </a:r>
          </a:p>
        </p:txBody>
      </p:sp>
      <p:sp>
        <p:nvSpPr>
          <p:cNvPr name="TextBox 12" id="12"/>
          <p:cNvSpPr txBox="true"/>
          <p:nvPr/>
        </p:nvSpPr>
        <p:spPr>
          <a:xfrm rot="0">
            <a:off x="8247014" y="6385359"/>
            <a:ext cx="7945527" cy="1690334"/>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Es una declaracion de valores y principios, declarados por un grupo de expertos en desarrollo de software, que busca ofrecer una alternativa a los metodos tradicionales de gestion de proyectos.</a:t>
            </a:r>
          </a:p>
        </p:txBody>
      </p:sp>
      <p:sp>
        <p:nvSpPr>
          <p:cNvPr name="TextBox 13" id="13"/>
          <p:cNvSpPr txBox="true"/>
          <p:nvPr/>
        </p:nvSpPr>
        <p:spPr>
          <a:xfrm rot="0">
            <a:off x="8247014" y="3501192"/>
            <a:ext cx="7945527" cy="833084"/>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70% de empresas estan en transformacion agil, acelerando la entrega de productos en un 64%</a:t>
            </a:r>
          </a:p>
        </p:txBody>
      </p:sp>
      <p:sp>
        <p:nvSpPr>
          <p:cNvPr name="Freeform 14" id="14"/>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395550" y="3940984"/>
            <a:ext cx="11496900" cy="5317316"/>
          </a:xfrm>
          <a:custGeom>
            <a:avLst/>
            <a:gdLst/>
            <a:ahLst/>
            <a:cxnLst/>
            <a:rect r="r" b="b" t="t" l="l"/>
            <a:pathLst>
              <a:path h="5317316" w="11496900">
                <a:moveTo>
                  <a:pt x="0" y="0"/>
                </a:moveTo>
                <a:lnTo>
                  <a:pt x="11496900" y="0"/>
                </a:lnTo>
                <a:lnTo>
                  <a:pt x="11496900" y="5317316"/>
                </a:lnTo>
                <a:lnTo>
                  <a:pt x="0" y="5317316"/>
                </a:lnTo>
                <a:lnTo>
                  <a:pt x="0" y="0"/>
                </a:lnTo>
                <a:close/>
              </a:path>
            </a:pathLst>
          </a:custGeom>
          <a:blipFill>
            <a:blip r:embed="rId3"/>
            <a:stretch>
              <a:fillRect l="0" t="0" r="0" b="0"/>
            </a:stretch>
          </a:blipFill>
        </p:spPr>
      </p:sp>
      <p:sp>
        <p:nvSpPr>
          <p:cNvPr name="TextBox 7" id="7"/>
          <p:cNvSpPr txBox="true"/>
          <p:nvPr/>
        </p:nvSpPr>
        <p:spPr>
          <a:xfrm rot="0">
            <a:off x="3240602" y="1967800"/>
            <a:ext cx="11806796"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MANIFIESTO AGILE</a:t>
            </a:r>
          </a:p>
        </p:txBody>
      </p:sp>
      <p:sp>
        <p:nvSpPr>
          <p:cNvPr name="TextBox 8" id="8"/>
          <p:cNvSpPr txBox="true"/>
          <p:nvPr/>
        </p:nvSpPr>
        <p:spPr>
          <a:xfrm rot="0">
            <a:off x="7139632" y="2917919"/>
            <a:ext cx="4227470" cy="647458"/>
          </a:xfrm>
          <a:prstGeom prst="rect">
            <a:avLst/>
          </a:prstGeom>
        </p:spPr>
        <p:txBody>
          <a:bodyPr anchor="t" rtlCol="false" tIns="0" lIns="0" bIns="0" rIns="0">
            <a:spAutoFit/>
          </a:bodyPr>
          <a:lstStyle/>
          <a:p>
            <a:pPr algn="ctr">
              <a:lnSpc>
                <a:spcPts val="5280"/>
              </a:lnSpc>
              <a:spcBef>
                <a:spcPct val="0"/>
              </a:spcBef>
            </a:pPr>
            <a:r>
              <a:rPr lang="en-US" sz="3771">
                <a:solidFill>
                  <a:srgbClr val="FA18C2"/>
                </a:solidFill>
                <a:latin typeface="HK Modular"/>
                <a:ea typeface="HK Modular"/>
                <a:cs typeface="HK Modular"/>
                <a:sym typeface="HK Modular"/>
              </a:rPr>
              <a:t>PRINCIPIOS</a:t>
            </a:r>
          </a:p>
        </p:txBody>
      </p:sp>
      <p:sp>
        <p:nvSpPr>
          <p:cNvPr name="Freeform 9" id="9"/>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95091" y="2583632"/>
            <a:ext cx="7390718" cy="1739679"/>
          </a:xfrm>
          <a:prstGeom prst="rect">
            <a:avLst/>
          </a:prstGeom>
        </p:spPr>
        <p:txBody>
          <a:bodyPr anchor="t" rtlCol="false" tIns="0" lIns="0" bIns="0" rIns="0">
            <a:spAutoFit/>
          </a:bodyPr>
          <a:lstStyle/>
          <a:p>
            <a:pPr algn="ctr">
              <a:lnSpc>
                <a:spcPts val="7012"/>
              </a:lnSpc>
              <a:spcBef>
                <a:spcPct val="0"/>
              </a:spcBef>
            </a:pPr>
            <a:r>
              <a:rPr lang="en-US" sz="5008">
                <a:solidFill>
                  <a:srgbClr val="DD7E28"/>
                </a:solidFill>
                <a:latin typeface="HK Modular"/>
                <a:ea typeface="HK Modular"/>
                <a:cs typeface="HK Modular"/>
                <a:sym typeface="HK Modular"/>
              </a:rPr>
              <a:t>MANIFIESTO AGILE</a:t>
            </a:r>
          </a:p>
        </p:txBody>
      </p:sp>
      <p:sp>
        <p:nvSpPr>
          <p:cNvPr name="TextBox 7" id="7"/>
          <p:cNvSpPr txBox="true"/>
          <p:nvPr/>
        </p:nvSpPr>
        <p:spPr>
          <a:xfrm rot="0">
            <a:off x="12079657" y="4496042"/>
            <a:ext cx="4227470" cy="647458"/>
          </a:xfrm>
          <a:prstGeom prst="rect">
            <a:avLst/>
          </a:prstGeom>
        </p:spPr>
        <p:txBody>
          <a:bodyPr anchor="t" rtlCol="false" tIns="0" lIns="0" bIns="0" rIns="0">
            <a:spAutoFit/>
          </a:bodyPr>
          <a:lstStyle/>
          <a:p>
            <a:pPr algn="ctr">
              <a:lnSpc>
                <a:spcPts val="5280"/>
              </a:lnSpc>
              <a:spcBef>
                <a:spcPct val="0"/>
              </a:spcBef>
            </a:pPr>
            <a:r>
              <a:rPr lang="en-US" sz="3771">
                <a:solidFill>
                  <a:srgbClr val="FA18C2"/>
                </a:solidFill>
                <a:latin typeface="HK Modular"/>
                <a:ea typeface="HK Modular"/>
                <a:cs typeface="HK Modular"/>
                <a:sym typeface="HK Modular"/>
              </a:rPr>
              <a:t>PILARES</a:t>
            </a:r>
          </a:p>
        </p:txBody>
      </p:sp>
      <p:sp>
        <p:nvSpPr>
          <p:cNvPr name="Freeform 8" id="8"/>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
        <p:nvSpPr>
          <p:cNvPr name="Freeform 9" id="9"/>
          <p:cNvSpPr/>
          <p:nvPr/>
        </p:nvSpPr>
        <p:spPr>
          <a:xfrm flipH="false" flipV="false" rot="0">
            <a:off x="1816063" y="1867380"/>
            <a:ext cx="8479028" cy="8077288"/>
          </a:xfrm>
          <a:custGeom>
            <a:avLst/>
            <a:gdLst/>
            <a:ahLst/>
            <a:cxnLst/>
            <a:rect r="r" b="b" t="t" l="l"/>
            <a:pathLst>
              <a:path h="8077288" w="8479028">
                <a:moveTo>
                  <a:pt x="0" y="0"/>
                </a:moveTo>
                <a:lnTo>
                  <a:pt x="8479028" y="0"/>
                </a:lnTo>
                <a:lnTo>
                  <a:pt x="8479028" y="8077288"/>
                </a:lnTo>
                <a:lnTo>
                  <a:pt x="0" y="8077288"/>
                </a:lnTo>
                <a:lnTo>
                  <a:pt x="0" y="0"/>
                </a:lnTo>
                <a:close/>
              </a:path>
            </a:pathLst>
          </a:custGeom>
          <a:blipFill>
            <a:blip r:embed="rId4"/>
            <a:stretch>
              <a:fillRect l="0" t="-14882"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360315" y="7204764"/>
            <a:ext cx="6164473" cy="3082236"/>
          </a:xfrm>
          <a:custGeom>
            <a:avLst/>
            <a:gdLst/>
            <a:ahLst/>
            <a:cxnLst/>
            <a:rect r="r" b="b" t="t" l="l"/>
            <a:pathLst>
              <a:path h="3082236" w="6164473">
                <a:moveTo>
                  <a:pt x="0" y="0"/>
                </a:moveTo>
                <a:lnTo>
                  <a:pt x="6164473" y="0"/>
                </a:lnTo>
                <a:lnTo>
                  <a:pt x="6164473" y="3082236"/>
                </a:lnTo>
                <a:lnTo>
                  <a:pt x="0" y="3082236"/>
                </a:lnTo>
                <a:lnTo>
                  <a:pt x="0" y="0"/>
                </a:lnTo>
                <a:close/>
              </a:path>
            </a:pathLst>
          </a:custGeom>
          <a:blipFill>
            <a:blip r:embed="rId3"/>
            <a:stretch>
              <a:fillRect l="0" t="0" r="0" b="0"/>
            </a:stretch>
          </a:blipFill>
        </p:spPr>
      </p:sp>
      <p:sp>
        <p:nvSpPr>
          <p:cNvPr name="TextBox 7" id="7"/>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SCRUM</a:t>
            </a:r>
          </a:p>
        </p:txBody>
      </p:sp>
      <p:sp>
        <p:nvSpPr>
          <p:cNvPr name="TextBox 8" id="8"/>
          <p:cNvSpPr txBox="true"/>
          <p:nvPr/>
        </p:nvSpPr>
        <p:spPr>
          <a:xfrm rot="0">
            <a:off x="1975266" y="3312810"/>
            <a:ext cx="14511550" cy="833084"/>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Marco de trabajo liviano que ayuda a las personas, equipos y organizaciones  a generar valor a traves de soluciones adaptativas a problemas complejos</a:t>
            </a:r>
          </a:p>
        </p:txBody>
      </p:sp>
      <p:sp>
        <p:nvSpPr>
          <p:cNvPr name="TextBox 9" id="9"/>
          <p:cNvSpPr txBox="true"/>
          <p:nvPr/>
        </p:nvSpPr>
        <p:spPr>
          <a:xfrm rot="0">
            <a:off x="1997592" y="4539326"/>
            <a:ext cx="14511550" cy="833084"/>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Usado no solamente en software ya que es efectivo en transferencia iterativa e incremental del conocimiento</a:t>
            </a:r>
          </a:p>
        </p:txBody>
      </p:sp>
      <p:sp>
        <p:nvSpPr>
          <p:cNvPr name="TextBox 10" id="10"/>
          <p:cNvSpPr txBox="true"/>
          <p:nvPr/>
        </p:nvSpPr>
        <p:spPr>
          <a:xfrm rot="0">
            <a:off x="2186776" y="5762935"/>
            <a:ext cx="14511550" cy="126170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Scrum se basa en el EMPIRISMO es decir se basa en tomar decisiones basado en las observaciones para aplicar los cambios en el mercado, su progreso es en base a la observacion y la experimentacion</a:t>
            </a:r>
          </a:p>
        </p:txBody>
      </p:sp>
      <p:sp>
        <p:nvSpPr>
          <p:cNvPr name="Freeform 11" id="11"/>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4"/>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PILARES SCRUM</a:t>
            </a:r>
          </a:p>
        </p:txBody>
      </p:sp>
      <p:sp>
        <p:nvSpPr>
          <p:cNvPr name="TextBox 7" id="7"/>
          <p:cNvSpPr txBox="true"/>
          <p:nvPr/>
        </p:nvSpPr>
        <p:spPr>
          <a:xfrm rot="0">
            <a:off x="136123" y="4135135"/>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TRANSPARENCIA</a:t>
            </a:r>
          </a:p>
        </p:txBody>
      </p:sp>
      <p:sp>
        <p:nvSpPr>
          <p:cNvPr name="TextBox 8" id="8"/>
          <p:cNvSpPr txBox="true"/>
          <p:nvPr/>
        </p:nvSpPr>
        <p:spPr>
          <a:xfrm rot="0">
            <a:off x="136123" y="5685344"/>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INSPECCION</a:t>
            </a:r>
          </a:p>
        </p:txBody>
      </p:sp>
      <p:sp>
        <p:nvSpPr>
          <p:cNvPr name="TextBox 9" id="9"/>
          <p:cNvSpPr txBox="true"/>
          <p:nvPr/>
        </p:nvSpPr>
        <p:spPr>
          <a:xfrm rot="0">
            <a:off x="136123" y="7603398"/>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ADAPTACION</a:t>
            </a:r>
          </a:p>
        </p:txBody>
      </p:sp>
      <p:sp>
        <p:nvSpPr>
          <p:cNvPr name="TextBox 10" id="10"/>
          <p:cNvSpPr txBox="true"/>
          <p:nvPr/>
        </p:nvSpPr>
        <p:spPr>
          <a:xfrm rot="0">
            <a:off x="8899937" y="4304209"/>
            <a:ext cx="8166233"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Mostrando y no ocultando los problemas emergentes</a:t>
            </a:r>
          </a:p>
        </p:txBody>
      </p:sp>
      <p:sp>
        <p:nvSpPr>
          <p:cNvPr name="TextBox 11" id="11"/>
          <p:cNvSpPr txBox="true"/>
          <p:nvPr/>
        </p:nvSpPr>
        <p:spPr>
          <a:xfrm rot="0">
            <a:off x="8899937" y="5784169"/>
            <a:ext cx="8166233" cy="833084"/>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Sobre eventos y artefactos SCRUM, asi siempre se lleva a una oportunidad de mejora</a:t>
            </a:r>
          </a:p>
        </p:txBody>
      </p:sp>
      <p:sp>
        <p:nvSpPr>
          <p:cNvPr name="TextBox 12" id="12"/>
          <p:cNvSpPr txBox="true"/>
          <p:nvPr/>
        </p:nvSpPr>
        <p:spPr>
          <a:xfrm rot="0">
            <a:off x="9093067" y="7487909"/>
            <a:ext cx="8166233" cy="833084"/>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Ajuste a los cambios, lo antes posible para minimizar una mayor desviacion</a:t>
            </a:r>
          </a:p>
        </p:txBody>
      </p:sp>
      <p:sp>
        <p:nvSpPr>
          <p:cNvPr name="Freeform 13" id="13"/>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VALORES SCRUM</a:t>
            </a:r>
          </a:p>
        </p:txBody>
      </p:sp>
      <p:sp>
        <p:nvSpPr>
          <p:cNvPr name="TextBox 7" id="7"/>
          <p:cNvSpPr txBox="true"/>
          <p:nvPr/>
        </p:nvSpPr>
        <p:spPr>
          <a:xfrm rot="0">
            <a:off x="136123" y="3436231"/>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CORAJE</a:t>
            </a:r>
          </a:p>
        </p:txBody>
      </p:sp>
      <p:sp>
        <p:nvSpPr>
          <p:cNvPr name="TextBox 8" id="8"/>
          <p:cNvSpPr txBox="true"/>
          <p:nvPr/>
        </p:nvSpPr>
        <p:spPr>
          <a:xfrm rot="0">
            <a:off x="9668556" y="3436231"/>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ENFOQUE</a:t>
            </a:r>
          </a:p>
        </p:txBody>
      </p:sp>
      <p:sp>
        <p:nvSpPr>
          <p:cNvPr name="TextBox 9" id="9"/>
          <p:cNvSpPr txBox="true"/>
          <p:nvPr/>
        </p:nvSpPr>
        <p:spPr>
          <a:xfrm rot="0">
            <a:off x="136123" y="5764175"/>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COMPROMISO</a:t>
            </a:r>
          </a:p>
        </p:txBody>
      </p:sp>
      <p:sp>
        <p:nvSpPr>
          <p:cNvPr name="TextBox 10" id="10"/>
          <p:cNvSpPr txBox="true"/>
          <p:nvPr/>
        </p:nvSpPr>
        <p:spPr>
          <a:xfrm rot="0">
            <a:off x="9668556" y="5764175"/>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RESPETO</a:t>
            </a:r>
          </a:p>
        </p:txBody>
      </p:sp>
      <p:sp>
        <p:nvSpPr>
          <p:cNvPr name="TextBox 11" id="11"/>
          <p:cNvSpPr txBox="true"/>
          <p:nvPr/>
        </p:nvSpPr>
        <p:spPr>
          <a:xfrm rot="0">
            <a:off x="5049217" y="8270780"/>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APERTURA</a:t>
            </a:r>
          </a:p>
        </p:txBody>
      </p:sp>
      <p:sp>
        <p:nvSpPr>
          <p:cNvPr name="TextBox 12" id="12"/>
          <p:cNvSpPr txBox="true"/>
          <p:nvPr/>
        </p:nvSpPr>
        <p:spPr>
          <a:xfrm rot="0">
            <a:off x="595860" y="4310416"/>
            <a:ext cx="8166233"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Tratar de hacer lo correcto, mejora constante</a:t>
            </a:r>
          </a:p>
        </p:txBody>
      </p:sp>
      <p:sp>
        <p:nvSpPr>
          <p:cNvPr name="TextBox 13" id="13"/>
          <p:cNvSpPr txBox="true"/>
          <p:nvPr/>
        </p:nvSpPr>
        <p:spPr>
          <a:xfrm rot="0">
            <a:off x="9668556" y="4310416"/>
            <a:ext cx="8166233"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Focalizacion, hacer algo significativo</a:t>
            </a:r>
          </a:p>
        </p:txBody>
      </p:sp>
      <p:sp>
        <p:nvSpPr>
          <p:cNvPr name="TextBox 14" id="14"/>
          <p:cNvSpPr txBox="true"/>
          <p:nvPr/>
        </p:nvSpPr>
        <p:spPr>
          <a:xfrm rot="0">
            <a:off x="257157" y="6642508"/>
            <a:ext cx="8166233"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Logro de los objetivos</a:t>
            </a:r>
          </a:p>
        </p:txBody>
      </p:sp>
      <p:sp>
        <p:nvSpPr>
          <p:cNvPr name="TextBox 15" id="15"/>
          <p:cNvSpPr txBox="true"/>
          <p:nvPr/>
        </p:nvSpPr>
        <p:spPr>
          <a:xfrm rot="0">
            <a:off x="9910624" y="6642508"/>
            <a:ext cx="8166233"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Entre miembros del equipo</a:t>
            </a:r>
          </a:p>
        </p:txBody>
      </p:sp>
      <p:sp>
        <p:nvSpPr>
          <p:cNvPr name="TextBox 16" id="16"/>
          <p:cNvSpPr txBox="true"/>
          <p:nvPr/>
        </p:nvSpPr>
        <p:spPr>
          <a:xfrm rot="0">
            <a:off x="5060883" y="9149112"/>
            <a:ext cx="8166233"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Transparencia, abierto al progreso y trabajo en equipo</a:t>
            </a:r>
          </a:p>
        </p:txBody>
      </p:sp>
      <p:sp>
        <p:nvSpPr>
          <p:cNvPr name="Freeform 17" id="17"/>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 ROLES SCRUM</a:t>
            </a:r>
          </a:p>
        </p:txBody>
      </p:sp>
      <p:sp>
        <p:nvSpPr>
          <p:cNvPr name="TextBox 7" id="7"/>
          <p:cNvSpPr txBox="true"/>
          <p:nvPr/>
        </p:nvSpPr>
        <p:spPr>
          <a:xfrm rot="0">
            <a:off x="-147138" y="3836212"/>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SCRUM MASTER</a:t>
            </a:r>
          </a:p>
        </p:txBody>
      </p:sp>
      <p:sp>
        <p:nvSpPr>
          <p:cNvPr name="TextBox 8" id="8"/>
          <p:cNvSpPr txBox="true"/>
          <p:nvPr/>
        </p:nvSpPr>
        <p:spPr>
          <a:xfrm rot="0">
            <a:off x="7830057" y="3684950"/>
            <a:ext cx="9602814" cy="1421015"/>
          </a:xfrm>
          <a:prstGeom prst="rect">
            <a:avLst/>
          </a:prstGeom>
        </p:spPr>
        <p:txBody>
          <a:bodyPr anchor="t" rtlCol="false" tIns="0" lIns="0" bIns="0" rIns="0">
            <a:spAutoFit/>
          </a:bodyPr>
          <a:lstStyle/>
          <a:p>
            <a:pPr algn="ctr">
              <a:lnSpc>
                <a:spcPts val="2296"/>
              </a:lnSpc>
            </a:pPr>
            <a:r>
              <a:rPr lang="en-US" sz="1640">
                <a:solidFill>
                  <a:srgbClr val="FFFFFF"/>
                </a:solidFill>
                <a:latin typeface="Open Sans"/>
                <a:ea typeface="Open Sans"/>
                <a:cs typeface="Open Sans"/>
                <a:sym typeface="Open Sans"/>
              </a:rPr>
              <a:t>Es el facilitador del proceso de desarrollo de Scrum. Además de celebrar reuniones diarias con el Scrum Team, el Scrum Master se asegura de que las reglas de Scrum se hagan cumplir y se apliquen según lo previsto, también es el encargado de entrenar y motivar al equipo, eliminar los impedimentos para los sprints y garantizar que el Equipo tenga las mejores condiciones posibles para cumplir sus objetivos y producir productos entregables.</a:t>
            </a:r>
          </a:p>
        </p:txBody>
      </p:sp>
      <p:sp>
        <p:nvSpPr>
          <p:cNvPr name="TextBox 9" id="9"/>
          <p:cNvSpPr txBox="true"/>
          <p:nvPr/>
        </p:nvSpPr>
        <p:spPr>
          <a:xfrm rot="0">
            <a:off x="-147138" y="6113499"/>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PRODUCT OWNER</a:t>
            </a:r>
          </a:p>
        </p:txBody>
      </p:sp>
      <p:sp>
        <p:nvSpPr>
          <p:cNvPr name="TextBox 10" id="10"/>
          <p:cNvSpPr txBox="true"/>
          <p:nvPr/>
        </p:nvSpPr>
        <p:spPr>
          <a:xfrm rot="0">
            <a:off x="8363166" y="5839389"/>
            <a:ext cx="8745118" cy="1806421"/>
          </a:xfrm>
          <a:prstGeom prst="rect">
            <a:avLst/>
          </a:prstGeom>
        </p:spPr>
        <p:txBody>
          <a:bodyPr anchor="t" rtlCol="false" tIns="0" lIns="0" bIns="0" rIns="0">
            <a:spAutoFit/>
          </a:bodyPr>
          <a:lstStyle/>
          <a:p>
            <a:pPr algn="ctr">
              <a:lnSpc>
                <a:spcPts val="2431"/>
              </a:lnSpc>
            </a:pPr>
            <a:r>
              <a:rPr lang="en-US" sz="1736">
                <a:solidFill>
                  <a:srgbClr val="FFFFFF"/>
                </a:solidFill>
                <a:latin typeface="Open Sans"/>
                <a:ea typeface="Open Sans"/>
                <a:cs typeface="Open Sans"/>
                <a:sym typeface="Open Sans"/>
              </a:rPr>
              <a:t>Representa a las partes interesadas, que suelen ser clientes. El Product Owner (Dueño del Producto) determina las expectativas del producto, registra los cambios en el producto y administra una lista de tareas pendientes detallada y constantemente actualizada para el proyecto. </a:t>
            </a:r>
            <a:r>
              <a:rPr lang="en-US" sz="1736">
                <a:solidFill>
                  <a:srgbClr val="FFFFFF"/>
                </a:solidFill>
                <a:latin typeface="Open Sans"/>
                <a:ea typeface="Open Sans"/>
                <a:cs typeface="Open Sans"/>
                <a:sym typeface="Open Sans"/>
              </a:rPr>
              <a:t>El Product Owner también es responsable de priorizar los objetivos de cada sprint.</a:t>
            </a:r>
          </a:p>
          <a:p>
            <a:pPr algn="ctr">
              <a:lnSpc>
                <a:spcPts val="2431"/>
              </a:lnSpc>
            </a:pPr>
          </a:p>
        </p:txBody>
      </p:sp>
      <p:sp>
        <p:nvSpPr>
          <p:cNvPr name="TextBox 11" id="11"/>
          <p:cNvSpPr txBox="true"/>
          <p:nvPr/>
        </p:nvSpPr>
        <p:spPr>
          <a:xfrm rot="0">
            <a:off x="-147138" y="8390787"/>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SCRUM TEAM</a:t>
            </a:r>
          </a:p>
        </p:txBody>
      </p:sp>
      <p:sp>
        <p:nvSpPr>
          <p:cNvPr name="TextBox 12" id="12"/>
          <p:cNvSpPr txBox="true"/>
          <p:nvPr/>
        </p:nvSpPr>
        <p:spPr>
          <a:xfrm rot="0">
            <a:off x="8363166" y="8238387"/>
            <a:ext cx="8896134" cy="1806181"/>
          </a:xfrm>
          <a:prstGeom prst="rect">
            <a:avLst/>
          </a:prstGeom>
        </p:spPr>
        <p:txBody>
          <a:bodyPr anchor="t" rtlCol="false" tIns="0" lIns="0" bIns="0" rIns="0">
            <a:spAutoFit/>
          </a:bodyPr>
          <a:lstStyle/>
          <a:p>
            <a:pPr algn="ctr">
              <a:lnSpc>
                <a:spcPts val="2431"/>
              </a:lnSpc>
            </a:pPr>
            <a:r>
              <a:rPr lang="en-US" sz="1736">
                <a:solidFill>
                  <a:srgbClr val="FFFFFF"/>
                </a:solidFill>
                <a:latin typeface="Open Sans"/>
                <a:ea typeface="Open Sans"/>
                <a:cs typeface="Open Sans"/>
                <a:sym typeface="Open Sans"/>
              </a:rPr>
              <a:t>Es un grupo autoorganizado de 3 a 9 personas que tienen las habilidades comerciales, de diseño, analíticas y de desarrollo para llevar a cabo el trabajo real, resolver problemas y producir productos entregables. Los miembros del Scrum Team se autoadministran las tareas y son conjuntamente responsables de cumplir con los objetivos de cada sprint.</a:t>
            </a:r>
          </a:p>
          <a:p>
            <a:pPr algn="ctr">
              <a:lnSpc>
                <a:spcPts val="2431"/>
              </a:lnSpc>
            </a:pPr>
          </a:p>
        </p:txBody>
      </p:sp>
      <p:sp>
        <p:nvSpPr>
          <p:cNvPr name="Freeform 13" id="13"/>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ARTEFACTOS SCRUM</a:t>
            </a:r>
          </a:p>
        </p:txBody>
      </p:sp>
      <p:sp>
        <p:nvSpPr>
          <p:cNvPr name="TextBox 7" id="7"/>
          <p:cNvSpPr txBox="true"/>
          <p:nvPr/>
        </p:nvSpPr>
        <p:spPr>
          <a:xfrm rot="0">
            <a:off x="-147138" y="3977407"/>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PRODUCT BACKLOG</a:t>
            </a:r>
          </a:p>
        </p:txBody>
      </p:sp>
      <p:sp>
        <p:nvSpPr>
          <p:cNvPr name="TextBox 8" id="8"/>
          <p:cNvSpPr txBox="true"/>
          <p:nvPr/>
        </p:nvSpPr>
        <p:spPr>
          <a:xfrm rot="0">
            <a:off x="-177916" y="6336551"/>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SPRINT BACKLOG</a:t>
            </a:r>
          </a:p>
        </p:txBody>
      </p:sp>
      <p:sp>
        <p:nvSpPr>
          <p:cNvPr name="TextBox 9" id="9"/>
          <p:cNvSpPr txBox="true"/>
          <p:nvPr/>
        </p:nvSpPr>
        <p:spPr>
          <a:xfrm rot="0">
            <a:off x="606943" y="8427491"/>
            <a:ext cx="6900138" cy="116539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PRODUCTO INCREMENTAL</a:t>
            </a:r>
          </a:p>
        </p:txBody>
      </p:sp>
      <p:sp>
        <p:nvSpPr>
          <p:cNvPr name="TextBox 10" id="10"/>
          <p:cNvSpPr txBox="true"/>
          <p:nvPr/>
        </p:nvSpPr>
        <p:spPr>
          <a:xfrm rot="0">
            <a:off x="8520345" y="3586528"/>
            <a:ext cx="8622565" cy="1556972"/>
          </a:xfrm>
          <a:prstGeom prst="rect">
            <a:avLst/>
          </a:prstGeom>
        </p:spPr>
        <p:txBody>
          <a:bodyPr anchor="t" rtlCol="false" tIns="0" lIns="0" bIns="0" rIns="0">
            <a:spAutoFit/>
          </a:bodyPr>
          <a:lstStyle/>
          <a:p>
            <a:pPr algn="ctr">
              <a:lnSpc>
                <a:spcPts val="2520"/>
              </a:lnSpc>
            </a:pPr>
            <a:r>
              <a:rPr lang="en-US" sz="1800">
                <a:solidFill>
                  <a:srgbClr val="FFFFFF"/>
                </a:solidFill>
                <a:latin typeface="Open Sans"/>
                <a:ea typeface="Open Sans"/>
                <a:cs typeface="Open Sans"/>
                <a:sym typeface="Open Sans"/>
              </a:rPr>
              <a:t>Es una lista ordenada de elementos y características que podrían ser necesarios en el producto final del proyecto. Es una fuente única de requisitos. Se actualiza a medida que se modifican o agregan nuevos requisitos, correcciones, funciones y detalles en función de la nueva información y la lista de requisitos que obtengan de los clientes o usuarios.</a:t>
            </a:r>
          </a:p>
        </p:txBody>
      </p:sp>
      <p:sp>
        <p:nvSpPr>
          <p:cNvPr name="TextBox 11" id="11"/>
          <p:cNvSpPr txBox="true"/>
          <p:nvPr/>
        </p:nvSpPr>
        <p:spPr>
          <a:xfrm rot="0">
            <a:off x="8230384" y="5964849"/>
            <a:ext cx="9202487" cy="1841191"/>
          </a:xfrm>
          <a:prstGeom prst="rect">
            <a:avLst/>
          </a:prstGeom>
        </p:spPr>
        <p:txBody>
          <a:bodyPr anchor="t" rtlCol="false" tIns="0" lIns="0" bIns="0" rIns="0">
            <a:spAutoFit/>
          </a:bodyPr>
          <a:lstStyle/>
          <a:p>
            <a:pPr algn="ctr">
              <a:lnSpc>
                <a:spcPts val="2491"/>
              </a:lnSpc>
            </a:pPr>
            <a:r>
              <a:rPr lang="en-US" sz="1779">
                <a:solidFill>
                  <a:srgbClr val="FFFFFF"/>
                </a:solidFill>
                <a:latin typeface="Open Sans"/>
                <a:ea typeface="Open Sans"/>
                <a:cs typeface="Open Sans"/>
                <a:sym typeface="Open Sans"/>
              </a:rPr>
              <a:t>Es la lista de tareas extraídas del Product Backlog con las que el Scrum Team se ha comprometido durante la planificación del sprint. </a:t>
            </a:r>
            <a:r>
              <a:rPr lang="en-US" sz="1779">
                <a:solidFill>
                  <a:srgbClr val="FFFFFF"/>
                </a:solidFill>
                <a:latin typeface="Open Sans"/>
                <a:ea typeface="Open Sans"/>
                <a:cs typeface="Open Sans"/>
                <a:sym typeface="Open Sans"/>
              </a:rPr>
              <a:t>No debes agregar trabajo a la lista de actividades pendientes del sprint a la mitad de este. Si lo estás haciendo vas a desbarrancar el proyecto, dedica más tiempo a la fase de planificación del sprint para tener una idea concreta de qué trabajo realizarás durante los sprints siguientes.</a:t>
            </a:r>
          </a:p>
          <a:p>
            <a:pPr algn="ctr">
              <a:lnSpc>
                <a:spcPts val="2491"/>
              </a:lnSpc>
            </a:pPr>
          </a:p>
        </p:txBody>
      </p:sp>
      <p:sp>
        <p:nvSpPr>
          <p:cNvPr name="TextBox 12" id="12"/>
          <p:cNvSpPr txBox="true"/>
          <p:nvPr/>
        </p:nvSpPr>
        <p:spPr>
          <a:xfrm rot="0">
            <a:off x="8626578" y="8465591"/>
            <a:ext cx="8410098" cy="1556842"/>
          </a:xfrm>
          <a:prstGeom prst="rect">
            <a:avLst/>
          </a:prstGeom>
        </p:spPr>
        <p:txBody>
          <a:bodyPr anchor="t" rtlCol="false" tIns="0" lIns="0" bIns="0" rIns="0">
            <a:spAutoFit/>
          </a:bodyPr>
          <a:lstStyle/>
          <a:p>
            <a:pPr algn="ctr">
              <a:lnSpc>
                <a:spcPts val="2520"/>
              </a:lnSpc>
            </a:pPr>
            <a:r>
              <a:rPr lang="en-US" sz="1800">
                <a:solidFill>
                  <a:srgbClr val="FFFFFF"/>
                </a:solidFill>
                <a:latin typeface="Open Sans"/>
                <a:ea typeface="Open Sans"/>
                <a:cs typeface="Open Sans"/>
                <a:sym typeface="Open Sans"/>
              </a:rPr>
              <a:t>Es lo que se entrega al final de cada sprint. Este artefacto generalmente consiste en un nuevo producto o función, una mejora o corrección de errores, o cualquier otra cosa que haya solicitado el usuario o cliente y en ocasiones el mismo Scrum Team.</a:t>
            </a:r>
          </a:p>
          <a:p>
            <a:pPr algn="ctr">
              <a:lnSpc>
                <a:spcPts val="2520"/>
              </a:lnSpc>
            </a:pPr>
          </a:p>
        </p:txBody>
      </p:sp>
      <p:sp>
        <p:nvSpPr>
          <p:cNvPr name="Freeform 13" id="13"/>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 CEREMONIAS SCRUM</a:t>
            </a:r>
          </a:p>
        </p:txBody>
      </p:sp>
      <p:sp>
        <p:nvSpPr>
          <p:cNvPr name="Freeform 7" id="7"/>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
        <p:nvSpPr>
          <p:cNvPr name="Freeform 8" id="8"/>
          <p:cNvSpPr/>
          <p:nvPr/>
        </p:nvSpPr>
        <p:spPr>
          <a:xfrm flipH="false" flipV="false" rot="0">
            <a:off x="1448671" y="3272739"/>
            <a:ext cx="15810629" cy="6403305"/>
          </a:xfrm>
          <a:custGeom>
            <a:avLst/>
            <a:gdLst/>
            <a:ahLst/>
            <a:cxnLst/>
            <a:rect r="r" b="b" t="t" l="l"/>
            <a:pathLst>
              <a:path h="6403305" w="15810629">
                <a:moveTo>
                  <a:pt x="0" y="0"/>
                </a:moveTo>
                <a:lnTo>
                  <a:pt x="15810629" y="0"/>
                </a:lnTo>
                <a:lnTo>
                  <a:pt x="15810629" y="6403305"/>
                </a:lnTo>
                <a:lnTo>
                  <a:pt x="0" y="6403305"/>
                </a:lnTo>
                <a:lnTo>
                  <a:pt x="0" y="0"/>
                </a:lnTo>
                <a:close/>
              </a:path>
            </a:pathLst>
          </a:custGeom>
          <a:blipFill>
            <a:blip r:embed="rId4"/>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477340" y="3748220"/>
            <a:ext cx="1834164" cy="1834164"/>
          </a:xfrm>
          <a:custGeom>
            <a:avLst/>
            <a:gdLst/>
            <a:ahLst/>
            <a:cxnLst/>
            <a:rect r="r" b="b" t="t" l="l"/>
            <a:pathLst>
              <a:path h="1834164" w="1834164">
                <a:moveTo>
                  <a:pt x="0" y="0"/>
                </a:moveTo>
                <a:lnTo>
                  <a:pt x="1834165" y="0"/>
                </a:lnTo>
                <a:lnTo>
                  <a:pt x="1834165" y="1834164"/>
                </a:lnTo>
                <a:lnTo>
                  <a:pt x="0" y="18341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400543" y="3678766"/>
            <a:ext cx="2057400" cy="2057400"/>
          </a:xfrm>
          <a:custGeom>
            <a:avLst/>
            <a:gdLst/>
            <a:ahLst/>
            <a:cxnLst/>
            <a:rect r="r" b="b" t="t" l="l"/>
            <a:pathLst>
              <a:path h="2057400" w="2057400">
                <a:moveTo>
                  <a:pt x="0" y="0"/>
                </a:moveTo>
                <a:lnTo>
                  <a:pt x="2057400" y="0"/>
                </a:lnTo>
                <a:lnTo>
                  <a:pt x="2057400" y="2057400"/>
                </a:lnTo>
                <a:lnTo>
                  <a:pt x="0" y="20574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3930537" y="3749268"/>
            <a:ext cx="1916398" cy="1916398"/>
          </a:xfrm>
          <a:custGeom>
            <a:avLst/>
            <a:gdLst/>
            <a:ahLst/>
            <a:cxnLst/>
            <a:rect r="r" b="b" t="t" l="l"/>
            <a:pathLst>
              <a:path h="1916398" w="1916398">
                <a:moveTo>
                  <a:pt x="0" y="0"/>
                </a:moveTo>
                <a:lnTo>
                  <a:pt x="1916398" y="0"/>
                </a:lnTo>
                <a:lnTo>
                  <a:pt x="1916398" y="1916397"/>
                </a:lnTo>
                <a:lnTo>
                  <a:pt x="0" y="19163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 CEREMONIAS SCRUM</a:t>
            </a:r>
          </a:p>
        </p:txBody>
      </p:sp>
      <p:sp>
        <p:nvSpPr>
          <p:cNvPr name="TextBox 10" id="10"/>
          <p:cNvSpPr txBox="true"/>
          <p:nvPr/>
        </p:nvSpPr>
        <p:spPr>
          <a:xfrm rot="0">
            <a:off x="1526554" y="5921241"/>
            <a:ext cx="3735737" cy="1376981"/>
          </a:xfrm>
          <a:prstGeom prst="rect">
            <a:avLst/>
          </a:prstGeom>
        </p:spPr>
        <p:txBody>
          <a:bodyPr anchor="t" rtlCol="false" tIns="0" lIns="0" bIns="0" rIns="0">
            <a:spAutoFit/>
          </a:bodyPr>
          <a:lstStyle/>
          <a:p>
            <a:pPr algn="ctr">
              <a:lnSpc>
                <a:spcPts val="3684"/>
              </a:lnSpc>
              <a:spcBef>
                <a:spcPct val="0"/>
              </a:spcBef>
            </a:pPr>
            <a:r>
              <a:rPr lang="en-US" sz="2631">
                <a:solidFill>
                  <a:srgbClr val="FFFFFF"/>
                </a:solidFill>
                <a:latin typeface="HK Modular"/>
                <a:ea typeface="HK Modular"/>
                <a:cs typeface="HK Modular"/>
                <a:sym typeface="HK Modular"/>
              </a:rPr>
              <a:t>ORGANIZACION DEL TRABAJO PENDIENTE</a:t>
            </a:r>
          </a:p>
        </p:txBody>
      </p:sp>
      <p:sp>
        <p:nvSpPr>
          <p:cNvPr name="TextBox 11" id="11"/>
          <p:cNvSpPr txBox="true"/>
          <p:nvPr/>
        </p:nvSpPr>
        <p:spPr>
          <a:xfrm rot="0">
            <a:off x="7595828" y="5957357"/>
            <a:ext cx="3666831" cy="1703306"/>
          </a:xfrm>
          <a:prstGeom prst="rect">
            <a:avLst/>
          </a:prstGeom>
        </p:spPr>
        <p:txBody>
          <a:bodyPr anchor="t" rtlCol="false" tIns="0" lIns="0" bIns="0" rIns="0">
            <a:spAutoFit/>
          </a:bodyPr>
          <a:lstStyle/>
          <a:p>
            <a:pPr algn="ctr">
              <a:lnSpc>
                <a:spcPts val="3398"/>
              </a:lnSpc>
              <a:spcBef>
                <a:spcPct val="0"/>
              </a:spcBef>
            </a:pPr>
            <a:r>
              <a:rPr lang="en-US" sz="2427">
                <a:solidFill>
                  <a:srgbClr val="FFFFFF"/>
                </a:solidFill>
                <a:latin typeface="HK Modular"/>
                <a:ea typeface="HK Modular"/>
                <a:cs typeface="HK Modular"/>
                <a:sym typeface="HK Modular"/>
              </a:rPr>
              <a:t>PLANIFICACION DEL SPRINT (SPRINT PLANNING)</a:t>
            </a:r>
          </a:p>
        </p:txBody>
      </p:sp>
      <p:sp>
        <p:nvSpPr>
          <p:cNvPr name="TextBox 12" id="12"/>
          <p:cNvSpPr txBox="true"/>
          <p:nvPr/>
        </p:nvSpPr>
        <p:spPr>
          <a:xfrm rot="0">
            <a:off x="12901318" y="6153940"/>
            <a:ext cx="3974835" cy="911582"/>
          </a:xfrm>
          <a:prstGeom prst="rect">
            <a:avLst/>
          </a:prstGeom>
        </p:spPr>
        <p:txBody>
          <a:bodyPr anchor="t" rtlCol="false" tIns="0" lIns="0" bIns="0" rIns="0">
            <a:spAutoFit/>
          </a:bodyPr>
          <a:lstStyle/>
          <a:p>
            <a:pPr algn="ctr">
              <a:lnSpc>
                <a:spcPts val="3684"/>
              </a:lnSpc>
              <a:spcBef>
                <a:spcPct val="0"/>
              </a:spcBef>
            </a:pPr>
            <a:r>
              <a:rPr lang="en-US" sz="2631">
                <a:solidFill>
                  <a:srgbClr val="FFFFFF"/>
                </a:solidFill>
                <a:latin typeface="HK Modular"/>
                <a:ea typeface="HK Modular"/>
                <a:cs typeface="HK Modular"/>
                <a:sym typeface="HK Modular"/>
              </a:rPr>
              <a:t>EJECUCION DEL SPRINT</a:t>
            </a:r>
          </a:p>
        </p:txBody>
      </p:sp>
      <p:sp>
        <p:nvSpPr>
          <p:cNvPr name="Freeform 13" id="13"/>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9"/>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374331" y="3781300"/>
            <a:ext cx="2040184" cy="2040184"/>
          </a:xfrm>
          <a:custGeom>
            <a:avLst/>
            <a:gdLst/>
            <a:ahLst/>
            <a:cxnLst/>
            <a:rect r="r" b="b" t="t" l="l"/>
            <a:pathLst>
              <a:path h="2040184" w="2040184">
                <a:moveTo>
                  <a:pt x="0" y="0"/>
                </a:moveTo>
                <a:lnTo>
                  <a:pt x="2040184" y="0"/>
                </a:lnTo>
                <a:lnTo>
                  <a:pt x="2040184" y="2040183"/>
                </a:lnTo>
                <a:lnTo>
                  <a:pt x="0" y="20401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294902" y="3904554"/>
            <a:ext cx="1916929" cy="1916929"/>
          </a:xfrm>
          <a:custGeom>
            <a:avLst/>
            <a:gdLst/>
            <a:ahLst/>
            <a:cxnLst/>
            <a:rect r="r" b="b" t="t" l="l"/>
            <a:pathLst>
              <a:path h="1916929" w="1916929">
                <a:moveTo>
                  <a:pt x="0" y="0"/>
                </a:moveTo>
                <a:lnTo>
                  <a:pt x="1916930" y="0"/>
                </a:lnTo>
                <a:lnTo>
                  <a:pt x="1916930" y="1916929"/>
                </a:lnTo>
                <a:lnTo>
                  <a:pt x="0" y="19169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3775418" y="4117546"/>
            <a:ext cx="1490946" cy="1490946"/>
          </a:xfrm>
          <a:custGeom>
            <a:avLst/>
            <a:gdLst/>
            <a:ahLst/>
            <a:cxnLst/>
            <a:rect r="r" b="b" t="t" l="l"/>
            <a:pathLst>
              <a:path h="1490946" w="1490946">
                <a:moveTo>
                  <a:pt x="0" y="0"/>
                </a:moveTo>
                <a:lnTo>
                  <a:pt x="1490946" y="0"/>
                </a:lnTo>
                <a:lnTo>
                  <a:pt x="1490946" y="1490946"/>
                </a:lnTo>
                <a:lnTo>
                  <a:pt x="0" y="14909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 CEREMONIAS SCRUM</a:t>
            </a:r>
          </a:p>
        </p:txBody>
      </p:sp>
      <p:sp>
        <p:nvSpPr>
          <p:cNvPr name="TextBox 10" id="10"/>
          <p:cNvSpPr txBox="true"/>
          <p:nvPr/>
        </p:nvSpPr>
        <p:spPr>
          <a:xfrm rot="0">
            <a:off x="1526554" y="5921241"/>
            <a:ext cx="3735737" cy="911582"/>
          </a:xfrm>
          <a:prstGeom prst="rect">
            <a:avLst/>
          </a:prstGeom>
        </p:spPr>
        <p:txBody>
          <a:bodyPr anchor="t" rtlCol="false" tIns="0" lIns="0" bIns="0" rIns="0">
            <a:spAutoFit/>
          </a:bodyPr>
          <a:lstStyle/>
          <a:p>
            <a:pPr algn="ctr">
              <a:lnSpc>
                <a:spcPts val="3684"/>
              </a:lnSpc>
              <a:spcBef>
                <a:spcPct val="0"/>
              </a:spcBef>
            </a:pPr>
            <a:r>
              <a:rPr lang="en-US" sz="2631">
                <a:solidFill>
                  <a:srgbClr val="FFFFFF"/>
                </a:solidFill>
                <a:latin typeface="HK Modular"/>
                <a:ea typeface="HK Modular"/>
                <a:cs typeface="HK Modular"/>
                <a:sym typeface="HK Modular"/>
              </a:rPr>
              <a:t>REUNION DIARIA (DAILY)</a:t>
            </a:r>
          </a:p>
        </p:txBody>
      </p:sp>
      <p:sp>
        <p:nvSpPr>
          <p:cNvPr name="TextBox 11" id="11"/>
          <p:cNvSpPr txBox="true"/>
          <p:nvPr/>
        </p:nvSpPr>
        <p:spPr>
          <a:xfrm rot="0">
            <a:off x="7265949" y="6153940"/>
            <a:ext cx="3974835" cy="446183"/>
          </a:xfrm>
          <a:prstGeom prst="rect">
            <a:avLst/>
          </a:prstGeom>
        </p:spPr>
        <p:txBody>
          <a:bodyPr anchor="t" rtlCol="false" tIns="0" lIns="0" bIns="0" rIns="0">
            <a:spAutoFit/>
          </a:bodyPr>
          <a:lstStyle/>
          <a:p>
            <a:pPr algn="ctr">
              <a:lnSpc>
                <a:spcPts val="3684"/>
              </a:lnSpc>
              <a:spcBef>
                <a:spcPct val="0"/>
              </a:spcBef>
            </a:pPr>
            <a:r>
              <a:rPr lang="en-US" sz="2631">
                <a:solidFill>
                  <a:srgbClr val="FFFFFF"/>
                </a:solidFill>
                <a:latin typeface="HK Modular"/>
                <a:ea typeface="HK Modular"/>
                <a:cs typeface="HK Modular"/>
                <a:sym typeface="HK Modular"/>
              </a:rPr>
              <a:t>SPRINT REVIEW</a:t>
            </a:r>
          </a:p>
        </p:txBody>
      </p:sp>
      <p:sp>
        <p:nvSpPr>
          <p:cNvPr name="TextBox 12" id="12"/>
          <p:cNvSpPr txBox="true"/>
          <p:nvPr/>
        </p:nvSpPr>
        <p:spPr>
          <a:xfrm rot="0">
            <a:off x="12533474" y="5921241"/>
            <a:ext cx="3974835" cy="911582"/>
          </a:xfrm>
          <a:prstGeom prst="rect">
            <a:avLst/>
          </a:prstGeom>
        </p:spPr>
        <p:txBody>
          <a:bodyPr anchor="t" rtlCol="false" tIns="0" lIns="0" bIns="0" rIns="0">
            <a:spAutoFit/>
          </a:bodyPr>
          <a:lstStyle/>
          <a:p>
            <a:pPr algn="ctr">
              <a:lnSpc>
                <a:spcPts val="3684"/>
              </a:lnSpc>
              <a:spcBef>
                <a:spcPct val="0"/>
              </a:spcBef>
            </a:pPr>
            <a:r>
              <a:rPr lang="en-US" sz="2631">
                <a:solidFill>
                  <a:srgbClr val="FFFFFF"/>
                </a:solidFill>
                <a:latin typeface="HK Modular"/>
                <a:ea typeface="HK Modular"/>
                <a:cs typeface="HK Modular"/>
                <a:sym typeface="HK Modular"/>
              </a:rPr>
              <a:t>SPRINT RETROSPECTIVE</a:t>
            </a:r>
          </a:p>
        </p:txBody>
      </p:sp>
      <p:sp>
        <p:nvSpPr>
          <p:cNvPr name="Freeform 13" id="13"/>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9"/>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798379" y="4421527"/>
            <a:ext cx="2544757" cy="2544757"/>
          </a:xfrm>
          <a:custGeom>
            <a:avLst/>
            <a:gdLst/>
            <a:ahLst/>
            <a:cxnLst/>
            <a:rect r="r" b="b" t="t" l="l"/>
            <a:pathLst>
              <a:path h="2544757" w="2544757">
                <a:moveTo>
                  <a:pt x="0" y="0"/>
                </a:moveTo>
                <a:lnTo>
                  <a:pt x="2544757" y="0"/>
                </a:lnTo>
                <a:lnTo>
                  <a:pt x="2544757" y="2544757"/>
                </a:lnTo>
                <a:lnTo>
                  <a:pt x="0" y="2544757"/>
                </a:lnTo>
                <a:lnTo>
                  <a:pt x="0" y="0"/>
                </a:lnTo>
                <a:close/>
              </a:path>
            </a:pathLst>
          </a:custGeom>
          <a:blipFill>
            <a:blip r:embed="rId3"/>
            <a:stretch>
              <a:fillRect l="0" t="0" r="0" b="0"/>
            </a:stretch>
          </a:blipFill>
        </p:spPr>
      </p:sp>
      <p:sp>
        <p:nvSpPr>
          <p:cNvPr name="Freeform 7" id="7"/>
          <p:cNvSpPr/>
          <p:nvPr/>
        </p:nvSpPr>
        <p:spPr>
          <a:xfrm flipH="false" flipV="false" rot="0">
            <a:off x="8117562" y="4421527"/>
            <a:ext cx="2583307" cy="2544757"/>
          </a:xfrm>
          <a:custGeom>
            <a:avLst/>
            <a:gdLst/>
            <a:ahLst/>
            <a:cxnLst/>
            <a:rect r="r" b="b" t="t" l="l"/>
            <a:pathLst>
              <a:path h="2544757" w="2583307">
                <a:moveTo>
                  <a:pt x="0" y="0"/>
                </a:moveTo>
                <a:lnTo>
                  <a:pt x="2583306" y="0"/>
                </a:lnTo>
                <a:lnTo>
                  <a:pt x="2583306" y="2544757"/>
                </a:lnTo>
                <a:lnTo>
                  <a:pt x="0" y="2544757"/>
                </a:lnTo>
                <a:lnTo>
                  <a:pt x="0" y="0"/>
                </a:lnTo>
                <a:close/>
              </a:path>
            </a:pathLst>
          </a:custGeom>
          <a:blipFill>
            <a:blip r:embed="rId4"/>
            <a:stretch>
              <a:fillRect l="-16391" t="0" r="-46788" b="-38733"/>
            </a:stretch>
          </a:blipFill>
        </p:spPr>
      </p:sp>
      <p:sp>
        <p:nvSpPr>
          <p:cNvPr name="Freeform 8" id="8"/>
          <p:cNvSpPr/>
          <p:nvPr/>
        </p:nvSpPr>
        <p:spPr>
          <a:xfrm flipH="false" flipV="false" rot="0">
            <a:off x="11989377" y="4421527"/>
            <a:ext cx="2893197" cy="2544757"/>
          </a:xfrm>
          <a:custGeom>
            <a:avLst/>
            <a:gdLst/>
            <a:ahLst/>
            <a:cxnLst/>
            <a:rect r="r" b="b" t="t" l="l"/>
            <a:pathLst>
              <a:path h="2544757" w="2893197">
                <a:moveTo>
                  <a:pt x="0" y="0"/>
                </a:moveTo>
                <a:lnTo>
                  <a:pt x="2893198" y="0"/>
                </a:lnTo>
                <a:lnTo>
                  <a:pt x="2893198" y="2544757"/>
                </a:lnTo>
                <a:lnTo>
                  <a:pt x="0" y="2544757"/>
                </a:lnTo>
                <a:lnTo>
                  <a:pt x="0" y="0"/>
                </a:lnTo>
                <a:close/>
              </a:path>
            </a:pathLst>
          </a:custGeom>
          <a:blipFill>
            <a:blip r:embed="rId5"/>
            <a:stretch>
              <a:fillRect l="-9465" t="0" r="-8567" b="-50069"/>
            </a:stretch>
          </a:blipFill>
        </p:spPr>
      </p:sp>
      <p:sp>
        <p:nvSpPr>
          <p:cNvPr name="TextBox 9" id="9"/>
          <p:cNvSpPr txBox="true"/>
          <p:nvPr/>
        </p:nvSpPr>
        <p:spPr>
          <a:xfrm rot="0">
            <a:off x="0" y="1816063"/>
            <a:ext cx="18288000" cy="993012"/>
          </a:xfrm>
          <a:prstGeom prst="rect">
            <a:avLst/>
          </a:prstGeom>
        </p:spPr>
        <p:txBody>
          <a:bodyPr anchor="t" rtlCol="false" tIns="0" lIns="0" bIns="0" rIns="0">
            <a:spAutoFit/>
          </a:bodyPr>
          <a:lstStyle/>
          <a:p>
            <a:pPr algn="ctr">
              <a:lnSpc>
                <a:spcPts val="8072"/>
              </a:lnSpc>
              <a:spcBef>
                <a:spcPct val="0"/>
              </a:spcBef>
            </a:pPr>
            <a:r>
              <a:rPr lang="en-US" sz="5766">
                <a:solidFill>
                  <a:srgbClr val="E78939"/>
                </a:solidFill>
                <a:latin typeface="HK Modular"/>
                <a:ea typeface="HK Modular"/>
                <a:cs typeface="HK Modular"/>
                <a:sym typeface="HK Modular"/>
              </a:rPr>
              <a:t>HERRAMIENTAS PARA AGILE</a:t>
            </a:r>
          </a:p>
        </p:txBody>
      </p:sp>
      <p:sp>
        <p:nvSpPr>
          <p:cNvPr name="TextBox 10" id="10"/>
          <p:cNvSpPr txBox="true"/>
          <p:nvPr/>
        </p:nvSpPr>
        <p:spPr>
          <a:xfrm rot="0">
            <a:off x="3495405" y="7468322"/>
            <a:ext cx="3150707" cy="817880"/>
          </a:xfrm>
          <a:prstGeom prst="rect">
            <a:avLst/>
          </a:prstGeom>
        </p:spPr>
        <p:txBody>
          <a:bodyPr anchor="t" rtlCol="false" tIns="0" lIns="0" bIns="0" rIns="0">
            <a:spAutoFit/>
          </a:bodyPr>
          <a:lstStyle/>
          <a:p>
            <a:pPr algn="ctr">
              <a:lnSpc>
                <a:spcPts val="3639"/>
              </a:lnSpc>
            </a:pPr>
            <a:r>
              <a:rPr lang="en-US" sz="2599" b="true">
                <a:solidFill>
                  <a:srgbClr val="FFFFFF"/>
                </a:solidFill>
                <a:latin typeface="Poppins Bold"/>
                <a:ea typeface="Poppins Bold"/>
                <a:cs typeface="Poppins Bold"/>
                <a:sym typeface="Poppins Bold"/>
              </a:rPr>
              <a:t>Jira</a:t>
            </a:r>
          </a:p>
          <a:p>
            <a:pPr algn="ctr">
              <a:lnSpc>
                <a:spcPts val="2799"/>
              </a:lnSpc>
              <a:spcBef>
                <a:spcPct val="0"/>
              </a:spcBef>
            </a:pPr>
            <a:r>
              <a:rPr lang="en-US" sz="1999" i="true">
                <a:solidFill>
                  <a:srgbClr val="FFFFFF"/>
                </a:solidFill>
                <a:latin typeface="Poppins Italics"/>
                <a:ea typeface="Poppins Italics"/>
                <a:cs typeface="Poppins Italics"/>
                <a:sym typeface="Poppins Italics"/>
              </a:rPr>
              <a:t>(Atlassian)</a:t>
            </a:r>
          </a:p>
        </p:txBody>
      </p:sp>
      <p:sp>
        <p:nvSpPr>
          <p:cNvPr name="TextBox 11" id="11"/>
          <p:cNvSpPr txBox="true"/>
          <p:nvPr/>
        </p:nvSpPr>
        <p:spPr>
          <a:xfrm rot="0">
            <a:off x="7833862" y="7468322"/>
            <a:ext cx="3150707" cy="817880"/>
          </a:xfrm>
          <a:prstGeom prst="rect">
            <a:avLst/>
          </a:prstGeom>
        </p:spPr>
        <p:txBody>
          <a:bodyPr anchor="t" rtlCol="false" tIns="0" lIns="0" bIns="0" rIns="0">
            <a:spAutoFit/>
          </a:bodyPr>
          <a:lstStyle/>
          <a:p>
            <a:pPr algn="ctr">
              <a:lnSpc>
                <a:spcPts val="3639"/>
              </a:lnSpc>
            </a:pPr>
            <a:r>
              <a:rPr lang="en-US" sz="2599" b="true">
                <a:solidFill>
                  <a:srgbClr val="FFFFFF"/>
                </a:solidFill>
                <a:latin typeface="Poppins Bold"/>
                <a:ea typeface="Poppins Bold"/>
                <a:cs typeface="Poppins Bold"/>
                <a:sym typeface="Poppins Bold"/>
              </a:rPr>
              <a:t>Azure boards</a:t>
            </a:r>
          </a:p>
          <a:p>
            <a:pPr algn="ctr">
              <a:lnSpc>
                <a:spcPts val="2799"/>
              </a:lnSpc>
              <a:spcBef>
                <a:spcPct val="0"/>
              </a:spcBef>
            </a:pPr>
            <a:r>
              <a:rPr lang="en-US" sz="1999" i="true">
                <a:solidFill>
                  <a:srgbClr val="FFFFFF"/>
                </a:solidFill>
                <a:latin typeface="Poppins Italics"/>
                <a:ea typeface="Poppins Italics"/>
                <a:cs typeface="Poppins Italics"/>
                <a:sym typeface="Poppins Italics"/>
              </a:rPr>
              <a:t>(Microsoft)</a:t>
            </a:r>
          </a:p>
        </p:txBody>
      </p:sp>
      <p:sp>
        <p:nvSpPr>
          <p:cNvPr name="TextBox 12" id="12"/>
          <p:cNvSpPr txBox="true"/>
          <p:nvPr/>
        </p:nvSpPr>
        <p:spPr>
          <a:xfrm rot="0">
            <a:off x="11860623" y="7318146"/>
            <a:ext cx="3150707" cy="915036"/>
          </a:xfrm>
          <a:prstGeom prst="rect">
            <a:avLst/>
          </a:prstGeom>
        </p:spPr>
        <p:txBody>
          <a:bodyPr anchor="t" rtlCol="false" tIns="0" lIns="0" bIns="0" rIns="0">
            <a:spAutoFit/>
          </a:bodyPr>
          <a:lstStyle/>
          <a:p>
            <a:pPr algn="ctr">
              <a:lnSpc>
                <a:spcPts val="3639"/>
              </a:lnSpc>
            </a:pPr>
            <a:r>
              <a:rPr lang="en-US" sz="2599" b="true">
                <a:solidFill>
                  <a:srgbClr val="FFFFFF"/>
                </a:solidFill>
                <a:latin typeface="Poppins Bold"/>
                <a:ea typeface="Poppins Bold"/>
                <a:cs typeface="Poppins Bold"/>
                <a:sym typeface="Poppins Bold"/>
              </a:rPr>
              <a:t>GitLab</a:t>
            </a:r>
          </a:p>
          <a:p>
            <a:pPr algn="ctr">
              <a:lnSpc>
                <a:spcPts val="3639"/>
              </a:lnSpc>
              <a:spcBef>
                <a:spcPct val="0"/>
              </a:spcBef>
            </a:pPr>
            <a:r>
              <a:rPr lang="en-US" sz="2599" i="true">
                <a:solidFill>
                  <a:srgbClr val="FFFFFF"/>
                </a:solidFill>
                <a:latin typeface="Poppins Italics"/>
                <a:ea typeface="Poppins Italics"/>
                <a:cs typeface="Poppins Italics"/>
                <a:sym typeface="Poppins Italics"/>
              </a:rPr>
              <a:t>(GitLab)</a:t>
            </a:r>
          </a:p>
        </p:txBody>
      </p:sp>
      <p:sp>
        <p:nvSpPr>
          <p:cNvPr name="TextBox 13" id="13"/>
          <p:cNvSpPr txBox="true"/>
          <p:nvPr/>
        </p:nvSpPr>
        <p:spPr>
          <a:xfrm rot="0">
            <a:off x="7239172" y="2723351"/>
            <a:ext cx="4028390" cy="501924"/>
          </a:xfrm>
          <a:prstGeom prst="rect">
            <a:avLst/>
          </a:prstGeom>
        </p:spPr>
        <p:txBody>
          <a:bodyPr anchor="t" rtlCol="false" tIns="0" lIns="0" bIns="0" rIns="0">
            <a:spAutoFit/>
          </a:bodyPr>
          <a:lstStyle/>
          <a:p>
            <a:pPr algn="ctr">
              <a:lnSpc>
                <a:spcPts val="3834"/>
              </a:lnSpc>
            </a:pPr>
            <a:r>
              <a:rPr lang="en-US" b="true" sz="2739">
                <a:solidFill>
                  <a:srgbClr val="F800C0"/>
                </a:solidFill>
                <a:latin typeface="Poppins Bold"/>
                <a:ea typeface="Poppins Bold"/>
                <a:cs typeface="Poppins Bold"/>
                <a:sym typeface="Poppins Bold"/>
              </a:rPr>
              <a:t>Top 3</a:t>
            </a:r>
          </a:p>
        </p:txBody>
      </p:sp>
      <p:sp>
        <p:nvSpPr>
          <p:cNvPr name="Freeform 14" id="14"/>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6"/>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087770" y="4331635"/>
            <a:ext cx="12112459" cy="2377212"/>
          </a:xfrm>
          <a:prstGeom prst="rect">
            <a:avLst/>
          </a:prstGeom>
        </p:spPr>
        <p:txBody>
          <a:bodyPr anchor="t" rtlCol="false" tIns="0" lIns="0" bIns="0" rIns="0">
            <a:spAutoFit/>
          </a:bodyPr>
          <a:lstStyle/>
          <a:p>
            <a:pPr algn="ctr">
              <a:lnSpc>
                <a:spcPts val="9517"/>
              </a:lnSpc>
              <a:spcBef>
                <a:spcPct val="0"/>
              </a:spcBef>
            </a:pPr>
            <a:r>
              <a:rPr lang="en-US" sz="6798">
                <a:solidFill>
                  <a:srgbClr val="FA18C2"/>
                </a:solidFill>
                <a:latin typeface="HK Modular"/>
                <a:ea typeface="HK Modular"/>
                <a:cs typeface="HK Modular"/>
                <a:sym typeface="HK Modular"/>
              </a:rPr>
              <a:t>ATRIBUTOS DE CALIDAD</a:t>
            </a:r>
          </a:p>
        </p:txBody>
      </p:sp>
      <p:sp>
        <p:nvSpPr>
          <p:cNvPr name="Freeform 13" id="13"/>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¿QUE SON?</a:t>
            </a:r>
          </a:p>
        </p:txBody>
      </p:sp>
      <p:sp>
        <p:nvSpPr>
          <p:cNvPr name="TextBox 7" id="7"/>
          <p:cNvSpPr txBox="true"/>
          <p:nvPr/>
        </p:nvSpPr>
        <p:spPr>
          <a:xfrm rot="0">
            <a:off x="3644456" y="3411473"/>
            <a:ext cx="11217823" cy="1105024"/>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La calidad es un conjunto de propiedades inherentes a algo que permiten determinar su valor según el contexto, esa calidad se evalua mediante atributos especificos que permiten medir funcionalidades y condiciones no funcionales</a:t>
            </a:r>
          </a:p>
        </p:txBody>
      </p:sp>
      <p:sp>
        <p:nvSpPr>
          <p:cNvPr name="TextBox 8" id="8"/>
          <p:cNvSpPr txBox="true"/>
          <p:nvPr/>
        </p:nvSpPr>
        <p:spPr>
          <a:xfrm rot="0">
            <a:off x="3535089" y="4973697"/>
            <a:ext cx="11217823" cy="731285"/>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Ayudan a abordar la complejidad del desarrollo de software, ya que cada atributo influye en el funcionamiento e impacto final del producto</a:t>
            </a:r>
          </a:p>
        </p:txBody>
      </p:sp>
      <p:sp>
        <p:nvSpPr>
          <p:cNvPr name="TextBox 9" id="9"/>
          <p:cNvSpPr txBox="true"/>
          <p:nvPr/>
        </p:nvSpPr>
        <p:spPr>
          <a:xfrm rot="0">
            <a:off x="2389724" y="6490979"/>
            <a:ext cx="3736676"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FUNCIONAL</a:t>
            </a:r>
          </a:p>
        </p:txBody>
      </p:sp>
      <p:sp>
        <p:nvSpPr>
          <p:cNvPr name="TextBox 10" id="10"/>
          <p:cNvSpPr txBox="true"/>
          <p:nvPr/>
        </p:nvSpPr>
        <p:spPr>
          <a:xfrm rot="0">
            <a:off x="2021880" y="7438287"/>
            <a:ext cx="4251658"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PERFORMANCE</a:t>
            </a:r>
          </a:p>
        </p:txBody>
      </p:sp>
      <p:sp>
        <p:nvSpPr>
          <p:cNvPr name="TextBox 11" id="11"/>
          <p:cNvSpPr txBox="true"/>
          <p:nvPr/>
        </p:nvSpPr>
        <p:spPr>
          <a:xfrm rot="0">
            <a:off x="1203426" y="8440444"/>
            <a:ext cx="5336799"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COMPATIBILIDAD</a:t>
            </a:r>
          </a:p>
        </p:txBody>
      </p:sp>
      <p:sp>
        <p:nvSpPr>
          <p:cNvPr name="TextBox 12" id="12"/>
          <p:cNvSpPr txBox="true"/>
          <p:nvPr/>
        </p:nvSpPr>
        <p:spPr>
          <a:xfrm rot="0">
            <a:off x="7618378" y="6490979"/>
            <a:ext cx="4122913"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USABILIDAD</a:t>
            </a:r>
          </a:p>
        </p:txBody>
      </p:sp>
      <p:sp>
        <p:nvSpPr>
          <p:cNvPr name="TextBox 13" id="13"/>
          <p:cNvSpPr txBox="true"/>
          <p:nvPr/>
        </p:nvSpPr>
        <p:spPr>
          <a:xfrm rot="0">
            <a:off x="7618378" y="7438287"/>
            <a:ext cx="4122913"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FIABILIDAD</a:t>
            </a:r>
          </a:p>
        </p:txBody>
      </p:sp>
      <p:sp>
        <p:nvSpPr>
          <p:cNvPr name="TextBox 14" id="14"/>
          <p:cNvSpPr txBox="true"/>
          <p:nvPr/>
        </p:nvSpPr>
        <p:spPr>
          <a:xfrm rot="0">
            <a:off x="12800822" y="6490979"/>
            <a:ext cx="4122913"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SEGURIDAD</a:t>
            </a:r>
          </a:p>
        </p:txBody>
      </p:sp>
      <p:sp>
        <p:nvSpPr>
          <p:cNvPr name="TextBox 15" id="15"/>
          <p:cNvSpPr txBox="true"/>
          <p:nvPr/>
        </p:nvSpPr>
        <p:spPr>
          <a:xfrm rot="0">
            <a:off x="12112100" y="8383294"/>
            <a:ext cx="5281623"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MANTENIBILIDAD</a:t>
            </a:r>
          </a:p>
        </p:txBody>
      </p:sp>
      <p:sp>
        <p:nvSpPr>
          <p:cNvPr name="TextBox 16" id="16"/>
          <p:cNvSpPr txBox="true"/>
          <p:nvPr/>
        </p:nvSpPr>
        <p:spPr>
          <a:xfrm rot="0">
            <a:off x="12584621" y="7438287"/>
            <a:ext cx="4674679"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PORTABILIDAD</a:t>
            </a:r>
          </a:p>
        </p:txBody>
      </p:sp>
      <p:sp>
        <p:nvSpPr>
          <p:cNvPr name="Freeform 17" id="17"/>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538493" y="4161642"/>
            <a:ext cx="15211015" cy="1858941"/>
          </a:xfrm>
          <a:prstGeom prst="rect">
            <a:avLst/>
          </a:prstGeom>
        </p:spPr>
        <p:txBody>
          <a:bodyPr anchor="t" rtlCol="false" tIns="0" lIns="0" bIns="0" rIns="0">
            <a:spAutoFit/>
          </a:bodyPr>
          <a:lstStyle/>
          <a:p>
            <a:pPr algn="ctr">
              <a:lnSpc>
                <a:spcPts val="7471"/>
              </a:lnSpc>
              <a:spcBef>
                <a:spcPct val="0"/>
              </a:spcBef>
            </a:pPr>
            <a:r>
              <a:rPr lang="en-US" sz="5337">
                <a:solidFill>
                  <a:srgbClr val="F400BC"/>
                </a:solidFill>
                <a:latin typeface="HK Modular"/>
                <a:ea typeface="HK Modular"/>
                <a:cs typeface="HK Modular"/>
                <a:sym typeface="HK Modular"/>
              </a:rPr>
              <a:t>EPICA - FEATURE - HISTORIAS DE USUARIO Y TAREAS</a:t>
            </a:r>
          </a:p>
        </p:txBody>
      </p:sp>
      <p:sp>
        <p:nvSpPr>
          <p:cNvPr name="Freeform 13" id="13"/>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596881"/>
            <a:ext cx="16323777" cy="2018187"/>
          </a:xfrm>
          <a:prstGeom prst="rect">
            <a:avLst/>
          </a:prstGeom>
        </p:spPr>
        <p:txBody>
          <a:bodyPr anchor="t" rtlCol="false" tIns="0" lIns="0" bIns="0" rIns="0">
            <a:spAutoFit/>
          </a:bodyPr>
          <a:lstStyle/>
          <a:p>
            <a:pPr algn="ctr">
              <a:lnSpc>
                <a:spcPts val="8072"/>
              </a:lnSpc>
              <a:spcBef>
                <a:spcPct val="0"/>
              </a:spcBef>
            </a:pPr>
            <a:r>
              <a:rPr lang="en-US" sz="5766">
                <a:solidFill>
                  <a:srgbClr val="E78939"/>
                </a:solidFill>
                <a:latin typeface="HK Modular"/>
                <a:ea typeface="HK Modular"/>
                <a:cs typeface="HK Modular"/>
                <a:sym typeface="HK Modular"/>
              </a:rPr>
              <a:t>AGILE: NIVELES DE DESCOMPOSICIÓN DEL TRABAJO</a:t>
            </a:r>
          </a:p>
        </p:txBody>
      </p:sp>
      <p:sp>
        <p:nvSpPr>
          <p:cNvPr name="Freeform 7" id="7"/>
          <p:cNvSpPr/>
          <p:nvPr/>
        </p:nvSpPr>
        <p:spPr>
          <a:xfrm flipH="false" flipV="false" rot="0">
            <a:off x="7633321" y="3903962"/>
            <a:ext cx="9719156" cy="5673557"/>
          </a:xfrm>
          <a:custGeom>
            <a:avLst/>
            <a:gdLst/>
            <a:ahLst/>
            <a:cxnLst/>
            <a:rect r="r" b="b" t="t" l="l"/>
            <a:pathLst>
              <a:path h="5673557" w="9719156">
                <a:moveTo>
                  <a:pt x="0" y="0"/>
                </a:moveTo>
                <a:lnTo>
                  <a:pt x="9719156" y="0"/>
                </a:lnTo>
                <a:lnTo>
                  <a:pt x="9719156" y="5673558"/>
                </a:lnTo>
                <a:lnTo>
                  <a:pt x="0" y="5673558"/>
                </a:lnTo>
                <a:lnTo>
                  <a:pt x="0" y="0"/>
                </a:lnTo>
                <a:close/>
              </a:path>
            </a:pathLst>
          </a:custGeom>
          <a:blipFill>
            <a:blip r:embed="rId3"/>
            <a:stretch>
              <a:fillRect l="0" t="0" r="0" b="0"/>
            </a:stretch>
          </a:blipFill>
        </p:spPr>
      </p:sp>
      <p:sp>
        <p:nvSpPr>
          <p:cNvPr name="TextBox 8" id="8"/>
          <p:cNvSpPr txBox="true"/>
          <p:nvPr/>
        </p:nvSpPr>
        <p:spPr>
          <a:xfrm rot="0">
            <a:off x="1028700" y="4850556"/>
            <a:ext cx="5709500" cy="3156889"/>
          </a:xfrm>
          <a:prstGeom prst="rect">
            <a:avLst/>
          </a:prstGeom>
        </p:spPr>
        <p:txBody>
          <a:bodyPr anchor="t" rtlCol="false" tIns="0" lIns="0" bIns="0" rIns="0">
            <a:spAutoFit/>
          </a:bodyPr>
          <a:lstStyle/>
          <a:p>
            <a:pPr algn="ctr">
              <a:lnSpc>
                <a:spcPts val="5023"/>
              </a:lnSpc>
              <a:spcBef>
                <a:spcPct val="0"/>
              </a:spcBef>
            </a:pPr>
            <a:r>
              <a:rPr lang="en-US" sz="3588">
                <a:solidFill>
                  <a:srgbClr val="FFFFFF"/>
                </a:solidFill>
                <a:latin typeface="Poppins"/>
                <a:ea typeface="Poppins"/>
                <a:cs typeface="Poppins"/>
                <a:sym typeface="Poppins"/>
              </a:rPr>
              <a:t>Niveles de desglose del trabajo: desde lo más grande y estratégico hasta lo más pequeño y operativo.</a:t>
            </a:r>
          </a:p>
        </p:txBody>
      </p:sp>
      <p:sp>
        <p:nvSpPr>
          <p:cNvPr name="Freeform 9" id="9"/>
          <p:cNvSpPr/>
          <p:nvPr/>
        </p:nvSpPr>
        <p:spPr>
          <a:xfrm flipH="false" flipV="false" rot="0">
            <a:off x="7977668" y="-433200"/>
            <a:ext cx="2332663" cy="2332663"/>
          </a:xfrm>
          <a:custGeom>
            <a:avLst/>
            <a:gdLst/>
            <a:ahLst/>
            <a:cxnLst/>
            <a:rect r="r" b="b" t="t" l="l"/>
            <a:pathLst>
              <a:path h="2332663" w="2332663">
                <a:moveTo>
                  <a:pt x="0" y="0"/>
                </a:moveTo>
                <a:lnTo>
                  <a:pt x="2332664" y="0"/>
                </a:lnTo>
                <a:lnTo>
                  <a:pt x="2332664" y="2332664"/>
                </a:lnTo>
                <a:lnTo>
                  <a:pt x="0" y="2332664"/>
                </a:lnTo>
                <a:lnTo>
                  <a:pt x="0" y="0"/>
                </a:lnTo>
                <a:close/>
              </a:path>
            </a:pathLst>
          </a:custGeom>
          <a:blipFill>
            <a:blip r:embed="rId4"/>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EPICA</a:t>
            </a:r>
          </a:p>
        </p:txBody>
      </p:sp>
      <p:sp>
        <p:nvSpPr>
          <p:cNvPr name="TextBox 7" id="7"/>
          <p:cNvSpPr txBox="true"/>
          <p:nvPr/>
        </p:nvSpPr>
        <p:spPr>
          <a:xfrm rot="0">
            <a:off x="3517872" y="3356297"/>
            <a:ext cx="11217823" cy="1105024"/>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Es una gran iniciativa o necesidad de negocio que describe un objetivo amplio. Es demasiado grande para ser desarrollada en un solo sprint, por lo que debe dividirse en features y user stories</a:t>
            </a:r>
          </a:p>
        </p:txBody>
      </p:sp>
      <p:sp>
        <p:nvSpPr>
          <p:cNvPr name="TextBox 8" id="8"/>
          <p:cNvSpPr txBox="true"/>
          <p:nvPr/>
        </p:nvSpPr>
        <p:spPr>
          <a:xfrm rot="0">
            <a:off x="4387906" y="4832796"/>
            <a:ext cx="9477755" cy="647525"/>
          </a:xfrm>
          <a:prstGeom prst="rect">
            <a:avLst/>
          </a:prstGeom>
        </p:spPr>
        <p:txBody>
          <a:bodyPr anchor="t" rtlCol="false" tIns="0" lIns="0" bIns="0" rIns="0">
            <a:spAutoFit/>
          </a:bodyPr>
          <a:lstStyle/>
          <a:p>
            <a:pPr algn="ctr">
              <a:lnSpc>
                <a:spcPts val="5281"/>
              </a:lnSpc>
              <a:spcBef>
                <a:spcPct val="0"/>
              </a:spcBef>
            </a:pPr>
            <a:r>
              <a:rPr lang="en-US" sz="3772">
                <a:solidFill>
                  <a:srgbClr val="FA18C2"/>
                </a:solidFill>
                <a:latin typeface="HK Modular"/>
                <a:ea typeface="HK Modular"/>
                <a:cs typeface="HK Modular"/>
                <a:sym typeface="HK Modular"/>
              </a:rPr>
              <a:t>¿COMO SE GENERA?</a:t>
            </a:r>
          </a:p>
        </p:txBody>
      </p:sp>
      <p:sp>
        <p:nvSpPr>
          <p:cNvPr name="TextBox 9" id="9"/>
          <p:cNvSpPr txBox="true"/>
          <p:nvPr/>
        </p:nvSpPr>
        <p:spPr>
          <a:xfrm rot="0">
            <a:off x="3339212" y="5889896"/>
            <a:ext cx="11217823" cy="1098232"/>
          </a:xfrm>
          <a:prstGeom prst="rect">
            <a:avLst/>
          </a:prstGeom>
        </p:spPr>
        <p:txBody>
          <a:bodyPr anchor="t" rtlCol="false" tIns="0" lIns="0" bIns="0" rIns="0">
            <a:spAutoFit/>
          </a:bodyPr>
          <a:lstStyle/>
          <a:p>
            <a:pPr algn="ctr" marL="461489" indent="-230745" lvl="1">
              <a:lnSpc>
                <a:spcPts val="2992"/>
              </a:lnSpc>
              <a:buFont typeface="Arial"/>
              <a:buChar char="•"/>
            </a:pPr>
            <a:r>
              <a:rPr lang="en-US" sz="2137">
                <a:solidFill>
                  <a:srgbClr val="FFFFFF"/>
                </a:solidFill>
                <a:latin typeface="Open Sans"/>
                <a:ea typeface="Open Sans"/>
                <a:cs typeface="Open Sans"/>
                <a:sym typeface="Open Sans"/>
              </a:rPr>
              <a:t>Se origina desde la vision del producto o un objetivo estrategico de negocio</a:t>
            </a:r>
          </a:p>
          <a:p>
            <a:pPr algn="ctr" marL="461489" indent="-230745" lvl="1">
              <a:lnSpc>
                <a:spcPts val="2992"/>
              </a:lnSpc>
              <a:buFont typeface="Arial"/>
              <a:buChar char="•"/>
            </a:pPr>
            <a:r>
              <a:rPr lang="en-US" sz="2137">
                <a:solidFill>
                  <a:srgbClr val="FFFFFF"/>
                </a:solidFill>
                <a:latin typeface="Open Sans"/>
                <a:ea typeface="Open Sans"/>
                <a:cs typeface="Open Sans"/>
                <a:sym typeface="Open Sans"/>
              </a:rPr>
              <a:t>Normalmente la redactan product owners o stakeholders</a:t>
            </a:r>
          </a:p>
          <a:p>
            <a:pPr algn="ctr" marL="461489" indent="-230745" lvl="1">
              <a:lnSpc>
                <a:spcPts val="2992"/>
              </a:lnSpc>
              <a:buFont typeface="Arial"/>
              <a:buChar char="•"/>
            </a:pPr>
            <a:r>
              <a:rPr lang="en-US" sz="2137">
                <a:solidFill>
                  <a:srgbClr val="FFFFFF"/>
                </a:solidFill>
                <a:latin typeface="Open Sans"/>
                <a:ea typeface="Open Sans"/>
                <a:cs typeface="Open Sans"/>
                <a:sym typeface="Open Sans"/>
              </a:rPr>
              <a:t>Sirve como contenedor de funcionalidades relacionadas</a:t>
            </a:r>
          </a:p>
        </p:txBody>
      </p:sp>
      <p:sp>
        <p:nvSpPr>
          <p:cNvPr name="TextBox 10" id="10"/>
          <p:cNvSpPr txBox="true"/>
          <p:nvPr/>
        </p:nvSpPr>
        <p:spPr>
          <a:xfrm rot="0">
            <a:off x="4387906" y="7428762"/>
            <a:ext cx="9477755" cy="647525"/>
          </a:xfrm>
          <a:prstGeom prst="rect">
            <a:avLst/>
          </a:prstGeom>
        </p:spPr>
        <p:txBody>
          <a:bodyPr anchor="t" rtlCol="false" tIns="0" lIns="0" bIns="0" rIns="0">
            <a:spAutoFit/>
          </a:bodyPr>
          <a:lstStyle/>
          <a:p>
            <a:pPr algn="ctr">
              <a:lnSpc>
                <a:spcPts val="5281"/>
              </a:lnSpc>
              <a:spcBef>
                <a:spcPct val="0"/>
              </a:spcBef>
            </a:pPr>
            <a:r>
              <a:rPr lang="en-US" sz="3772">
                <a:solidFill>
                  <a:srgbClr val="FA18C2"/>
                </a:solidFill>
                <a:latin typeface="HK Modular"/>
                <a:ea typeface="HK Modular"/>
                <a:cs typeface="HK Modular"/>
                <a:sym typeface="HK Modular"/>
              </a:rPr>
              <a:t>EJEMPLO</a:t>
            </a:r>
          </a:p>
        </p:txBody>
      </p:sp>
      <p:sp>
        <p:nvSpPr>
          <p:cNvPr name="TextBox 11" id="11"/>
          <p:cNvSpPr txBox="true"/>
          <p:nvPr/>
        </p:nvSpPr>
        <p:spPr>
          <a:xfrm rot="0">
            <a:off x="3517872" y="8343260"/>
            <a:ext cx="11217823" cy="726757"/>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“Un cliente de un banco digital desea poder realizar pagos moviles para no depender de ir a una sucursal fisica”</a:t>
            </a:r>
          </a:p>
        </p:txBody>
      </p:sp>
      <p:sp>
        <p:nvSpPr>
          <p:cNvPr name="Freeform 12" id="12"/>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
        <p:nvSpPr>
          <p:cNvPr name="TextBox 13" id="13"/>
          <p:cNvSpPr txBox="true"/>
          <p:nvPr/>
        </p:nvSpPr>
        <p:spPr>
          <a:xfrm rot="0">
            <a:off x="3339212" y="9220200"/>
            <a:ext cx="11217823" cy="355282"/>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“Sistema para gestionar horarios”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FEATURE</a:t>
            </a:r>
          </a:p>
        </p:txBody>
      </p:sp>
      <p:sp>
        <p:nvSpPr>
          <p:cNvPr name="TextBox 7" id="7"/>
          <p:cNvSpPr txBox="true"/>
          <p:nvPr/>
        </p:nvSpPr>
        <p:spPr>
          <a:xfrm rot="0">
            <a:off x="3517872" y="3356297"/>
            <a:ext cx="11217823" cy="731285"/>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Es una funcionalidad concreta que aporta valor y ayuda a cumplir la epica. Puede completarse en varios sprints, pero es mas pequeña y especifica que la epica</a:t>
            </a:r>
          </a:p>
        </p:txBody>
      </p:sp>
      <p:sp>
        <p:nvSpPr>
          <p:cNvPr name="TextBox 8" id="8"/>
          <p:cNvSpPr txBox="true"/>
          <p:nvPr/>
        </p:nvSpPr>
        <p:spPr>
          <a:xfrm rot="0">
            <a:off x="4387906" y="4832796"/>
            <a:ext cx="9477755" cy="647525"/>
          </a:xfrm>
          <a:prstGeom prst="rect">
            <a:avLst/>
          </a:prstGeom>
        </p:spPr>
        <p:txBody>
          <a:bodyPr anchor="t" rtlCol="false" tIns="0" lIns="0" bIns="0" rIns="0">
            <a:spAutoFit/>
          </a:bodyPr>
          <a:lstStyle/>
          <a:p>
            <a:pPr algn="ctr">
              <a:lnSpc>
                <a:spcPts val="5281"/>
              </a:lnSpc>
              <a:spcBef>
                <a:spcPct val="0"/>
              </a:spcBef>
            </a:pPr>
            <a:r>
              <a:rPr lang="en-US" sz="3772">
                <a:solidFill>
                  <a:srgbClr val="FA18C2"/>
                </a:solidFill>
                <a:latin typeface="HK Modular"/>
                <a:ea typeface="HK Modular"/>
                <a:cs typeface="HK Modular"/>
                <a:sym typeface="HK Modular"/>
              </a:rPr>
              <a:t>¿COMO SE GENERA?</a:t>
            </a:r>
          </a:p>
        </p:txBody>
      </p:sp>
      <p:sp>
        <p:nvSpPr>
          <p:cNvPr name="TextBox 9" id="9"/>
          <p:cNvSpPr txBox="true"/>
          <p:nvPr/>
        </p:nvSpPr>
        <p:spPr>
          <a:xfrm rot="0">
            <a:off x="3339212" y="5889896"/>
            <a:ext cx="11217823" cy="1102995"/>
          </a:xfrm>
          <a:prstGeom prst="rect">
            <a:avLst/>
          </a:prstGeom>
        </p:spPr>
        <p:txBody>
          <a:bodyPr anchor="t" rtlCol="false" tIns="0" lIns="0" bIns="0" rIns="0">
            <a:spAutoFit/>
          </a:bodyPr>
          <a:lstStyle/>
          <a:p>
            <a:pPr algn="ctr" marL="461489" indent="-230745" lvl="1">
              <a:lnSpc>
                <a:spcPts val="2992"/>
              </a:lnSpc>
              <a:buFont typeface="Arial"/>
              <a:buChar char="•"/>
            </a:pPr>
            <a:r>
              <a:rPr lang="en-US" sz="2137">
                <a:solidFill>
                  <a:srgbClr val="FFFFFF"/>
                </a:solidFill>
                <a:latin typeface="Open Sans"/>
                <a:ea typeface="Open Sans"/>
                <a:cs typeface="Open Sans"/>
                <a:sym typeface="Open Sans"/>
              </a:rPr>
              <a:t>Se deriva de la epica dividiendo en partes mas manejables</a:t>
            </a:r>
          </a:p>
          <a:p>
            <a:pPr algn="ctr" marL="461489" indent="-230745" lvl="1">
              <a:lnSpc>
                <a:spcPts val="2992"/>
              </a:lnSpc>
              <a:buFont typeface="Arial"/>
              <a:buChar char="•"/>
            </a:pPr>
            <a:r>
              <a:rPr lang="en-US" sz="2137">
                <a:solidFill>
                  <a:srgbClr val="FFFFFF"/>
                </a:solidFill>
                <a:latin typeface="Open Sans"/>
                <a:ea typeface="Open Sans"/>
                <a:cs typeface="Open Sans"/>
                <a:sym typeface="Open Sans"/>
              </a:rPr>
              <a:t>La define normalmente el product owner junto con el equipo tecnico</a:t>
            </a:r>
          </a:p>
          <a:p>
            <a:pPr algn="ctr" marL="461489" indent="-230745" lvl="1">
              <a:lnSpc>
                <a:spcPts val="2992"/>
              </a:lnSpc>
              <a:buFont typeface="Arial"/>
              <a:buChar char="•"/>
            </a:pPr>
            <a:r>
              <a:rPr lang="en-US" sz="2137">
                <a:solidFill>
                  <a:srgbClr val="FFFFFF"/>
                </a:solidFill>
                <a:latin typeface="Open Sans"/>
                <a:ea typeface="Open Sans"/>
                <a:cs typeface="Open Sans"/>
                <a:sym typeface="Open Sans"/>
              </a:rPr>
              <a:t>Cada feature se descompone en historias de usuario</a:t>
            </a:r>
          </a:p>
        </p:txBody>
      </p:sp>
      <p:sp>
        <p:nvSpPr>
          <p:cNvPr name="TextBox 10" id="10"/>
          <p:cNvSpPr txBox="true"/>
          <p:nvPr/>
        </p:nvSpPr>
        <p:spPr>
          <a:xfrm rot="0">
            <a:off x="4387906" y="7612684"/>
            <a:ext cx="9477755" cy="647525"/>
          </a:xfrm>
          <a:prstGeom prst="rect">
            <a:avLst/>
          </a:prstGeom>
        </p:spPr>
        <p:txBody>
          <a:bodyPr anchor="t" rtlCol="false" tIns="0" lIns="0" bIns="0" rIns="0">
            <a:spAutoFit/>
          </a:bodyPr>
          <a:lstStyle/>
          <a:p>
            <a:pPr algn="ctr">
              <a:lnSpc>
                <a:spcPts val="5281"/>
              </a:lnSpc>
              <a:spcBef>
                <a:spcPct val="0"/>
              </a:spcBef>
            </a:pPr>
            <a:r>
              <a:rPr lang="en-US" sz="3772">
                <a:solidFill>
                  <a:srgbClr val="FA18C2"/>
                </a:solidFill>
                <a:latin typeface="HK Modular"/>
                <a:ea typeface="HK Modular"/>
                <a:cs typeface="HK Modular"/>
                <a:sym typeface="HK Modular"/>
              </a:rPr>
              <a:t>EJEMPLO</a:t>
            </a:r>
          </a:p>
        </p:txBody>
      </p:sp>
      <p:sp>
        <p:nvSpPr>
          <p:cNvPr name="TextBox 11" id="11"/>
          <p:cNvSpPr txBox="true"/>
          <p:nvPr/>
        </p:nvSpPr>
        <p:spPr>
          <a:xfrm rot="0">
            <a:off x="3517872" y="8531543"/>
            <a:ext cx="11217823" cy="355282"/>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“Implementar pagos a traves de codigo QR desde la aplicacion movil”</a:t>
            </a:r>
          </a:p>
        </p:txBody>
      </p:sp>
      <p:sp>
        <p:nvSpPr>
          <p:cNvPr name="Freeform 12" id="12"/>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
        <p:nvSpPr>
          <p:cNvPr name="TextBox 13" id="13"/>
          <p:cNvSpPr txBox="true"/>
          <p:nvPr/>
        </p:nvSpPr>
        <p:spPr>
          <a:xfrm rot="0">
            <a:off x="3339212" y="9220200"/>
            <a:ext cx="11217823" cy="355282"/>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“Modulo de gestion de materias”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HISTORIA DE USUARIO</a:t>
            </a:r>
          </a:p>
        </p:txBody>
      </p:sp>
      <p:sp>
        <p:nvSpPr>
          <p:cNvPr name="TextBox 7" id="7"/>
          <p:cNvSpPr txBox="true"/>
          <p:nvPr/>
        </p:nvSpPr>
        <p:spPr>
          <a:xfrm rot="0">
            <a:off x="3517872" y="3356297"/>
            <a:ext cx="11217823" cy="731285"/>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Una historia de usuario es la unidad más pequeña de trabajo en un backlog ágil. Representa una necesidad específica del usuario final, escrita desde su perspectiva.</a:t>
            </a:r>
          </a:p>
        </p:txBody>
      </p:sp>
      <p:sp>
        <p:nvSpPr>
          <p:cNvPr name="TextBox 8" id="8"/>
          <p:cNvSpPr txBox="true"/>
          <p:nvPr/>
        </p:nvSpPr>
        <p:spPr>
          <a:xfrm rot="0">
            <a:off x="4387906" y="4832796"/>
            <a:ext cx="9477755" cy="647525"/>
          </a:xfrm>
          <a:prstGeom prst="rect">
            <a:avLst/>
          </a:prstGeom>
        </p:spPr>
        <p:txBody>
          <a:bodyPr anchor="t" rtlCol="false" tIns="0" lIns="0" bIns="0" rIns="0">
            <a:spAutoFit/>
          </a:bodyPr>
          <a:lstStyle/>
          <a:p>
            <a:pPr algn="ctr">
              <a:lnSpc>
                <a:spcPts val="5281"/>
              </a:lnSpc>
              <a:spcBef>
                <a:spcPct val="0"/>
              </a:spcBef>
            </a:pPr>
            <a:r>
              <a:rPr lang="en-US" sz="3772">
                <a:solidFill>
                  <a:srgbClr val="F400BC"/>
                </a:solidFill>
                <a:latin typeface="HK Modular"/>
                <a:ea typeface="HK Modular"/>
                <a:cs typeface="HK Modular"/>
                <a:sym typeface="HK Modular"/>
              </a:rPr>
              <a:t>¿COMO SE GENERA?</a:t>
            </a:r>
          </a:p>
        </p:txBody>
      </p:sp>
      <p:sp>
        <p:nvSpPr>
          <p:cNvPr name="TextBox 9" id="9"/>
          <p:cNvSpPr txBox="true"/>
          <p:nvPr/>
        </p:nvSpPr>
        <p:spPr>
          <a:xfrm rot="0">
            <a:off x="3339212" y="5889896"/>
            <a:ext cx="11217823" cy="1098232"/>
          </a:xfrm>
          <a:prstGeom prst="rect">
            <a:avLst/>
          </a:prstGeom>
        </p:spPr>
        <p:txBody>
          <a:bodyPr anchor="t" rtlCol="false" tIns="0" lIns="0" bIns="0" rIns="0">
            <a:spAutoFit/>
          </a:bodyPr>
          <a:lstStyle/>
          <a:p>
            <a:pPr algn="ctr" marL="461489" indent="-230745" lvl="1">
              <a:lnSpc>
                <a:spcPts val="2992"/>
              </a:lnSpc>
              <a:buFont typeface="Arial"/>
              <a:buChar char="•"/>
            </a:pPr>
            <a:r>
              <a:rPr lang="en-US" sz="2137">
                <a:solidFill>
                  <a:srgbClr val="FFFFFF"/>
                </a:solidFill>
                <a:latin typeface="Open Sans"/>
                <a:ea typeface="Open Sans"/>
                <a:cs typeface="Open Sans"/>
                <a:sym typeface="Open Sans"/>
              </a:rPr>
              <a:t>Se deriva de una feature.</a:t>
            </a:r>
          </a:p>
          <a:p>
            <a:pPr algn="ctr" marL="461489" indent="-230745" lvl="1">
              <a:lnSpc>
                <a:spcPts val="2992"/>
              </a:lnSpc>
              <a:buFont typeface="Arial"/>
              <a:buChar char="•"/>
            </a:pPr>
            <a:r>
              <a:rPr lang="en-US" sz="2137">
                <a:solidFill>
                  <a:srgbClr val="FFFFFF"/>
                </a:solidFill>
                <a:latin typeface="Open Sans"/>
                <a:ea typeface="Open Sans"/>
                <a:cs typeface="Open Sans"/>
                <a:sym typeface="Open Sans"/>
              </a:rPr>
              <a:t>Se redacta en formato: Como [rol], quiero [funcionalidad], para [beneficio]</a:t>
            </a:r>
          </a:p>
          <a:p>
            <a:pPr algn="ctr" marL="461489" indent="-230745" lvl="1">
              <a:lnSpc>
                <a:spcPts val="2992"/>
              </a:lnSpc>
              <a:buFont typeface="Arial"/>
              <a:buChar char="•"/>
            </a:pPr>
            <a:r>
              <a:rPr lang="en-US" sz="2137">
                <a:solidFill>
                  <a:srgbClr val="FFFFFF"/>
                </a:solidFill>
                <a:latin typeface="Open Sans"/>
                <a:ea typeface="Open Sans"/>
                <a:cs typeface="Open Sans"/>
                <a:sym typeface="Open Sans"/>
              </a:rPr>
              <a:t>La complementan criterios de aceptación para saber cuándo está terminada.</a:t>
            </a:r>
          </a:p>
        </p:txBody>
      </p:sp>
      <p:sp>
        <p:nvSpPr>
          <p:cNvPr name="TextBox 10" id="10"/>
          <p:cNvSpPr txBox="true"/>
          <p:nvPr/>
        </p:nvSpPr>
        <p:spPr>
          <a:xfrm rot="0">
            <a:off x="4387906" y="7612684"/>
            <a:ext cx="9477755" cy="647525"/>
          </a:xfrm>
          <a:prstGeom prst="rect">
            <a:avLst/>
          </a:prstGeom>
        </p:spPr>
        <p:txBody>
          <a:bodyPr anchor="t" rtlCol="false" tIns="0" lIns="0" bIns="0" rIns="0">
            <a:spAutoFit/>
          </a:bodyPr>
          <a:lstStyle/>
          <a:p>
            <a:pPr algn="ctr">
              <a:lnSpc>
                <a:spcPts val="5281"/>
              </a:lnSpc>
              <a:spcBef>
                <a:spcPct val="0"/>
              </a:spcBef>
            </a:pPr>
            <a:r>
              <a:rPr lang="en-US" sz="3772">
                <a:solidFill>
                  <a:srgbClr val="F400BC"/>
                </a:solidFill>
                <a:latin typeface="HK Modular"/>
                <a:ea typeface="HK Modular"/>
                <a:cs typeface="HK Modular"/>
                <a:sym typeface="HK Modular"/>
              </a:rPr>
              <a:t>EJEMPLO</a:t>
            </a:r>
          </a:p>
        </p:txBody>
      </p:sp>
      <p:sp>
        <p:nvSpPr>
          <p:cNvPr name="TextBox 11" id="11"/>
          <p:cNvSpPr txBox="true"/>
          <p:nvPr/>
        </p:nvSpPr>
        <p:spPr>
          <a:xfrm rot="0">
            <a:off x="3535089" y="8403084"/>
            <a:ext cx="11217823" cy="726757"/>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“Como cliente quiero escanear un codigo QR desde la camara de mi celular para pagar rapidamente sin ingresar datos manuales”</a:t>
            </a:r>
          </a:p>
        </p:txBody>
      </p:sp>
      <p:sp>
        <p:nvSpPr>
          <p:cNvPr name="Freeform 12" id="12"/>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
        <p:nvSpPr>
          <p:cNvPr name="TextBox 13" id="13"/>
          <p:cNvSpPr txBox="true"/>
          <p:nvPr/>
        </p:nvSpPr>
        <p:spPr>
          <a:xfrm rot="0">
            <a:off x="5952824" y="9356366"/>
            <a:ext cx="6347919" cy="715595"/>
          </a:xfrm>
          <a:prstGeom prst="rect">
            <a:avLst/>
          </a:prstGeom>
        </p:spPr>
        <p:txBody>
          <a:bodyPr anchor="t" rtlCol="false" tIns="0" lIns="0" bIns="0" rIns="0">
            <a:spAutoFit/>
          </a:bodyPr>
          <a:lstStyle/>
          <a:p>
            <a:pPr algn="ctr">
              <a:lnSpc>
                <a:spcPts val="2839"/>
              </a:lnSpc>
            </a:pPr>
            <a:r>
              <a:rPr lang="en-US" sz="2028">
                <a:solidFill>
                  <a:srgbClr val="FFFFFF"/>
                </a:solidFill>
                <a:latin typeface="Poppins"/>
                <a:ea typeface="Poppins"/>
                <a:cs typeface="Poppins"/>
                <a:sym typeface="Poppins"/>
              </a:rPr>
              <a:t>Como Director de Centro quiero crear una materia en el sistema.</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TAREA</a:t>
            </a:r>
          </a:p>
        </p:txBody>
      </p:sp>
      <p:sp>
        <p:nvSpPr>
          <p:cNvPr name="TextBox 7" id="7"/>
          <p:cNvSpPr txBox="true"/>
          <p:nvPr/>
        </p:nvSpPr>
        <p:spPr>
          <a:xfrm rot="0">
            <a:off x="3517872" y="3337247"/>
            <a:ext cx="11217823" cy="745807"/>
          </a:xfrm>
          <a:prstGeom prst="rect">
            <a:avLst/>
          </a:prstGeom>
        </p:spPr>
        <p:txBody>
          <a:bodyPr anchor="t" rtlCol="false" tIns="0" lIns="0" bIns="0" rIns="0">
            <a:spAutoFit/>
          </a:bodyPr>
          <a:lstStyle/>
          <a:p>
            <a:pPr algn="ctr">
              <a:lnSpc>
                <a:spcPts val="2992"/>
              </a:lnSpc>
            </a:pPr>
            <a:r>
              <a:rPr lang="en-US" sz="2137">
                <a:solidFill>
                  <a:srgbClr val="FFFFFF"/>
                </a:solidFill>
                <a:latin typeface="Poppins"/>
                <a:ea typeface="Poppins"/>
                <a:cs typeface="Poppins"/>
                <a:sym typeface="Poppins"/>
              </a:rPr>
              <a:t>Son las acciones técnicas </a:t>
            </a:r>
            <a:r>
              <a:rPr lang="en-US" sz="2137">
                <a:solidFill>
                  <a:srgbClr val="FFFFFF"/>
                </a:solidFill>
                <a:latin typeface="Poppins"/>
                <a:ea typeface="Poppins"/>
                <a:cs typeface="Poppins"/>
                <a:sym typeface="Poppins"/>
              </a:rPr>
              <a:t>específicas necesarias para completar una historia de usuario.</a:t>
            </a:r>
          </a:p>
        </p:txBody>
      </p:sp>
      <p:sp>
        <p:nvSpPr>
          <p:cNvPr name="TextBox 8" id="8"/>
          <p:cNvSpPr txBox="true"/>
          <p:nvPr/>
        </p:nvSpPr>
        <p:spPr>
          <a:xfrm rot="0">
            <a:off x="4387906" y="4832796"/>
            <a:ext cx="9477755" cy="647525"/>
          </a:xfrm>
          <a:prstGeom prst="rect">
            <a:avLst/>
          </a:prstGeom>
        </p:spPr>
        <p:txBody>
          <a:bodyPr anchor="t" rtlCol="false" tIns="0" lIns="0" bIns="0" rIns="0">
            <a:spAutoFit/>
          </a:bodyPr>
          <a:lstStyle/>
          <a:p>
            <a:pPr algn="ctr">
              <a:lnSpc>
                <a:spcPts val="5281"/>
              </a:lnSpc>
              <a:spcBef>
                <a:spcPct val="0"/>
              </a:spcBef>
            </a:pPr>
            <a:r>
              <a:rPr lang="en-US" sz="3772">
                <a:solidFill>
                  <a:srgbClr val="F400BC"/>
                </a:solidFill>
                <a:latin typeface="HK Modular"/>
                <a:ea typeface="HK Modular"/>
                <a:cs typeface="HK Modular"/>
                <a:sym typeface="HK Modular"/>
              </a:rPr>
              <a:t>¿COMO SE GENERA?</a:t>
            </a:r>
          </a:p>
        </p:txBody>
      </p:sp>
      <p:sp>
        <p:nvSpPr>
          <p:cNvPr name="TextBox 9" id="9"/>
          <p:cNvSpPr txBox="true"/>
          <p:nvPr/>
        </p:nvSpPr>
        <p:spPr>
          <a:xfrm rot="0">
            <a:off x="3339212" y="5889896"/>
            <a:ext cx="11217823" cy="726757"/>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Nivel alto de detalle</a:t>
            </a:r>
          </a:p>
          <a:p>
            <a:pPr algn="ctr">
              <a:lnSpc>
                <a:spcPts val="2992"/>
              </a:lnSpc>
            </a:pPr>
            <a:r>
              <a:rPr lang="en-US" sz="2137">
                <a:solidFill>
                  <a:srgbClr val="FFFFFF"/>
                </a:solidFill>
                <a:latin typeface="Open Sans"/>
                <a:ea typeface="Open Sans"/>
                <a:cs typeface="Open Sans"/>
                <a:sym typeface="Open Sans"/>
              </a:rPr>
              <a:t>Asignable a una persona</a:t>
            </a:r>
          </a:p>
        </p:txBody>
      </p:sp>
      <p:sp>
        <p:nvSpPr>
          <p:cNvPr name="TextBox 10" id="10"/>
          <p:cNvSpPr txBox="true"/>
          <p:nvPr/>
        </p:nvSpPr>
        <p:spPr>
          <a:xfrm rot="0">
            <a:off x="4387906" y="7143099"/>
            <a:ext cx="9477755" cy="647525"/>
          </a:xfrm>
          <a:prstGeom prst="rect">
            <a:avLst/>
          </a:prstGeom>
        </p:spPr>
        <p:txBody>
          <a:bodyPr anchor="t" rtlCol="false" tIns="0" lIns="0" bIns="0" rIns="0">
            <a:spAutoFit/>
          </a:bodyPr>
          <a:lstStyle/>
          <a:p>
            <a:pPr algn="ctr">
              <a:lnSpc>
                <a:spcPts val="5281"/>
              </a:lnSpc>
              <a:spcBef>
                <a:spcPct val="0"/>
              </a:spcBef>
            </a:pPr>
            <a:r>
              <a:rPr lang="en-US" sz="3772">
                <a:solidFill>
                  <a:srgbClr val="F400BC"/>
                </a:solidFill>
                <a:latin typeface="HK Modular"/>
                <a:ea typeface="HK Modular"/>
                <a:cs typeface="HK Modular"/>
                <a:sym typeface="HK Modular"/>
              </a:rPr>
              <a:t>EJEMPLO</a:t>
            </a:r>
          </a:p>
        </p:txBody>
      </p:sp>
      <p:sp>
        <p:nvSpPr>
          <p:cNvPr name="Freeform 11" id="11"/>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
        <p:nvSpPr>
          <p:cNvPr name="TextBox 12" id="12"/>
          <p:cNvSpPr txBox="true"/>
          <p:nvPr/>
        </p:nvSpPr>
        <p:spPr>
          <a:xfrm rot="0">
            <a:off x="4079808" y="7733474"/>
            <a:ext cx="9477755" cy="2135516"/>
          </a:xfrm>
          <a:prstGeom prst="rect">
            <a:avLst/>
          </a:prstGeom>
        </p:spPr>
        <p:txBody>
          <a:bodyPr anchor="t" rtlCol="false" tIns="0" lIns="0" bIns="0" rIns="0">
            <a:spAutoFit/>
          </a:bodyPr>
          <a:lstStyle/>
          <a:p>
            <a:pPr algn="ctr">
              <a:lnSpc>
                <a:spcPts val="2839"/>
              </a:lnSpc>
            </a:pPr>
          </a:p>
          <a:p>
            <a:pPr algn="ctr" marL="437875" indent="-218938" lvl="1">
              <a:lnSpc>
                <a:spcPts val="2839"/>
              </a:lnSpc>
              <a:buFont typeface="Arial"/>
              <a:buChar char="•"/>
            </a:pPr>
            <a:r>
              <a:rPr lang="en-US" sz="2028">
                <a:solidFill>
                  <a:srgbClr val="FFFFFF"/>
                </a:solidFill>
                <a:latin typeface="Poppins"/>
                <a:ea typeface="Poppins"/>
                <a:cs typeface="Poppins"/>
                <a:sym typeface="Poppins"/>
              </a:rPr>
              <a:t>Crear la tabla materia con los datos ...</a:t>
            </a:r>
          </a:p>
          <a:p>
            <a:pPr algn="ctr" marL="437875" indent="-218938" lvl="1">
              <a:lnSpc>
                <a:spcPts val="2839"/>
              </a:lnSpc>
              <a:buFont typeface="Arial"/>
              <a:buChar char="•"/>
            </a:pPr>
            <a:r>
              <a:rPr lang="en-US" sz="2028">
                <a:solidFill>
                  <a:srgbClr val="FFFFFF"/>
                </a:solidFill>
                <a:latin typeface="Poppins"/>
                <a:ea typeface="Poppins"/>
                <a:cs typeface="Poppins"/>
                <a:sym typeface="Poppins"/>
              </a:rPr>
              <a:t>Implementar la lógica para crear una materia.</a:t>
            </a:r>
          </a:p>
          <a:p>
            <a:pPr algn="ctr" marL="437875" indent="-218938" lvl="1">
              <a:lnSpc>
                <a:spcPts val="2839"/>
              </a:lnSpc>
              <a:buFont typeface="Arial"/>
              <a:buChar char="•"/>
            </a:pPr>
            <a:r>
              <a:rPr lang="en-US" sz="2028">
                <a:solidFill>
                  <a:srgbClr val="FFFFFF"/>
                </a:solidFill>
                <a:latin typeface="Poppins"/>
                <a:ea typeface="Poppins"/>
                <a:cs typeface="Poppins"/>
                <a:sym typeface="Poppins"/>
              </a:rPr>
              <a:t>Integrar la base de datos con el backed.</a:t>
            </a:r>
          </a:p>
          <a:p>
            <a:pPr algn="ctr" marL="437875" indent="-218938" lvl="1">
              <a:lnSpc>
                <a:spcPts val="2839"/>
              </a:lnSpc>
              <a:buFont typeface="Arial"/>
              <a:buChar char="•"/>
            </a:pPr>
            <a:r>
              <a:rPr lang="en-US" sz="2028">
                <a:solidFill>
                  <a:srgbClr val="FFFFFF"/>
                </a:solidFill>
                <a:latin typeface="Poppins"/>
                <a:ea typeface="Poppins"/>
                <a:cs typeface="Poppins"/>
                <a:sym typeface="Poppins"/>
              </a:rPr>
              <a:t>Implementar la pantalla para la creación de una materia.</a:t>
            </a:r>
          </a:p>
          <a:p>
            <a:pPr algn="ctr">
              <a:lnSpc>
                <a:spcPts val="2839"/>
              </a:lnSpc>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018464" y="3968774"/>
            <a:ext cx="14344250" cy="5002557"/>
          </a:xfrm>
          <a:custGeom>
            <a:avLst/>
            <a:gdLst/>
            <a:ahLst/>
            <a:cxnLst/>
            <a:rect r="r" b="b" t="t" l="l"/>
            <a:pathLst>
              <a:path h="5002557" w="14344250">
                <a:moveTo>
                  <a:pt x="0" y="0"/>
                </a:moveTo>
                <a:lnTo>
                  <a:pt x="14344250" y="0"/>
                </a:lnTo>
                <a:lnTo>
                  <a:pt x="14344250" y="5002558"/>
                </a:lnTo>
                <a:lnTo>
                  <a:pt x="0" y="5002558"/>
                </a:lnTo>
                <a:lnTo>
                  <a:pt x="0" y="0"/>
                </a:lnTo>
                <a:close/>
              </a:path>
            </a:pathLst>
          </a:custGeom>
          <a:blipFill>
            <a:blip r:embed="rId3"/>
            <a:stretch>
              <a:fillRect l="0" t="0" r="0" b="0"/>
            </a:stretch>
          </a:blipFill>
        </p:spPr>
      </p:sp>
      <p:sp>
        <p:nvSpPr>
          <p:cNvPr name="TextBox 7" id="7"/>
          <p:cNvSpPr txBox="true"/>
          <p:nvPr/>
        </p:nvSpPr>
        <p:spPr>
          <a:xfrm rot="0">
            <a:off x="1028700" y="1615931"/>
            <a:ext cx="16323777" cy="1562957"/>
          </a:xfrm>
          <a:prstGeom prst="rect">
            <a:avLst/>
          </a:prstGeom>
        </p:spPr>
        <p:txBody>
          <a:bodyPr anchor="t" rtlCol="false" tIns="0" lIns="0" bIns="0" rIns="0">
            <a:spAutoFit/>
          </a:bodyPr>
          <a:lstStyle/>
          <a:p>
            <a:pPr algn="ctr">
              <a:lnSpc>
                <a:spcPts val="6252"/>
              </a:lnSpc>
              <a:spcBef>
                <a:spcPct val="0"/>
              </a:spcBef>
            </a:pPr>
            <a:r>
              <a:rPr lang="en-US" sz="4466">
                <a:solidFill>
                  <a:srgbClr val="DD7E28"/>
                </a:solidFill>
                <a:latin typeface="HK Modular"/>
                <a:ea typeface="HK Modular"/>
                <a:cs typeface="HK Modular"/>
                <a:sym typeface="HK Modular"/>
              </a:rPr>
              <a:t>AGILE: NIVELES DE DESCOMPOSICIÓN DEL TRABAJO</a:t>
            </a:r>
          </a:p>
        </p:txBody>
      </p:sp>
      <p:sp>
        <p:nvSpPr>
          <p:cNvPr name="Freeform 8" id="8"/>
          <p:cNvSpPr/>
          <p:nvPr/>
        </p:nvSpPr>
        <p:spPr>
          <a:xfrm flipH="false" flipV="false" rot="0">
            <a:off x="7976880" y="-364733"/>
            <a:ext cx="2427418" cy="2427418"/>
          </a:xfrm>
          <a:custGeom>
            <a:avLst/>
            <a:gdLst/>
            <a:ahLst/>
            <a:cxnLst/>
            <a:rect r="r" b="b" t="t" l="l"/>
            <a:pathLst>
              <a:path h="2427418" w="2427418">
                <a:moveTo>
                  <a:pt x="0" y="0"/>
                </a:moveTo>
                <a:lnTo>
                  <a:pt x="2427418" y="0"/>
                </a:lnTo>
                <a:lnTo>
                  <a:pt x="2427418" y="2427418"/>
                </a:lnTo>
                <a:lnTo>
                  <a:pt x="0" y="2427418"/>
                </a:lnTo>
                <a:lnTo>
                  <a:pt x="0" y="0"/>
                </a:lnTo>
                <a:close/>
              </a:path>
            </a:pathLst>
          </a:custGeom>
          <a:blipFill>
            <a:blip r:embed="rId4"/>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325875" y="779253"/>
            <a:ext cx="4753215" cy="3059882"/>
          </a:xfrm>
          <a:custGeom>
            <a:avLst/>
            <a:gdLst/>
            <a:ahLst/>
            <a:cxnLst/>
            <a:rect r="r" b="b" t="t" l="l"/>
            <a:pathLst>
              <a:path h="3059882" w="4753215">
                <a:moveTo>
                  <a:pt x="0" y="0"/>
                </a:moveTo>
                <a:lnTo>
                  <a:pt x="4753214" y="0"/>
                </a:lnTo>
                <a:lnTo>
                  <a:pt x="4753214" y="3059882"/>
                </a:lnTo>
                <a:lnTo>
                  <a:pt x="0" y="3059882"/>
                </a:lnTo>
                <a:lnTo>
                  <a:pt x="0" y="0"/>
                </a:lnTo>
                <a:close/>
              </a:path>
            </a:pathLst>
          </a:custGeom>
          <a:blipFill>
            <a:blip r:embed="rId3"/>
            <a:stretch>
              <a:fillRect l="0" t="0" r="0" b="0"/>
            </a:stretch>
          </a:blipFill>
        </p:spPr>
      </p:sp>
      <p:sp>
        <p:nvSpPr>
          <p:cNvPr name="TextBox 7" id="7"/>
          <p:cNvSpPr txBox="true"/>
          <p:nvPr/>
        </p:nvSpPr>
        <p:spPr>
          <a:xfrm rot="0">
            <a:off x="6763876" y="2213944"/>
            <a:ext cx="4760247" cy="772382"/>
          </a:xfrm>
          <a:prstGeom prst="rect">
            <a:avLst/>
          </a:prstGeom>
        </p:spPr>
        <p:txBody>
          <a:bodyPr anchor="t" rtlCol="false" tIns="0" lIns="0" bIns="0" rIns="0">
            <a:spAutoFit/>
          </a:bodyPr>
          <a:lstStyle/>
          <a:p>
            <a:pPr algn="l">
              <a:lnSpc>
                <a:spcPts val="6252"/>
              </a:lnSpc>
              <a:spcBef>
                <a:spcPct val="0"/>
              </a:spcBef>
            </a:pPr>
            <a:r>
              <a:rPr lang="en-US" sz="4466">
                <a:solidFill>
                  <a:srgbClr val="DD7E28"/>
                </a:solidFill>
                <a:latin typeface="HK Modular"/>
                <a:ea typeface="HK Modular"/>
                <a:cs typeface="HK Modular"/>
                <a:sym typeface="HK Modular"/>
              </a:rPr>
              <a:t>ACTIVIDAD</a:t>
            </a:r>
          </a:p>
        </p:txBody>
      </p:sp>
      <p:sp>
        <p:nvSpPr>
          <p:cNvPr name="TextBox 8" id="8"/>
          <p:cNvSpPr txBox="true"/>
          <p:nvPr/>
        </p:nvSpPr>
        <p:spPr>
          <a:xfrm rot="0">
            <a:off x="1621907" y="3390474"/>
            <a:ext cx="15044186" cy="1415738"/>
          </a:xfrm>
          <a:prstGeom prst="rect">
            <a:avLst/>
          </a:prstGeom>
        </p:spPr>
        <p:txBody>
          <a:bodyPr anchor="t" rtlCol="false" tIns="0" lIns="0" bIns="0" rIns="0">
            <a:spAutoFit/>
          </a:bodyPr>
          <a:lstStyle/>
          <a:p>
            <a:pPr algn="ctr">
              <a:lnSpc>
                <a:spcPts val="5576"/>
              </a:lnSpc>
            </a:pPr>
            <a:r>
              <a:rPr lang="en-US" sz="3983" b="true">
                <a:solidFill>
                  <a:srgbClr val="FFFFFF"/>
                </a:solidFill>
                <a:latin typeface="Poppins Bold"/>
                <a:ea typeface="Poppins Bold"/>
                <a:cs typeface="Poppins Bold"/>
                <a:sym typeface="Poppins Bold"/>
              </a:rPr>
              <a:t>Proyecto: </a:t>
            </a:r>
          </a:p>
          <a:p>
            <a:pPr algn="ctr">
              <a:lnSpc>
                <a:spcPts val="5576"/>
              </a:lnSpc>
              <a:spcBef>
                <a:spcPct val="0"/>
              </a:spcBef>
            </a:pPr>
            <a:r>
              <a:rPr lang="en-US" sz="3983">
                <a:solidFill>
                  <a:srgbClr val="FFFFFF"/>
                </a:solidFill>
                <a:latin typeface="Poppins"/>
                <a:ea typeface="Poppins"/>
                <a:cs typeface="Poppins"/>
                <a:sym typeface="Poppins"/>
              </a:rPr>
              <a:t>Preparar un ajiaco tradicional para el dia de la madre</a:t>
            </a:r>
          </a:p>
        </p:txBody>
      </p:sp>
      <p:sp>
        <p:nvSpPr>
          <p:cNvPr name="TextBox 9" id="9"/>
          <p:cNvSpPr txBox="true"/>
          <p:nvPr/>
        </p:nvSpPr>
        <p:spPr>
          <a:xfrm rot="0">
            <a:off x="1746292" y="5907566"/>
            <a:ext cx="8301296" cy="714434"/>
          </a:xfrm>
          <a:prstGeom prst="rect">
            <a:avLst/>
          </a:prstGeom>
        </p:spPr>
        <p:txBody>
          <a:bodyPr anchor="t" rtlCol="false" tIns="0" lIns="0" bIns="0" rIns="0">
            <a:spAutoFit/>
          </a:bodyPr>
          <a:lstStyle/>
          <a:p>
            <a:pPr algn="ctr">
              <a:lnSpc>
                <a:spcPts val="5576"/>
              </a:lnSpc>
              <a:spcBef>
                <a:spcPct val="0"/>
              </a:spcBef>
            </a:pPr>
            <a:r>
              <a:rPr lang="en-US" b="true" sz="3983">
                <a:solidFill>
                  <a:srgbClr val="FFFFFF"/>
                </a:solidFill>
                <a:latin typeface="Poppins Bold"/>
                <a:ea typeface="Poppins Bold"/>
                <a:cs typeface="Poppins Bold"/>
                <a:sym typeface="Poppins Bold"/>
              </a:rPr>
              <a:t>Fecha: 8 de mayo</a:t>
            </a:r>
            <a:r>
              <a:rPr lang="en-US" sz="3983">
                <a:solidFill>
                  <a:srgbClr val="FFFFFF"/>
                </a:solidFill>
                <a:latin typeface="Poppins"/>
                <a:ea typeface="Poppins"/>
                <a:cs typeface="Poppins"/>
                <a:sym typeface="Poppins"/>
              </a:rPr>
              <a:t> 2026</a:t>
            </a:r>
          </a:p>
        </p:txBody>
      </p:sp>
      <p:sp>
        <p:nvSpPr>
          <p:cNvPr name="TextBox 10" id="10"/>
          <p:cNvSpPr txBox="true"/>
          <p:nvPr/>
        </p:nvSpPr>
        <p:spPr>
          <a:xfrm rot="0">
            <a:off x="1883674" y="6691661"/>
            <a:ext cx="8301296" cy="714434"/>
          </a:xfrm>
          <a:prstGeom prst="rect">
            <a:avLst/>
          </a:prstGeom>
        </p:spPr>
        <p:txBody>
          <a:bodyPr anchor="t" rtlCol="false" tIns="0" lIns="0" bIns="0" rIns="0">
            <a:spAutoFit/>
          </a:bodyPr>
          <a:lstStyle/>
          <a:p>
            <a:pPr algn="ctr">
              <a:lnSpc>
                <a:spcPts val="5576"/>
              </a:lnSpc>
              <a:spcBef>
                <a:spcPct val="0"/>
              </a:spcBef>
            </a:pPr>
            <a:r>
              <a:rPr lang="en-US" b="true" sz="3983">
                <a:solidFill>
                  <a:srgbClr val="FFFFFF"/>
                </a:solidFill>
                <a:latin typeface="Poppins Bold"/>
                <a:ea typeface="Poppins Bold"/>
                <a:cs typeface="Poppins Bold"/>
                <a:sym typeface="Poppins Bold"/>
              </a:rPr>
              <a:t>Número de invitados: 25</a:t>
            </a:r>
          </a:p>
        </p:txBody>
      </p:sp>
      <p:sp>
        <p:nvSpPr>
          <p:cNvPr name="TextBox 11" id="11"/>
          <p:cNvSpPr txBox="true"/>
          <p:nvPr/>
        </p:nvSpPr>
        <p:spPr>
          <a:xfrm rot="0">
            <a:off x="10834147" y="5627665"/>
            <a:ext cx="6078696" cy="1778429"/>
          </a:xfrm>
          <a:prstGeom prst="rect">
            <a:avLst/>
          </a:prstGeom>
        </p:spPr>
        <p:txBody>
          <a:bodyPr anchor="t" rtlCol="false" tIns="0" lIns="0" bIns="0" rIns="0">
            <a:spAutoFit/>
          </a:bodyPr>
          <a:lstStyle/>
          <a:p>
            <a:pPr algn="ctr">
              <a:lnSpc>
                <a:spcPts val="5576"/>
              </a:lnSpc>
            </a:pPr>
            <a:r>
              <a:rPr lang="en-US" sz="3983" b="true">
                <a:solidFill>
                  <a:srgbClr val="FFFFFF"/>
                </a:solidFill>
                <a:latin typeface="Poppins Bold"/>
                <a:ea typeface="Poppins Bold"/>
                <a:cs typeface="Poppins Bold"/>
                <a:sym typeface="Poppins Bold"/>
              </a:rPr>
              <a:t>Misión: </a:t>
            </a:r>
          </a:p>
          <a:p>
            <a:pPr algn="ctr">
              <a:lnSpc>
                <a:spcPts val="4176"/>
              </a:lnSpc>
              <a:spcBef>
                <a:spcPct val="0"/>
              </a:spcBef>
            </a:pPr>
            <a:r>
              <a:rPr lang="en-US" sz="2983">
                <a:solidFill>
                  <a:srgbClr val="FFFFFF"/>
                </a:solidFill>
                <a:latin typeface="Poppins"/>
                <a:ea typeface="Poppins"/>
                <a:cs typeface="Poppins"/>
                <a:sym typeface="Poppins"/>
              </a:rPr>
              <a:t>Desglose el proyecto en épicas, funcionalidades, HU y tareas.</a:t>
            </a:r>
          </a:p>
        </p:txBody>
      </p:sp>
      <p:sp>
        <p:nvSpPr>
          <p:cNvPr name="TextBox 12" id="12"/>
          <p:cNvSpPr txBox="true"/>
          <p:nvPr/>
        </p:nvSpPr>
        <p:spPr>
          <a:xfrm rot="0">
            <a:off x="1868656" y="8152154"/>
            <a:ext cx="15044186" cy="1271064"/>
          </a:xfrm>
          <a:prstGeom prst="rect">
            <a:avLst/>
          </a:prstGeom>
        </p:spPr>
        <p:txBody>
          <a:bodyPr anchor="t" rtlCol="false" tIns="0" lIns="0" bIns="0" rIns="0">
            <a:spAutoFit/>
          </a:bodyPr>
          <a:lstStyle/>
          <a:p>
            <a:pPr algn="ctr">
              <a:lnSpc>
                <a:spcPts val="5016"/>
              </a:lnSpc>
              <a:spcBef>
                <a:spcPct val="0"/>
              </a:spcBef>
            </a:pPr>
            <a:r>
              <a:rPr lang="en-US" b="true" sz="3583">
                <a:solidFill>
                  <a:srgbClr val="FFFFFF"/>
                </a:solidFill>
                <a:latin typeface="Poppins Bold"/>
                <a:ea typeface="Poppins Bold"/>
                <a:cs typeface="Poppins Bold"/>
                <a:sym typeface="Poppins Bold"/>
              </a:rPr>
              <a:t>Objetivo de negocio:  </a:t>
            </a:r>
            <a:r>
              <a:rPr lang="en-US" sz="3583">
                <a:solidFill>
                  <a:srgbClr val="FFFFFF"/>
                </a:solidFill>
                <a:latin typeface="Poppins"/>
                <a:ea typeface="Poppins"/>
                <a:cs typeface="Poppins"/>
                <a:sym typeface="Poppins"/>
              </a:rPr>
              <a:t>Asegurar un plato </a:t>
            </a:r>
            <a:r>
              <a:rPr lang="en-US" b="true" sz="3583">
                <a:solidFill>
                  <a:srgbClr val="FFFFFF"/>
                </a:solidFill>
                <a:latin typeface="Poppins Bold"/>
                <a:ea typeface="Poppins Bold"/>
                <a:cs typeface="Poppins Bold"/>
                <a:sym typeface="Poppins Bold"/>
              </a:rPr>
              <a:t>típico</a:t>
            </a:r>
            <a:r>
              <a:rPr lang="en-US" sz="3583">
                <a:solidFill>
                  <a:srgbClr val="FFFFFF"/>
                </a:solidFill>
                <a:latin typeface="Poppins"/>
                <a:ea typeface="Poppins"/>
                <a:cs typeface="Poppins"/>
                <a:sym typeface="Poppins"/>
              </a:rPr>
              <a:t> </a:t>
            </a:r>
            <a:r>
              <a:rPr lang="en-US" b="true" sz="3583">
                <a:solidFill>
                  <a:srgbClr val="FFFFFF"/>
                </a:solidFill>
                <a:latin typeface="Poppins Bold"/>
                <a:ea typeface="Poppins Bold"/>
                <a:cs typeface="Poppins Bold"/>
                <a:sym typeface="Poppins Bold"/>
              </a:rPr>
              <a:t>delicioso</a:t>
            </a:r>
            <a:r>
              <a:rPr lang="en-US" sz="3583">
                <a:solidFill>
                  <a:srgbClr val="FFFFFF"/>
                </a:solidFill>
                <a:latin typeface="Poppins"/>
                <a:ea typeface="Poppins"/>
                <a:cs typeface="Poppins"/>
                <a:sym typeface="Poppins"/>
              </a:rPr>
              <a:t> y </a:t>
            </a:r>
            <a:r>
              <a:rPr lang="en-US" b="true" sz="3583">
                <a:solidFill>
                  <a:srgbClr val="FFFFFF"/>
                </a:solidFill>
                <a:latin typeface="Poppins Bold"/>
                <a:ea typeface="Poppins Bold"/>
                <a:cs typeface="Poppins Bold"/>
                <a:sym typeface="Poppins Bold"/>
              </a:rPr>
              <a:t>generoso</a:t>
            </a:r>
            <a:r>
              <a:rPr lang="en-US" sz="3583">
                <a:solidFill>
                  <a:srgbClr val="FFFFFF"/>
                </a:solidFill>
                <a:latin typeface="Poppins"/>
                <a:ea typeface="Poppins"/>
                <a:cs typeface="Poppins"/>
                <a:sym typeface="Poppins"/>
              </a:rPr>
              <a:t>.</a:t>
            </a:r>
          </a:p>
        </p:txBody>
      </p:sp>
      <p:sp>
        <p:nvSpPr>
          <p:cNvPr name="Freeform 13" id="13"/>
          <p:cNvSpPr/>
          <p:nvPr/>
        </p:nvSpPr>
        <p:spPr>
          <a:xfrm flipH="false" flipV="false" rot="0">
            <a:off x="7976880" y="-364733"/>
            <a:ext cx="2427418" cy="2427418"/>
          </a:xfrm>
          <a:custGeom>
            <a:avLst/>
            <a:gdLst/>
            <a:ahLst/>
            <a:cxnLst/>
            <a:rect r="r" b="b" t="t" l="l"/>
            <a:pathLst>
              <a:path h="2427418" w="2427418">
                <a:moveTo>
                  <a:pt x="0" y="0"/>
                </a:moveTo>
                <a:lnTo>
                  <a:pt x="2427418" y="0"/>
                </a:lnTo>
                <a:lnTo>
                  <a:pt x="2427418" y="2427418"/>
                </a:lnTo>
                <a:lnTo>
                  <a:pt x="0" y="2427418"/>
                </a:lnTo>
                <a:lnTo>
                  <a:pt x="0" y="0"/>
                </a:lnTo>
                <a:close/>
              </a:path>
            </a:pathLst>
          </a:custGeom>
          <a:blipFill>
            <a:blip r:embed="rId4"/>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259699" y="400422"/>
            <a:ext cx="2376607" cy="1529941"/>
          </a:xfrm>
          <a:custGeom>
            <a:avLst/>
            <a:gdLst/>
            <a:ahLst/>
            <a:cxnLst/>
            <a:rect r="r" b="b" t="t" l="l"/>
            <a:pathLst>
              <a:path h="1529941" w="2376607">
                <a:moveTo>
                  <a:pt x="0" y="0"/>
                </a:moveTo>
                <a:lnTo>
                  <a:pt x="2376607" y="0"/>
                </a:lnTo>
                <a:lnTo>
                  <a:pt x="2376607" y="1529941"/>
                </a:lnTo>
                <a:lnTo>
                  <a:pt x="0" y="1529941"/>
                </a:lnTo>
                <a:lnTo>
                  <a:pt x="0" y="0"/>
                </a:lnTo>
                <a:close/>
              </a:path>
            </a:pathLst>
          </a:custGeom>
          <a:blipFill>
            <a:blip r:embed="rId3"/>
            <a:stretch>
              <a:fillRect l="0" t="0" r="0" b="0"/>
            </a:stretch>
          </a:blipFill>
        </p:spPr>
      </p:sp>
      <p:sp>
        <p:nvSpPr>
          <p:cNvPr name="TextBox 7" id="7"/>
          <p:cNvSpPr txBox="true"/>
          <p:nvPr/>
        </p:nvSpPr>
        <p:spPr>
          <a:xfrm rot="0">
            <a:off x="1028700" y="2227707"/>
            <a:ext cx="4760247" cy="772382"/>
          </a:xfrm>
          <a:prstGeom prst="rect">
            <a:avLst/>
          </a:prstGeom>
        </p:spPr>
        <p:txBody>
          <a:bodyPr anchor="t" rtlCol="false" tIns="0" lIns="0" bIns="0" rIns="0">
            <a:spAutoFit/>
          </a:bodyPr>
          <a:lstStyle/>
          <a:p>
            <a:pPr algn="l">
              <a:lnSpc>
                <a:spcPts val="6252"/>
              </a:lnSpc>
              <a:spcBef>
                <a:spcPct val="0"/>
              </a:spcBef>
            </a:pPr>
            <a:r>
              <a:rPr lang="en-US" sz="4466">
                <a:solidFill>
                  <a:srgbClr val="DD7E28"/>
                </a:solidFill>
                <a:latin typeface="HK Modular"/>
                <a:ea typeface="HK Modular"/>
                <a:cs typeface="HK Modular"/>
                <a:sym typeface="HK Modular"/>
              </a:rPr>
              <a:t>ÉPICA</a:t>
            </a:r>
          </a:p>
        </p:txBody>
      </p:sp>
      <p:sp>
        <p:nvSpPr>
          <p:cNvPr name="TextBox 8" id="8"/>
          <p:cNvSpPr txBox="true"/>
          <p:nvPr/>
        </p:nvSpPr>
        <p:spPr>
          <a:xfrm rot="0">
            <a:off x="7628936" y="2198926"/>
            <a:ext cx="9112245" cy="1102789"/>
          </a:xfrm>
          <a:prstGeom prst="rect">
            <a:avLst/>
          </a:prstGeom>
        </p:spPr>
        <p:txBody>
          <a:bodyPr anchor="t" rtlCol="false" tIns="0" lIns="0" bIns="0" rIns="0">
            <a:spAutoFit/>
          </a:bodyPr>
          <a:lstStyle/>
          <a:p>
            <a:pPr algn="l">
              <a:lnSpc>
                <a:spcPts val="4316"/>
              </a:lnSpc>
              <a:spcBef>
                <a:spcPct val="0"/>
              </a:spcBef>
            </a:pPr>
            <a:r>
              <a:rPr lang="en-US" sz="3083">
                <a:solidFill>
                  <a:srgbClr val="FFFFFF"/>
                </a:solidFill>
                <a:latin typeface="Poppins"/>
                <a:ea typeface="Poppins"/>
                <a:cs typeface="Poppins"/>
                <a:sym typeface="Poppins"/>
              </a:rPr>
              <a:t>Preparar un ajiaco tradicional para el dia de la madre</a:t>
            </a:r>
          </a:p>
        </p:txBody>
      </p:sp>
      <p:sp>
        <p:nvSpPr>
          <p:cNvPr name="TextBox 9" id="9"/>
          <p:cNvSpPr txBox="true"/>
          <p:nvPr/>
        </p:nvSpPr>
        <p:spPr>
          <a:xfrm rot="0">
            <a:off x="1028700" y="3937572"/>
            <a:ext cx="6307057" cy="604741"/>
          </a:xfrm>
          <a:prstGeom prst="rect">
            <a:avLst/>
          </a:prstGeom>
        </p:spPr>
        <p:txBody>
          <a:bodyPr anchor="t" rtlCol="false" tIns="0" lIns="0" bIns="0" rIns="0">
            <a:spAutoFit/>
          </a:bodyPr>
          <a:lstStyle/>
          <a:p>
            <a:pPr algn="l">
              <a:lnSpc>
                <a:spcPts val="4992"/>
              </a:lnSpc>
              <a:spcBef>
                <a:spcPct val="0"/>
              </a:spcBef>
            </a:pPr>
            <a:r>
              <a:rPr lang="en-US" sz="3566">
                <a:solidFill>
                  <a:srgbClr val="DD7E28"/>
                </a:solidFill>
                <a:latin typeface="HK Modular"/>
                <a:ea typeface="HK Modular"/>
                <a:cs typeface="HK Modular"/>
                <a:sym typeface="HK Modular"/>
              </a:rPr>
              <a:t>FUNCIONALIDADES</a:t>
            </a:r>
          </a:p>
        </p:txBody>
      </p:sp>
      <p:sp>
        <p:nvSpPr>
          <p:cNvPr name="TextBox 10" id="10"/>
          <p:cNvSpPr txBox="true"/>
          <p:nvPr/>
        </p:nvSpPr>
        <p:spPr>
          <a:xfrm rot="0">
            <a:off x="7628936" y="3811508"/>
            <a:ext cx="9112245" cy="2188639"/>
          </a:xfrm>
          <a:prstGeom prst="rect">
            <a:avLst/>
          </a:prstGeom>
        </p:spPr>
        <p:txBody>
          <a:bodyPr anchor="t" rtlCol="false" tIns="0" lIns="0" bIns="0" rIns="0">
            <a:spAutoFit/>
          </a:bodyPr>
          <a:lstStyle/>
          <a:p>
            <a:pPr algn="l" marL="665645" indent="-332822" lvl="1">
              <a:lnSpc>
                <a:spcPts val="4316"/>
              </a:lnSpc>
              <a:buAutoNum type="arabicPeriod" startAt="1"/>
            </a:pPr>
            <a:r>
              <a:rPr lang="en-US" sz="3083">
                <a:solidFill>
                  <a:srgbClr val="FFFFFF"/>
                </a:solidFill>
                <a:latin typeface="Poppins"/>
                <a:ea typeface="Poppins"/>
                <a:cs typeface="Poppins"/>
                <a:sym typeface="Poppins"/>
              </a:rPr>
              <a:t>Planificar la elaboración del ajiaco.</a:t>
            </a:r>
          </a:p>
          <a:p>
            <a:pPr algn="l" marL="665645" indent="-332822" lvl="1">
              <a:lnSpc>
                <a:spcPts val="4316"/>
              </a:lnSpc>
              <a:buAutoNum type="arabicPeriod" startAt="1"/>
            </a:pPr>
            <a:r>
              <a:rPr lang="en-US" sz="3083">
                <a:solidFill>
                  <a:srgbClr val="FFFFFF"/>
                </a:solidFill>
                <a:latin typeface="Poppins"/>
                <a:ea typeface="Poppins"/>
                <a:cs typeface="Poppins"/>
                <a:sym typeface="Poppins"/>
              </a:rPr>
              <a:t>Comprar los ingredientes.</a:t>
            </a:r>
          </a:p>
          <a:p>
            <a:pPr algn="l" marL="665645" indent="-332822" lvl="1">
              <a:lnSpc>
                <a:spcPts val="4316"/>
              </a:lnSpc>
              <a:buAutoNum type="arabicPeriod" startAt="1"/>
            </a:pPr>
            <a:r>
              <a:rPr lang="en-US" sz="3083">
                <a:solidFill>
                  <a:srgbClr val="FFFFFF"/>
                </a:solidFill>
                <a:latin typeface="Poppins"/>
                <a:ea typeface="Poppins"/>
                <a:cs typeface="Poppins"/>
                <a:sym typeface="Poppins"/>
              </a:rPr>
              <a:t>Preparación y cocción del ajiaco.</a:t>
            </a:r>
          </a:p>
          <a:p>
            <a:pPr algn="l" marL="665645" indent="-332822" lvl="1">
              <a:lnSpc>
                <a:spcPts val="4316"/>
              </a:lnSpc>
              <a:buAutoNum type="arabicPeriod" startAt="1"/>
            </a:pPr>
            <a:r>
              <a:rPr lang="en-US" sz="3083">
                <a:solidFill>
                  <a:srgbClr val="FFFFFF"/>
                </a:solidFill>
                <a:latin typeface="Poppins"/>
                <a:ea typeface="Poppins"/>
                <a:cs typeface="Poppins"/>
                <a:sym typeface="Poppins"/>
              </a:rPr>
              <a:t>Presentación del plato.</a:t>
            </a:r>
          </a:p>
        </p:txBody>
      </p:sp>
      <p:sp>
        <p:nvSpPr>
          <p:cNvPr name="TextBox 11" id="11"/>
          <p:cNvSpPr txBox="true"/>
          <p:nvPr/>
        </p:nvSpPr>
        <p:spPr>
          <a:xfrm rot="0">
            <a:off x="1028700" y="6538515"/>
            <a:ext cx="6307057" cy="1233391"/>
          </a:xfrm>
          <a:prstGeom prst="rect">
            <a:avLst/>
          </a:prstGeom>
        </p:spPr>
        <p:txBody>
          <a:bodyPr anchor="t" rtlCol="false" tIns="0" lIns="0" bIns="0" rIns="0">
            <a:spAutoFit/>
          </a:bodyPr>
          <a:lstStyle/>
          <a:p>
            <a:pPr algn="l">
              <a:lnSpc>
                <a:spcPts val="4992"/>
              </a:lnSpc>
              <a:spcBef>
                <a:spcPct val="0"/>
              </a:spcBef>
            </a:pPr>
            <a:r>
              <a:rPr lang="en-US" sz="3566">
                <a:solidFill>
                  <a:srgbClr val="DD7E28"/>
                </a:solidFill>
                <a:latin typeface="HK Modular"/>
                <a:ea typeface="HK Modular"/>
                <a:cs typeface="HK Modular"/>
                <a:sym typeface="HK Modular"/>
              </a:rPr>
              <a:t>HISTORIAS DE USUARIO</a:t>
            </a:r>
          </a:p>
        </p:txBody>
      </p:sp>
      <p:sp>
        <p:nvSpPr>
          <p:cNvPr name="TextBox 12" id="12"/>
          <p:cNvSpPr txBox="true"/>
          <p:nvPr/>
        </p:nvSpPr>
        <p:spPr>
          <a:xfrm rot="0">
            <a:off x="7335757" y="6509940"/>
            <a:ext cx="9112245" cy="559864"/>
          </a:xfrm>
          <a:prstGeom prst="rect">
            <a:avLst/>
          </a:prstGeom>
        </p:spPr>
        <p:txBody>
          <a:bodyPr anchor="t" rtlCol="false" tIns="0" lIns="0" bIns="0" rIns="0">
            <a:spAutoFit/>
          </a:bodyPr>
          <a:lstStyle/>
          <a:p>
            <a:pPr algn="l" marL="665645" indent="-332822" lvl="1">
              <a:lnSpc>
                <a:spcPts val="4316"/>
              </a:lnSpc>
              <a:buAutoNum type="arabicPeriod" startAt="1"/>
            </a:pPr>
            <a:r>
              <a:rPr lang="en-US" b="true" sz="3083">
                <a:solidFill>
                  <a:srgbClr val="FFFFFF"/>
                </a:solidFill>
                <a:latin typeface="Poppins Bold"/>
                <a:ea typeface="Poppins Bold"/>
                <a:cs typeface="Poppins Bold"/>
                <a:sym typeface="Poppins Bold"/>
              </a:rPr>
              <a:t>Planificar la elaboración del ajiaco</a:t>
            </a:r>
          </a:p>
        </p:txBody>
      </p:sp>
      <p:sp>
        <p:nvSpPr>
          <p:cNvPr name="TextBox 13" id="13"/>
          <p:cNvSpPr txBox="true"/>
          <p:nvPr/>
        </p:nvSpPr>
        <p:spPr>
          <a:xfrm rot="0">
            <a:off x="7853919" y="7245122"/>
            <a:ext cx="9112245" cy="559864"/>
          </a:xfrm>
          <a:prstGeom prst="rect">
            <a:avLst/>
          </a:prstGeom>
        </p:spPr>
        <p:txBody>
          <a:bodyPr anchor="t" rtlCol="false" tIns="0" lIns="0" bIns="0" rIns="0">
            <a:spAutoFit/>
          </a:bodyPr>
          <a:lstStyle/>
          <a:p>
            <a:pPr algn="l">
              <a:lnSpc>
                <a:spcPts val="4316"/>
              </a:lnSpc>
            </a:pPr>
            <a:r>
              <a:rPr lang="en-US" sz="3083">
                <a:solidFill>
                  <a:srgbClr val="FFFFFF"/>
                </a:solidFill>
                <a:latin typeface="Poppins"/>
                <a:ea typeface="Poppins"/>
                <a:cs typeface="Poppins"/>
                <a:sym typeface="Poppins"/>
              </a:rPr>
              <a:t>1.1 Identificar alergias de los invitados.</a:t>
            </a:r>
          </a:p>
        </p:txBody>
      </p:sp>
      <p:sp>
        <p:nvSpPr>
          <p:cNvPr name="TextBox 14" id="14"/>
          <p:cNvSpPr txBox="true"/>
          <p:nvPr/>
        </p:nvSpPr>
        <p:spPr>
          <a:xfrm rot="0">
            <a:off x="8274411" y="8100261"/>
            <a:ext cx="8030980" cy="1208833"/>
          </a:xfrm>
          <a:prstGeom prst="rect">
            <a:avLst/>
          </a:prstGeom>
        </p:spPr>
        <p:txBody>
          <a:bodyPr anchor="t" rtlCol="false" tIns="0" lIns="0" bIns="0" rIns="0">
            <a:spAutoFit/>
          </a:bodyPr>
          <a:lstStyle/>
          <a:p>
            <a:pPr algn="ctr">
              <a:lnSpc>
                <a:spcPts val="3196"/>
              </a:lnSpc>
            </a:pPr>
            <a:r>
              <a:rPr lang="en-US" b="true" sz="2283" i="true">
                <a:solidFill>
                  <a:srgbClr val="FFFFFF"/>
                </a:solidFill>
                <a:latin typeface="Poppins Bold Italics"/>
                <a:ea typeface="Poppins Bold Italics"/>
                <a:cs typeface="Poppins Bold Italics"/>
                <a:sym typeface="Poppins Bold Italics"/>
              </a:rPr>
              <a:t>Como</a:t>
            </a:r>
            <a:r>
              <a:rPr lang="en-US" sz="2283" i="true">
                <a:solidFill>
                  <a:srgbClr val="FFFFFF"/>
                </a:solidFill>
                <a:latin typeface="Poppins Italics"/>
                <a:ea typeface="Poppins Italics"/>
                <a:cs typeface="Poppins Italics"/>
                <a:sym typeface="Poppins Italics"/>
              </a:rPr>
              <a:t> anfitrión </a:t>
            </a:r>
            <a:r>
              <a:rPr lang="en-US" b="true" sz="2283" i="true">
                <a:solidFill>
                  <a:srgbClr val="FFFFFF"/>
                </a:solidFill>
                <a:latin typeface="Poppins Bold Italics"/>
                <a:ea typeface="Poppins Bold Italics"/>
                <a:cs typeface="Poppins Bold Italics"/>
                <a:sym typeface="Poppins Bold Italics"/>
              </a:rPr>
              <a:t>quiero</a:t>
            </a:r>
            <a:r>
              <a:rPr lang="en-US" sz="2283" i="true">
                <a:solidFill>
                  <a:srgbClr val="FFFFFF"/>
                </a:solidFill>
                <a:latin typeface="Poppins Italics"/>
                <a:ea typeface="Poppins Italics"/>
                <a:cs typeface="Poppins Italics"/>
                <a:sym typeface="Poppins Italics"/>
              </a:rPr>
              <a:t> conocer las alergias de mis invitados </a:t>
            </a:r>
            <a:r>
              <a:rPr lang="en-US" b="true" sz="2283" i="true">
                <a:solidFill>
                  <a:srgbClr val="FFFFFF"/>
                </a:solidFill>
                <a:latin typeface="Poppins Bold Italics"/>
                <a:ea typeface="Poppins Bold Italics"/>
                <a:cs typeface="Poppins Bold Italics"/>
                <a:sym typeface="Poppins Bold Italics"/>
              </a:rPr>
              <a:t>para poder</a:t>
            </a:r>
            <a:r>
              <a:rPr lang="en-US" sz="2283" i="true">
                <a:solidFill>
                  <a:srgbClr val="FFFFFF"/>
                </a:solidFill>
                <a:latin typeface="Poppins Italics"/>
                <a:ea typeface="Poppins Italics"/>
                <a:cs typeface="Poppins Italics"/>
                <a:sym typeface="Poppins Italics"/>
              </a:rPr>
              <a:t> identificar los ingredientes que debo omitir.</a:t>
            </a:r>
          </a:p>
        </p:txBody>
      </p:sp>
      <p:sp>
        <p:nvSpPr>
          <p:cNvPr name="Freeform 15" id="15"/>
          <p:cNvSpPr/>
          <p:nvPr/>
        </p:nvSpPr>
        <p:spPr>
          <a:xfrm flipH="false" flipV="false" rot="0">
            <a:off x="7976880" y="-364733"/>
            <a:ext cx="2427418" cy="2427418"/>
          </a:xfrm>
          <a:custGeom>
            <a:avLst/>
            <a:gdLst/>
            <a:ahLst/>
            <a:cxnLst/>
            <a:rect r="r" b="b" t="t" l="l"/>
            <a:pathLst>
              <a:path h="2427418" w="2427418">
                <a:moveTo>
                  <a:pt x="0" y="0"/>
                </a:moveTo>
                <a:lnTo>
                  <a:pt x="2427418" y="0"/>
                </a:lnTo>
                <a:lnTo>
                  <a:pt x="2427418" y="2427418"/>
                </a:lnTo>
                <a:lnTo>
                  <a:pt x="0" y="2427418"/>
                </a:lnTo>
                <a:lnTo>
                  <a:pt x="0" y="0"/>
                </a:lnTo>
                <a:close/>
              </a:path>
            </a:pathLst>
          </a:custGeom>
          <a:blipFill>
            <a:blip r:embed="rId4"/>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259699" y="400422"/>
            <a:ext cx="2376607" cy="1529941"/>
          </a:xfrm>
          <a:custGeom>
            <a:avLst/>
            <a:gdLst/>
            <a:ahLst/>
            <a:cxnLst/>
            <a:rect r="r" b="b" t="t" l="l"/>
            <a:pathLst>
              <a:path h="1529941" w="2376607">
                <a:moveTo>
                  <a:pt x="0" y="0"/>
                </a:moveTo>
                <a:lnTo>
                  <a:pt x="2376607" y="0"/>
                </a:lnTo>
                <a:lnTo>
                  <a:pt x="2376607" y="1529941"/>
                </a:lnTo>
                <a:lnTo>
                  <a:pt x="0" y="1529941"/>
                </a:lnTo>
                <a:lnTo>
                  <a:pt x="0" y="0"/>
                </a:lnTo>
                <a:close/>
              </a:path>
            </a:pathLst>
          </a:custGeom>
          <a:blipFill>
            <a:blip r:embed="rId3"/>
            <a:stretch>
              <a:fillRect l="0" t="0" r="0" b="0"/>
            </a:stretch>
          </a:blipFill>
        </p:spPr>
      </p:sp>
      <p:sp>
        <p:nvSpPr>
          <p:cNvPr name="Freeform 7" id="7"/>
          <p:cNvSpPr/>
          <p:nvPr/>
        </p:nvSpPr>
        <p:spPr>
          <a:xfrm flipH="false" flipV="false" rot="0">
            <a:off x="7976880" y="-364733"/>
            <a:ext cx="2427418" cy="2427418"/>
          </a:xfrm>
          <a:custGeom>
            <a:avLst/>
            <a:gdLst/>
            <a:ahLst/>
            <a:cxnLst/>
            <a:rect r="r" b="b" t="t" l="l"/>
            <a:pathLst>
              <a:path h="2427418" w="2427418">
                <a:moveTo>
                  <a:pt x="0" y="0"/>
                </a:moveTo>
                <a:lnTo>
                  <a:pt x="2427418" y="0"/>
                </a:lnTo>
                <a:lnTo>
                  <a:pt x="2427418" y="2427418"/>
                </a:lnTo>
                <a:lnTo>
                  <a:pt x="0" y="2427418"/>
                </a:lnTo>
                <a:lnTo>
                  <a:pt x="0" y="0"/>
                </a:lnTo>
                <a:close/>
              </a:path>
            </a:pathLst>
          </a:custGeom>
          <a:blipFill>
            <a:blip r:embed="rId4"/>
            <a:stretch>
              <a:fillRect l="0" t="0" r="0" b="0"/>
            </a:stretch>
          </a:blipFill>
        </p:spPr>
      </p:sp>
      <p:sp>
        <p:nvSpPr>
          <p:cNvPr name="Freeform 8" id="8"/>
          <p:cNvSpPr/>
          <p:nvPr/>
        </p:nvSpPr>
        <p:spPr>
          <a:xfrm flipH="false" flipV="false" rot="0">
            <a:off x="9190589" y="6598875"/>
            <a:ext cx="3016748" cy="3209307"/>
          </a:xfrm>
          <a:custGeom>
            <a:avLst/>
            <a:gdLst/>
            <a:ahLst/>
            <a:cxnLst/>
            <a:rect r="r" b="b" t="t" l="l"/>
            <a:pathLst>
              <a:path h="3209307" w="3016748">
                <a:moveTo>
                  <a:pt x="0" y="0"/>
                </a:moveTo>
                <a:lnTo>
                  <a:pt x="3016748" y="0"/>
                </a:lnTo>
                <a:lnTo>
                  <a:pt x="3016748" y="3209307"/>
                </a:lnTo>
                <a:lnTo>
                  <a:pt x="0" y="3209307"/>
                </a:lnTo>
                <a:lnTo>
                  <a:pt x="0" y="0"/>
                </a:lnTo>
                <a:close/>
              </a:path>
            </a:pathLst>
          </a:custGeom>
          <a:blipFill>
            <a:blip r:embed="rId5"/>
            <a:stretch>
              <a:fillRect l="0" t="0" r="0" b="0"/>
            </a:stretch>
          </a:blipFill>
        </p:spPr>
      </p:sp>
      <p:sp>
        <p:nvSpPr>
          <p:cNvPr name="TextBox 9" id="9"/>
          <p:cNvSpPr txBox="true"/>
          <p:nvPr/>
        </p:nvSpPr>
        <p:spPr>
          <a:xfrm rot="0">
            <a:off x="771951" y="1996010"/>
            <a:ext cx="6307057" cy="604741"/>
          </a:xfrm>
          <a:prstGeom prst="rect">
            <a:avLst/>
          </a:prstGeom>
        </p:spPr>
        <p:txBody>
          <a:bodyPr anchor="t" rtlCol="false" tIns="0" lIns="0" bIns="0" rIns="0">
            <a:spAutoFit/>
          </a:bodyPr>
          <a:lstStyle/>
          <a:p>
            <a:pPr algn="l">
              <a:lnSpc>
                <a:spcPts val="4992"/>
              </a:lnSpc>
              <a:spcBef>
                <a:spcPct val="0"/>
              </a:spcBef>
            </a:pPr>
            <a:r>
              <a:rPr lang="en-US" sz="3566">
                <a:solidFill>
                  <a:srgbClr val="DD7E28"/>
                </a:solidFill>
                <a:latin typeface="HK Modular"/>
                <a:ea typeface="HK Modular"/>
                <a:cs typeface="HK Modular"/>
                <a:sym typeface="HK Modular"/>
              </a:rPr>
              <a:t>TAREAS</a:t>
            </a:r>
          </a:p>
        </p:txBody>
      </p:sp>
      <p:sp>
        <p:nvSpPr>
          <p:cNvPr name="TextBox 10" id="10"/>
          <p:cNvSpPr txBox="true"/>
          <p:nvPr/>
        </p:nvSpPr>
        <p:spPr>
          <a:xfrm rot="0">
            <a:off x="5334861" y="2096546"/>
            <a:ext cx="9112245" cy="559864"/>
          </a:xfrm>
          <a:prstGeom prst="rect">
            <a:avLst/>
          </a:prstGeom>
        </p:spPr>
        <p:txBody>
          <a:bodyPr anchor="t" rtlCol="false" tIns="0" lIns="0" bIns="0" rIns="0">
            <a:spAutoFit/>
          </a:bodyPr>
          <a:lstStyle/>
          <a:p>
            <a:pPr algn="l">
              <a:lnSpc>
                <a:spcPts val="4316"/>
              </a:lnSpc>
            </a:pPr>
            <a:r>
              <a:rPr lang="en-US" sz="3083" b="true">
                <a:solidFill>
                  <a:srgbClr val="FFFFFF"/>
                </a:solidFill>
                <a:latin typeface="Poppins Bold"/>
                <a:ea typeface="Poppins Bold"/>
                <a:cs typeface="Poppins Bold"/>
                <a:sym typeface="Poppins Bold"/>
              </a:rPr>
              <a:t>1.1 Identificar alergias de los invitados.</a:t>
            </a:r>
          </a:p>
        </p:txBody>
      </p:sp>
      <p:sp>
        <p:nvSpPr>
          <p:cNvPr name="TextBox 11" id="11"/>
          <p:cNvSpPr txBox="true"/>
          <p:nvPr/>
        </p:nvSpPr>
        <p:spPr>
          <a:xfrm rot="0">
            <a:off x="6149034" y="2959702"/>
            <a:ext cx="9878141" cy="1102789"/>
          </a:xfrm>
          <a:prstGeom prst="rect">
            <a:avLst/>
          </a:prstGeom>
        </p:spPr>
        <p:txBody>
          <a:bodyPr anchor="t" rtlCol="false" tIns="0" lIns="0" bIns="0" rIns="0">
            <a:spAutoFit/>
          </a:bodyPr>
          <a:lstStyle/>
          <a:p>
            <a:pPr algn="l">
              <a:lnSpc>
                <a:spcPts val="4316"/>
              </a:lnSpc>
            </a:pPr>
            <a:r>
              <a:rPr lang="en-US" sz="3083">
                <a:solidFill>
                  <a:srgbClr val="FFFFFF"/>
                </a:solidFill>
                <a:latin typeface="Poppins"/>
                <a:ea typeface="Poppins"/>
                <a:cs typeface="Poppins"/>
                <a:sym typeface="Poppins"/>
              </a:rPr>
              <a:t>1.1.1 Obtener los números telefónicos de todos los invitados.</a:t>
            </a:r>
          </a:p>
        </p:txBody>
      </p:sp>
      <p:sp>
        <p:nvSpPr>
          <p:cNvPr name="TextBox 12" id="12"/>
          <p:cNvSpPr txBox="true"/>
          <p:nvPr/>
        </p:nvSpPr>
        <p:spPr>
          <a:xfrm rot="0">
            <a:off x="6149034" y="4224416"/>
            <a:ext cx="9773018" cy="1102789"/>
          </a:xfrm>
          <a:prstGeom prst="rect">
            <a:avLst/>
          </a:prstGeom>
        </p:spPr>
        <p:txBody>
          <a:bodyPr anchor="t" rtlCol="false" tIns="0" lIns="0" bIns="0" rIns="0">
            <a:spAutoFit/>
          </a:bodyPr>
          <a:lstStyle/>
          <a:p>
            <a:pPr algn="l">
              <a:lnSpc>
                <a:spcPts val="4316"/>
              </a:lnSpc>
            </a:pPr>
            <a:r>
              <a:rPr lang="en-US" sz="3083">
                <a:solidFill>
                  <a:srgbClr val="FFFFFF"/>
                </a:solidFill>
                <a:latin typeface="Poppins"/>
                <a:ea typeface="Poppins"/>
                <a:cs typeface="Poppins"/>
                <a:sym typeface="Poppins"/>
              </a:rPr>
              <a:t>1.1.2 Llamar a cada invitado para consultar sus alergias.</a:t>
            </a:r>
          </a:p>
        </p:txBody>
      </p:sp>
      <p:sp>
        <p:nvSpPr>
          <p:cNvPr name="TextBox 13" id="13"/>
          <p:cNvSpPr txBox="true"/>
          <p:nvPr/>
        </p:nvSpPr>
        <p:spPr>
          <a:xfrm rot="0">
            <a:off x="6149034" y="5489129"/>
            <a:ext cx="9773018" cy="559864"/>
          </a:xfrm>
          <a:prstGeom prst="rect">
            <a:avLst/>
          </a:prstGeom>
        </p:spPr>
        <p:txBody>
          <a:bodyPr anchor="t" rtlCol="false" tIns="0" lIns="0" bIns="0" rIns="0">
            <a:spAutoFit/>
          </a:bodyPr>
          <a:lstStyle/>
          <a:p>
            <a:pPr algn="l">
              <a:lnSpc>
                <a:spcPts val="4316"/>
              </a:lnSpc>
            </a:pPr>
            <a:r>
              <a:rPr lang="en-US" sz="3083">
                <a:solidFill>
                  <a:srgbClr val="FFFFFF"/>
                </a:solidFill>
                <a:latin typeface="Poppins"/>
                <a:ea typeface="Poppins"/>
                <a:cs typeface="Poppins"/>
                <a:sym typeface="Poppins"/>
              </a:rPr>
              <a:t>1.1.3 Crear una lista con los ingredientes a omitir.</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649348" y="4733365"/>
            <a:ext cx="11380305" cy="1101873"/>
          </a:xfrm>
          <a:prstGeom prst="rect">
            <a:avLst/>
          </a:prstGeom>
        </p:spPr>
        <p:txBody>
          <a:bodyPr anchor="t" rtlCol="false" tIns="0" lIns="0" bIns="0" rIns="0">
            <a:spAutoFit/>
          </a:bodyPr>
          <a:lstStyle/>
          <a:p>
            <a:pPr algn="ctr">
              <a:lnSpc>
                <a:spcPts val="8941"/>
              </a:lnSpc>
              <a:spcBef>
                <a:spcPct val="0"/>
              </a:spcBef>
            </a:pPr>
            <a:r>
              <a:rPr lang="en-US" sz="6387">
                <a:solidFill>
                  <a:srgbClr val="E78939"/>
                </a:solidFill>
                <a:latin typeface="HK Modular"/>
                <a:ea typeface="HK Modular"/>
                <a:cs typeface="HK Modular"/>
                <a:sym typeface="HK Modular"/>
              </a:rPr>
              <a:t>JIRA</a:t>
            </a:r>
          </a:p>
        </p:txBody>
      </p:sp>
      <p:sp>
        <p:nvSpPr>
          <p:cNvPr name="Freeform 13" id="13"/>
          <p:cNvSpPr/>
          <p:nvPr/>
        </p:nvSpPr>
        <p:spPr>
          <a:xfrm flipH="false" flipV="false" rot="0">
            <a:off x="7605076" y="-193567"/>
            <a:ext cx="3762512" cy="3762512"/>
          </a:xfrm>
          <a:custGeom>
            <a:avLst/>
            <a:gdLst/>
            <a:ahLst/>
            <a:cxnLst/>
            <a:rect r="r" b="b" t="t" l="l"/>
            <a:pathLst>
              <a:path h="3762512" w="3762512">
                <a:moveTo>
                  <a:pt x="0" y="0"/>
                </a:moveTo>
                <a:lnTo>
                  <a:pt x="3762512" y="0"/>
                </a:lnTo>
                <a:lnTo>
                  <a:pt x="3762512" y="3762511"/>
                </a:lnTo>
                <a:lnTo>
                  <a:pt x="0" y="3762511"/>
                </a:lnTo>
                <a:lnTo>
                  <a:pt x="0" y="0"/>
                </a:lnTo>
                <a:close/>
              </a:path>
            </a:pathLst>
          </a:custGeom>
          <a:blipFill>
            <a:blip r:embed="rId3"/>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037700" y="264134"/>
            <a:ext cx="1666229" cy="1666229"/>
          </a:xfrm>
          <a:custGeom>
            <a:avLst/>
            <a:gdLst/>
            <a:ahLst/>
            <a:cxnLst/>
            <a:rect r="r" b="b" t="t" l="l"/>
            <a:pathLst>
              <a:path h="1666229" w="1666229">
                <a:moveTo>
                  <a:pt x="0" y="0"/>
                </a:moveTo>
                <a:lnTo>
                  <a:pt x="1666229" y="0"/>
                </a:lnTo>
                <a:lnTo>
                  <a:pt x="1666229" y="1666229"/>
                </a:lnTo>
                <a:lnTo>
                  <a:pt x="0" y="1666229"/>
                </a:lnTo>
                <a:lnTo>
                  <a:pt x="0" y="0"/>
                </a:lnTo>
                <a:close/>
              </a:path>
            </a:pathLst>
          </a:custGeom>
          <a:blipFill>
            <a:blip r:embed="rId3"/>
            <a:stretch>
              <a:fillRect l="0" t="0" r="0" b="0"/>
            </a:stretch>
          </a:blipFill>
        </p:spPr>
      </p:sp>
      <p:sp>
        <p:nvSpPr>
          <p:cNvPr name="Freeform 7" id="7"/>
          <p:cNvSpPr/>
          <p:nvPr/>
        </p:nvSpPr>
        <p:spPr>
          <a:xfrm flipH="false" flipV="false" rot="0">
            <a:off x="2339261" y="2039153"/>
            <a:ext cx="13698440" cy="7380034"/>
          </a:xfrm>
          <a:custGeom>
            <a:avLst/>
            <a:gdLst/>
            <a:ahLst/>
            <a:cxnLst/>
            <a:rect r="r" b="b" t="t" l="l"/>
            <a:pathLst>
              <a:path h="7380034" w="13698440">
                <a:moveTo>
                  <a:pt x="0" y="0"/>
                </a:moveTo>
                <a:lnTo>
                  <a:pt x="13698439" y="0"/>
                </a:lnTo>
                <a:lnTo>
                  <a:pt x="13698439" y="7380035"/>
                </a:lnTo>
                <a:lnTo>
                  <a:pt x="0" y="7380035"/>
                </a:lnTo>
                <a:lnTo>
                  <a:pt x="0" y="0"/>
                </a:lnTo>
                <a:close/>
              </a:path>
            </a:pathLst>
          </a:custGeom>
          <a:blipFill>
            <a:blip r:embed="rId4"/>
            <a:stretch>
              <a:fillRect l="0" t="0" r="0" b="0"/>
            </a:stretch>
          </a:blipFill>
        </p:spPr>
      </p:sp>
      <p:grpSp>
        <p:nvGrpSpPr>
          <p:cNvPr name="Group 8" id="8"/>
          <p:cNvGrpSpPr/>
          <p:nvPr/>
        </p:nvGrpSpPr>
        <p:grpSpPr>
          <a:xfrm rot="-10800000">
            <a:off x="1246187" y="2371807"/>
            <a:ext cx="986245" cy="676855"/>
            <a:chOff x="0" y="0"/>
            <a:chExt cx="647700" cy="444513"/>
          </a:xfrm>
        </p:grpSpPr>
        <p:sp>
          <p:nvSpPr>
            <p:cNvPr name="Freeform 9" id="9"/>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10" id="10"/>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246187" y="1169838"/>
            <a:ext cx="3405568" cy="760525"/>
          </a:xfrm>
          <a:prstGeom prst="rect">
            <a:avLst/>
          </a:prstGeom>
        </p:spPr>
        <p:txBody>
          <a:bodyPr anchor="t" rtlCol="false" tIns="0" lIns="0" bIns="0" rIns="0">
            <a:spAutoFit/>
          </a:bodyPr>
          <a:lstStyle/>
          <a:p>
            <a:pPr algn="l">
              <a:lnSpc>
                <a:spcPts val="5856"/>
              </a:lnSpc>
            </a:pPr>
            <a:r>
              <a:rPr lang="en-US" b="true" sz="4183">
                <a:solidFill>
                  <a:srgbClr val="E78939"/>
                </a:solidFill>
                <a:latin typeface="Poppins Bold"/>
                <a:ea typeface="Poppins Bold"/>
                <a:cs typeface="Poppins Bold"/>
                <a:sym typeface="Poppins Bold"/>
              </a:rPr>
              <a:t>EPIC</a:t>
            </a:r>
          </a:p>
        </p:txBody>
      </p:sp>
      <p:grpSp>
        <p:nvGrpSpPr>
          <p:cNvPr name="Group 12" id="12"/>
          <p:cNvGrpSpPr/>
          <p:nvPr/>
        </p:nvGrpSpPr>
        <p:grpSpPr>
          <a:xfrm rot="-10800000">
            <a:off x="1246187" y="3486813"/>
            <a:ext cx="986245" cy="676855"/>
            <a:chOff x="0" y="0"/>
            <a:chExt cx="647700" cy="444513"/>
          </a:xfrm>
        </p:grpSpPr>
        <p:sp>
          <p:nvSpPr>
            <p:cNvPr name="Freeform 13" id="13"/>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14" id="14"/>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4523945" y="3293809"/>
            <a:ext cx="986245" cy="676855"/>
            <a:chOff x="0" y="0"/>
            <a:chExt cx="647700" cy="444513"/>
          </a:xfrm>
        </p:grpSpPr>
        <p:sp>
          <p:nvSpPr>
            <p:cNvPr name="Freeform 16" id="16"/>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17" id="17"/>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4523945" y="5052315"/>
            <a:ext cx="986245" cy="676855"/>
            <a:chOff x="0" y="0"/>
            <a:chExt cx="647700" cy="444513"/>
          </a:xfrm>
        </p:grpSpPr>
        <p:sp>
          <p:nvSpPr>
            <p:cNvPr name="Freeform 19" id="19"/>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20" id="20"/>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7976880" y="-364733"/>
            <a:ext cx="2427418" cy="2427418"/>
          </a:xfrm>
          <a:custGeom>
            <a:avLst/>
            <a:gdLst/>
            <a:ahLst/>
            <a:cxnLst/>
            <a:rect r="r" b="b" t="t" l="l"/>
            <a:pathLst>
              <a:path h="2427418" w="2427418">
                <a:moveTo>
                  <a:pt x="0" y="0"/>
                </a:moveTo>
                <a:lnTo>
                  <a:pt x="2427418" y="0"/>
                </a:lnTo>
                <a:lnTo>
                  <a:pt x="2427418" y="2427418"/>
                </a:lnTo>
                <a:lnTo>
                  <a:pt x="0" y="2427418"/>
                </a:lnTo>
                <a:lnTo>
                  <a:pt x="0" y="0"/>
                </a:lnTo>
                <a:close/>
              </a:path>
            </a:pathLst>
          </a:custGeom>
          <a:blipFill>
            <a:blip r:embed="rId5"/>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037700" y="264134"/>
            <a:ext cx="1666229" cy="1666229"/>
          </a:xfrm>
          <a:custGeom>
            <a:avLst/>
            <a:gdLst/>
            <a:ahLst/>
            <a:cxnLst/>
            <a:rect r="r" b="b" t="t" l="l"/>
            <a:pathLst>
              <a:path h="1666229" w="1666229">
                <a:moveTo>
                  <a:pt x="0" y="0"/>
                </a:moveTo>
                <a:lnTo>
                  <a:pt x="1666229" y="0"/>
                </a:lnTo>
                <a:lnTo>
                  <a:pt x="1666229" y="1666229"/>
                </a:lnTo>
                <a:lnTo>
                  <a:pt x="0" y="1666229"/>
                </a:lnTo>
                <a:lnTo>
                  <a:pt x="0" y="0"/>
                </a:lnTo>
                <a:close/>
              </a:path>
            </a:pathLst>
          </a:custGeom>
          <a:blipFill>
            <a:blip r:embed="rId3"/>
            <a:stretch>
              <a:fillRect l="0" t="0" r="0" b="0"/>
            </a:stretch>
          </a:blipFill>
        </p:spPr>
      </p:sp>
      <p:sp>
        <p:nvSpPr>
          <p:cNvPr name="Freeform 7" id="7"/>
          <p:cNvSpPr/>
          <p:nvPr/>
        </p:nvSpPr>
        <p:spPr>
          <a:xfrm flipH="false" flipV="false" rot="0">
            <a:off x="1339929" y="3825241"/>
            <a:ext cx="15919371" cy="4059440"/>
          </a:xfrm>
          <a:custGeom>
            <a:avLst/>
            <a:gdLst/>
            <a:ahLst/>
            <a:cxnLst/>
            <a:rect r="r" b="b" t="t" l="l"/>
            <a:pathLst>
              <a:path h="4059440" w="15919371">
                <a:moveTo>
                  <a:pt x="0" y="0"/>
                </a:moveTo>
                <a:lnTo>
                  <a:pt x="15919371" y="0"/>
                </a:lnTo>
                <a:lnTo>
                  <a:pt x="15919371" y="4059439"/>
                </a:lnTo>
                <a:lnTo>
                  <a:pt x="0" y="4059439"/>
                </a:lnTo>
                <a:lnTo>
                  <a:pt x="0" y="0"/>
                </a:lnTo>
                <a:close/>
              </a:path>
            </a:pathLst>
          </a:custGeom>
          <a:blipFill>
            <a:blip r:embed="rId4"/>
            <a:stretch>
              <a:fillRect l="0" t="0" r="0" b="0"/>
            </a:stretch>
          </a:blipFill>
        </p:spPr>
      </p:sp>
      <p:grpSp>
        <p:nvGrpSpPr>
          <p:cNvPr name="Group 8" id="8"/>
          <p:cNvGrpSpPr/>
          <p:nvPr/>
        </p:nvGrpSpPr>
        <p:grpSpPr>
          <a:xfrm rot="-10800000">
            <a:off x="846806" y="6340152"/>
            <a:ext cx="986245" cy="676855"/>
            <a:chOff x="0" y="0"/>
            <a:chExt cx="647700" cy="444513"/>
          </a:xfrm>
        </p:grpSpPr>
        <p:sp>
          <p:nvSpPr>
            <p:cNvPr name="Freeform 9" id="9"/>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10" id="10"/>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6096863" y="3641508"/>
            <a:ext cx="986245" cy="676855"/>
            <a:chOff x="0" y="0"/>
            <a:chExt cx="647700" cy="444513"/>
          </a:xfrm>
        </p:grpSpPr>
        <p:sp>
          <p:nvSpPr>
            <p:cNvPr name="Freeform 12" id="12"/>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13" id="13"/>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339929" y="2726288"/>
            <a:ext cx="3405568" cy="760525"/>
          </a:xfrm>
          <a:prstGeom prst="rect">
            <a:avLst/>
          </a:prstGeom>
        </p:spPr>
        <p:txBody>
          <a:bodyPr anchor="t" rtlCol="false" tIns="0" lIns="0" bIns="0" rIns="0">
            <a:spAutoFit/>
          </a:bodyPr>
          <a:lstStyle/>
          <a:p>
            <a:pPr algn="l">
              <a:lnSpc>
                <a:spcPts val="5856"/>
              </a:lnSpc>
            </a:pPr>
            <a:r>
              <a:rPr lang="en-US" b="true" sz="4183">
                <a:solidFill>
                  <a:srgbClr val="E78939"/>
                </a:solidFill>
                <a:latin typeface="Poppins Bold"/>
                <a:ea typeface="Poppins Bold"/>
                <a:cs typeface="Poppins Bold"/>
                <a:sym typeface="Poppins Bold"/>
              </a:rPr>
              <a:t>EPIC</a:t>
            </a:r>
          </a:p>
        </p:txBody>
      </p:sp>
      <p:sp>
        <p:nvSpPr>
          <p:cNvPr name="Freeform 15" id="15"/>
          <p:cNvSpPr/>
          <p:nvPr/>
        </p:nvSpPr>
        <p:spPr>
          <a:xfrm flipH="false" flipV="false" rot="0">
            <a:off x="7976880" y="-364733"/>
            <a:ext cx="2427418" cy="2427418"/>
          </a:xfrm>
          <a:custGeom>
            <a:avLst/>
            <a:gdLst/>
            <a:ahLst/>
            <a:cxnLst/>
            <a:rect r="r" b="b" t="t" l="l"/>
            <a:pathLst>
              <a:path h="2427418" w="2427418">
                <a:moveTo>
                  <a:pt x="0" y="0"/>
                </a:moveTo>
                <a:lnTo>
                  <a:pt x="2427418" y="0"/>
                </a:lnTo>
                <a:lnTo>
                  <a:pt x="2427418" y="2427418"/>
                </a:lnTo>
                <a:lnTo>
                  <a:pt x="0" y="2427418"/>
                </a:lnTo>
                <a:lnTo>
                  <a:pt x="0" y="0"/>
                </a:lnTo>
                <a:close/>
              </a:path>
            </a:pathLst>
          </a:custGeom>
          <a:blipFill>
            <a:blip r:embed="rId5"/>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037700" y="264134"/>
            <a:ext cx="1666229" cy="1666229"/>
          </a:xfrm>
          <a:custGeom>
            <a:avLst/>
            <a:gdLst/>
            <a:ahLst/>
            <a:cxnLst/>
            <a:rect r="r" b="b" t="t" l="l"/>
            <a:pathLst>
              <a:path h="1666229" w="1666229">
                <a:moveTo>
                  <a:pt x="0" y="0"/>
                </a:moveTo>
                <a:lnTo>
                  <a:pt x="1666229" y="0"/>
                </a:lnTo>
                <a:lnTo>
                  <a:pt x="1666229" y="1666229"/>
                </a:lnTo>
                <a:lnTo>
                  <a:pt x="0" y="1666229"/>
                </a:lnTo>
                <a:lnTo>
                  <a:pt x="0" y="0"/>
                </a:lnTo>
                <a:close/>
              </a:path>
            </a:pathLst>
          </a:custGeom>
          <a:blipFill>
            <a:blip r:embed="rId3"/>
            <a:stretch>
              <a:fillRect l="0" t="0" r="0" b="0"/>
            </a:stretch>
          </a:blipFill>
        </p:spPr>
      </p:sp>
      <p:grpSp>
        <p:nvGrpSpPr>
          <p:cNvPr name="Group 7" id="7"/>
          <p:cNvGrpSpPr/>
          <p:nvPr/>
        </p:nvGrpSpPr>
        <p:grpSpPr>
          <a:xfrm rot="-10800000">
            <a:off x="846806" y="3956877"/>
            <a:ext cx="986245" cy="676855"/>
            <a:chOff x="0" y="0"/>
            <a:chExt cx="647700" cy="444513"/>
          </a:xfrm>
        </p:grpSpPr>
        <p:sp>
          <p:nvSpPr>
            <p:cNvPr name="Freeform 8" id="8"/>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9" id="9"/>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5400000">
            <a:off x="4655176" y="1518681"/>
            <a:ext cx="986245" cy="676855"/>
            <a:chOff x="0" y="0"/>
            <a:chExt cx="647700" cy="444513"/>
          </a:xfrm>
        </p:grpSpPr>
        <p:sp>
          <p:nvSpPr>
            <p:cNvPr name="Freeform 11" id="11"/>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12" id="12"/>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900133" y="2350232"/>
            <a:ext cx="14706469" cy="7316468"/>
          </a:xfrm>
          <a:custGeom>
            <a:avLst/>
            <a:gdLst/>
            <a:ahLst/>
            <a:cxnLst/>
            <a:rect r="r" b="b" t="t" l="l"/>
            <a:pathLst>
              <a:path h="7316468" w="14706469">
                <a:moveTo>
                  <a:pt x="0" y="0"/>
                </a:moveTo>
                <a:lnTo>
                  <a:pt x="14706468" y="0"/>
                </a:lnTo>
                <a:lnTo>
                  <a:pt x="14706468" y="7316468"/>
                </a:lnTo>
                <a:lnTo>
                  <a:pt x="0" y="7316468"/>
                </a:lnTo>
                <a:lnTo>
                  <a:pt x="0" y="0"/>
                </a:lnTo>
                <a:close/>
              </a:path>
            </a:pathLst>
          </a:custGeom>
          <a:blipFill>
            <a:blip r:embed="rId4"/>
            <a:stretch>
              <a:fillRect l="0" t="0" r="0" b="0"/>
            </a:stretch>
          </a:blipFill>
        </p:spPr>
      </p:sp>
      <p:sp>
        <p:nvSpPr>
          <p:cNvPr name="TextBox 14" id="14"/>
          <p:cNvSpPr txBox="true"/>
          <p:nvPr/>
        </p:nvSpPr>
        <p:spPr>
          <a:xfrm rot="0">
            <a:off x="1028700" y="973424"/>
            <a:ext cx="3405568" cy="760525"/>
          </a:xfrm>
          <a:prstGeom prst="rect">
            <a:avLst/>
          </a:prstGeom>
        </p:spPr>
        <p:txBody>
          <a:bodyPr anchor="t" rtlCol="false" tIns="0" lIns="0" bIns="0" rIns="0">
            <a:spAutoFit/>
          </a:bodyPr>
          <a:lstStyle/>
          <a:p>
            <a:pPr algn="l">
              <a:lnSpc>
                <a:spcPts val="5856"/>
              </a:lnSpc>
            </a:pPr>
            <a:r>
              <a:rPr lang="en-US" b="true" sz="4183">
                <a:solidFill>
                  <a:srgbClr val="E78939"/>
                </a:solidFill>
                <a:latin typeface="Poppins Bold"/>
                <a:ea typeface="Poppins Bold"/>
                <a:cs typeface="Poppins Bold"/>
                <a:sym typeface="Poppins Bold"/>
              </a:rPr>
              <a:t>FEATURE</a:t>
            </a:r>
          </a:p>
        </p:txBody>
      </p:sp>
      <p:grpSp>
        <p:nvGrpSpPr>
          <p:cNvPr name="Group 15" id="15"/>
          <p:cNvGrpSpPr/>
          <p:nvPr/>
        </p:nvGrpSpPr>
        <p:grpSpPr>
          <a:xfrm rot="-10800000">
            <a:off x="846806" y="2752346"/>
            <a:ext cx="986245" cy="676855"/>
            <a:chOff x="0" y="0"/>
            <a:chExt cx="647700" cy="444513"/>
          </a:xfrm>
        </p:grpSpPr>
        <p:sp>
          <p:nvSpPr>
            <p:cNvPr name="Freeform 16" id="16"/>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17" id="17"/>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6673276" y="3794143"/>
            <a:ext cx="986245" cy="676855"/>
            <a:chOff x="0" y="0"/>
            <a:chExt cx="647700" cy="444513"/>
          </a:xfrm>
        </p:grpSpPr>
        <p:sp>
          <p:nvSpPr>
            <p:cNvPr name="Freeform 19" id="19"/>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20" id="20"/>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6606601" y="6619671"/>
            <a:ext cx="986245" cy="676855"/>
            <a:chOff x="0" y="0"/>
            <a:chExt cx="647700" cy="444513"/>
          </a:xfrm>
        </p:grpSpPr>
        <p:sp>
          <p:nvSpPr>
            <p:cNvPr name="Freeform 22" id="22"/>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23" id="23"/>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7976880" y="-364733"/>
            <a:ext cx="2427418" cy="2427418"/>
          </a:xfrm>
          <a:custGeom>
            <a:avLst/>
            <a:gdLst/>
            <a:ahLst/>
            <a:cxnLst/>
            <a:rect r="r" b="b" t="t" l="l"/>
            <a:pathLst>
              <a:path h="2427418" w="2427418">
                <a:moveTo>
                  <a:pt x="0" y="0"/>
                </a:moveTo>
                <a:lnTo>
                  <a:pt x="2427418" y="0"/>
                </a:lnTo>
                <a:lnTo>
                  <a:pt x="2427418" y="2427418"/>
                </a:lnTo>
                <a:lnTo>
                  <a:pt x="0" y="2427418"/>
                </a:lnTo>
                <a:lnTo>
                  <a:pt x="0" y="0"/>
                </a:lnTo>
                <a:close/>
              </a:path>
            </a:pathLst>
          </a:custGeom>
          <a:blipFill>
            <a:blip r:embed="rId5"/>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037700" y="264134"/>
            <a:ext cx="1666229" cy="1666229"/>
          </a:xfrm>
          <a:custGeom>
            <a:avLst/>
            <a:gdLst/>
            <a:ahLst/>
            <a:cxnLst/>
            <a:rect r="r" b="b" t="t" l="l"/>
            <a:pathLst>
              <a:path h="1666229" w="1666229">
                <a:moveTo>
                  <a:pt x="0" y="0"/>
                </a:moveTo>
                <a:lnTo>
                  <a:pt x="1666229" y="0"/>
                </a:lnTo>
                <a:lnTo>
                  <a:pt x="1666229" y="1666229"/>
                </a:lnTo>
                <a:lnTo>
                  <a:pt x="0" y="1666229"/>
                </a:lnTo>
                <a:lnTo>
                  <a:pt x="0" y="0"/>
                </a:lnTo>
                <a:close/>
              </a:path>
            </a:pathLst>
          </a:custGeom>
          <a:blipFill>
            <a:blip r:embed="rId3"/>
            <a:stretch>
              <a:fillRect l="0" t="0" r="0" b="0"/>
            </a:stretch>
          </a:blipFill>
        </p:spPr>
      </p:sp>
      <p:grpSp>
        <p:nvGrpSpPr>
          <p:cNvPr name="Group 7" id="7"/>
          <p:cNvGrpSpPr/>
          <p:nvPr/>
        </p:nvGrpSpPr>
        <p:grpSpPr>
          <a:xfrm rot="-10800000">
            <a:off x="1217044" y="8326990"/>
            <a:ext cx="986245" cy="676855"/>
            <a:chOff x="0" y="0"/>
            <a:chExt cx="647700" cy="444513"/>
          </a:xfrm>
        </p:grpSpPr>
        <p:sp>
          <p:nvSpPr>
            <p:cNvPr name="Freeform 8" id="8"/>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9" id="9"/>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2203289" y="2350232"/>
            <a:ext cx="14273908" cy="6958530"/>
          </a:xfrm>
          <a:custGeom>
            <a:avLst/>
            <a:gdLst/>
            <a:ahLst/>
            <a:cxnLst/>
            <a:rect r="r" b="b" t="t" l="l"/>
            <a:pathLst>
              <a:path h="6958530" w="14273908">
                <a:moveTo>
                  <a:pt x="0" y="0"/>
                </a:moveTo>
                <a:lnTo>
                  <a:pt x="14273908" y="0"/>
                </a:lnTo>
                <a:lnTo>
                  <a:pt x="14273908" y="6958530"/>
                </a:lnTo>
                <a:lnTo>
                  <a:pt x="0" y="6958530"/>
                </a:lnTo>
                <a:lnTo>
                  <a:pt x="0" y="0"/>
                </a:lnTo>
                <a:close/>
              </a:path>
            </a:pathLst>
          </a:custGeom>
          <a:blipFill>
            <a:blip r:embed="rId4"/>
            <a:stretch>
              <a:fillRect l="0" t="0" r="0" b="0"/>
            </a:stretch>
          </a:blipFill>
        </p:spPr>
      </p:sp>
      <p:sp>
        <p:nvSpPr>
          <p:cNvPr name="TextBox 11" id="11"/>
          <p:cNvSpPr txBox="true"/>
          <p:nvPr/>
        </p:nvSpPr>
        <p:spPr>
          <a:xfrm rot="0">
            <a:off x="1028700" y="973424"/>
            <a:ext cx="3405568" cy="760525"/>
          </a:xfrm>
          <a:prstGeom prst="rect">
            <a:avLst/>
          </a:prstGeom>
        </p:spPr>
        <p:txBody>
          <a:bodyPr anchor="t" rtlCol="false" tIns="0" lIns="0" bIns="0" rIns="0">
            <a:spAutoFit/>
          </a:bodyPr>
          <a:lstStyle/>
          <a:p>
            <a:pPr algn="l">
              <a:lnSpc>
                <a:spcPts val="5856"/>
              </a:lnSpc>
            </a:pPr>
            <a:r>
              <a:rPr lang="en-US" b="true" sz="4183">
                <a:solidFill>
                  <a:srgbClr val="E78939"/>
                </a:solidFill>
                <a:latin typeface="Poppins Bold"/>
                <a:ea typeface="Poppins Bold"/>
                <a:cs typeface="Poppins Bold"/>
                <a:sym typeface="Poppins Bold"/>
              </a:rPr>
              <a:t>EPIC</a:t>
            </a:r>
          </a:p>
        </p:txBody>
      </p:sp>
      <p:sp>
        <p:nvSpPr>
          <p:cNvPr name="Freeform 12" id="12"/>
          <p:cNvSpPr/>
          <p:nvPr/>
        </p:nvSpPr>
        <p:spPr>
          <a:xfrm flipH="false" flipV="false" rot="0">
            <a:off x="7976880" y="-364733"/>
            <a:ext cx="2427418" cy="2427418"/>
          </a:xfrm>
          <a:custGeom>
            <a:avLst/>
            <a:gdLst/>
            <a:ahLst/>
            <a:cxnLst/>
            <a:rect r="r" b="b" t="t" l="l"/>
            <a:pathLst>
              <a:path h="2427418" w="2427418">
                <a:moveTo>
                  <a:pt x="0" y="0"/>
                </a:moveTo>
                <a:lnTo>
                  <a:pt x="2427418" y="0"/>
                </a:lnTo>
                <a:lnTo>
                  <a:pt x="2427418" y="2427418"/>
                </a:lnTo>
                <a:lnTo>
                  <a:pt x="0" y="2427418"/>
                </a:lnTo>
                <a:lnTo>
                  <a:pt x="0" y="0"/>
                </a:lnTo>
                <a:close/>
              </a:path>
            </a:pathLst>
          </a:custGeom>
          <a:blipFill>
            <a:blip r:embed="rId5"/>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037700" y="264134"/>
            <a:ext cx="1666229" cy="1666229"/>
          </a:xfrm>
          <a:custGeom>
            <a:avLst/>
            <a:gdLst/>
            <a:ahLst/>
            <a:cxnLst/>
            <a:rect r="r" b="b" t="t" l="l"/>
            <a:pathLst>
              <a:path h="1666229" w="1666229">
                <a:moveTo>
                  <a:pt x="0" y="0"/>
                </a:moveTo>
                <a:lnTo>
                  <a:pt x="1666229" y="0"/>
                </a:lnTo>
                <a:lnTo>
                  <a:pt x="1666229" y="1666229"/>
                </a:lnTo>
                <a:lnTo>
                  <a:pt x="0" y="1666229"/>
                </a:lnTo>
                <a:lnTo>
                  <a:pt x="0" y="0"/>
                </a:lnTo>
                <a:close/>
              </a:path>
            </a:pathLst>
          </a:custGeom>
          <a:blipFill>
            <a:blip r:embed="rId3"/>
            <a:stretch>
              <a:fillRect l="0" t="0" r="0" b="0"/>
            </a:stretch>
          </a:blipFill>
        </p:spPr>
      </p:sp>
      <p:sp>
        <p:nvSpPr>
          <p:cNvPr name="Freeform 7" id="7"/>
          <p:cNvSpPr/>
          <p:nvPr/>
        </p:nvSpPr>
        <p:spPr>
          <a:xfrm flipH="false" flipV="false" rot="0">
            <a:off x="1727641" y="3880254"/>
            <a:ext cx="15653771" cy="3991712"/>
          </a:xfrm>
          <a:custGeom>
            <a:avLst/>
            <a:gdLst/>
            <a:ahLst/>
            <a:cxnLst/>
            <a:rect r="r" b="b" t="t" l="l"/>
            <a:pathLst>
              <a:path h="3991712" w="15653771">
                <a:moveTo>
                  <a:pt x="0" y="0"/>
                </a:moveTo>
                <a:lnTo>
                  <a:pt x="15653771" y="0"/>
                </a:lnTo>
                <a:lnTo>
                  <a:pt x="15653771" y="3991712"/>
                </a:lnTo>
                <a:lnTo>
                  <a:pt x="0" y="3991712"/>
                </a:lnTo>
                <a:lnTo>
                  <a:pt x="0" y="0"/>
                </a:lnTo>
                <a:close/>
              </a:path>
            </a:pathLst>
          </a:custGeom>
          <a:blipFill>
            <a:blip r:embed="rId4"/>
            <a:stretch>
              <a:fillRect l="0" t="0" r="0" b="0"/>
            </a:stretch>
          </a:blipFill>
        </p:spPr>
      </p:sp>
      <p:grpSp>
        <p:nvGrpSpPr>
          <p:cNvPr name="Group 8" id="8"/>
          <p:cNvGrpSpPr/>
          <p:nvPr/>
        </p:nvGrpSpPr>
        <p:grpSpPr>
          <a:xfrm rot="-10800000">
            <a:off x="741396" y="7195111"/>
            <a:ext cx="986245" cy="676855"/>
            <a:chOff x="0" y="0"/>
            <a:chExt cx="647700" cy="444513"/>
          </a:xfrm>
        </p:grpSpPr>
        <p:sp>
          <p:nvSpPr>
            <p:cNvPr name="Freeform 9" id="9"/>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10" id="10"/>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28700" y="973424"/>
            <a:ext cx="3405568" cy="760525"/>
          </a:xfrm>
          <a:prstGeom prst="rect">
            <a:avLst/>
          </a:prstGeom>
        </p:spPr>
        <p:txBody>
          <a:bodyPr anchor="t" rtlCol="false" tIns="0" lIns="0" bIns="0" rIns="0">
            <a:spAutoFit/>
          </a:bodyPr>
          <a:lstStyle/>
          <a:p>
            <a:pPr algn="l">
              <a:lnSpc>
                <a:spcPts val="5856"/>
              </a:lnSpc>
            </a:pPr>
            <a:r>
              <a:rPr lang="en-US" b="true" sz="4183">
                <a:solidFill>
                  <a:srgbClr val="E78939"/>
                </a:solidFill>
                <a:latin typeface="Poppins Bold"/>
                <a:ea typeface="Poppins Bold"/>
                <a:cs typeface="Poppins Bold"/>
                <a:sym typeface="Poppins Bold"/>
              </a:rPr>
              <a:t>Feature</a:t>
            </a:r>
          </a:p>
        </p:txBody>
      </p:sp>
      <p:sp>
        <p:nvSpPr>
          <p:cNvPr name="Freeform 12" id="12"/>
          <p:cNvSpPr/>
          <p:nvPr/>
        </p:nvSpPr>
        <p:spPr>
          <a:xfrm flipH="false" flipV="false" rot="0">
            <a:off x="7976880" y="-364733"/>
            <a:ext cx="2427418" cy="2427418"/>
          </a:xfrm>
          <a:custGeom>
            <a:avLst/>
            <a:gdLst/>
            <a:ahLst/>
            <a:cxnLst/>
            <a:rect r="r" b="b" t="t" l="l"/>
            <a:pathLst>
              <a:path h="2427418" w="2427418">
                <a:moveTo>
                  <a:pt x="0" y="0"/>
                </a:moveTo>
                <a:lnTo>
                  <a:pt x="2427418" y="0"/>
                </a:lnTo>
                <a:lnTo>
                  <a:pt x="2427418" y="2427418"/>
                </a:lnTo>
                <a:lnTo>
                  <a:pt x="0" y="2427418"/>
                </a:lnTo>
                <a:lnTo>
                  <a:pt x="0" y="0"/>
                </a:lnTo>
                <a:close/>
              </a:path>
            </a:pathLst>
          </a:custGeom>
          <a:blipFill>
            <a:blip r:embed="rId5"/>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037700" y="264134"/>
            <a:ext cx="1666229" cy="1666229"/>
          </a:xfrm>
          <a:custGeom>
            <a:avLst/>
            <a:gdLst/>
            <a:ahLst/>
            <a:cxnLst/>
            <a:rect r="r" b="b" t="t" l="l"/>
            <a:pathLst>
              <a:path h="1666229" w="1666229">
                <a:moveTo>
                  <a:pt x="0" y="0"/>
                </a:moveTo>
                <a:lnTo>
                  <a:pt x="1666229" y="0"/>
                </a:lnTo>
                <a:lnTo>
                  <a:pt x="1666229" y="1666229"/>
                </a:lnTo>
                <a:lnTo>
                  <a:pt x="0" y="1666229"/>
                </a:lnTo>
                <a:lnTo>
                  <a:pt x="0" y="0"/>
                </a:lnTo>
                <a:close/>
              </a:path>
            </a:pathLst>
          </a:custGeom>
          <a:blipFill>
            <a:blip r:embed="rId3"/>
            <a:stretch>
              <a:fillRect l="0" t="0" r="0" b="0"/>
            </a:stretch>
          </a:blipFill>
        </p:spPr>
      </p:sp>
      <p:grpSp>
        <p:nvGrpSpPr>
          <p:cNvPr name="Group 7" id="7"/>
          <p:cNvGrpSpPr/>
          <p:nvPr/>
        </p:nvGrpSpPr>
        <p:grpSpPr>
          <a:xfrm rot="-5400000">
            <a:off x="4645965" y="1395520"/>
            <a:ext cx="986245" cy="676855"/>
            <a:chOff x="0" y="0"/>
            <a:chExt cx="647700" cy="444513"/>
          </a:xfrm>
        </p:grpSpPr>
        <p:sp>
          <p:nvSpPr>
            <p:cNvPr name="Freeform 8" id="8"/>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9" id="9"/>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759102" y="2191796"/>
            <a:ext cx="14769796" cy="7237200"/>
          </a:xfrm>
          <a:custGeom>
            <a:avLst/>
            <a:gdLst/>
            <a:ahLst/>
            <a:cxnLst/>
            <a:rect r="r" b="b" t="t" l="l"/>
            <a:pathLst>
              <a:path h="7237200" w="14769796">
                <a:moveTo>
                  <a:pt x="0" y="0"/>
                </a:moveTo>
                <a:lnTo>
                  <a:pt x="14769796" y="0"/>
                </a:lnTo>
                <a:lnTo>
                  <a:pt x="14769796" y="7237200"/>
                </a:lnTo>
                <a:lnTo>
                  <a:pt x="0" y="7237200"/>
                </a:lnTo>
                <a:lnTo>
                  <a:pt x="0" y="0"/>
                </a:lnTo>
                <a:close/>
              </a:path>
            </a:pathLst>
          </a:custGeom>
          <a:blipFill>
            <a:blip r:embed="rId4"/>
            <a:stretch>
              <a:fillRect l="0" t="0" r="0" b="0"/>
            </a:stretch>
          </a:blipFill>
        </p:spPr>
      </p:sp>
      <p:sp>
        <p:nvSpPr>
          <p:cNvPr name="TextBox 11" id="11"/>
          <p:cNvSpPr txBox="true"/>
          <p:nvPr/>
        </p:nvSpPr>
        <p:spPr>
          <a:xfrm rot="0">
            <a:off x="1028700" y="973424"/>
            <a:ext cx="3405568" cy="760525"/>
          </a:xfrm>
          <a:prstGeom prst="rect">
            <a:avLst/>
          </a:prstGeom>
        </p:spPr>
        <p:txBody>
          <a:bodyPr anchor="t" rtlCol="false" tIns="0" lIns="0" bIns="0" rIns="0">
            <a:spAutoFit/>
          </a:bodyPr>
          <a:lstStyle/>
          <a:p>
            <a:pPr algn="l">
              <a:lnSpc>
                <a:spcPts val="5856"/>
              </a:lnSpc>
            </a:pPr>
            <a:r>
              <a:rPr lang="en-US" b="true" sz="4183">
                <a:solidFill>
                  <a:srgbClr val="E78939"/>
                </a:solidFill>
                <a:latin typeface="Poppins Bold"/>
                <a:ea typeface="Poppins Bold"/>
                <a:cs typeface="Poppins Bold"/>
                <a:sym typeface="Poppins Bold"/>
              </a:rPr>
              <a:t>User History</a:t>
            </a:r>
          </a:p>
        </p:txBody>
      </p:sp>
      <p:grpSp>
        <p:nvGrpSpPr>
          <p:cNvPr name="Group 12" id="12"/>
          <p:cNvGrpSpPr/>
          <p:nvPr/>
        </p:nvGrpSpPr>
        <p:grpSpPr>
          <a:xfrm rot="-10800000">
            <a:off x="535577" y="2599150"/>
            <a:ext cx="986245" cy="676855"/>
            <a:chOff x="0" y="0"/>
            <a:chExt cx="647700" cy="444513"/>
          </a:xfrm>
        </p:grpSpPr>
        <p:sp>
          <p:nvSpPr>
            <p:cNvPr name="Freeform 13" id="13"/>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14" id="14"/>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10800000">
            <a:off x="535577" y="3772745"/>
            <a:ext cx="986245" cy="676855"/>
            <a:chOff x="0" y="0"/>
            <a:chExt cx="647700" cy="444513"/>
          </a:xfrm>
        </p:grpSpPr>
        <p:sp>
          <p:nvSpPr>
            <p:cNvPr name="Freeform 16" id="16"/>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17" id="17"/>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5164917" y="3667622"/>
            <a:ext cx="986245" cy="676855"/>
            <a:chOff x="0" y="0"/>
            <a:chExt cx="647700" cy="444513"/>
          </a:xfrm>
        </p:grpSpPr>
        <p:sp>
          <p:nvSpPr>
            <p:cNvPr name="Freeform 19" id="19"/>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20" id="20"/>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5164917" y="6430856"/>
            <a:ext cx="986245" cy="676855"/>
            <a:chOff x="0" y="0"/>
            <a:chExt cx="647700" cy="444513"/>
          </a:xfrm>
        </p:grpSpPr>
        <p:sp>
          <p:nvSpPr>
            <p:cNvPr name="Freeform 22" id="22"/>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23" id="23"/>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7976880" y="-364733"/>
            <a:ext cx="2427418" cy="2427418"/>
          </a:xfrm>
          <a:custGeom>
            <a:avLst/>
            <a:gdLst/>
            <a:ahLst/>
            <a:cxnLst/>
            <a:rect r="r" b="b" t="t" l="l"/>
            <a:pathLst>
              <a:path h="2427418" w="2427418">
                <a:moveTo>
                  <a:pt x="0" y="0"/>
                </a:moveTo>
                <a:lnTo>
                  <a:pt x="2427418" y="0"/>
                </a:lnTo>
                <a:lnTo>
                  <a:pt x="2427418" y="2427418"/>
                </a:lnTo>
                <a:lnTo>
                  <a:pt x="0" y="2427418"/>
                </a:lnTo>
                <a:lnTo>
                  <a:pt x="0" y="0"/>
                </a:lnTo>
                <a:close/>
              </a:path>
            </a:pathLst>
          </a:custGeom>
          <a:blipFill>
            <a:blip r:embed="rId5"/>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037700" y="264134"/>
            <a:ext cx="1666229" cy="1666229"/>
          </a:xfrm>
          <a:custGeom>
            <a:avLst/>
            <a:gdLst/>
            <a:ahLst/>
            <a:cxnLst/>
            <a:rect r="r" b="b" t="t" l="l"/>
            <a:pathLst>
              <a:path h="1666229" w="1666229">
                <a:moveTo>
                  <a:pt x="0" y="0"/>
                </a:moveTo>
                <a:lnTo>
                  <a:pt x="1666229" y="0"/>
                </a:lnTo>
                <a:lnTo>
                  <a:pt x="1666229" y="1666229"/>
                </a:lnTo>
                <a:lnTo>
                  <a:pt x="0" y="1666229"/>
                </a:lnTo>
                <a:lnTo>
                  <a:pt x="0" y="0"/>
                </a:lnTo>
                <a:close/>
              </a:path>
            </a:pathLst>
          </a:custGeom>
          <a:blipFill>
            <a:blip r:embed="rId3"/>
            <a:stretch>
              <a:fillRect l="0" t="0" r="0" b="0"/>
            </a:stretch>
          </a:blipFill>
        </p:spPr>
      </p:sp>
      <p:grpSp>
        <p:nvGrpSpPr>
          <p:cNvPr name="Group 7" id="7"/>
          <p:cNvGrpSpPr/>
          <p:nvPr/>
        </p:nvGrpSpPr>
        <p:grpSpPr>
          <a:xfrm rot="-5400000">
            <a:off x="4405684" y="1853368"/>
            <a:ext cx="986245" cy="676855"/>
            <a:chOff x="0" y="0"/>
            <a:chExt cx="647700" cy="444513"/>
          </a:xfrm>
        </p:grpSpPr>
        <p:sp>
          <p:nvSpPr>
            <p:cNvPr name="Freeform 8" id="8"/>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9" id="9"/>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10800000">
            <a:off x="535577" y="3169818"/>
            <a:ext cx="986245" cy="676855"/>
            <a:chOff x="0" y="0"/>
            <a:chExt cx="647700" cy="444513"/>
          </a:xfrm>
        </p:grpSpPr>
        <p:sp>
          <p:nvSpPr>
            <p:cNvPr name="Freeform 11" id="11"/>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12" id="12"/>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10800000">
            <a:off x="535577" y="4583694"/>
            <a:ext cx="986245" cy="676855"/>
            <a:chOff x="0" y="0"/>
            <a:chExt cx="647700" cy="444513"/>
          </a:xfrm>
        </p:grpSpPr>
        <p:sp>
          <p:nvSpPr>
            <p:cNvPr name="Freeform 14" id="14"/>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15" id="15"/>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480690" y="2739774"/>
            <a:ext cx="15545354" cy="6218142"/>
          </a:xfrm>
          <a:custGeom>
            <a:avLst/>
            <a:gdLst/>
            <a:ahLst/>
            <a:cxnLst/>
            <a:rect r="r" b="b" t="t" l="l"/>
            <a:pathLst>
              <a:path h="6218142" w="15545354">
                <a:moveTo>
                  <a:pt x="0" y="0"/>
                </a:moveTo>
                <a:lnTo>
                  <a:pt x="15545354" y="0"/>
                </a:lnTo>
                <a:lnTo>
                  <a:pt x="15545354" y="6218141"/>
                </a:lnTo>
                <a:lnTo>
                  <a:pt x="0" y="6218141"/>
                </a:lnTo>
                <a:lnTo>
                  <a:pt x="0" y="0"/>
                </a:lnTo>
                <a:close/>
              </a:path>
            </a:pathLst>
          </a:custGeom>
          <a:blipFill>
            <a:blip r:embed="rId4"/>
            <a:stretch>
              <a:fillRect l="0" t="0" r="0" b="0"/>
            </a:stretch>
          </a:blipFill>
        </p:spPr>
      </p:sp>
      <p:sp>
        <p:nvSpPr>
          <p:cNvPr name="TextBox 17" id="17"/>
          <p:cNvSpPr txBox="true"/>
          <p:nvPr/>
        </p:nvSpPr>
        <p:spPr>
          <a:xfrm rot="0">
            <a:off x="1028700" y="973424"/>
            <a:ext cx="3405568" cy="760525"/>
          </a:xfrm>
          <a:prstGeom prst="rect">
            <a:avLst/>
          </a:prstGeom>
        </p:spPr>
        <p:txBody>
          <a:bodyPr anchor="t" rtlCol="false" tIns="0" lIns="0" bIns="0" rIns="0">
            <a:spAutoFit/>
          </a:bodyPr>
          <a:lstStyle/>
          <a:p>
            <a:pPr algn="l">
              <a:lnSpc>
                <a:spcPts val="5856"/>
              </a:lnSpc>
            </a:pPr>
            <a:r>
              <a:rPr lang="en-US" b="true" sz="4183">
                <a:solidFill>
                  <a:srgbClr val="E78939"/>
                </a:solidFill>
                <a:latin typeface="Poppins Bold"/>
                <a:ea typeface="Poppins Bold"/>
                <a:cs typeface="Poppins Bold"/>
                <a:sym typeface="Poppins Bold"/>
              </a:rPr>
              <a:t>Tasks</a:t>
            </a:r>
          </a:p>
        </p:txBody>
      </p:sp>
      <p:grpSp>
        <p:nvGrpSpPr>
          <p:cNvPr name="Group 18" id="18"/>
          <p:cNvGrpSpPr/>
          <p:nvPr/>
        </p:nvGrpSpPr>
        <p:grpSpPr>
          <a:xfrm rot="0">
            <a:off x="15884570" y="4245266"/>
            <a:ext cx="986245" cy="676855"/>
            <a:chOff x="0" y="0"/>
            <a:chExt cx="647700" cy="444513"/>
          </a:xfrm>
        </p:grpSpPr>
        <p:sp>
          <p:nvSpPr>
            <p:cNvPr name="Freeform 19" id="19"/>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20" id="20"/>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5884570" y="5848845"/>
            <a:ext cx="986245" cy="676855"/>
            <a:chOff x="0" y="0"/>
            <a:chExt cx="647700" cy="444513"/>
          </a:xfrm>
        </p:grpSpPr>
        <p:sp>
          <p:nvSpPr>
            <p:cNvPr name="Freeform 22" id="22"/>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23" id="23"/>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5884570" y="6828106"/>
            <a:ext cx="986245" cy="676855"/>
            <a:chOff x="0" y="0"/>
            <a:chExt cx="647700" cy="444513"/>
          </a:xfrm>
        </p:grpSpPr>
        <p:sp>
          <p:nvSpPr>
            <p:cNvPr name="Freeform 25" id="25"/>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26" id="26"/>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7976880" y="-364733"/>
            <a:ext cx="2427418" cy="2427418"/>
          </a:xfrm>
          <a:custGeom>
            <a:avLst/>
            <a:gdLst/>
            <a:ahLst/>
            <a:cxnLst/>
            <a:rect r="r" b="b" t="t" l="l"/>
            <a:pathLst>
              <a:path h="2427418" w="2427418">
                <a:moveTo>
                  <a:pt x="0" y="0"/>
                </a:moveTo>
                <a:lnTo>
                  <a:pt x="2427418" y="0"/>
                </a:lnTo>
                <a:lnTo>
                  <a:pt x="2427418" y="2427418"/>
                </a:lnTo>
                <a:lnTo>
                  <a:pt x="0" y="2427418"/>
                </a:lnTo>
                <a:lnTo>
                  <a:pt x="0" y="0"/>
                </a:lnTo>
                <a:close/>
              </a:path>
            </a:pathLst>
          </a:custGeom>
          <a:blipFill>
            <a:blip r:embed="rId5"/>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037700" y="264134"/>
            <a:ext cx="1666229" cy="1666229"/>
          </a:xfrm>
          <a:custGeom>
            <a:avLst/>
            <a:gdLst/>
            <a:ahLst/>
            <a:cxnLst/>
            <a:rect r="r" b="b" t="t" l="l"/>
            <a:pathLst>
              <a:path h="1666229" w="1666229">
                <a:moveTo>
                  <a:pt x="0" y="0"/>
                </a:moveTo>
                <a:lnTo>
                  <a:pt x="1666229" y="0"/>
                </a:lnTo>
                <a:lnTo>
                  <a:pt x="1666229" y="1666229"/>
                </a:lnTo>
                <a:lnTo>
                  <a:pt x="0" y="1666229"/>
                </a:lnTo>
                <a:lnTo>
                  <a:pt x="0" y="0"/>
                </a:lnTo>
                <a:close/>
              </a:path>
            </a:pathLst>
          </a:custGeom>
          <a:blipFill>
            <a:blip r:embed="rId3"/>
            <a:stretch>
              <a:fillRect l="0" t="0" r="0" b="0"/>
            </a:stretch>
          </a:blipFill>
        </p:spPr>
      </p:sp>
      <p:grpSp>
        <p:nvGrpSpPr>
          <p:cNvPr name="Group 7" id="7"/>
          <p:cNvGrpSpPr/>
          <p:nvPr/>
        </p:nvGrpSpPr>
        <p:grpSpPr>
          <a:xfrm rot="-10800000">
            <a:off x="1268981" y="8713526"/>
            <a:ext cx="986245" cy="676855"/>
            <a:chOff x="0" y="0"/>
            <a:chExt cx="647700" cy="444513"/>
          </a:xfrm>
        </p:grpSpPr>
        <p:sp>
          <p:nvSpPr>
            <p:cNvPr name="Freeform 8" id="8"/>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9" id="9"/>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2504014" y="2060408"/>
            <a:ext cx="13498705" cy="7508655"/>
          </a:xfrm>
          <a:custGeom>
            <a:avLst/>
            <a:gdLst/>
            <a:ahLst/>
            <a:cxnLst/>
            <a:rect r="r" b="b" t="t" l="l"/>
            <a:pathLst>
              <a:path h="7508655" w="13498705">
                <a:moveTo>
                  <a:pt x="0" y="0"/>
                </a:moveTo>
                <a:lnTo>
                  <a:pt x="13498705" y="0"/>
                </a:lnTo>
                <a:lnTo>
                  <a:pt x="13498705" y="7508654"/>
                </a:lnTo>
                <a:lnTo>
                  <a:pt x="0" y="7508654"/>
                </a:lnTo>
                <a:lnTo>
                  <a:pt x="0" y="0"/>
                </a:lnTo>
                <a:close/>
              </a:path>
            </a:pathLst>
          </a:custGeom>
          <a:blipFill>
            <a:blip r:embed="rId4"/>
            <a:stretch>
              <a:fillRect l="0" t="0" r="0" b="0"/>
            </a:stretch>
          </a:blipFill>
        </p:spPr>
      </p:sp>
      <p:sp>
        <p:nvSpPr>
          <p:cNvPr name="TextBox 11" id="11"/>
          <p:cNvSpPr txBox="true"/>
          <p:nvPr/>
        </p:nvSpPr>
        <p:spPr>
          <a:xfrm rot="0">
            <a:off x="1028700" y="973424"/>
            <a:ext cx="3405568" cy="760525"/>
          </a:xfrm>
          <a:prstGeom prst="rect">
            <a:avLst/>
          </a:prstGeom>
        </p:spPr>
        <p:txBody>
          <a:bodyPr anchor="t" rtlCol="false" tIns="0" lIns="0" bIns="0" rIns="0">
            <a:spAutoFit/>
          </a:bodyPr>
          <a:lstStyle/>
          <a:p>
            <a:pPr algn="l">
              <a:lnSpc>
                <a:spcPts val="5856"/>
              </a:lnSpc>
            </a:pPr>
            <a:r>
              <a:rPr lang="en-US" b="true" sz="4183">
                <a:solidFill>
                  <a:srgbClr val="E78939"/>
                </a:solidFill>
                <a:latin typeface="Poppins Bold"/>
                <a:ea typeface="Poppins Bold"/>
                <a:cs typeface="Poppins Bold"/>
                <a:sym typeface="Poppins Bold"/>
              </a:rPr>
              <a:t>Tasks</a:t>
            </a:r>
          </a:p>
        </p:txBody>
      </p:sp>
      <p:sp>
        <p:nvSpPr>
          <p:cNvPr name="Freeform 12" id="12"/>
          <p:cNvSpPr/>
          <p:nvPr/>
        </p:nvSpPr>
        <p:spPr>
          <a:xfrm flipH="false" flipV="false" rot="0">
            <a:off x="7976880" y="-364733"/>
            <a:ext cx="2427418" cy="2427418"/>
          </a:xfrm>
          <a:custGeom>
            <a:avLst/>
            <a:gdLst/>
            <a:ahLst/>
            <a:cxnLst/>
            <a:rect r="r" b="b" t="t" l="l"/>
            <a:pathLst>
              <a:path h="2427418" w="2427418">
                <a:moveTo>
                  <a:pt x="0" y="0"/>
                </a:moveTo>
                <a:lnTo>
                  <a:pt x="2427418" y="0"/>
                </a:lnTo>
                <a:lnTo>
                  <a:pt x="2427418" y="2427418"/>
                </a:lnTo>
                <a:lnTo>
                  <a:pt x="0" y="2427418"/>
                </a:lnTo>
                <a:lnTo>
                  <a:pt x="0" y="0"/>
                </a:lnTo>
                <a:close/>
              </a:path>
            </a:pathLst>
          </a:custGeom>
          <a:blipFill>
            <a:blip r:embed="rId5"/>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037700" y="264134"/>
            <a:ext cx="1666229" cy="1666229"/>
          </a:xfrm>
          <a:custGeom>
            <a:avLst/>
            <a:gdLst/>
            <a:ahLst/>
            <a:cxnLst/>
            <a:rect r="r" b="b" t="t" l="l"/>
            <a:pathLst>
              <a:path h="1666229" w="1666229">
                <a:moveTo>
                  <a:pt x="0" y="0"/>
                </a:moveTo>
                <a:lnTo>
                  <a:pt x="1666229" y="0"/>
                </a:lnTo>
                <a:lnTo>
                  <a:pt x="1666229" y="1666229"/>
                </a:lnTo>
                <a:lnTo>
                  <a:pt x="0" y="1666229"/>
                </a:lnTo>
                <a:lnTo>
                  <a:pt x="0" y="0"/>
                </a:lnTo>
                <a:close/>
              </a:path>
            </a:pathLst>
          </a:custGeom>
          <a:blipFill>
            <a:blip r:embed="rId3"/>
            <a:stretch>
              <a:fillRect l="0" t="0" r="0" b="0"/>
            </a:stretch>
          </a:blipFill>
        </p:spPr>
      </p:sp>
      <p:grpSp>
        <p:nvGrpSpPr>
          <p:cNvPr name="Group 7" id="7"/>
          <p:cNvGrpSpPr/>
          <p:nvPr/>
        </p:nvGrpSpPr>
        <p:grpSpPr>
          <a:xfrm rot="-5400000">
            <a:off x="6765412" y="1189653"/>
            <a:ext cx="986245" cy="676855"/>
            <a:chOff x="0" y="0"/>
            <a:chExt cx="647700" cy="444513"/>
          </a:xfrm>
        </p:grpSpPr>
        <p:sp>
          <p:nvSpPr>
            <p:cNvPr name="Freeform 8" id="8"/>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9" id="9"/>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2590527" y="2071655"/>
            <a:ext cx="12463889" cy="4035184"/>
          </a:xfrm>
          <a:custGeom>
            <a:avLst/>
            <a:gdLst/>
            <a:ahLst/>
            <a:cxnLst/>
            <a:rect r="r" b="b" t="t" l="l"/>
            <a:pathLst>
              <a:path h="4035184" w="12463889">
                <a:moveTo>
                  <a:pt x="0" y="0"/>
                </a:moveTo>
                <a:lnTo>
                  <a:pt x="12463890" y="0"/>
                </a:lnTo>
                <a:lnTo>
                  <a:pt x="12463890" y="4035185"/>
                </a:lnTo>
                <a:lnTo>
                  <a:pt x="0" y="4035185"/>
                </a:lnTo>
                <a:lnTo>
                  <a:pt x="0" y="0"/>
                </a:lnTo>
                <a:close/>
              </a:path>
            </a:pathLst>
          </a:custGeom>
          <a:blipFill>
            <a:blip r:embed="rId4"/>
            <a:stretch>
              <a:fillRect l="0" t="0" r="0" b="0"/>
            </a:stretch>
          </a:blipFill>
        </p:spPr>
      </p:sp>
      <p:sp>
        <p:nvSpPr>
          <p:cNvPr name="Freeform 11" id="11"/>
          <p:cNvSpPr/>
          <p:nvPr/>
        </p:nvSpPr>
        <p:spPr>
          <a:xfrm flipH="false" flipV="false" rot="0">
            <a:off x="1426342" y="7066137"/>
            <a:ext cx="14792260" cy="1886013"/>
          </a:xfrm>
          <a:custGeom>
            <a:avLst/>
            <a:gdLst/>
            <a:ahLst/>
            <a:cxnLst/>
            <a:rect r="r" b="b" t="t" l="l"/>
            <a:pathLst>
              <a:path h="1886013" w="14792260">
                <a:moveTo>
                  <a:pt x="0" y="0"/>
                </a:moveTo>
                <a:lnTo>
                  <a:pt x="14792260" y="0"/>
                </a:lnTo>
                <a:lnTo>
                  <a:pt x="14792260" y="1886013"/>
                </a:lnTo>
                <a:lnTo>
                  <a:pt x="0" y="1886013"/>
                </a:lnTo>
                <a:lnTo>
                  <a:pt x="0" y="0"/>
                </a:lnTo>
                <a:close/>
              </a:path>
            </a:pathLst>
          </a:custGeom>
          <a:blipFill>
            <a:blip r:embed="rId5"/>
            <a:stretch>
              <a:fillRect l="0" t="0" r="0" b="0"/>
            </a:stretch>
          </a:blipFill>
        </p:spPr>
      </p:sp>
      <p:sp>
        <p:nvSpPr>
          <p:cNvPr name="TextBox 12" id="12"/>
          <p:cNvSpPr txBox="true"/>
          <p:nvPr/>
        </p:nvSpPr>
        <p:spPr>
          <a:xfrm rot="0">
            <a:off x="1028700" y="973424"/>
            <a:ext cx="3405568" cy="760525"/>
          </a:xfrm>
          <a:prstGeom prst="rect">
            <a:avLst/>
          </a:prstGeom>
        </p:spPr>
        <p:txBody>
          <a:bodyPr anchor="t" rtlCol="false" tIns="0" lIns="0" bIns="0" rIns="0">
            <a:spAutoFit/>
          </a:bodyPr>
          <a:lstStyle/>
          <a:p>
            <a:pPr algn="l">
              <a:lnSpc>
                <a:spcPts val="5856"/>
              </a:lnSpc>
            </a:pPr>
            <a:r>
              <a:rPr lang="en-US" b="true" sz="4183">
                <a:solidFill>
                  <a:srgbClr val="E78939"/>
                </a:solidFill>
                <a:latin typeface="Poppins Bold"/>
                <a:ea typeface="Poppins Bold"/>
                <a:cs typeface="Poppins Bold"/>
                <a:sym typeface="Poppins Bold"/>
              </a:rPr>
              <a:t>Al final...</a:t>
            </a:r>
          </a:p>
        </p:txBody>
      </p:sp>
      <p:grpSp>
        <p:nvGrpSpPr>
          <p:cNvPr name="Group 13" id="13"/>
          <p:cNvGrpSpPr/>
          <p:nvPr/>
        </p:nvGrpSpPr>
        <p:grpSpPr>
          <a:xfrm rot="-10800000">
            <a:off x="162595" y="7670716"/>
            <a:ext cx="986245" cy="676855"/>
            <a:chOff x="0" y="0"/>
            <a:chExt cx="647700" cy="444513"/>
          </a:xfrm>
        </p:grpSpPr>
        <p:sp>
          <p:nvSpPr>
            <p:cNvPr name="Freeform 14" id="14"/>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F800C0"/>
            </a:solidFill>
          </p:spPr>
        </p:sp>
        <p:sp>
          <p:nvSpPr>
            <p:cNvPr name="TextBox 15" id="15"/>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7976880" y="-364733"/>
            <a:ext cx="2427418" cy="2427418"/>
          </a:xfrm>
          <a:custGeom>
            <a:avLst/>
            <a:gdLst/>
            <a:ahLst/>
            <a:cxnLst/>
            <a:rect r="r" b="b" t="t" l="l"/>
            <a:pathLst>
              <a:path h="2427418" w="2427418">
                <a:moveTo>
                  <a:pt x="0" y="0"/>
                </a:moveTo>
                <a:lnTo>
                  <a:pt x="2427418" y="0"/>
                </a:lnTo>
                <a:lnTo>
                  <a:pt x="2427418" y="2427418"/>
                </a:lnTo>
                <a:lnTo>
                  <a:pt x="0" y="2427418"/>
                </a:lnTo>
                <a:lnTo>
                  <a:pt x="0" y="0"/>
                </a:lnTo>
                <a:close/>
              </a:path>
            </a:pathLst>
          </a:custGeom>
          <a:blipFill>
            <a:blip r:embed="rId6"/>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037700" y="264134"/>
            <a:ext cx="1666229" cy="1666229"/>
          </a:xfrm>
          <a:custGeom>
            <a:avLst/>
            <a:gdLst/>
            <a:ahLst/>
            <a:cxnLst/>
            <a:rect r="r" b="b" t="t" l="l"/>
            <a:pathLst>
              <a:path h="1666229" w="1666229">
                <a:moveTo>
                  <a:pt x="0" y="0"/>
                </a:moveTo>
                <a:lnTo>
                  <a:pt x="1666229" y="0"/>
                </a:lnTo>
                <a:lnTo>
                  <a:pt x="1666229" y="1666229"/>
                </a:lnTo>
                <a:lnTo>
                  <a:pt x="0" y="1666229"/>
                </a:lnTo>
                <a:lnTo>
                  <a:pt x="0" y="0"/>
                </a:lnTo>
                <a:close/>
              </a:path>
            </a:pathLst>
          </a:custGeom>
          <a:blipFill>
            <a:blip r:embed="rId3"/>
            <a:stretch>
              <a:fillRect l="0" t="0" r="0" b="0"/>
            </a:stretch>
          </a:blipFill>
        </p:spPr>
      </p:sp>
      <p:sp>
        <p:nvSpPr>
          <p:cNvPr name="Freeform 7" id="7"/>
          <p:cNvSpPr/>
          <p:nvPr/>
        </p:nvSpPr>
        <p:spPr>
          <a:xfrm flipH="false" flipV="false" rot="0">
            <a:off x="1028700" y="2705452"/>
            <a:ext cx="16105086" cy="5193890"/>
          </a:xfrm>
          <a:custGeom>
            <a:avLst/>
            <a:gdLst/>
            <a:ahLst/>
            <a:cxnLst/>
            <a:rect r="r" b="b" t="t" l="l"/>
            <a:pathLst>
              <a:path h="5193890" w="16105086">
                <a:moveTo>
                  <a:pt x="0" y="0"/>
                </a:moveTo>
                <a:lnTo>
                  <a:pt x="16105086" y="0"/>
                </a:lnTo>
                <a:lnTo>
                  <a:pt x="16105086" y="5193890"/>
                </a:lnTo>
                <a:lnTo>
                  <a:pt x="0" y="5193890"/>
                </a:lnTo>
                <a:lnTo>
                  <a:pt x="0" y="0"/>
                </a:lnTo>
                <a:close/>
              </a:path>
            </a:pathLst>
          </a:custGeom>
          <a:blipFill>
            <a:blip r:embed="rId4"/>
            <a:stretch>
              <a:fillRect l="0" t="0" r="0" b="0"/>
            </a:stretch>
          </a:blipFill>
        </p:spPr>
      </p:sp>
      <p:sp>
        <p:nvSpPr>
          <p:cNvPr name="TextBox 8" id="8"/>
          <p:cNvSpPr txBox="true"/>
          <p:nvPr/>
        </p:nvSpPr>
        <p:spPr>
          <a:xfrm rot="0">
            <a:off x="1028700" y="973424"/>
            <a:ext cx="3405568" cy="760525"/>
          </a:xfrm>
          <a:prstGeom prst="rect">
            <a:avLst/>
          </a:prstGeom>
        </p:spPr>
        <p:txBody>
          <a:bodyPr anchor="t" rtlCol="false" tIns="0" lIns="0" bIns="0" rIns="0">
            <a:spAutoFit/>
          </a:bodyPr>
          <a:lstStyle/>
          <a:p>
            <a:pPr algn="l">
              <a:lnSpc>
                <a:spcPts val="5856"/>
              </a:lnSpc>
            </a:pPr>
            <a:r>
              <a:rPr lang="en-US" b="true" sz="4183">
                <a:solidFill>
                  <a:srgbClr val="E78939"/>
                </a:solidFill>
                <a:latin typeface="Poppins Bold"/>
                <a:ea typeface="Poppins Bold"/>
                <a:cs typeface="Poppins Bold"/>
                <a:sym typeface="Poppins Bold"/>
              </a:rPr>
              <a:t>Al final...</a:t>
            </a:r>
          </a:p>
        </p:txBody>
      </p:sp>
      <p:sp>
        <p:nvSpPr>
          <p:cNvPr name="Freeform 9" id="9"/>
          <p:cNvSpPr/>
          <p:nvPr/>
        </p:nvSpPr>
        <p:spPr>
          <a:xfrm flipH="false" flipV="false" rot="0">
            <a:off x="7976880" y="-364733"/>
            <a:ext cx="2427418" cy="2427418"/>
          </a:xfrm>
          <a:custGeom>
            <a:avLst/>
            <a:gdLst/>
            <a:ahLst/>
            <a:cxnLst/>
            <a:rect r="r" b="b" t="t" l="l"/>
            <a:pathLst>
              <a:path h="2427418" w="2427418">
                <a:moveTo>
                  <a:pt x="0" y="0"/>
                </a:moveTo>
                <a:lnTo>
                  <a:pt x="2427418" y="0"/>
                </a:lnTo>
                <a:lnTo>
                  <a:pt x="2427418" y="2427418"/>
                </a:lnTo>
                <a:lnTo>
                  <a:pt x="0" y="2427418"/>
                </a:lnTo>
                <a:lnTo>
                  <a:pt x="0" y="0"/>
                </a:lnTo>
                <a:close/>
              </a:path>
            </a:pathLst>
          </a:custGeom>
          <a:blipFill>
            <a:blip r:embed="rId5"/>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28998" y="3100062"/>
            <a:ext cx="8324369" cy="5358812"/>
          </a:xfrm>
          <a:custGeom>
            <a:avLst/>
            <a:gdLst/>
            <a:ahLst/>
            <a:cxnLst/>
            <a:rect r="r" b="b" t="t" l="l"/>
            <a:pathLst>
              <a:path h="5358812" w="8324369">
                <a:moveTo>
                  <a:pt x="0" y="0"/>
                </a:moveTo>
                <a:lnTo>
                  <a:pt x="8324369" y="0"/>
                </a:lnTo>
                <a:lnTo>
                  <a:pt x="8324369" y="5358812"/>
                </a:lnTo>
                <a:lnTo>
                  <a:pt x="0" y="5358812"/>
                </a:lnTo>
                <a:lnTo>
                  <a:pt x="0" y="0"/>
                </a:lnTo>
                <a:close/>
              </a:path>
            </a:pathLst>
          </a:custGeom>
          <a:blipFill>
            <a:blip r:embed="rId3"/>
            <a:stretch>
              <a:fillRect l="0" t="0" r="0" b="0"/>
            </a:stretch>
          </a:blipFill>
        </p:spPr>
      </p:sp>
      <p:sp>
        <p:nvSpPr>
          <p:cNvPr name="Freeform 7" id="7"/>
          <p:cNvSpPr/>
          <p:nvPr/>
        </p:nvSpPr>
        <p:spPr>
          <a:xfrm flipH="false" flipV="false" rot="0">
            <a:off x="7976880" y="-364733"/>
            <a:ext cx="2427418" cy="2427418"/>
          </a:xfrm>
          <a:custGeom>
            <a:avLst/>
            <a:gdLst/>
            <a:ahLst/>
            <a:cxnLst/>
            <a:rect r="r" b="b" t="t" l="l"/>
            <a:pathLst>
              <a:path h="2427418" w="2427418">
                <a:moveTo>
                  <a:pt x="0" y="0"/>
                </a:moveTo>
                <a:lnTo>
                  <a:pt x="2427418" y="0"/>
                </a:lnTo>
                <a:lnTo>
                  <a:pt x="2427418" y="2427418"/>
                </a:lnTo>
                <a:lnTo>
                  <a:pt x="0" y="2427418"/>
                </a:lnTo>
                <a:lnTo>
                  <a:pt x="0" y="0"/>
                </a:lnTo>
                <a:close/>
              </a:path>
            </a:pathLst>
          </a:custGeom>
          <a:blipFill>
            <a:blip r:embed="rId4"/>
            <a:stretch>
              <a:fillRect l="0" t="0" r="0" b="0"/>
            </a:stretch>
          </a:blipFill>
        </p:spPr>
      </p:sp>
      <p:sp>
        <p:nvSpPr>
          <p:cNvPr name="TextBox 8" id="8"/>
          <p:cNvSpPr txBox="true"/>
          <p:nvPr/>
        </p:nvSpPr>
        <p:spPr>
          <a:xfrm rot="0">
            <a:off x="9736751" y="3844601"/>
            <a:ext cx="6307057" cy="604741"/>
          </a:xfrm>
          <a:prstGeom prst="rect">
            <a:avLst/>
          </a:prstGeom>
        </p:spPr>
        <p:txBody>
          <a:bodyPr anchor="t" rtlCol="false" tIns="0" lIns="0" bIns="0" rIns="0">
            <a:spAutoFit/>
          </a:bodyPr>
          <a:lstStyle/>
          <a:p>
            <a:pPr algn="l">
              <a:lnSpc>
                <a:spcPts val="4992"/>
              </a:lnSpc>
              <a:spcBef>
                <a:spcPct val="0"/>
              </a:spcBef>
            </a:pPr>
            <a:r>
              <a:rPr lang="en-US" sz="3566">
                <a:solidFill>
                  <a:srgbClr val="DD7E28"/>
                </a:solidFill>
                <a:latin typeface="HK Modular"/>
                <a:ea typeface="HK Modular"/>
                <a:cs typeface="HK Modular"/>
                <a:sym typeface="HK Modular"/>
              </a:rPr>
              <a:t>SU MISION...</a:t>
            </a:r>
          </a:p>
        </p:txBody>
      </p:sp>
      <p:sp>
        <p:nvSpPr>
          <p:cNvPr name="TextBox 9" id="9"/>
          <p:cNvSpPr txBox="true"/>
          <p:nvPr/>
        </p:nvSpPr>
        <p:spPr>
          <a:xfrm rot="0">
            <a:off x="9736751" y="4676679"/>
            <a:ext cx="7701912" cy="1645714"/>
          </a:xfrm>
          <a:prstGeom prst="rect">
            <a:avLst/>
          </a:prstGeom>
        </p:spPr>
        <p:txBody>
          <a:bodyPr anchor="t" rtlCol="false" tIns="0" lIns="0" bIns="0" rIns="0">
            <a:spAutoFit/>
          </a:bodyPr>
          <a:lstStyle/>
          <a:p>
            <a:pPr algn="l">
              <a:lnSpc>
                <a:spcPts val="4316"/>
              </a:lnSpc>
            </a:pPr>
            <a:r>
              <a:rPr lang="en-US" sz="3083">
                <a:solidFill>
                  <a:srgbClr val="FFFFFF"/>
                </a:solidFill>
                <a:latin typeface="Poppins"/>
                <a:ea typeface="Poppins"/>
                <a:cs typeface="Poppins"/>
                <a:sym typeface="Poppins"/>
              </a:rPr>
              <a:t>Terminar de definir las demas HU y tareas para todas las funcionalidades para hacer el ajiaco </a:t>
            </a:r>
          </a:p>
        </p:txBody>
      </p:sp>
      <p:sp>
        <p:nvSpPr>
          <p:cNvPr name="TextBox 10" id="10"/>
          <p:cNvSpPr txBox="true"/>
          <p:nvPr/>
        </p:nvSpPr>
        <p:spPr>
          <a:xfrm rot="0">
            <a:off x="1279509" y="8721178"/>
            <a:ext cx="8275464" cy="1233391"/>
          </a:xfrm>
          <a:prstGeom prst="rect">
            <a:avLst/>
          </a:prstGeom>
        </p:spPr>
        <p:txBody>
          <a:bodyPr anchor="t" rtlCol="false" tIns="0" lIns="0" bIns="0" rIns="0">
            <a:spAutoFit/>
          </a:bodyPr>
          <a:lstStyle/>
          <a:p>
            <a:pPr algn="l">
              <a:lnSpc>
                <a:spcPts val="4992"/>
              </a:lnSpc>
              <a:spcBef>
                <a:spcPct val="0"/>
              </a:spcBef>
            </a:pPr>
            <a:r>
              <a:rPr lang="en-US" sz="3566">
                <a:solidFill>
                  <a:srgbClr val="F800C0"/>
                </a:solidFill>
                <a:latin typeface="HK Modular"/>
                <a:ea typeface="HK Modular"/>
                <a:cs typeface="HK Modular"/>
                <a:sym typeface="HK Modular"/>
              </a:rPr>
              <a:t>DEBE IR EN LA BITACORA EL LINK DE JIRA</a:t>
            </a:r>
          </a:p>
        </p:txBody>
      </p:sp>
      <p:sp>
        <p:nvSpPr>
          <p:cNvPr name="TextBox 11" id="11"/>
          <p:cNvSpPr txBox="true"/>
          <p:nvPr/>
        </p:nvSpPr>
        <p:spPr>
          <a:xfrm rot="0">
            <a:off x="9736751" y="6634480"/>
            <a:ext cx="7701912" cy="559864"/>
          </a:xfrm>
          <a:prstGeom prst="rect">
            <a:avLst/>
          </a:prstGeom>
        </p:spPr>
        <p:txBody>
          <a:bodyPr anchor="t" rtlCol="false" tIns="0" lIns="0" bIns="0" rIns="0">
            <a:spAutoFit/>
          </a:bodyPr>
          <a:lstStyle/>
          <a:p>
            <a:pPr algn="l">
              <a:lnSpc>
                <a:spcPts val="4316"/>
              </a:lnSpc>
            </a:pPr>
            <a:r>
              <a:rPr lang="en-US" sz="3083">
                <a:solidFill>
                  <a:srgbClr val="FFFFFF"/>
                </a:solidFill>
                <a:latin typeface="Poppins"/>
                <a:ea typeface="Poppins"/>
                <a:cs typeface="Poppins"/>
                <a:sym typeface="Poppins"/>
              </a:rPr>
              <a:t>Crear el JIRA para este ejercicio</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747858" y="4133441"/>
            <a:ext cx="11183286" cy="1905817"/>
          </a:xfrm>
          <a:prstGeom prst="rect">
            <a:avLst/>
          </a:prstGeom>
        </p:spPr>
        <p:txBody>
          <a:bodyPr anchor="t" rtlCol="false" tIns="0" lIns="0" bIns="0" rIns="0">
            <a:spAutoFit/>
          </a:bodyPr>
          <a:lstStyle/>
          <a:p>
            <a:pPr algn="ctr">
              <a:lnSpc>
                <a:spcPts val="7631"/>
              </a:lnSpc>
              <a:spcBef>
                <a:spcPct val="0"/>
              </a:spcBef>
            </a:pPr>
            <a:r>
              <a:rPr lang="en-US" sz="5450">
                <a:solidFill>
                  <a:srgbClr val="FA18C2"/>
                </a:solidFill>
                <a:latin typeface="HK Modular"/>
                <a:ea typeface="HK Modular"/>
                <a:cs typeface="HK Modular"/>
                <a:sym typeface="HK Modular"/>
              </a:rPr>
              <a:t>ESTIMACION DE TAREAS</a:t>
            </a:r>
          </a:p>
        </p:txBody>
      </p:sp>
      <p:sp>
        <p:nvSpPr>
          <p:cNvPr name="Freeform 13" id="13"/>
          <p:cNvSpPr/>
          <p:nvPr/>
        </p:nvSpPr>
        <p:spPr>
          <a:xfrm flipH="false" flipV="false" rot="0">
            <a:off x="7738699" y="-4690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EN QUE CONSISTE</a:t>
            </a:r>
          </a:p>
        </p:txBody>
      </p:sp>
      <p:sp>
        <p:nvSpPr>
          <p:cNvPr name="TextBox 7" id="7"/>
          <p:cNvSpPr txBox="true"/>
          <p:nvPr/>
        </p:nvSpPr>
        <p:spPr>
          <a:xfrm rot="0">
            <a:off x="3535089" y="3687357"/>
            <a:ext cx="11217823" cy="1852502"/>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En Scrum, la estimación se refiere al proceso de asignar valores relativos a las tareas o historias de usuario para determinar su complejidad o esfuerzo requerido. Estas estimaciones se utilizan para planificar los sprints y predecir la velocidad del equipo. Las estimaciones se realizan típicamente en "puntos de historia", utilizando técnicas como PLANNING POKER para llegar a un consenso</a:t>
            </a:r>
          </a:p>
        </p:txBody>
      </p:sp>
      <p:sp>
        <p:nvSpPr>
          <p:cNvPr name="TextBox 8" id="8"/>
          <p:cNvSpPr txBox="true"/>
          <p:nvPr/>
        </p:nvSpPr>
        <p:spPr>
          <a:xfrm rot="0">
            <a:off x="5896283" y="6570890"/>
            <a:ext cx="6461001" cy="1810993"/>
          </a:xfrm>
          <a:prstGeom prst="rect">
            <a:avLst/>
          </a:prstGeom>
        </p:spPr>
        <p:txBody>
          <a:bodyPr anchor="t" rtlCol="false" tIns="0" lIns="0" bIns="0" rIns="0">
            <a:spAutoFit/>
          </a:bodyPr>
          <a:lstStyle/>
          <a:p>
            <a:pPr algn="ctr">
              <a:lnSpc>
                <a:spcPts val="3600"/>
              </a:lnSpc>
              <a:spcBef>
                <a:spcPct val="0"/>
              </a:spcBef>
            </a:pPr>
            <a:r>
              <a:rPr lang="en-US" sz="2571">
                <a:solidFill>
                  <a:srgbClr val="E78939"/>
                </a:solidFill>
                <a:latin typeface="HK Modular"/>
                <a:ea typeface="HK Modular"/>
                <a:cs typeface="HK Modular"/>
                <a:sym typeface="HK Modular"/>
              </a:rPr>
              <a:t>ES CRUCIAL QUE TODOS LOS MIEMBROS DEL EQUIPO DE DESARROLLO PARTICIPEN EN LA ESTIMACION</a:t>
            </a:r>
          </a:p>
        </p:txBody>
      </p:sp>
      <p:sp>
        <p:nvSpPr>
          <p:cNvPr name="Freeform 9" id="9"/>
          <p:cNvSpPr/>
          <p:nvPr/>
        </p:nvSpPr>
        <p:spPr>
          <a:xfrm flipH="false" flipV="false" rot="0">
            <a:off x="7738699" y="-4690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64873" y="6647425"/>
            <a:ext cx="4542210" cy="3000231"/>
          </a:xfrm>
          <a:custGeom>
            <a:avLst/>
            <a:gdLst/>
            <a:ahLst/>
            <a:cxnLst/>
            <a:rect r="r" b="b" t="t" l="l"/>
            <a:pathLst>
              <a:path h="3000231" w="4542210">
                <a:moveTo>
                  <a:pt x="0" y="0"/>
                </a:moveTo>
                <a:lnTo>
                  <a:pt x="4542210" y="0"/>
                </a:lnTo>
                <a:lnTo>
                  <a:pt x="4542210" y="3000231"/>
                </a:lnTo>
                <a:lnTo>
                  <a:pt x="0" y="3000231"/>
                </a:lnTo>
                <a:lnTo>
                  <a:pt x="0" y="0"/>
                </a:lnTo>
                <a:close/>
              </a:path>
            </a:pathLst>
          </a:custGeom>
          <a:blipFill>
            <a:blip r:embed="rId3"/>
            <a:stretch>
              <a:fillRect l="0" t="0" r="0" b="0"/>
            </a:stretch>
          </a:blipFill>
        </p:spPr>
      </p:sp>
      <p:sp>
        <p:nvSpPr>
          <p:cNvPr name="Freeform 7" id="7"/>
          <p:cNvSpPr/>
          <p:nvPr/>
        </p:nvSpPr>
        <p:spPr>
          <a:xfrm flipH="false" flipV="false" rot="0">
            <a:off x="6763355" y="6647425"/>
            <a:ext cx="4628318" cy="3000231"/>
          </a:xfrm>
          <a:custGeom>
            <a:avLst/>
            <a:gdLst/>
            <a:ahLst/>
            <a:cxnLst/>
            <a:rect r="r" b="b" t="t" l="l"/>
            <a:pathLst>
              <a:path h="3000231" w="4628318">
                <a:moveTo>
                  <a:pt x="0" y="0"/>
                </a:moveTo>
                <a:lnTo>
                  <a:pt x="4628318" y="0"/>
                </a:lnTo>
                <a:lnTo>
                  <a:pt x="4628318" y="3000231"/>
                </a:lnTo>
                <a:lnTo>
                  <a:pt x="0" y="3000231"/>
                </a:lnTo>
                <a:lnTo>
                  <a:pt x="0" y="0"/>
                </a:lnTo>
                <a:close/>
              </a:path>
            </a:pathLst>
          </a:custGeom>
          <a:blipFill>
            <a:blip r:embed="rId4"/>
            <a:stretch>
              <a:fillRect l="0" t="0" r="0" b="0"/>
            </a:stretch>
          </a:blipFill>
        </p:spPr>
      </p:sp>
      <p:sp>
        <p:nvSpPr>
          <p:cNvPr name="TextBox 8" id="8"/>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PLANNING POKER</a:t>
            </a:r>
          </a:p>
        </p:txBody>
      </p:sp>
      <p:sp>
        <p:nvSpPr>
          <p:cNvPr name="TextBox 9" id="9"/>
          <p:cNvSpPr txBox="true"/>
          <p:nvPr/>
        </p:nvSpPr>
        <p:spPr>
          <a:xfrm rot="0">
            <a:off x="2735978" y="3404774"/>
            <a:ext cx="12683071" cy="2612203"/>
          </a:xfrm>
          <a:prstGeom prst="rect">
            <a:avLst/>
          </a:prstGeom>
        </p:spPr>
        <p:txBody>
          <a:bodyPr anchor="t" rtlCol="false" tIns="0" lIns="0" bIns="0" rIns="0">
            <a:spAutoFit/>
          </a:bodyPr>
          <a:lstStyle/>
          <a:p>
            <a:pPr algn="ctr" marL="456742" indent="-228371" lvl="1">
              <a:lnSpc>
                <a:spcPts val="2961"/>
              </a:lnSpc>
              <a:buFont typeface="Arial"/>
              <a:buChar char="•"/>
            </a:pPr>
            <a:r>
              <a:rPr lang="en-US" sz="2115">
                <a:solidFill>
                  <a:srgbClr val="FFFFFF"/>
                </a:solidFill>
                <a:latin typeface="Canva Sans"/>
                <a:ea typeface="Canva Sans"/>
                <a:cs typeface="Canva Sans"/>
                <a:sym typeface="Canva Sans"/>
              </a:rPr>
              <a:t>Los participantes emplean cartas con una numeración especial que asignan a cada uno de los elementos del Product Backlog. Después de estimar un elemento del Product Backlog, las personas que han otorgado la mayor y la menor puntuación explican los motivos por los que han escogido dicha puntuación y se vuelve a realizar la estimación, así hasta que se llegue a un consenso.</a:t>
            </a:r>
          </a:p>
          <a:p>
            <a:pPr algn="ctr" marL="456742" indent="-228371" lvl="1">
              <a:lnSpc>
                <a:spcPts val="2961"/>
              </a:lnSpc>
              <a:buFont typeface="Arial"/>
              <a:buChar char="•"/>
            </a:pPr>
            <a:r>
              <a:rPr lang="en-US" sz="2115">
                <a:solidFill>
                  <a:srgbClr val="FFFFFF"/>
                </a:solidFill>
                <a:latin typeface="Canva Sans"/>
                <a:ea typeface="Canva Sans"/>
                <a:cs typeface="Canva Sans"/>
                <a:sym typeface="Canva Sans"/>
              </a:rPr>
              <a:t>La numeración de las cartas está basada en una serie de Fibonnacci (0, 1, 2, 3, 5, 8, 13, 21 34, etc.), aunque en ocasiones se pueden varían algunos números de la serie. </a:t>
            </a:r>
          </a:p>
        </p:txBody>
      </p:sp>
      <p:sp>
        <p:nvSpPr>
          <p:cNvPr name="Freeform 10" id="10"/>
          <p:cNvSpPr/>
          <p:nvPr/>
        </p:nvSpPr>
        <p:spPr>
          <a:xfrm flipH="false" flipV="false" rot="0">
            <a:off x="7738699" y="-4690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5"/>
            <a:stretch>
              <a:fillRect l="0" t="0" r="0" b="0"/>
            </a:stretch>
          </a:blipFill>
        </p:spPr>
      </p:sp>
      <p:sp>
        <p:nvSpPr>
          <p:cNvPr name="Freeform 11" id="11"/>
          <p:cNvSpPr/>
          <p:nvPr/>
        </p:nvSpPr>
        <p:spPr>
          <a:xfrm flipH="false" flipV="false" rot="0">
            <a:off x="12570481" y="6907813"/>
            <a:ext cx="5097924" cy="1969073"/>
          </a:xfrm>
          <a:custGeom>
            <a:avLst/>
            <a:gdLst/>
            <a:ahLst/>
            <a:cxnLst/>
            <a:rect r="r" b="b" t="t" l="l"/>
            <a:pathLst>
              <a:path h="1969073" w="5097924">
                <a:moveTo>
                  <a:pt x="0" y="0"/>
                </a:moveTo>
                <a:lnTo>
                  <a:pt x="5097924" y="0"/>
                </a:lnTo>
                <a:lnTo>
                  <a:pt x="5097924" y="1969073"/>
                </a:lnTo>
                <a:lnTo>
                  <a:pt x="0" y="1969073"/>
                </a:lnTo>
                <a:lnTo>
                  <a:pt x="0" y="0"/>
                </a:lnTo>
                <a:close/>
              </a:path>
            </a:pathLst>
          </a:custGeom>
          <a:blipFill>
            <a:blip r:embed="rId6"/>
            <a:stretch>
              <a:fillRect l="0" t="0" r="0" b="0"/>
            </a:stretch>
          </a:blipFill>
        </p:spPr>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927690" y="4383598"/>
            <a:ext cx="4398187" cy="4398187"/>
          </a:xfrm>
          <a:custGeom>
            <a:avLst/>
            <a:gdLst/>
            <a:ahLst/>
            <a:cxnLst/>
            <a:rect r="r" b="b" t="t" l="l"/>
            <a:pathLst>
              <a:path h="4398187" w="4398187">
                <a:moveTo>
                  <a:pt x="0" y="0"/>
                </a:moveTo>
                <a:lnTo>
                  <a:pt x="4398187" y="0"/>
                </a:lnTo>
                <a:lnTo>
                  <a:pt x="4398187" y="4398187"/>
                </a:lnTo>
                <a:lnTo>
                  <a:pt x="0" y="4398187"/>
                </a:lnTo>
                <a:lnTo>
                  <a:pt x="0" y="0"/>
                </a:lnTo>
                <a:close/>
              </a:path>
            </a:pathLst>
          </a:custGeom>
          <a:blipFill>
            <a:blip r:embed="rId3"/>
            <a:stretch>
              <a:fillRect l="0" t="0" r="0" b="0"/>
            </a:stretch>
          </a:blipFill>
        </p:spPr>
      </p:sp>
      <p:sp>
        <p:nvSpPr>
          <p:cNvPr name="TextBox 7" id="7"/>
          <p:cNvSpPr txBox="true"/>
          <p:nvPr/>
        </p:nvSpPr>
        <p:spPr>
          <a:xfrm rot="0">
            <a:off x="2834518" y="209654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COMUNICACION PARA EQUIPOS</a:t>
            </a:r>
          </a:p>
        </p:txBody>
      </p:sp>
      <p:sp>
        <p:nvSpPr>
          <p:cNvPr name="Freeform 8" id="8"/>
          <p:cNvSpPr/>
          <p:nvPr/>
        </p:nvSpPr>
        <p:spPr>
          <a:xfrm flipH="false" flipV="false" rot="0">
            <a:off x="7738699" y="-4690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4"/>
            <a:stretch>
              <a:fillRect l="0" t="0" r="0" b="0"/>
            </a:stretch>
          </a:blipFill>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777" r="0" b="-8777"/>
            </a:stretch>
          </a:blipFill>
        </p:spPr>
      </p:sp>
      <p:sp>
        <p:nvSpPr>
          <p:cNvPr name="Freeform 3" id="3"/>
          <p:cNvSpPr/>
          <p:nvPr/>
        </p:nvSpPr>
        <p:spPr>
          <a:xfrm flipH="false" flipV="false" rot="0">
            <a:off x="8346232" y="-93621"/>
            <a:ext cx="7049995" cy="11271794"/>
          </a:xfrm>
          <a:custGeom>
            <a:avLst/>
            <a:gdLst/>
            <a:ahLst/>
            <a:cxnLst/>
            <a:rect r="r" b="b" t="t" l="l"/>
            <a:pathLst>
              <a:path h="11271794" w="7049995">
                <a:moveTo>
                  <a:pt x="0" y="0"/>
                </a:moveTo>
                <a:lnTo>
                  <a:pt x="7049994" y="0"/>
                </a:lnTo>
                <a:lnTo>
                  <a:pt x="7049994" y="11271794"/>
                </a:lnTo>
                <a:lnTo>
                  <a:pt x="0" y="112717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5400000">
            <a:off x="3940201" y="-7697568"/>
            <a:ext cx="10626331" cy="19778728"/>
            <a:chOff x="0" y="0"/>
            <a:chExt cx="2798705" cy="5209212"/>
          </a:xfrm>
        </p:grpSpPr>
        <p:sp>
          <p:nvSpPr>
            <p:cNvPr name="Freeform 5" id="5"/>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6" id="6"/>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532442" y="5382267"/>
            <a:ext cx="7315200" cy="2349450"/>
          </a:xfrm>
          <a:custGeom>
            <a:avLst/>
            <a:gdLst/>
            <a:ahLst/>
            <a:cxnLst/>
            <a:rect r="r" b="b" t="t" l="l"/>
            <a:pathLst>
              <a:path h="2349450" w="7315200">
                <a:moveTo>
                  <a:pt x="0" y="0"/>
                </a:moveTo>
                <a:lnTo>
                  <a:pt x="7315200" y="0"/>
                </a:lnTo>
                <a:lnTo>
                  <a:pt x="7315200" y="2349449"/>
                </a:lnTo>
                <a:lnTo>
                  <a:pt x="0" y="2349449"/>
                </a:lnTo>
                <a:lnTo>
                  <a:pt x="0" y="0"/>
                </a:lnTo>
                <a:close/>
              </a:path>
            </a:pathLst>
          </a:custGeom>
          <a:blipFill>
            <a:blip r:embed="rId5">
              <a:alphaModFix amt="17000"/>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725042" y="3176984"/>
            <a:ext cx="6783956" cy="772200"/>
          </a:xfrm>
          <a:prstGeom prst="rect">
            <a:avLst/>
          </a:prstGeom>
        </p:spPr>
        <p:txBody>
          <a:bodyPr anchor="t" rtlCol="false" tIns="0" lIns="0" bIns="0" rIns="0">
            <a:spAutoFit/>
          </a:bodyPr>
          <a:lstStyle/>
          <a:p>
            <a:pPr algn="ctr">
              <a:lnSpc>
                <a:spcPts val="6262"/>
              </a:lnSpc>
              <a:spcBef>
                <a:spcPct val="0"/>
              </a:spcBef>
            </a:pPr>
            <a:r>
              <a:rPr lang="en-US" sz="4473">
                <a:solidFill>
                  <a:srgbClr val="DD7E28"/>
                </a:solidFill>
                <a:latin typeface="HK Modular"/>
                <a:ea typeface="HK Modular"/>
                <a:cs typeface="HK Modular"/>
                <a:sym typeface="HK Modular"/>
              </a:rPr>
              <a:t>LABORATORIO #3</a:t>
            </a:r>
          </a:p>
        </p:txBody>
      </p:sp>
      <p:sp>
        <p:nvSpPr>
          <p:cNvPr name="Freeform 9" id="9"/>
          <p:cNvSpPr/>
          <p:nvPr/>
        </p:nvSpPr>
        <p:spPr>
          <a:xfrm flipH="false" flipV="false" rot="0">
            <a:off x="-952235" y="7504962"/>
            <a:ext cx="4077393" cy="4114800"/>
          </a:xfrm>
          <a:custGeom>
            <a:avLst/>
            <a:gdLst/>
            <a:ahLst/>
            <a:cxnLst/>
            <a:rect r="r" b="b" t="t" l="l"/>
            <a:pathLst>
              <a:path h="4114800" w="4077393">
                <a:moveTo>
                  <a:pt x="0" y="0"/>
                </a:moveTo>
                <a:lnTo>
                  <a:pt x="4077393" y="0"/>
                </a:lnTo>
                <a:lnTo>
                  <a:pt x="4077393" y="4114800"/>
                </a:lnTo>
                <a:lnTo>
                  <a:pt x="0" y="4114800"/>
                </a:lnTo>
                <a:lnTo>
                  <a:pt x="0" y="0"/>
                </a:lnTo>
                <a:close/>
              </a:path>
            </a:pathLst>
          </a:custGeom>
          <a:blipFill>
            <a:blip r:embed="rId7">
              <a:alphaModFix amt="14000"/>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6962114" y="35055"/>
            <a:ext cx="4077393" cy="4114800"/>
          </a:xfrm>
          <a:custGeom>
            <a:avLst/>
            <a:gdLst/>
            <a:ahLst/>
            <a:cxnLst/>
            <a:rect r="r" b="b" t="t" l="l"/>
            <a:pathLst>
              <a:path h="4114800" w="4077393">
                <a:moveTo>
                  <a:pt x="0" y="0"/>
                </a:moveTo>
                <a:lnTo>
                  <a:pt x="4077393" y="0"/>
                </a:lnTo>
                <a:lnTo>
                  <a:pt x="4077393" y="4114800"/>
                </a:lnTo>
                <a:lnTo>
                  <a:pt x="0" y="4114800"/>
                </a:lnTo>
                <a:lnTo>
                  <a:pt x="0" y="0"/>
                </a:lnTo>
                <a:close/>
              </a:path>
            </a:pathLst>
          </a:custGeom>
          <a:blipFill>
            <a:blip r:embed="rId7">
              <a:alphaModFix amt="14000"/>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1479948" y="4174870"/>
            <a:ext cx="5548316"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¿Como les ha ido con el laboratorio?</a:t>
            </a:r>
          </a:p>
        </p:txBody>
      </p:sp>
      <p:sp>
        <p:nvSpPr>
          <p:cNvPr name="TextBox 12" id="12"/>
          <p:cNvSpPr txBox="true"/>
          <p:nvPr/>
        </p:nvSpPr>
        <p:spPr>
          <a:xfrm rot="0">
            <a:off x="1479948" y="5578195"/>
            <a:ext cx="5548316"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¿Tienen dudas?</a:t>
            </a:r>
          </a:p>
        </p:txBody>
      </p:sp>
      <p:sp>
        <p:nvSpPr>
          <p:cNvPr name="TextBox 13" id="13"/>
          <p:cNvSpPr txBox="true"/>
          <p:nvPr/>
        </p:nvSpPr>
        <p:spPr>
          <a:xfrm rot="0">
            <a:off x="1594919" y="6279641"/>
            <a:ext cx="5548316"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¿Que tan complejo sientieron los retos propuestos?</a:t>
            </a:r>
          </a:p>
        </p:txBody>
      </p:sp>
      <p:sp>
        <p:nvSpPr>
          <p:cNvPr name="TextBox 14" id="14"/>
          <p:cNvSpPr txBox="true"/>
          <p:nvPr/>
        </p:nvSpPr>
        <p:spPr>
          <a:xfrm rot="0">
            <a:off x="1552274" y="7735633"/>
            <a:ext cx="5548316"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CUIDADO CON el orden del README.md</a:t>
            </a:r>
          </a:p>
        </p:txBody>
      </p:sp>
      <p:sp>
        <p:nvSpPr>
          <p:cNvPr name="Freeform 15" id="15"/>
          <p:cNvSpPr/>
          <p:nvPr/>
        </p:nvSpPr>
        <p:spPr>
          <a:xfrm flipH="false" flipV="false" rot="0">
            <a:off x="9522839" y="1028700"/>
            <a:ext cx="5059671" cy="6905768"/>
          </a:xfrm>
          <a:custGeom>
            <a:avLst/>
            <a:gdLst/>
            <a:ahLst/>
            <a:cxnLst/>
            <a:rect r="r" b="b" t="t" l="l"/>
            <a:pathLst>
              <a:path h="6905768" w="5059671">
                <a:moveTo>
                  <a:pt x="0" y="0"/>
                </a:moveTo>
                <a:lnTo>
                  <a:pt x="5059671" y="0"/>
                </a:lnTo>
                <a:lnTo>
                  <a:pt x="5059671" y="6905768"/>
                </a:lnTo>
                <a:lnTo>
                  <a:pt x="0" y="6905768"/>
                </a:lnTo>
                <a:lnTo>
                  <a:pt x="0" y="0"/>
                </a:lnTo>
                <a:close/>
              </a:path>
            </a:pathLst>
          </a:custGeom>
          <a:blipFill>
            <a:blip r:embed="rId9"/>
            <a:stretch>
              <a:fillRect l="0" t="0" r="0" b="0"/>
            </a:stretch>
          </a:blipFill>
        </p:spPr>
      </p:sp>
      <p:sp>
        <p:nvSpPr>
          <p:cNvPr name="TextBox 16" id="16"/>
          <p:cNvSpPr txBox="true"/>
          <p:nvPr/>
        </p:nvSpPr>
        <p:spPr>
          <a:xfrm rot="0">
            <a:off x="13095240" y="2022394"/>
            <a:ext cx="1255566" cy="300703"/>
          </a:xfrm>
          <a:prstGeom prst="rect">
            <a:avLst/>
          </a:prstGeom>
        </p:spPr>
        <p:txBody>
          <a:bodyPr anchor="t" rtlCol="false" tIns="0" lIns="0" bIns="0" rIns="0">
            <a:spAutoFit/>
          </a:bodyPr>
          <a:lstStyle/>
          <a:p>
            <a:pPr algn="ctr">
              <a:lnSpc>
                <a:spcPts val="2417"/>
              </a:lnSpc>
              <a:spcBef>
                <a:spcPct val="0"/>
              </a:spcBef>
            </a:pPr>
            <a:r>
              <a:rPr lang="en-US" sz="1726">
                <a:solidFill>
                  <a:srgbClr val="000000"/>
                </a:solidFill>
                <a:latin typeface="HK Modular"/>
                <a:ea typeface="HK Modular"/>
                <a:cs typeface="HK Modular"/>
                <a:sym typeface="HK Modular"/>
              </a:rPr>
              <a:t>ASTAH</a:t>
            </a:r>
          </a:p>
        </p:txBody>
      </p:sp>
      <p:sp>
        <p:nvSpPr>
          <p:cNvPr name="TextBox 17" id="17"/>
          <p:cNvSpPr txBox="true"/>
          <p:nvPr/>
        </p:nvSpPr>
        <p:spPr>
          <a:xfrm rot="0">
            <a:off x="13459121" y="5616295"/>
            <a:ext cx="1123390" cy="263534"/>
          </a:xfrm>
          <a:prstGeom prst="rect">
            <a:avLst/>
          </a:prstGeom>
        </p:spPr>
        <p:txBody>
          <a:bodyPr anchor="t" rtlCol="false" tIns="0" lIns="0" bIns="0" rIns="0">
            <a:spAutoFit/>
          </a:bodyPr>
          <a:lstStyle/>
          <a:p>
            <a:pPr algn="ctr">
              <a:lnSpc>
                <a:spcPts val="2162"/>
              </a:lnSpc>
              <a:spcBef>
                <a:spcPct val="0"/>
              </a:spcBef>
            </a:pPr>
            <a:r>
              <a:rPr lang="en-US" sz="1544">
                <a:solidFill>
                  <a:srgbClr val="000000"/>
                </a:solidFill>
                <a:latin typeface="HK Modular"/>
                <a:ea typeface="HK Modular"/>
                <a:cs typeface="HK Modular"/>
                <a:sym typeface="HK Modular"/>
              </a:rPr>
              <a:t>ASTAH</a:t>
            </a:r>
          </a:p>
        </p:txBody>
      </p:sp>
      <p:sp>
        <p:nvSpPr>
          <p:cNvPr name="TextBox 18" id="18"/>
          <p:cNvSpPr txBox="true"/>
          <p:nvPr/>
        </p:nvSpPr>
        <p:spPr>
          <a:xfrm rot="0">
            <a:off x="9522839" y="6439565"/>
            <a:ext cx="1353909" cy="206278"/>
          </a:xfrm>
          <a:prstGeom prst="rect">
            <a:avLst/>
          </a:prstGeom>
        </p:spPr>
        <p:txBody>
          <a:bodyPr anchor="t" rtlCol="false" tIns="0" lIns="0" bIns="0" rIns="0">
            <a:spAutoFit/>
          </a:bodyPr>
          <a:lstStyle/>
          <a:p>
            <a:pPr algn="ctr">
              <a:lnSpc>
                <a:spcPts val="1635"/>
              </a:lnSpc>
              <a:spcBef>
                <a:spcPct val="0"/>
              </a:spcBef>
            </a:pPr>
            <a:r>
              <a:rPr lang="en-US" sz="1168">
                <a:solidFill>
                  <a:srgbClr val="000000"/>
                </a:solidFill>
                <a:latin typeface="HK Modular"/>
                <a:ea typeface="HK Modular"/>
                <a:cs typeface="HK Modular"/>
                <a:sym typeface="HK Modular"/>
              </a:rPr>
              <a:t>LUCIDCHART</a:t>
            </a:r>
          </a:p>
        </p:txBody>
      </p:sp>
      <p:sp>
        <p:nvSpPr>
          <p:cNvPr name="TextBox 19" id="19"/>
          <p:cNvSpPr txBox="true"/>
          <p:nvPr/>
        </p:nvSpPr>
        <p:spPr>
          <a:xfrm rot="0">
            <a:off x="9522839" y="6741921"/>
            <a:ext cx="1353909" cy="206278"/>
          </a:xfrm>
          <a:prstGeom prst="rect">
            <a:avLst/>
          </a:prstGeom>
        </p:spPr>
        <p:txBody>
          <a:bodyPr anchor="t" rtlCol="false" tIns="0" lIns="0" bIns="0" rIns="0">
            <a:spAutoFit/>
          </a:bodyPr>
          <a:lstStyle/>
          <a:p>
            <a:pPr algn="ctr">
              <a:lnSpc>
                <a:spcPts val="1635"/>
              </a:lnSpc>
              <a:spcBef>
                <a:spcPct val="0"/>
              </a:spcBef>
            </a:pPr>
            <a:r>
              <a:rPr lang="en-US" sz="1168">
                <a:solidFill>
                  <a:srgbClr val="000000"/>
                </a:solidFill>
                <a:latin typeface="HK Modular"/>
                <a:ea typeface="HK Modular"/>
                <a:cs typeface="HK Modular"/>
                <a:sym typeface="HK Modular"/>
              </a:rPr>
              <a:t>DRAW.IO</a:t>
            </a:r>
          </a:p>
        </p:txBody>
      </p:sp>
      <p:sp>
        <p:nvSpPr>
          <p:cNvPr name="Freeform 20" id="20"/>
          <p:cNvSpPr/>
          <p:nvPr/>
        </p:nvSpPr>
        <p:spPr>
          <a:xfrm flipH="false" flipV="false" rot="0">
            <a:off x="2676249" y="135147"/>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10"/>
            <a:stretch>
              <a:fillRect l="0" t="0" r="0" b="0"/>
            </a:stretch>
          </a:blipFill>
        </p:spPr>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58803" y="4295179"/>
            <a:ext cx="14763858" cy="637414"/>
          </a:xfrm>
          <a:prstGeom prst="rect">
            <a:avLst/>
          </a:prstGeom>
        </p:spPr>
        <p:txBody>
          <a:bodyPr anchor="t" rtlCol="false" tIns="0" lIns="0" bIns="0" rIns="0">
            <a:spAutoFit/>
          </a:bodyPr>
          <a:lstStyle/>
          <a:p>
            <a:pPr algn="ctr" marL="816096" indent="-408048" lvl="1">
              <a:lnSpc>
                <a:spcPts val="5291"/>
              </a:lnSpc>
              <a:buAutoNum type="arabicPeriod" startAt="1"/>
            </a:pPr>
            <a:r>
              <a:rPr lang="en-US" sz="3779">
                <a:solidFill>
                  <a:srgbClr val="FFFFFF"/>
                </a:solidFill>
                <a:latin typeface="Open Sans"/>
                <a:ea typeface="Open Sans"/>
                <a:cs typeface="Open Sans"/>
                <a:sym typeface="Open Sans"/>
              </a:rPr>
              <a:t>TERMINAR EL EJERCICIO DEL AJIACO</a:t>
            </a:r>
          </a:p>
        </p:txBody>
      </p:sp>
      <p:sp>
        <p:nvSpPr>
          <p:cNvPr name="TextBox 13" id="13"/>
          <p:cNvSpPr txBox="true"/>
          <p:nvPr/>
        </p:nvSpPr>
        <p:spPr>
          <a:xfrm rot="0">
            <a:off x="2365746" y="2211950"/>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E78939"/>
                </a:solidFill>
                <a:latin typeface="HK Modular"/>
                <a:ea typeface="HK Modular"/>
                <a:cs typeface="HK Modular"/>
                <a:sym typeface="HK Modular"/>
              </a:rPr>
              <a:t>TAREA</a:t>
            </a:r>
          </a:p>
        </p:txBody>
      </p:sp>
      <p:sp>
        <p:nvSpPr>
          <p:cNvPr name="Freeform 14" id="14"/>
          <p:cNvSpPr/>
          <p:nvPr/>
        </p:nvSpPr>
        <p:spPr>
          <a:xfrm flipH="false" flipV="false" rot="0">
            <a:off x="7738699" y="-4690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
        <p:nvSpPr>
          <p:cNvPr name="TextBox 15" id="15"/>
          <p:cNvSpPr txBox="true"/>
          <p:nvPr/>
        </p:nvSpPr>
        <p:spPr>
          <a:xfrm rot="0">
            <a:off x="1762071" y="5580293"/>
            <a:ext cx="14763858" cy="637414"/>
          </a:xfrm>
          <a:prstGeom prst="rect">
            <a:avLst/>
          </a:prstGeom>
        </p:spPr>
        <p:txBody>
          <a:bodyPr anchor="t" rtlCol="false" tIns="0" lIns="0" bIns="0" rIns="0">
            <a:spAutoFit/>
          </a:bodyPr>
          <a:lstStyle/>
          <a:p>
            <a:pPr algn="ctr" marL="816096" indent="-408048" lvl="1">
              <a:lnSpc>
                <a:spcPts val="5291"/>
              </a:lnSpc>
              <a:buAutoNum type="arabicPeriod" startAt="1"/>
            </a:pPr>
            <a:r>
              <a:rPr lang="en-US" sz="3779">
                <a:solidFill>
                  <a:srgbClr val="FFFFFF"/>
                </a:solidFill>
                <a:latin typeface="Open Sans"/>
                <a:ea typeface="Open Sans"/>
                <a:cs typeface="Open Sans"/>
                <a:sym typeface="Open Sans"/>
              </a:rPr>
              <a:t>LABORATORIO #3 - ENTREGA SABADO HASTA LAS 23:59 PM</a:t>
            </a:r>
          </a:p>
        </p:txBody>
      </p:sp>
      <p:sp>
        <p:nvSpPr>
          <p:cNvPr name="TextBox 16" id="16"/>
          <p:cNvSpPr txBox="true"/>
          <p:nvPr/>
        </p:nvSpPr>
        <p:spPr>
          <a:xfrm rot="0">
            <a:off x="1758803" y="6867548"/>
            <a:ext cx="14763858" cy="637414"/>
          </a:xfrm>
          <a:prstGeom prst="rect">
            <a:avLst/>
          </a:prstGeom>
        </p:spPr>
        <p:txBody>
          <a:bodyPr anchor="t" rtlCol="false" tIns="0" lIns="0" bIns="0" rIns="0">
            <a:spAutoFit/>
          </a:bodyPr>
          <a:lstStyle/>
          <a:p>
            <a:pPr algn="ctr" marL="816096" indent="-408048" lvl="1">
              <a:lnSpc>
                <a:spcPts val="5291"/>
              </a:lnSpc>
              <a:buAutoNum type="arabicPeriod" startAt="1"/>
            </a:pPr>
            <a:r>
              <a:rPr lang="en-US" sz="3779">
                <a:solidFill>
                  <a:srgbClr val="FFFFFF"/>
                </a:solidFill>
                <a:latin typeface="Open Sans"/>
                <a:ea typeface="Open Sans"/>
                <a:cs typeface="Open Sans"/>
                <a:sym typeface="Open Sans"/>
              </a:rPr>
              <a:t>ESTUDIEN PARA EL QUIZ#3</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6885941" y="5498956"/>
            <a:ext cx="4734852" cy="4367901"/>
          </a:xfrm>
          <a:custGeom>
            <a:avLst/>
            <a:gdLst/>
            <a:ahLst/>
            <a:cxnLst/>
            <a:rect r="r" b="b" t="t" l="l"/>
            <a:pathLst>
              <a:path h="4367901" w="4734852">
                <a:moveTo>
                  <a:pt x="0" y="0"/>
                </a:moveTo>
                <a:lnTo>
                  <a:pt x="4734852" y="0"/>
                </a:lnTo>
                <a:lnTo>
                  <a:pt x="4734852" y="4367901"/>
                </a:lnTo>
                <a:lnTo>
                  <a:pt x="0" y="4367901"/>
                </a:lnTo>
                <a:lnTo>
                  <a:pt x="0" y="0"/>
                </a:lnTo>
                <a:close/>
              </a:path>
            </a:pathLst>
          </a:custGeom>
          <a:blipFill>
            <a:blip r:embed="rId3"/>
            <a:stretch>
              <a:fillRect l="0" t="0" r="0" b="0"/>
            </a:stretch>
          </a:blipFill>
        </p:spPr>
      </p:sp>
      <p:sp>
        <p:nvSpPr>
          <p:cNvPr name="TextBox 13" id="13"/>
          <p:cNvSpPr txBox="true"/>
          <p:nvPr/>
        </p:nvSpPr>
        <p:spPr>
          <a:xfrm rot="0">
            <a:off x="3666280" y="3703492"/>
            <a:ext cx="10955440" cy="1611888"/>
          </a:xfrm>
          <a:prstGeom prst="rect">
            <a:avLst/>
          </a:prstGeom>
        </p:spPr>
        <p:txBody>
          <a:bodyPr anchor="t" rtlCol="false" tIns="0" lIns="0" bIns="0" rIns="0">
            <a:spAutoFit/>
          </a:bodyPr>
          <a:lstStyle/>
          <a:p>
            <a:pPr algn="ctr">
              <a:lnSpc>
                <a:spcPts val="6476"/>
              </a:lnSpc>
              <a:spcBef>
                <a:spcPct val="0"/>
              </a:spcBef>
            </a:pPr>
            <a:r>
              <a:rPr lang="en-US" sz="4626">
                <a:solidFill>
                  <a:srgbClr val="E78939"/>
                </a:solidFill>
                <a:latin typeface="HK Modular"/>
                <a:ea typeface="HK Modular"/>
                <a:cs typeface="HK Modular"/>
                <a:sym typeface="HK Modular"/>
              </a:rPr>
              <a:t>PROXIMA SESION DE LABORATORIO</a:t>
            </a:r>
          </a:p>
        </p:txBody>
      </p:sp>
      <p:sp>
        <p:nvSpPr>
          <p:cNvPr name="TextBox 14" id="14"/>
          <p:cNvSpPr txBox="true"/>
          <p:nvPr/>
        </p:nvSpPr>
        <p:spPr>
          <a:xfrm rot="0">
            <a:off x="2365746" y="2522241"/>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FA18C2"/>
                </a:solidFill>
                <a:latin typeface="HK Modular"/>
                <a:ea typeface="HK Modular"/>
                <a:cs typeface="HK Modular"/>
                <a:sym typeface="HK Modular"/>
              </a:rPr>
              <a:t>NOS VEMOS EN LA </a:t>
            </a:r>
          </a:p>
        </p:txBody>
      </p:sp>
      <p:sp>
        <p:nvSpPr>
          <p:cNvPr name="Freeform 15" id="15"/>
          <p:cNvSpPr/>
          <p:nvPr/>
        </p:nvSpPr>
        <p:spPr>
          <a:xfrm flipH="false" flipV="false" rot="0">
            <a:off x="7738699" y="-4690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DAHBh-B1U-Q</dc:identifier>
  <dcterms:modified xsi:type="dcterms:W3CDTF">2011-08-01T06:04:30Z</dcterms:modified>
  <cp:revision>1</cp:revision>
  <dc:title>DOSW 1 - S05</dc:title>
</cp:coreProperties>
</file>